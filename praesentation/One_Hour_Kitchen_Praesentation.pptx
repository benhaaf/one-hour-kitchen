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6f06e903-d945-61b0-f826-25759521f3cc}">
          <p14:sldIdLst>
            <p14:sldId id="256"/>
          </p14:sldIdLst>
        </p14:section>
        <p14:section name="1 Idee" id="{e2c628a2-1969-ce4a-d94c-e32877c1cf3b}">
          <p14:sldIdLst>
            <p14:sldId id="257"/>
            <p14:sldId id="258"/>
            <p14:sldId id="259"/>
          </p14:sldIdLst>
        </p14:section>
        <p14:section name="2 Rahmen" id="{e8f25d45-dd5c-0145-68ef-da32007258bd}">
          <p14:sldIdLst>
            <p14:sldId id="260"/>
            <p14:sldId id="261"/>
          </p14:sldIdLst>
        </p14:section>
        <p14:section name="3–5 Grundriss &amp; Raum" id="{2ce291c3-9e8a-dd72-7563-586dc6c8b5b8}">
          <p14:sldIdLst>
            <p14:sldId id="262"/>
            <p14:sldId id="263"/>
            <p14:sldId id="264"/>
            <p14:sldId id="265"/>
            <p14:sldId id="266"/>
          </p14:sldIdLst>
        </p14:section>
        <p14:section name="Rundgang" id="{ebb11e02-54c7-0afc-69d6-eb7934a83490}">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 name="8–10 Bewertung" id="{888943b5-f9a0-0adc-c41c-019d3e973b4c}">
          <p14:sldIdLst>
            <p14:sldId id="286"/>
            <p14:sldId id="287"/>
            <p14:sldId id="288"/>
          </p14:sldIdLst>
        </p14:section>
        <p14:section name="Fazit" id="{1f301cba-d925-9172-cac1-89f50d0de2c3}">
          <p14:sldIdLst>
            <p14:sldId id="289"/>
          </p14:sldIdLst>
        </p14:section>
        <p14:section name="Anhang" id="{6d68dd4f-3676-db51-003f-7a89358cb61d}">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FE7D6"/>
                </a:solidFill>
                <a:latin typeface="+mn-lt"/>
              </a:defRPr>
            </a:pPr>
            <a:r>
              <a:rPr sz="1300" b="0" i="0" u="none" strike="noStrike">
                <a:solidFill>
                  <a:srgbClr val="EFE7D6"/>
                </a:solidFill>
                <a:latin typeface="+mn-lt"/>
              </a:rPr>
              <a:t>Pro Jahr (Tsd. €)</a:t>
            </a:r>
          </a:p>
        </c:rich>
      </c:tx>
      <c:layout/>
      <c:overlay val="0"/>
    </c:title>
    <c:autoTitleDeleted val="0"/>
    <c:plotArea>
      <c:layout/>
      <c:barChart>
        <c:barDir val="bar"/>
        <c:grouping val="clustered"/>
        <c:varyColors val="0"/>
        <c:ser>
          <c:idx val="0"/>
          <c:order val="0"/>
          <c:tx>
            <c:strRef>
              <c:f>Sheet1!$B$1</c:f>
              <c:strCache>
                <c:ptCount val="1"/>
                <c:pt idx="0">
                  <c:v>Pro Jahr</c:v>
                </c:pt>
              </c:strCache>
            </c:strRef>
          </c:tx>
          <c:spPr>
            <a:solidFill>
              <a:srgbClr val="9A958E"/>
            </a:solidFill>
            <a:effectLst/>
          </c:spPr>
          <c:invertIfNegative val="0"/>
          <c:dLbls>
            <c:numFmt formatCode="0.0" sourceLinked="0"/>
            <c:txPr>
              <a:bodyPr/>
              <a:lstStyle/>
              <a:p>
                <a:pPr>
                  <a:defRPr b="0" i="0" strike="noStrike" sz="1200" u="none">
                    <a:solidFill>
                      <a:srgbClr val="EFE7D6"/>
                    </a:solidFill>
                    <a:latin typeface="+mn-lt"/>
                  </a:defRPr>
                </a:pPr>
              </a:p>
            </c:txPr>
            <c:showLegendKey val="0"/>
            <c:showVal val="1"/>
            <c:showCatName val="0"/>
            <c:showSerName val="0"/>
            <c:showPercent val="0"/>
            <c:showBubbleSize val="0"/>
            <c:showLeaderLines val="0"/>
          </c:dLbls>
          <c:dPt>
            <c:idx val="0"/>
            <c:invertIfNegative val="0"/>
            <c:bubble3D val="0"/>
            <c:spPr>
              <a:solidFill>
                <a:srgbClr val="9A958E"/>
              </a:solidFill>
              <a:effectLst/>
            </c:spPr>
          </c:dPt>
          <c:dPt>
            <c:idx val="1"/>
            <c:invertIfNegative val="0"/>
            <c:bubble3D val="0"/>
            <c:spPr>
              <a:solidFill>
                <a:srgbClr val="D64527"/>
              </a:solidFill>
              <a:effectLst/>
            </c:spPr>
          </c:dPt>
          <c:cat>
            <c:multiLvlStrRef>
              <c:f>Sheet1!$A$2:$A$3</c:f>
              <c:multiLvlStrCache>
                <c:ptCount val="2"/>
                <c:lvl>
                  <c:pt idx="0">
                    <c:v>Benötigt: Rohertrag Regal + Kosten Küche</c:v>
                  </c:pt>
                  <c:pt idx="1">
                    <c:v>Rohertrag bei +4 € Ø-Bon (24 → 28 €)</c:v>
                  </c:pt>
                </c:lvl>
              </c:multiLvlStrCache>
            </c:multiLvlStrRef>
          </c:cat>
          <c:val>
            <c:numRef>
              <c:f>Sheet1!$B$2:$B$3</c:f>
              <c:numCache>
                <c:formatCode>General</c:formatCode>
                <c:ptCount val="2"/>
                <c:pt idx="0">
                  <c:v>49.6</c:v>
                </c:pt>
                <c:pt idx="1">
                  <c:v>50.4</c:v>
                </c:pt>
              </c:numCache>
            </c:numRef>
          </c:val>
        </c:ser>
        <c:dLbls>
          <c:numFmt formatCode="0.0" sourceLinked="0"/>
          <c:txPr>
            <a:bodyPr/>
            <a:lstStyle/>
            <a:p>
              <a:pPr>
                <a:defRPr b="0" i="0" strike="noStrike" sz="1200" u="none">
                  <a:solidFill>
                    <a:srgbClr val="EFE7D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A9A296"/>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FE7D6"/>
                </a:solidFill>
                <a:latin typeface="+mn-lt"/>
              </a:defRPr>
            </a:pPr>
            <a:r>
              <a:rPr sz="1400" b="0" i="0" u="none" strike="noStrike">
                <a:solidFill>
                  <a:srgbClr val="EFE7D6"/>
                </a:solidFill>
                <a:latin typeface="+mn-lt"/>
              </a:rPr>
              <a:t>Verkaufsraum 190 m²</a:t>
            </a:r>
          </a:p>
        </c:rich>
      </c:tx>
      <c:layout/>
      <c:overlay val="0"/>
    </c:title>
    <c:autoTitleDeleted val="0"/>
    <c:plotArea>
      <c:layout/>
      <c:doughnutChart>
        <c:varyColors val="1"/>
        <c:ser>
          <c:idx val="0"/>
          <c:order val="0"/>
          <c:tx>
            <c:strRef>
              <c:f>Sheet1!$B$1</c:f>
              <c:strCache>
                <c:ptCount val="1"/>
                <c:pt idx="0">
                  <c:v>Fläche</c:v>
                </c:pt>
              </c:strCache>
            </c:strRef>
          </c:tx>
          <c:spPr>
            <a:solidFill>
              <a:schemeClr val="accent1"/>
            </a:solidFill>
            <a:ln w="9525" cap="flat">
              <a:solidFill>
                <a:srgbClr val="F9F9F9"/>
              </a:solidFill>
              <a:prstDash val="solid"/>
              <a:round/>
            </a:ln>
            <a:effectLst/>
          </c:spPr>
          <c:dPt>
            <c:idx val="0"/>
            <c:bubble3D val="0"/>
            <c:spPr>
              <a:solidFill>
                <a:srgbClr val="B9B4AB"/>
              </a:solidFill>
              <a:effectLst/>
            </c:spPr>
          </c:dPt>
          <c:dPt>
            <c:idx val="1"/>
            <c:bubble3D val="0"/>
            <c:spPr>
              <a:solidFill>
                <a:srgbClr val="E8862E"/>
              </a:solidFill>
              <a:effectLst/>
            </c:spPr>
          </c:dPt>
          <c:dPt>
            <c:idx val="2"/>
            <c:bubble3D val="0"/>
            <c:spPr>
              <a:solidFill>
                <a:srgbClr val="D64527"/>
              </a:solidFill>
              <a:effectLst/>
            </c:spPr>
          </c:dPt>
          <c:dPt>
            <c:idx val="3"/>
            <c:bubble3D val="0"/>
            <c:spPr>
              <a:solidFill>
                <a:srgbClr val="7A7A84"/>
              </a:solidFill>
              <a:effectLst/>
            </c:spPr>
          </c:dPt>
          <c:dLbls>
            <c:dLbl>
              <c:idx val="0"/>
              <c:numFmt formatCode="0&quot; m²&quot;" sourceLinked="0"/>
              <c:spPr/>
              <c:txPr>
                <a:bodyPr/>
                <a:lstStyle/>
                <a:p>
                  <a:pPr>
                    <a:defRPr sz="1200" b="0" i="0" u="none" strike="noStrike">
                      <a:solidFill>
                        <a:srgbClr val="1F2120"/>
                      </a:solidFill>
                      <a:latin typeface="+mn-lt"/>
                    </a:defRPr>
                  </a:pPr>
                </a:p>
              </c:txPr>
              <c:showLegendKey val="0"/>
              <c:showVal val="1"/>
              <c:showCatName val="0"/>
              <c:showSerName val="0"/>
              <c:showPercent val="0"/>
              <c:showBubbleSize val="0"/>
            </c:dLbl>
            <c:dLbl>
              <c:idx val="1"/>
              <c:numFmt formatCode="0&quot; m²&quot;" sourceLinked="0"/>
              <c:spPr/>
              <c:txPr>
                <a:bodyPr/>
                <a:lstStyle/>
                <a:p>
                  <a:pPr>
                    <a:defRPr sz="1200" b="0" i="0" u="none" strike="noStrike">
                      <a:solidFill>
                        <a:srgbClr val="1F2120"/>
                      </a:solidFill>
                      <a:latin typeface="+mn-lt"/>
                    </a:defRPr>
                  </a:pPr>
                </a:p>
              </c:txPr>
              <c:showLegendKey val="0"/>
              <c:showVal val="1"/>
              <c:showCatName val="0"/>
              <c:showSerName val="0"/>
              <c:showPercent val="0"/>
              <c:showBubbleSize val="0"/>
            </c:dLbl>
            <c:dLbl>
              <c:idx val="2"/>
              <c:numFmt formatCode="0&quot; m²&quot;" sourceLinked="0"/>
              <c:spPr/>
              <c:txPr>
                <a:bodyPr/>
                <a:lstStyle/>
                <a:p>
                  <a:pPr>
                    <a:defRPr sz="1200" b="0" i="0" u="none" strike="noStrike">
                      <a:solidFill>
                        <a:srgbClr val="1F2120"/>
                      </a:solidFill>
                      <a:latin typeface="+mn-lt"/>
                    </a:defRPr>
                  </a:pPr>
                </a:p>
              </c:txPr>
              <c:showLegendKey val="0"/>
              <c:showVal val="1"/>
              <c:showCatName val="0"/>
              <c:showSerName val="0"/>
              <c:showPercent val="0"/>
              <c:showBubbleSize val="0"/>
            </c:dLbl>
            <c:dLbl>
              <c:idx val="3"/>
              <c:numFmt formatCode="0&quot; m²&quot;" sourceLinked="0"/>
              <c:spPr/>
              <c:txPr>
                <a:bodyPr/>
                <a:lstStyle/>
                <a:p>
                  <a:pPr>
                    <a:defRPr sz="1200" b="0" i="0" u="none" strike="noStrike">
                      <a:solidFill>
                        <a:srgbClr val="1F2120"/>
                      </a:solidFill>
                      <a:latin typeface="+mn-lt"/>
                    </a:defRPr>
                  </a:pPr>
                </a:p>
              </c:txPr>
              <c:showLegendKey val="0"/>
              <c:showVal val="1"/>
              <c:showCatName val="0"/>
              <c:showSerName val="0"/>
              <c:showPercent val="0"/>
              <c:showBubbleSize val="0"/>
            </c:dLbl>
            <c:numFmt formatCode="0&quot; m²&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Kundenfläche</c:v>
                </c:pt>
                <c:pt idx="1">
                  <c:v>Warenfläche (Stellfläche)</c:v>
                </c:pt>
                <c:pt idx="2">
                  <c:v>Showküche</c:v>
                </c:pt>
                <c:pt idx="3">
                  <c:v>Kassen, Dashboard, Körbe</c:v>
                </c:pt>
              </c:strCache>
            </c:strRef>
          </c:cat>
          <c:val>
            <c:numRef>
              <c:f>Sheet1!$B$2:$B$5</c:f>
              <c:numCache>
                <c:ptCount val="4"/>
                <c:pt idx="0">
                  <c:v>130</c:v>
                </c:pt>
                <c:pt idx="1">
                  <c:v>34</c:v>
                </c:pt>
                <c:pt idx="2">
                  <c:v>18</c:v>
                </c:pt>
                <c:pt idx="3">
                  <c:v>8</c:v>
                </c:pt>
              </c:numCache>
            </c:numRef>
          </c:val>
        </c:ser>
        <c:firstSliceAng val="0"/>
        <c:holeSize val="55"/>
      </c:doughnutChart>
      <c:spPr>
        <a:noFill/>
        <a:ln>
          <a:noFill/>
        </a:ln>
        <a:effectLst/>
      </c:spPr>
    </c:plotArea>
    <c:legend>
      <c:legendPos val="b"/>
      <c:overlay val="0"/>
      <c:txPr>
        <a:bodyPr/>
        <a:lstStyle/>
        <a:p>
          <a:pPr>
            <a:defRPr sz="1200">
              <a:solidFill>
                <a:srgbClr val="EFE7D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Wir stellen ein Store-Konzept vor, das Einkauf und Kochen über Kochanlässe verbindet. Hinweis auf die Kennzeichnung: Q steht für Quellenwissen mit Fundstelle, A für unsere eigenen Fallannahmen. So ist jederzeit prüfbar, was belegt ist und was wir setzen. Die Präsentation läuft komplett im 3D-Modell – jede Folie zeigt den passenden Ort im Laden.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Kundin kommt mit einem klaren Vorhaben: Heute Abend wird gekocht, und es soll schnell gehen. Offen ist nur das Gericht. Am Eingang entscheidet sie am Matrix-Dashboard Küche und Anlass und hat ihr Rezept. Die Zutaten findet sie dann im ganz normal sortierten Laden über die Fachcodes. One Hour heißt: maximal 15 Minuten Einkauf und maximal 45 Minuten Kochzeit.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Erste naheliegende Frage: Gab es das nicht schon? Ja, das Kochhaus hat ab 2010 nach Rezepten sortiert und ist 2019 insolvent gegangen. Unsere Lehre: Wir bauen keine Regale je Rezept, sondern nur drei grobe Kochwelten, und innen ist jede Gondel ganz normal nach Warengruppen sortiert. Mit dem Basissortiment funktioniert der Laden auch für den normalen Einkauf.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Zweite Frage: Warum nicht HelloFresh? Die Box verlangt eine Entscheidung Tage im Voraus. Unsere Kundin entscheidet heute auf dem Heimweg. Wo die Box besser ist, sagen wir offen: Man muss nicht in den Laden. Planer sind deshalb nicht unsere Zielgruppe. Wie groß die spontane Zielgruppe ist, bleibt eine Annahme.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Standort begründet Zielgruppe und Öffnungszeiten: Studierende und Berufstätige kommen mittags und nach Feierabend vorbei – genau dann läuft das Live-Cooking. Kurse bieten wir nicht an. Der Verkaufsraum hat rund 190 m², dazu ein L-förmiges Lager hinten und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Weil wir keine Kurse anbieten, muss sich die Showküche über den Verkauf tragen. Sie kostet 18 m² Regalfläche, also rund 31.600 Euro Rohertrag, dazu ca. 18.000 Euro für Personal und Probierware. Das sind knapp 50.000 Euro. Die holen wir rein, wenn der Durchschnittsbon um rund 4 Euro steigt – etwa durch Wein und Dessert zum Rezept – oder wenn täglich rund 23 Kunden mehr kommen. Aussagegrenze: Die Investition ist nicht enthalten, alle Werte sind Annahmen.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Plan von unten nach oben lesen. Wir betreten den Laden links durch den Eingang; nach etwa drei Metern steht das Matrix-Dashboard, leicht links, damit die Blickachse zur Showküche frei bleibt. Der Rezeptweg (rot) führt am schrägen Obst-und-Gemüse-Stand vorbei in den Rundlauf links, entlang der Gondeln zur Kühlung an der Rückwand, weiter zu Dessert und Wein, durch das Basissortiment und zur Kasse direkt vor dem Ausgang. Der Schnellweg (grün gestrichelt) geht direkt ins Basissortiment. Das L-Lager liegt hinten und rechts: Anlieferung per Rolltor, die Kühlung wird von hinten befüllt. Der Notausgang liegt links und bleibt frei von Waren.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Skizze aus unserer Basisidee gilt – wir haben sie an acht Stellen optimiert. Neu sind zum Beispiel Rollkörbe statt Wagen und das Vorspeisen-Regal am Eingang. Jede Änderung hat einen Grund aus Kundenlauf, Warenfluss oder Sicherheit; im Rundgang zeigen wir sie vor 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Entscheidung aus dem Grundriss hat einen Grund. Q-Marken zeigen, wo Kapitel 10 oder eine Studie die Gestaltungslogik liefert, A-Marken, wo wir eine eigene Annahme treffen. Aussagegrenze: Kapitel 10 belegt die Logik, nicht die Wirkung in unserem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die Flächenbilanz des Verkaufsraums nach den Flächenarten aus dem Seminar: Kundenfläche rund 133 m², Stellfläche der Warenträger rund 32 m², Showküche rund 18 m², Kassen und Dashboard rund 7 m². Rechts die Raumzuteilung innerhalb der Warenfläche. Die Werte rechnet das Modell direkt aus dem Grundriss. Vorbereitete Antwort: Die Kundenfläche ist bewusst groß, weil Übergangszone, Zuschauerbereich und breite Gänge zum Konzept gehören.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Kundenperspektive: kaufrelevant oder nicht; Händlerperspektive: kaufwahrscheinlich oder nicht. Die Kochwelt-Gondeln im Rundlauf schaffen neue Kaufrelevanz – alles für die gewählte Küche steht in einem Gang, am Regalkopf stehen die Küchenhelfer aus der Showküche. Das Basissortiment längs bedient die bestehende Kaufrelevanz.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stehen auf der Straße vor dem Laden. Das Schaufenster zeigt drei fertige Gerichte – eins pro Kochwelt – mit Zutaten und Preis je Portion. Oben hängt ein Leuchtplakat mit QR-Code: Wer vorbeigeht, hat das Rezept sofort auf dem Handy. Neu gegenüber der Skizze: Eingang links, Ausgang rechts an der Kasse – so entsteht eine klare Laufrichtung.
Begründung: Das Fenster zeigt der Laufkundschaft vom Campus in Sekunden, was es heute gibt, wie schnell es geht und was es kostet. Fertige Gerichte statt einzelner Produkte machen das Konzept von der Straße aus verständlich; der QR-Code bringt die Rezeptkarte aufs Handy – auch nach Ladenschluss. Spots lenken den Blick auf die Ware. Getrennte Türen geben eine klare Laufrichtung vor: rein links, raus rechts an der Kasse vorbei.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Meter hinter dem Eingang: das Matrix-Dashboard. Küche mal Anlass ergibt genau ein Rezept – oben „besonders“, darunter „schnell“ und „günstig“. Darunter liegen die Kartenspender, jede Karte hat einen QR-Code fürs Handy. Es steht leicht links, damit die Blickachse zur Showküche frei bleibt.
Begründung: Die Kundin hat eine Kaufabsicht („heute kochen“), offen ist nur das Gericht. Das Dashboard macht aus neun Rezepten zwei einfache Fragen und gibt Orientierung, bevor der Einkauf beginnt. Je länger Kunden im Laden sind, desto zielgerichteter werden sie – Inspiration gehört deshalb an den Anfang des Weges.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das Herzstück unseres Konzepts. Die Kundin trifft zwei Entscheidungen: Welche Küche, welcher Anlass. Am Schnittpunkt steht genau ein Rezept mit Kartenspender. Die Kriterien der Zeilen sind prüfbar festgelegt: schnell heißt höchstens 20 Minuten Kochzeit, günstig höchstens 4 Euro pro Portion, besonders heißt Menü mit Dessert. Das Ordnungsprinzip lehnt sich an den Kreuzblock aus Kapitel 10 an: zwei Ordnungen, waagerecht und senkrecht, miteinander verbunden. Aussagegrenze: Dass die Wahl dadurch schneller fällt, ist unsere Annahme.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Rezeptkarte nimmt die Entscheidung vom Dashboard mit in den Laden – auf Papier oder per QR-Code aufs Handy. Es gibt keine fertigen Pakete: Die Kundin sammelt die Zutaten selbst. Die Fachcodes zeigen den Fundort jeder Zutat – T für die Gondeln der Kochwelten, V für die Vorspeisen, K für die Kühlung, B für die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Direkt danach der schräge Obst-und-Gemüse-Stand. Frische steht auf fast jeder Rezeptkarte (Fachcode O1). Die Schrägstellung bremst und lenkt in den Rundlauf links.
Begründung: Frische Zutaten (Fachcode O1) stehen auf fast jeder Rezeptkarte. Die schräge Stellung unterbricht den Lauf wie eine Querplatzierung, lenkt nach links und ist durchs Schaufenster sichtbar.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Gleich links am Eingang: Rollkörbe statt Einkaufswagen – für Wagen fehlt auf 190 Quadratmetern der Platz, und für ein Rezept reicht ein Korb. An der linken Wand das neue Vorspeisen-Regal, je Kochwelt ein Fach: Antipasti, Asia-Vorspeisen, Nachos und Dips. Die Rezeptkarte verweist unter „Passt dazu“ auf diese Fächer.
Begründung: Auf 190 m² mit 1,4–1,5 m breiten Gängen ist kein Platz für Wagenbox und Einkaufswagen; ein Rollkorb fasst den Einkauf für ein Rezept, ohne getragen zu werden (wie bei Lidl). Die Vorspeisen machen aus dem Gericht ein Menü: Die Rezeptkarte nennt sie unter „Passt dazu“ mit Fachcode (z. B. #01 → V1 Antipasti). Sie stehen am Anfang des Rundlaufs, wo Kunden noch offen für Anregungen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Jedes Element folgt der Kette aus Modul 5: sichtbares Merkmal, beabsichtigte Funktion, Aussagegrenze. Das Fantasiefenster ist eine der Fensterarten aus Kapitel 10. Wir behaupten keine Wirkung, die wir nicht belegen können.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drei Gondeln folgen den Kochwelten der Tafel: erste Gondel Pasta Night, zweite Asian Night, dritte Mexican Night – jeweils beide Seiten. Wer am Dashboard eine Welt wählt, weiß sofort, in welchen Gang er muss. Am Kopf jeder Gondel zum Hauptgang stehen die Küchenhelfer, mit denen unser Koch gerade kocht: Pfanne, Reibe, Pfeffermühle. Das bringt Marge und verbindet die Showküche mit dem Verkaufsraum.
Begründung: Die Gondeln wiederholen die Spalten der Tafel: Wer „Asian Night“ gewählt hat, geht zur zweiten Gondel und findet dort alle haltbaren Zutaten. Das verbindet Dashboard und Regal zu einer einfachen Orientierung (Cognitive Map). Anders als beim Kochhaus gibt es keine Regale je Rezept, sondern nur drei grobe Welten – innen klassisch nach Warengruppen. Der Regalkopf ist die stärkste Zweitplatzierung: Non-Food aus der Showküche bringt mehr Marge als Lebensmittel und verbindet Küche und Verkaufsraum.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Regalbild der Pasta-Night-Gondel: senkrecht die Warengruppen – Tomaten, Sugo, Pesto, Bohnen –, waagerecht die Marken nach Preislage. Oben Premium, in der Mitte klassische Marken und Bio, unten Eigenmarke und Großpackungen. Das ist ein Kreuzblock: Die Kundin findet mit der Karte zuerst das Produkt und vergleicht dann quer die Preise. Die Regalzonen sind eingeblendet.
Begründung: Wir haben die drei Blockarten abgewogen: Ein Herstellerblock passt zu markentreuen Warengruppen (z. B. Kaffee), ein reiner Produktblock zum Vergleich innerhalb einer Warengruppe. Unsere Kundin sucht mit der Rezeptkarte nach einem Produkt („Passata“), nicht nach einer Marke – deshalb Warengruppen senkrecht. Die Marken laufen waagerecht als Band über alle Warengruppen: Wer günstig kocht, findet die Eigenmarke immer unten, wer Premium will, auf Augenhöhe. Facings und Regalhöhe steuern die Aufmerksamkeit.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Warum Kreuzblock? Ein Herstellerblock würde bedeuten: alle Produkte von Nonna Lia zusammen – gut für markentreue Kunden, aber unsere Kundin kommt mit einer Rezeptkarte, auf der „Passata“ steht, nicht die Marke. Ein reiner Produktblock ordnet die Warengruppe, mischt aber die Preislagen. Der Kreuzblock verbindet beides: senkrecht die Warengruppe, waagerecht die Marken – Premium oben, Eigenmarke unten, und das in jeder Warengruppe gleich.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 steht ein Produkt, das in mehreren Rezepten vorkommt? An genau einem Platz: Parmesan steht bei Käse in K2, beide Rezeptkarten verweisen dorthin. Auch in den Kochwelt-Gondeln steht jede Sorte nur einmal – das hält die Bestände an einem Ort und die Kühlkette sicher.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Kühlung an der Rückwand, von hinten aus der Kühlzelle befüllt. Alle kühlpflichtigen Zutaten stehen hier in ihren Warengruppen K1 bis K6 – Parmesan zum Beispiel bei Käse in K2. Über den Kühlregalen hängen Banner für die Orientierung.
Begründung: Kühlpflichtige Zutaten stehen auf fast jeder Rezeptkarte und ziehen die Kundschaft in die Tiefe des Raums. Die Befüllung von hinten trennt den Warenweg vom Kundenweg: Nachfüllen ohne Rollwagen im 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Showküche ist der visuelle Anker am Ende der Blickachse. Über dem Kochfeld hängt jetzt eine richtige Dunstabzugshaube. Den Stehtisch in der Mitte haben wir entfernt: Dafür gibt es vier Barhocker am Tresen und eine Sitzbank mit einem durchgehenden Tisch an der Glaswand. Zweimal täglich Live-Cooking, Probieren ist kostenlos, Kurse gibt es bewusst nicht.
Begründung: Die Blickachse vom Eingang endet auf dem Kochtresen (Arena-Prinzip). Das Live-Cooking zeigt ein Rezept der Matrix und macht es probierbar. Die Haube zieht Dunst direkt am Kochfeld ab, die Glaswand hält Geruch und Lärm von den Regalen fern. Statt eines Stehtischs in der Mitte gibt es Sitzplätze: Wer sitzt, probiert in Ruhe und bleibt länger; die Mitte bleibt für den Koch frei.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 der Frische folgen Dessert und Wein: erst die vernünftigen Zutaten, dann der Genuss – der Licensing-Effekt aus Hui et al. 2009.
Begründung: Studien zeigen einen „Licensing“-Effekt: Wer zuerst „vernünftige“ Produkte gekauft hat, steuert danach eher Genussartikel an. Erst Frische, dann Dessert und Wein folgt dieser Reihenfolge – und dem Schritt „Ergänzen“ der Rezeptkarte.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Basissortiment steht längs zum Schnellweg: Wandregal plus Gondel mit 1,75 Meter Gang. Wer gezielt Olivenöl sucht, findet es im Vorbeigehen. Die Schilder zeigen nur die Warengruppe – das ist hier verständlicher als ein Kürzel.
Begründung: Längsplatzierung unterstützt bestehende Kaufabsichten: Wer gezielt Olivenöl sucht, erkennt die Warengruppe im Vorbeigehen, vergleicht und greift. Das Basissortiment sichert die Grundfrequenz (Lehre aus dem Kochhaus).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Kasse mit Band und SB-Kasse direkt vor dem Ausgang, dazu das Impulsregal zum Ergänzen. Die Kassenschlange endet vor der Querung des Schnellwegs.
Begründung: Die Kasse liegt am Ende beider Wege. SB-Kassen fangen die Spitzen nach Vorlesung und Feierabend ab (Checkliste K8: Wartezeit). Ob SB-Technik angenommen wird, hängt laut Studien vom wahrgenommenen Nutzen ab – deshalb gibt es weiter eine Bedienkasse.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L-Lager hinten und rechts: Anlieferung über das Rolltor, Warenweg und Kundenweg kreuzen sich nicht. Die Kühlung wird von hinten befüllt.
Begründung: Waren-, Arbeits- und Kundenweg kreuzen sich kaum: Die Ware kommt hinten rein und geht direkt in Kühlzelle und Regale. Der Personalraum liegt abgetrennt vorn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Atmosphäre: warmes Licht über den Gondeln und der Küche, hell-neutrales Licht in der Basis, Eiche und Schwarzstahl, leise Musik. Dosierter Kochgeruch zu festen Zeiten, die Glaswand hält ihn von den Regalen fern.
Begründung: Stimmung dort, wo inspiriert werden soll, Klarheit dort, wo schnell gekauft wird. Studien zeigen: Mehr Licht an Displays führt dazu, dass mehr Artikel angefasst werden. Duft wirkt auf die Wahrnehmung von Umfeld und Ware, wenn er zum Sortiment passt.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Atmosphäre unterstützt die Zweiteilung des Konzepts: Stimmung dort, wo irritiert und inspiriert werden soll; Klarheit dort, wo schnell eingekauft wird. Der Kochgeruch ist unser stärkstes Element, deshalb steuern wir ihn über Zeiten und Dunstabzug. Im Modell: Musik mit M einschalten.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Typische Rückfragen: Wer nur Milch kauft, geht rechts durch die Basis zur Kühlung und zur Kasse – rund 25 Meter. Am Vormittag bereitet das Team das Live-Cooking vor, ab 12 Uhr wird gekocht. Und weil die Gondeln nach drei Kochwelten und innen nach Warengruppen sortiert sind, ändert ein neues Rezept nur die Karte, nicht das Regal.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Kette zeigt, wie jede Gestaltung aus dem Kundenproblem folgt. Das erste Glied ist unsere Setzung, die folgenden stützen sich auf Kapitel 10 und die ergänzenden Studien. Wir benennen ausdrücklich die Aussagegrenze, wie in Modul 7 geübt: Quellenwissen, Fallannahme, Entscheidung, Aussagegrenze.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Fundstellen stammen aus dem verbindlichen Kapitel 10, ergänzt um Studien aus der Literaturliste. Larson et al. stützt den Gedanken, Kundenwege zu beobachten; wir haben keine eigene Messung durchgeführt, das ist eine Aussagegrenze. Fallannahmen: Zielgruppe, Standort, Sortimentsumfang, alle Flächen- und Wirtschaftswerte, Artikelbelegung der Regale, Öffnungszeiten.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Store muss orientieren, ohne zu langweilen, und irritieren, ohne zu verwirren. Bei uns orientieren Dashboard, Fachcodes und die Gondeln in der Reihenfolge der Kochwelten, Vorspeisen und Küchenhelfer lassen entdecken, und die Showküche verführt. Offene Annahmen (Frequenz, Warenkorb, Wirkung des Live-Cookings) prüfen wir nach der Eröffnung.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nur bei Bedarf zeigen. Mit O (Übersicht) direkt zur genannten Folie springen.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rgbClr val="1F212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rgbClr val="1F2120"/>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A9A296"/>
                </a:solidFill>
              </a:rPr>
              <a:t>One Hour Kitchen · Store-Konzept · HD25A23</a:t>
            </a:r>
            <a:endParaRPr lang="en-US" sz="900" dirty="0"/>
          </a:p>
        </p:txBody>
      </p:sp>
      <p:sp>
        <p:nvSpPr>
          <p:cNvPr id="3" name="Text 1"/>
          <p:cNvSpPr/>
          <p:nvPr>
            <p:ph idx="101" type="title" hasCustomPrompt="1"/>
          </p:nvPr>
        </p:nvSpPr>
        <p:spPr>
          <a:xfrm>
            <a:off x="502920" y="658368"/>
            <a:ext cx="6766560" cy="1051560"/>
          </a:xfrm>
          <a:prstGeom prst="rect">
            <a:avLst/>
          </a:prstGeom>
          <a:noFill/>
          <a:ln/>
        </p:spPr>
        <p:txBody>
          <a:bodyPr wrap="square" rtlCol="0"/>
          <a:lstStyle>
            <a:lvl1pPr algn="l" indent="0" marL="0">
              <a:buNone/>
              <a:defRPr lang="en-US" sz="2800" dirty="0">
                <a:solidFill>
                  <a:srgbClr val="EFE7D6"/>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_BREIT">
    <p:bg>
      <p:bgPr>
        <a:solidFill>
          <a:srgbClr val="1F2120"/>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A9A296"/>
                </a:solidFill>
              </a:rPr>
              <a:t>One Hour Kitchen · Store-Konzept · HD25A23</a:t>
            </a:r>
            <a:endParaRPr lang="en-US" sz="900" dirty="0"/>
          </a:p>
        </p:txBody>
      </p:sp>
      <p:sp>
        <p:nvSpPr>
          <p:cNvPr id="3" name="Text 1"/>
          <p:cNvSpPr/>
          <p:nvPr>
            <p:ph idx="101" type="title" hasCustomPrompt="1"/>
          </p:nvPr>
        </p:nvSpPr>
        <p:spPr>
          <a:xfrm>
            <a:off x="502920" y="658368"/>
            <a:ext cx="11185855" cy="731520"/>
          </a:xfrm>
          <a:prstGeom prst="rect">
            <a:avLst/>
          </a:prstGeom>
          <a:noFill/>
          <a:ln/>
        </p:spPr>
        <p:txBody>
          <a:bodyPr wrap="square" rtlCol="0"/>
          <a:lstStyle>
            <a:lvl1pPr algn="l" indent="0" marL="0">
              <a:buNone/>
              <a:defRPr lang="en-US" sz="2800" dirty="0">
                <a:solidFill>
                  <a:srgbClr val="EFE7D6"/>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ION">
    <p:bg>
      <p:bgPr>
        <a:solidFill>
          <a:srgbClr val="1F21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629400" y="868680"/>
            <a:ext cx="5059375" cy="685800"/>
          </a:xfrm>
          <a:prstGeom prst="rect">
            <a:avLst/>
          </a:prstGeom>
          <a:noFill/>
          <a:ln/>
        </p:spPr>
        <p:txBody>
          <a:bodyPr wrap="square" rtlCol="0"/>
          <a:lstStyle>
            <a:lvl1pPr algn="l" indent="0" marL="0">
              <a:buNone/>
              <a:defRPr lang="en-US" sz="2400" dirty="0">
                <a:solidFill>
                  <a:srgbClr val="EFE7D6"/>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5.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odellbild-1" descr="/tmp/claude-0/-home-claude/bc97363c-87c0-54f2-9d3b-d4b9a8318a8f/scratchpad/ppt/shots/s00.png">    </p:cNvPr>
          <p:cNvPicPr>
            <a:picLocks noChangeAspect="1"/>
          </p:cNvPicPr>
          <p:nvPr/>
        </p:nvPicPr>
        <p:blipFill>
          <a:blip r:embed="rId1"/>
          <a:srcRect l="0" r="0" t="0" b="0"/>
          <a:stretch/>
        </p:blipFill>
        <p:spPr>
          <a:xfrm>
            <a:off x="0" y="0"/>
            <a:ext cx="12191695" cy="6858000"/>
          </a:xfrm>
          <a:prstGeom prst="rect">
            <a:avLst/>
          </a:prstGeom>
        </p:spPr>
      </p:pic>
      <p:sp>
        <p:nvSpPr>
          <p:cNvPr id="3" name="abdunkler-2"/>
          <p:cNvSpPr/>
          <p:nvPr/>
        </p:nvSpPr>
        <p:spPr>
          <a:xfrm>
            <a:off x="0" y="0"/>
            <a:ext cx="6949440" cy="6858000"/>
          </a:xfrm>
          <a:prstGeom prst="rect">
            <a:avLst/>
          </a:prstGeom>
          <a:solidFill>
            <a:srgbClr val="1F2120">
              <a:alpha val="88000"/>
            </a:srgbClr>
          </a:solidFill>
          <a:ln w="12700">
            <a:solidFill>
              <a:srgbClr val="1F2120">
                <a:alpha val="0"/>
              </a:srgbClr>
            </a:solidFill>
            <a:prstDash val="solid"/>
          </a:ln>
        </p:spPr>
      </p:sp>
      <p:sp>
        <p:nvSpPr>
          <p:cNvPr id="4" name="kicker-3"/>
          <p:cNvSpPr txBox="1"/>
          <p:nvPr/>
        </p:nvSpPr>
        <p:spPr>
          <a:xfrm>
            <a:off x="502920" y="640080"/>
            <a:ext cx="6217920" cy="256032"/>
          </a:xfrm>
          <a:prstGeom prst="rect">
            <a:avLst/>
          </a:prstGeom>
          <a:noFill/>
          <a:ln/>
        </p:spPr>
        <p:txBody>
          <a:bodyPr wrap="square" lIns="0" tIns="0" rIns="0" bIns="0" rtlCol="0" anchor="ctr"/>
          <a:lstStyle/>
          <a:p>
            <a:pPr indent="0" marL="0">
              <a:buNone/>
            </a:pPr>
            <a:r>
              <a:rPr lang="en-US" sz="1100" b="1" spc="150" kern="0" dirty="0">
                <a:solidFill>
                  <a:srgbClr val="B39B6B"/>
                </a:solidFill>
              </a:rPr>
              <a:t>STORE-KONZEPT · KURS HD25A23 · DHBW HEILBRONN · PRÜFUNG 19.10.2026</a:t>
            </a:r>
            <a:endParaRPr lang="en-US" sz="1100" dirty="0"/>
          </a:p>
        </p:txBody>
      </p:sp>
      <p:sp>
        <p:nvSpPr>
          <p:cNvPr id="5" name="titel-4"/>
          <p:cNvSpPr txBox="1"/>
          <p:nvPr/>
        </p:nvSpPr>
        <p:spPr>
          <a:xfrm>
            <a:off x="502920" y="1005840"/>
            <a:ext cx="6217920" cy="1005840"/>
          </a:xfrm>
          <a:prstGeom prst="rect">
            <a:avLst/>
          </a:prstGeom>
          <a:noFill/>
          <a:ln/>
        </p:spPr>
        <p:txBody>
          <a:bodyPr wrap="square" lIns="0" tIns="0" rIns="0" bIns="0" rtlCol="0" anchor="ctr"/>
          <a:lstStyle/>
          <a:p>
            <a:pPr indent="0" marL="0">
              <a:buNone/>
            </a:pPr>
            <a:r>
              <a:rPr lang="en-US" sz="4800" dirty="0">
                <a:solidFill>
                  <a:srgbClr val="EFE7D6"/>
                </a:solidFill>
                <a:latin typeface="Cambria" pitchFamily="34" charset="0"/>
                <a:ea typeface="Cambria" pitchFamily="34" charset="-122"/>
                <a:cs typeface="Cambria" pitchFamily="34" charset="-120"/>
              </a:rPr>
              <a:t>One Hour Kitchen</a:t>
            </a:r>
            <a:endParaRPr lang="en-US" sz="4800" dirty="0"/>
          </a:p>
        </p:txBody>
      </p:sp>
      <p:sp>
        <p:nvSpPr>
          <p:cNvPr id="6" name="Text 3"/>
          <p:cNvSpPr txBox="1"/>
          <p:nvPr/>
        </p:nvSpPr>
        <p:spPr>
          <a:xfrm>
            <a:off x="502920" y="2057400"/>
            <a:ext cx="6035040" cy="731520"/>
          </a:xfrm>
          <a:prstGeom prst="rect">
            <a:avLst/>
          </a:prstGeom>
          <a:noFill/>
          <a:ln/>
        </p:spPr>
        <p:txBody>
          <a:bodyPr wrap="square" lIns="0" tIns="0" rIns="0" bIns="0" rtlCol="0" anchor="ctr"/>
          <a:lstStyle/>
          <a:p>
            <a:pPr indent="0" marL="0">
              <a:buNone/>
            </a:pPr>
            <a:r>
              <a:rPr lang="en-US" sz="1600" dirty="0">
                <a:solidFill>
                  <a:srgbClr val="A9A296"/>
                </a:solidFill>
              </a:rPr>
              <a:t>Shop. Cook. Enjoy. – Food-Store mit Rezept-Matrix, klassischem Sortiment und Showküche</a:t>
            </a:r>
            <a:endParaRPr lang="en-US" sz="1600" dirty="0"/>
          </a:p>
        </p:txBody>
      </p:sp>
      <p:sp>
        <p:nvSpPr>
          <p:cNvPr id="7" name="Text 4"/>
          <p:cNvSpPr txBox="1"/>
          <p:nvPr/>
        </p:nvSpPr>
        <p:spPr>
          <a:xfrm>
            <a:off x="502920" y="2926080"/>
            <a:ext cx="6035040" cy="914400"/>
          </a:xfrm>
          <a:prstGeom prst="rect">
            <a:avLst/>
          </a:prstGeom>
          <a:noFill/>
          <a:ln/>
        </p:spPr>
        <p:txBody>
          <a:bodyPr wrap="square" lIns="0" tIns="0" rIns="0" bIns="0" rtlCol="0" anchor="ctr"/>
          <a:lstStyle/>
          <a:p>
            <a:pPr indent="0" marL="0">
              <a:buNone/>
            </a:pPr>
            <a:r>
              <a:rPr lang="en-US" sz="1200" b="1" dirty="0">
                <a:solidFill>
                  <a:srgbClr val="D64527"/>
                </a:solidFill>
              </a:rPr>
              <a:t>Leitfrage</a:t>
            </a:r>
            <a:endParaRPr lang="en-US" sz="1200" dirty="0"/>
          </a:p>
          <a:p>
            <a:pPr indent="0" marL="0">
              <a:buNone/>
            </a:pPr>
            <a:r>
              <a:rPr lang="en-US" sz="1600" i="1" dirty="0">
                <a:solidFill>
                  <a:srgbClr val="EFE7D6"/>
                </a:solidFill>
              </a:rPr>
              <a:t>Wie entscheidet man auf 190 m² in wenigen Minuten, was man heute Abend kocht – und findet alles dafür?</a:t>
            </a:r>
            <a:endParaRPr lang="en-US" sz="1200" dirty="0"/>
          </a:p>
        </p:txBody>
      </p:sp>
      <p:sp>
        <p:nvSpPr>
          <p:cNvPr id="8" name="agenda-5"/>
          <p:cNvSpPr txBox="1"/>
          <p:nvPr/>
        </p:nvSpPr>
        <p:spPr>
          <a:xfrm>
            <a:off x="502920" y="3977640"/>
            <a:ext cx="6035040" cy="1280160"/>
          </a:xfrm>
          <a:prstGeom prst="rect">
            <a:avLst/>
          </a:prstGeom>
          <a:noFill/>
          <a:ln/>
        </p:spPr>
        <p:txBody>
          <a:bodyPr wrap="square" lIns="0" tIns="0" rIns="0" bIns="0" rtlCol="0" anchor="ctr"/>
          <a:lstStyle/>
          <a:p>
            <a:pPr indent="0" marL="0">
              <a:spcAft>
                <a:spcPts val="400"/>
              </a:spcAft>
              <a:buNone/>
            </a:pPr>
            <a:r>
              <a:rPr lang="en-US" sz="1400" dirty="0">
                <a:solidFill>
                  <a:srgbClr val="EFE7D6"/>
                </a:solidFill>
              </a:rPr>
              <a:t>01   Idee, Wettbewerb, Rahmen, Wirtschaftlichkeit</a:t>
            </a:r>
            <a:endParaRPr lang="en-US" sz="1400" dirty="0"/>
          </a:p>
          <a:p>
            <a:pPr indent="0" marL="0">
              <a:spcAft>
                <a:spcPts val="400"/>
              </a:spcAft>
              <a:buNone/>
            </a:pPr>
            <a:r>
              <a:rPr lang="en-US" sz="1400" dirty="0">
                <a:solidFill>
                  <a:srgbClr val="EFE7D6"/>
                </a:solidFill>
              </a:rPr>
              <a:t>02   Grundriss: von der Skizze zum Layout</a:t>
            </a:r>
            <a:endParaRPr lang="en-US" sz="1400" dirty="0"/>
          </a:p>
          <a:p>
            <a:pPr indent="0" marL="0">
              <a:spcAft>
                <a:spcPts val="400"/>
              </a:spcAft>
              <a:buNone/>
            </a:pPr>
            <a:r>
              <a:rPr lang="en-US" sz="1400" dirty="0">
                <a:solidFill>
                  <a:srgbClr val="EFE7D6"/>
                </a:solidFill>
              </a:rPr>
              <a:t>03   Rundgang durch den Store</a:t>
            </a:r>
            <a:endParaRPr lang="en-US" sz="1400" dirty="0"/>
          </a:p>
          <a:p>
            <a:pPr indent="0" marL="0">
              <a:spcAft>
                <a:spcPts val="400"/>
              </a:spcAft>
              <a:buNone/>
            </a:pPr>
            <a:r>
              <a:rPr lang="en-US" sz="1400" dirty="0">
                <a:solidFill>
                  <a:srgbClr val="EFE7D6"/>
                </a:solidFill>
              </a:rPr>
              <a:t>04   Bewertung und Fazit</a:t>
            </a:r>
            <a:endParaRPr lang="en-US" sz="1400" dirty="0"/>
          </a:p>
        </p:txBody>
      </p:sp>
      <p:sp>
        <p:nvSpPr>
          <p:cNvPr id="9" name="Text 6"/>
          <p:cNvSpPr txBox="1"/>
          <p:nvPr/>
        </p:nvSpPr>
        <p:spPr>
          <a:xfrm>
            <a:off x="502920" y="5440680"/>
            <a:ext cx="6217920" cy="457200"/>
          </a:xfrm>
          <a:prstGeom prst="rect">
            <a:avLst/>
          </a:prstGeom>
          <a:noFill/>
          <a:ln/>
        </p:spPr>
        <p:txBody>
          <a:bodyPr wrap="square" lIns="0" tIns="0" rIns="0" bIns="0" rtlCol="0" anchor="ctr"/>
          <a:lstStyle/>
          <a:p>
            <a:pPr indent="0" marL="0">
              <a:buNone/>
            </a:pPr>
            <a:r>
              <a:rPr lang="en-US" sz="1000" dirty="0">
                <a:solidFill>
                  <a:srgbClr val="A9A296"/>
                </a:solidFill>
              </a:rPr>
              <a:t>Q = Quellenwissen mit Fundstelle   ·   A = gekennzeichnete Fallannahme   ·   ✓ an Skript/Abstract geprüft   ·   ◐ Fundstelle im Volltext prüfen</a:t>
            </a:r>
            <a:endParaRPr lang="en-US" sz="1000" dirty="0"/>
          </a:p>
        </p:txBody>
      </p:sp>
      <p:sp>
        <p:nvSpPr>
          <p:cNvPr id="10" name="Text 7"/>
          <p:cNvSpPr txBox="1"/>
          <p:nvPr/>
        </p:nvSpPr>
        <p:spPr>
          <a:xfrm>
            <a:off x="502920" y="6035040"/>
            <a:ext cx="6035040" cy="320040"/>
          </a:xfrm>
          <a:prstGeom prst="rect">
            <a:avLst/>
          </a:prstGeom>
          <a:noFill/>
          <a:ln/>
        </p:spPr>
        <p:txBody>
          <a:bodyPr wrap="square" lIns="0" tIns="0" rIns="0" bIns="0" rtlCol="0" anchor="ctr"/>
          <a:lstStyle/>
          <a:p>
            <a:pPr indent="0" marL="0">
              <a:buNone/>
            </a:pPr>
            <a:r>
              <a:rPr lang="en-US" sz="1200" dirty="0">
                <a:solidFill>
                  <a:srgbClr val="B39B6B"/>
                </a:solidFill>
              </a:rPr>
              <a:t>Gruppe: Name 1 · Name 2 · Name 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6"/>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1 · KUNDENPROBLEM UND IDEE</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Zwei Entscheidungen am Eingang, ein Rezept für heute Abend</a:t>
            </a:r>
            <a:endParaRPr lang="en-US" sz="2800" dirty="0"/>
          </a:p>
        </p:txBody>
      </p:sp>
      <p:sp>
        <p:nvSpPr>
          <p:cNvPr id="4" name="zitat-7"/>
          <p:cNvSpPr txBox="1"/>
          <p:nvPr/>
        </p:nvSpPr>
        <p:spPr>
          <a:xfrm>
            <a:off x="502920" y="1463040"/>
            <a:ext cx="11185855" cy="499872"/>
          </a:xfrm>
          <a:prstGeom prst="rect">
            <a:avLst/>
          </a:prstGeom>
          <a:noFill/>
          <a:ln/>
        </p:spPr>
        <p:txBody>
          <a:bodyPr wrap="square" lIns="0" tIns="0" rIns="0" bIns="0" rtlCol="0" anchor="ctr"/>
          <a:lstStyle/>
          <a:p>
            <a:pPr indent="0" marL="0">
              <a:buNone/>
            </a:pPr>
            <a:r>
              <a:rPr lang="en-US" sz="2200" i="1" dirty="0">
                <a:solidFill>
                  <a:srgbClr val="B39B6B"/>
                </a:solidFill>
                <a:latin typeface="Cambria" pitchFamily="34" charset="0"/>
                <a:ea typeface="Cambria" pitchFamily="34" charset="-122"/>
                <a:cs typeface="Cambria" pitchFamily="34" charset="-120"/>
              </a:rPr>
              <a:t>„Was kochen wir heute Abend?“</a:t>
            </a:r>
            <a:endParaRPr lang="en-US" sz="2200" dirty="0"/>
          </a:p>
        </p:txBody>
      </p:sp>
      <p:sp>
        <p:nvSpPr>
          <p:cNvPr id="5" name="karte-8"/>
          <p:cNvSpPr/>
          <p:nvPr/>
        </p:nvSpPr>
        <p:spPr>
          <a:xfrm>
            <a:off x="502920" y="2100072"/>
            <a:ext cx="3576218" cy="1304544"/>
          </a:xfrm>
          <a:prstGeom prst="roundRect">
            <a:avLst>
              <a:gd name="adj" fmla="val 5607"/>
            </a:avLst>
          </a:prstGeom>
          <a:solidFill>
            <a:srgbClr val="2D2F31"/>
          </a:solidFill>
          <a:ln w="9525">
            <a:solidFill>
              <a:srgbClr val="3A3C3E"/>
            </a:solidFill>
            <a:prstDash val="solid"/>
          </a:ln>
        </p:spPr>
      </p:sp>
      <p:sp>
        <p:nvSpPr>
          <p:cNvPr id="6" name="Shape 4"/>
          <p:cNvSpPr/>
          <p:nvPr/>
        </p:nvSpPr>
        <p:spPr>
          <a:xfrm>
            <a:off x="685800" y="2264664"/>
            <a:ext cx="329184" cy="329184"/>
          </a:xfrm>
          <a:prstGeom prst="ellipse">
            <a:avLst/>
          </a:prstGeom>
          <a:solidFill>
            <a:srgbClr val="D64527"/>
          </a:solidFill>
          <a:ln w="12700">
            <a:solidFill>
              <a:srgbClr val="D64527"/>
            </a:solidFill>
            <a:prstDash val="solid"/>
          </a:ln>
        </p:spPr>
      </p:sp>
      <p:sp>
        <p:nvSpPr>
          <p:cNvPr id="7" name="Text 5"/>
          <p:cNvSpPr txBox="1"/>
          <p:nvPr/>
        </p:nvSpPr>
        <p:spPr>
          <a:xfrm>
            <a:off x="685800" y="22646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6"/>
          <p:cNvSpPr txBox="1"/>
          <p:nvPr/>
        </p:nvSpPr>
        <p:spPr>
          <a:xfrm>
            <a:off x="1124712" y="2264664"/>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Matrix-Dashboard</a:t>
            </a:r>
            <a:endParaRPr lang="en-US" sz="1500" dirty="0"/>
          </a:p>
        </p:txBody>
      </p:sp>
      <p:sp>
        <p:nvSpPr>
          <p:cNvPr id="9" name="Text 7"/>
          <p:cNvSpPr txBox="1"/>
          <p:nvPr/>
        </p:nvSpPr>
        <p:spPr>
          <a:xfrm>
            <a:off x="685800" y="2648712"/>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Küche × Anlass = ein Rezept</a:t>
            </a:r>
            <a:endParaRPr lang="en-US" sz="1400" dirty="0"/>
          </a:p>
        </p:txBody>
      </p:sp>
      <p:sp>
        <p:nvSpPr>
          <p:cNvPr id="10" name="karte-9"/>
          <p:cNvSpPr/>
          <p:nvPr/>
        </p:nvSpPr>
        <p:spPr>
          <a:xfrm>
            <a:off x="4307738" y="2100072"/>
            <a:ext cx="3576218" cy="1304544"/>
          </a:xfrm>
          <a:prstGeom prst="roundRect">
            <a:avLst>
              <a:gd name="adj" fmla="val 5607"/>
            </a:avLst>
          </a:prstGeom>
          <a:solidFill>
            <a:srgbClr val="2D2F31"/>
          </a:solidFill>
          <a:ln w="9525">
            <a:solidFill>
              <a:srgbClr val="3A3C3E"/>
            </a:solidFill>
            <a:prstDash val="solid"/>
          </a:ln>
        </p:spPr>
      </p:sp>
      <p:sp>
        <p:nvSpPr>
          <p:cNvPr id="11" name="Shape 9"/>
          <p:cNvSpPr/>
          <p:nvPr/>
        </p:nvSpPr>
        <p:spPr>
          <a:xfrm>
            <a:off x="4490618" y="2264664"/>
            <a:ext cx="329184" cy="329184"/>
          </a:xfrm>
          <a:prstGeom prst="ellipse">
            <a:avLst/>
          </a:prstGeom>
          <a:solidFill>
            <a:srgbClr val="D64527"/>
          </a:solidFill>
          <a:ln w="12700">
            <a:solidFill>
              <a:srgbClr val="D64527"/>
            </a:solidFill>
            <a:prstDash val="solid"/>
          </a:ln>
        </p:spPr>
      </p:sp>
      <p:sp>
        <p:nvSpPr>
          <p:cNvPr id="12" name="Text 10"/>
          <p:cNvSpPr txBox="1"/>
          <p:nvPr/>
        </p:nvSpPr>
        <p:spPr>
          <a:xfrm>
            <a:off x="4490618" y="22646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1"/>
          <p:cNvSpPr txBox="1"/>
          <p:nvPr/>
        </p:nvSpPr>
        <p:spPr>
          <a:xfrm>
            <a:off x="4929530" y="2264664"/>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Rezeptkarte</a:t>
            </a:r>
            <a:endParaRPr lang="en-US" sz="1500" dirty="0"/>
          </a:p>
        </p:txBody>
      </p:sp>
      <p:sp>
        <p:nvSpPr>
          <p:cNvPr id="14" name="Text 12"/>
          <p:cNvSpPr txBox="1"/>
          <p:nvPr/>
        </p:nvSpPr>
        <p:spPr>
          <a:xfrm>
            <a:off x="4490618" y="2648712"/>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Fachcodes zeigen, in welchem Regal jede Zutat steht</a:t>
            </a:r>
            <a:endParaRPr lang="en-US" sz="1400" dirty="0"/>
          </a:p>
        </p:txBody>
      </p:sp>
      <p:sp>
        <p:nvSpPr>
          <p:cNvPr id="15" name="karte-10"/>
          <p:cNvSpPr/>
          <p:nvPr/>
        </p:nvSpPr>
        <p:spPr>
          <a:xfrm>
            <a:off x="8112557" y="2100072"/>
            <a:ext cx="3576218" cy="1304544"/>
          </a:xfrm>
          <a:prstGeom prst="roundRect">
            <a:avLst>
              <a:gd name="adj" fmla="val 5607"/>
            </a:avLst>
          </a:prstGeom>
          <a:solidFill>
            <a:srgbClr val="2D2F31"/>
          </a:solidFill>
          <a:ln w="9525">
            <a:solidFill>
              <a:srgbClr val="3A3C3E"/>
            </a:solidFill>
            <a:prstDash val="solid"/>
          </a:ln>
        </p:spPr>
      </p:sp>
      <p:sp>
        <p:nvSpPr>
          <p:cNvPr id="16" name="Shape 14"/>
          <p:cNvSpPr/>
          <p:nvPr/>
        </p:nvSpPr>
        <p:spPr>
          <a:xfrm>
            <a:off x="8295437" y="2264664"/>
            <a:ext cx="329184" cy="329184"/>
          </a:xfrm>
          <a:prstGeom prst="ellipse">
            <a:avLst/>
          </a:prstGeom>
          <a:solidFill>
            <a:srgbClr val="D64527"/>
          </a:solidFill>
          <a:ln w="12700">
            <a:solidFill>
              <a:srgbClr val="D64527"/>
            </a:solidFill>
            <a:prstDash val="solid"/>
          </a:ln>
        </p:spPr>
      </p:sp>
      <p:sp>
        <p:nvSpPr>
          <p:cNvPr id="17" name="Text 15"/>
          <p:cNvSpPr txBox="1"/>
          <p:nvPr/>
        </p:nvSpPr>
        <p:spPr>
          <a:xfrm>
            <a:off x="8295437" y="22646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6"/>
          <p:cNvSpPr txBox="1"/>
          <p:nvPr/>
        </p:nvSpPr>
        <p:spPr>
          <a:xfrm>
            <a:off x="8734349" y="2264664"/>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Showküche</a:t>
            </a:r>
            <a:endParaRPr lang="en-US" sz="1500" dirty="0"/>
          </a:p>
        </p:txBody>
      </p:sp>
      <p:sp>
        <p:nvSpPr>
          <p:cNvPr id="19" name="Text 17"/>
          <p:cNvSpPr txBox="1"/>
          <p:nvPr/>
        </p:nvSpPr>
        <p:spPr>
          <a:xfrm>
            <a:off x="8295437" y="2648712"/>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Live-Cooking zweimal täglich zum Probieren</a:t>
            </a:r>
            <a:endParaRPr lang="en-US" sz="1400" dirty="0"/>
          </a:p>
        </p:txBody>
      </p:sp>
      <p:sp>
        <p:nvSpPr>
          <p:cNvPr id="20" name="Text 18"/>
          <p:cNvSpPr txBox="1"/>
          <p:nvPr/>
        </p:nvSpPr>
        <p:spPr>
          <a:xfrm>
            <a:off x="502920" y="3678936"/>
            <a:ext cx="11185855" cy="274320"/>
          </a:xfrm>
          <a:prstGeom prst="rect">
            <a:avLst/>
          </a:prstGeom>
          <a:noFill/>
          <a:ln/>
        </p:spPr>
        <p:txBody>
          <a:bodyPr wrap="square" lIns="0" tIns="0" rIns="0" bIns="0" rtlCol="0" anchor="ctr"/>
          <a:lstStyle/>
          <a:p>
            <a:pPr indent="0" marL="0">
              <a:buNone/>
            </a:pPr>
            <a:r>
              <a:rPr lang="en-US" sz="1200" b="1" dirty="0">
                <a:solidFill>
                  <a:srgbClr val="B39B6B"/>
                </a:solidFill>
              </a:rPr>
              <a:t>Das „One Hour“-Versprechen</a:t>
            </a:r>
            <a:endParaRPr lang="en-US" sz="1200" dirty="0"/>
          </a:p>
        </p:txBody>
      </p:sp>
      <p:sp>
        <p:nvSpPr>
          <p:cNvPr id="21" name="kpi-11"/>
          <p:cNvSpPr txBox="1"/>
          <p:nvPr/>
        </p:nvSpPr>
        <p:spPr>
          <a:xfrm>
            <a:off x="502920" y="3998976"/>
            <a:ext cx="3576218" cy="914400"/>
          </a:xfrm>
          <a:prstGeom prst="rect">
            <a:avLst/>
          </a:prstGeom>
          <a:noFill/>
          <a:ln/>
        </p:spPr>
        <p:txBody>
          <a:bodyPr wrap="square" lIns="0" tIns="0" rIns="0" bIns="0" rtlCol="0" anchor="ctr"/>
          <a:lstStyle/>
          <a:p>
            <a:pPr indent="0" marL="0">
              <a:buNone/>
            </a:pPr>
            <a:r>
              <a:rPr lang="en-US" sz="3200" b="1" dirty="0">
                <a:solidFill>
                  <a:srgbClr val="D64527"/>
                </a:solidFill>
                <a:latin typeface="Cambria" pitchFamily="34" charset="0"/>
                <a:ea typeface="Cambria" pitchFamily="34" charset="-122"/>
                <a:cs typeface="Cambria" pitchFamily="34" charset="-120"/>
              </a:rPr>
              <a:t>≤ 15 Min.</a:t>
            </a:r>
            <a:endParaRPr lang="en-US" sz="3200" dirty="0"/>
          </a:p>
          <a:p>
            <a:pPr indent="0" marL="0">
              <a:buNone/>
            </a:pPr>
            <a:r>
              <a:rPr lang="en-US" sz="1300" dirty="0">
                <a:solidFill>
                  <a:srgbClr val="A9A296"/>
                </a:solidFill>
              </a:rPr>
              <a:t>Einkauf</a:t>
            </a:r>
            <a:endParaRPr lang="en-US" sz="3200" dirty="0"/>
          </a:p>
        </p:txBody>
      </p:sp>
      <p:sp>
        <p:nvSpPr>
          <p:cNvPr id="22" name="kpi-12"/>
          <p:cNvSpPr txBox="1"/>
          <p:nvPr/>
        </p:nvSpPr>
        <p:spPr>
          <a:xfrm>
            <a:off x="4307738" y="3998976"/>
            <a:ext cx="3576218" cy="914400"/>
          </a:xfrm>
          <a:prstGeom prst="rect">
            <a:avLst/>
          </a:prstGeom>
          <a:noFill/>
          <a:ln/>
        </p:spPr>
        <p:txBody>
          <a:bodyPr wrap="square" lIns="0" tIns="0" rIns="0" bIns="0" rtlCol="0" anchor="ctr"/>
          <a:lstStyle/>
          <a:p>
            <a:pPr indent="0" marL="0">
              <a:buNone/>
            </a:pPr>
            <a:r>
              <a:rPr lang="en-US" sz="3200" b="1" dirty="0">
                <a:solidFill>
                  <a:srgbClr val="D64527"/>
                </a:solidFill>
                <a:latin typeface="Cambria" pitchFamily="34" charset="0"/>
                <a:ea typeface="Cambria" pitchFamily="34" charset="-122"/>
                <a:cs typeface="Cambria" pitchFamily="34" charset="-120"/>
              </a:rPr>
              <a:t>≤ 45 Min.</a:t>
            </a:r>
            <a:endParaRPr lang="en-US" sz="3200" dirty="0"/>
          </a:p>
          <a:p>
            <a:pPr indent="0" marL="0">
              <a:buNone/>
            </a:pPr>
            <a:r>
              <a:rPr lang="en-US" sz="1300" dirty="0">
                <a:solidFill>
                  <a:srgbClr val="A9A296"/>
                </a:solidFill>
              </a:rPr>
              <a:t>Kochzeit laut Rezeptkarte</a:t>
            </a:r>
            <a:endParaRPr lang="en-US" sz="3200" dirty="0"/>
          </a:p>
        </p:txBody>
      </p:sp>
      <p:sp>
        <p:nvSpPr>
          <p:cNvPr id="23" name="kpi-13"/>
          <p:cNvSpPr txBox="1"/>
          <p:nvPr/>
        </p:nvSpPr>
        <p:spPr>
          <a:xfrm>
            <a:off x="8112557" y="3998976"/>
            <a:ext cx="3576218" cy="914400"/>
          </a:xfrm>
          <a:prstGeom prst="rect">
            <a:avLst/>
          </a:prstGeom>
          <a:noFill/>
          <a:ln/>
        </p:spPr>
        <p:txBody>
          <a:bodyPr wrap="square" lIns="0" tIns="0" rIns="0" bIns="0" rtlCol="0" anchor="ctr"/>
          <a:lstStyle/>
          <a:p>
            <a:pPr indent="0" marL="0">
              <a:buNone/>
            </a:pPr>
            <a:r>
              <a:rPr lang="en-US" sz="3200" b="1" dirty="0">
                <a:solidFill>
                  <a:srgbClr val="D64527"/>
                </a:solidFill>
                <a:latin typeface="Cambria" pitchFamily="34" charset="0"/>
                <a:ea typeface="Cambria" pitchFamily="34" charset="-122"/>
                <a:cs typeface="Cambria" pitchFamily="34" charset="-120"/>
              </a:rPr>
              <a:t>9</a:t>
            </a:r>
            <a:endParaRPr lang="en-US" sz="3200" dirty="0"/>
          </a:p>
          <a:p>
            <a:pPr indent="0" marL="0">
              <a:buNone/>
            </a:pPr>
            <a:r>
              <a:rPr lang="en-US" sz="1300" dirty="0">
                <a:solidFill>
                  <a:srgbClr val="A9A296"/>
                </a:solidFill>
              </a:rPr>
              <a:t>Rezepte im Monat</a:t>
            </a:r>
            <a:endParaRPr lang="en-US" sz="3200" dirty="0"/>
          </a:p>
        </p:txBody>
      </p:sp>
      <p:sp>
        <p:nvSpPr>
          <p:cNvPr id="24" name="tag-14"/>
          <p:cNvSpPr/>
          <p:nvPr/>
        </p:nvSpPr>
        <p:spPr>
          <a:xfrm>
            <a:off x="502920" y="5032248"/>
            <a:ext cx="274320" cy="219456"/>
          </a:xfrm>
          <a:prstGeom prst="roundRect">
            <a:avLst>
              <a:gd name="adj" fmla="val 20833"/>
            </a:avLst>
          </a:prstGeom>
          <a:solidFill>
            <a:srgbClr val="B08A34"/>
          </a:solidFill>
          <a:ln w="12700">
            <a:solidFill>
              <a:srgbClr val="B08A34"/>
            </a:solidFill>
            <a:prstDash val="solid"/>
          </a:ln>
        </p:spPr>
      </p:sp>
      <p:sp>
        <p:nvSpPr>
          <p:cNvPr id="25" name="Text 23"/>
          <p:cNvSpPr txBox="1"/>
          <p:nvPr/>
        </p:nvSpPr>
        <p:spPr>
          <a:xfrm>
            <a:off x="502920" y="503224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26" name="tagtext-15"/>
          <p:cNvSpPr txBox="1"/>
          <p:nvPr/>
        </p:nvSpPr>
        <p:spPr>
          <a:xfrm>
            <a:off x="868680" y="5004816"/>
            <a:ext cx="10820095" cy="240792"/>
          </a:xfrm>
          <a:prstGeom prst="rect">
            <a:avLst/>
          </a:prstGeom>
          <a:noFill/>
          <a:ln/>
        </p:spPr>
        <p:txBody>
          <a:bodyPr wrap="square" lIns="0" tIns="0" rIns="0" bIns="0" rtlCol="0" anchor="t"/>
          <a:lstStyle/>
          <a:p>
            <a:pPr indent="0" marL="0">
              <a:buNone/>
            </a:pPr>
            <a:r>
              <a:rPr lang="en-US" sz="1100" dirty="0">
                <a:solidFill>
                  <a:srgbClr val="A9A296"/>
                </a:solidFill>
              </a:rPr>
              <a:t>Zielgruppe und Zeiten sind Annahmen, nicht gemessen</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16"/>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1 · WETTBEWERB UND USP</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Wir lösen die Frage für heute Abend, nicht für nächste Woche</a:t>
            </a:r>
            <a:endParaRPr lang="en-US" sz="2800" dirty="0"/>
          </a:p>
        </p:txBody>
      </p:sp>
      <p:graphicFrame>
        <p:nvGraphicFramePr>
          <p:cNvPr id="4" name="tabelle-17"/>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2237171"/>
                <a:gridCol w="3020181"/>
                <a:gridCol w="3020181"/>
                <a:gridCol w="2908322"/>
              </a:tblGrid>
              <a:tr h="0">
                <a:tc>
                  <a:txBody>
                    <a:bodyPr/>
                    <a:lstStyle/>
                    <a:p>
                      <a:pPr indent="0" marL="0">
                        <a:buNone/>
                      </a:pP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heute spontan entscheiden</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Rezept + Zutaten an einem Ort</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live probieren</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400" b="1" dirty="0">
                          <a:solidFill>
                            <a:srgbClr val="EFE7D6"/>
                          </a:solidFill>
                        </a:rPr>
                        <a:t>Supermarkt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Kochbox (z. B. HelloFresh)</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 Tage vorher</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 per Lieferung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Kochschule</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 fester Termin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Kochhaus (2010–2019)</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 nach Rezepten sortiert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One Hour Kitchen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 Karte + Gondel je Kochwelt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bl>
          </a:graphicData>
        </a:graphic>
      </p:graphicFrame>
      <p:sp>
        <p:nvSpPr>
          <p:cNvPr id="5" name="karte-18"/>
          <p:cNvSpPr/>
          <p:nvPr/>
        </p:nvSpPr>
        <p:spPr>
          <a:xfrm>
            <a:off x="502920" y="4061460"/>
            <a:ext cx="5478628" cy="1761744"/>
          </a:xfrm>
          <a:prstGeom prst="roundRect">
            <a:avLst>
              <a:gd name="adj" fmla="val 4152"/>
            </a:avLst>
          </a:prstGeom>
          <a:solidFill>
            <a:srgbClr val="2D2F31"/>
          </a:solidFill>
          <a:ln w="9525">
            <a:solidFill>
              <a:srgbClr val="3A3C3E"/>
            </a:solidFill>
            <a:prstDash val="solid"/>
          </a:ln>
        </p:spPr>
      </p:sp>
      <p:sp>
        <p:nvSpPr>
          <p:cNvPr id="6" name="Text 3"/>
          <p:cNvSpPr txBox="1"/>
          <p:nvPr/>
        </p:nvSpPr>
        <p:spPr>
          <a:xfrm>
            <a:off x="685800" y="4226052"/>
            <a:ext cx="5112868" cy="329184"/>
          </a:xfrm>
          <a:prstGeom prst="rect">
            <a:avLst/>
          </a:prstGeom>
          <a:noFill/>
          <a:ln/>
        </p:spPr>
        <p:txBody>
          <a:bodyPr wrap="square" lIns="0" tIns="0" rIns="0" bIns="0" rtlCol="0" anchor="t"/>
          <a:lstStyle/>
          <a:p>
            <a:pPr indent="0" marL="0">
              <a:buNone/>
            </a:pPr>
            <a:r>
              <a:rPr lang="en-US" sz="1500" b="1" dirty="0">
                <a:solidFill>
                  <a:srgbClr val="EFE7D6"/>
                </a:solidFill>
              </a:rPr>
              <a:t>Referenz Kochhaus</a:t>
            </a:r>
            <a:endParaRPr lang="en-US" sz="1500" dirty="0"/>
          </a:p>
        </p:txBody>
      </p:sp>
      <p:sp>
        <p:nvSpPr>
          <p:cNvPr id="7" name="Text 4"/>
          <p:cNvSpPr txBox="1"/>
          <p:nvPr/>
        </p:nvSpPr>
        <p:spPr>
          <a:xfrm>
            <a:off x="685800" y="4610100"/>
            <a:ext cx="511286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2010–2019, bis zu 12 Läden, nicht profitabel → Insolvenz</a:t>
            </a:r>
            <a:endParaRPr lang="en-US" sz="1400" dirty="0"/>
          </a:p>
        </p:txBody>
      </p:sp>
      <p:sp>
        <p:nvSpPr>
          <p:cNvPr id="8" name="tag-19"/>
          <p:cNvSpPr/>
          <p:nvPr/>
        </p:nvSpPr>
        <p:spPr>
          <a:xfrm>
            <a:off x="685800" y="5393436"/>
            <a:ext cx="274320" cy="219456"/>
          </a:xfrm>
          <a:prstGeom prst="roundRect">
            <a:avLst>
              <a:gd name="adj" fmla="val 20833"/>
            </a:avLst>
          </a:prstGeom>
          <a:solidFill>
            <a:srgbClr val="4F7F5A"/>
          </a:solidFill>
          <a:ln w="12700">
            <a:solidFill>
              <a:srgbClr val="4F7F5A"/>
            </a:solidFill>
            <a:prstDash val="solid"/>
          </a:ln>
        </p:spPr>
      </p:sp>
      <p:sp>
        <p:nvSpPr>
          <p:cNvPr id="9" name="Text 6"/>
          <p:cNvSpPr txBox="1"/>
          <p:nvPr/>
        </p:nvSpPr>
        <p:spPr>
          <a:xfrm>
            <a:off x="685800" y="539343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0" name="tagtext-20"/>
          <p:cNvSpPr txBox="1"/>
          <p:nvPr/>
        </p:nvSpPr>
        <p:spPr>
          <a:xfrm>
            <a:off x="1051560" y="5366004"/>
            <a:ext cx="4747108" cy="240792"/>
          </a:xfrm>
          <a:prstGeom prst="rect">
            <a:avLst/>
          </a:prstGeom>
          <a:noFill/>
          <a:ln/>
        </p:spPr>
        <p:txBody>
          <a:bodyPr wrap="square" lIns="0" tIns="0" rIns="0" bIns="0" rtlCol="0" anchor="t"/>
          <a:lstStyle/>
          <a:p>
            <a:pPr indent="0" marL="0">
              <a:buNone/>
            </a:pPr>
            <a:r>
              <a:rPr lang="en-US" sz="1100" dirty="0">
                <a:solidFill>
                  <a:srgbClr val="A9A296"/>
                </a:solidFill>
              </a:rPr>
              <a:t>Tagesspiegel 2019 ✓</a:t>
            </a:r>
            <a:endParaRPr lang="en-US" sz="1100" dirty="0"/>
          </a:p>
        </p:txBody>
      </p:sp>
      <p:sp>
        <p:nvSpPr>
          <p:cNvPr id="11" name="karte-21"/>
          <p:cNvSpPr/>
          <p:nvPr/>
        </p:nvSpPr>
        <p:spPr>
          <a:xfrm>
            <a:off x="6210148" y="4061460"/>
            <a:ext cx="5478628" cy="1761744"/>
          </a:xfrm>
          <a:prstGeom prst="roundRect">
            <a:avLst>
              <a:gd name="adj" fmla="val 4152"/>
            </a:avLst>
          </a:prstGeom>
          <a:solidFill>
            <a:srgbClr val="2D2F31"/>
          </a:solidFill>
          <a:ln w="9525">
            <a:solidFill>
              <a:srgbClr val="3A3C3E"/>
            </a:solidFill>
            <a:prstDash val="solid"/>
          </a:ln>
        </p:spPr>
      </p:sp>
      <p:sp>
        <p:nvSpPr>
          <p:cNvPr id="12" name="Text 9"/>
          <p:cNvSpPr txBox="1"/>
          <p:nvPr/>
        </p:nvSpPr>
        <p:spPr>
          <a:xfrm>
            <a:off x="6393028" y="4226052"/>
            <a:ext cx="5112868" cy="329184"/>
          </a:xfrm>
          <a:prstGeom prst="rect">
            <a:avLst/>
          </a:prstGeom>
          <a:noFill/>
          <a:ln/>
        </p:spPr>
        <p:txBody>
          <a:bodyPr wrap="square" lIns="0" tIns="0" rIns="0" bIns="0" rtlCol="0" anchor="t"/>
          <a:lstStyle/>
          <a:p>
            <a:pPr indent="0" marL="0">
              <a:buNone/>
            </a:pPr>
            <a:r>
              <a:rPr lang="en-US" sz="1500" b="1" dirty="0">
                <a:solidFill>
                  <a:srgbClr val="EFE7D6"/>
                </a:solidFill>
              </a:rPr>
              <a:t>Unsere Lehre</a:t>
            </a:r>
            <a:endParaRPr lang="en-US" sz="1500" dirty="0"/>
          </a:p>
        </p:txBody>
      </p:sp>
      <p:sp>
        <p:nvSpPr>
          <p:cNvPr id="13" name="Text 10"/>
          <p:cNvSpPr txBox="1"/>
          <p:nvPr/>
        </p:nvSpPr>
        <p:spPr>
          <a:xfrm>
            <a:off x="6393028" y="4610100"/>
            <a:ext cx="511286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Keine Regale je Rezept: 3 Kochwelten, innen nach Warengruppen · Basissortiment · sichtbare Küche</a:t>
            </a:r>
            <a:endParaRPr lang="en-US" sz="1400" dirty="0"/>
          </a:p>
        </p:txBody>
      </p:sp>
      <p:sp>
        <p:nvSpPr>
          <p:cNvPr id="14" name="tag-22"/>
          <p:cNvSpPr/>
          <p:nvPr/>
        </p:nvSpPr>
        <p:spPr>
          <a:xfrm>
            <a:off x="6393028" y="5393436"/>
            <a:ext cx="274320" cy="219456"/>
          </a:xfrm>
          <a:prstGeom prst="roundRect">
            <a:avLst>
              <a:gd name="adj" fmla="val 20833"/>
            </a:avLst>
          </a:prstGeom>
          <a:solidFill>
            <a:srgbClr val="B08A34"/>
          </a:solidFill>
          <a:ln w="12700">
            <a:solidFill>
              <a:srgbClr val="B08A34"/>
            </a:solidFill>
            <a:prstDash val="solid"/>
          </a:ln>
        </p:spPr>
      </p:sp>
      <p:sp>
        <p:nvSpPr>
          <p:cNvPr id="15" name="Text 12"/>
          <p:cNvSpPr txBox="1"/>
          <p:nvPr/>
        </p:nvSpPr>
        <p:spPr>
          <a:xfrm>
            <a:off x="6393028" y="539343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6" name="tagtext-23"/>
          <p:cNvSpPr txBox="1"/>
          <p:nvPr/>
        </p:nvSpPr>
        <p:spPr>
          <a:xfrm>
            <a:off x="6758788" y="5366004"/>
            <a:ext cx="4747108" cy="240792"/>
          </a:xfrm>
          <a:prstGeom prst="rect">
            <a:avLst/>
          </a:prstGeom>
          <a:noFill/>
          <a:ln/>
        </p:spPr>
        <p:txBody>
          <a:bodyPr wrap="square" lIns="0" tIns="0" rIns="0" bIns="0" rtlCol="0" anchor="t"/>
          <a:lstStyle/>
          <a:p>
            <a:pPr indent="0" marL="0">
              <a:buNone/>
            </a:pPr>
            <a:r>
              <a:rPr lang="en-US" sz="1100" dirty="0">
                <a:solidFill>
                  <a:srgbClr val="A9A296"/>
                </a:solidFill>
              </a:rPr>
              <a:t>eigene Einschätzung</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modellbild-24" descr="/tmp/claude-0/-home-claude/bc97363c-87c0-54f2-9d3b-d4b9a8318a8f/scratchpad/ppt/shots/s03.png">    </p:cNvPr>
          <p:cNvPicPr>
            <a:picLocks noChangeAspect="1"/>
          </p:cNvPicPr>
          <p:nvPr/>
        </p:nvPicPr>
        <p:blipFill>
          <a:blip r:embed="rId1"/>
          <a:srcRect l="0" r="0" t="0" b="0"/>
          <a:stretch/>
        </p:blipFill>
        <p:spPr>
          <a:xfrm>
            <a:off x="7635240" y="0"/>
            <a:ext cx="4556455" cy="6858000"/>
          </a:xfrm>
          <a:prstGeom prst="rect">
            <a:avLst/>
          </a:prstGeom>
        </p:spPr>
      </p:pic>
      <p:sp>
        <p:nvSpPr>
          <p:cNvPr id="3" name="kicker-25"/>
          <p:cNvSpPr txBox="1"/>
          <p:nvPr/>
        </p:nvSpPr>
        <p:spPr>
          <a:xfrm>
            <a:off x="502920" y="384048"/>
            <a:ext cx="6766560" cy="256032"/>
          </a:xfrm>
          <a:prstGeom prst="rect">
            <a:avLst/>
          </a:prstGeom>
          <a:noFill/>
          <a:ln/>
        </p:spPr>
        <p:txBody>
          <a:bodyPr wrap="square" lIns="0" tIns="0" rIns="0" bIns="0" rtlCol="0" anchor="ctr"/>
          <a:lstStyle/>
          <a:p>
            <a:pPr indent="0" marL="0">
              <a:buNone/>
            </a:pPr>
            <a:r>
              <a:rPr lang="en-US" sz="1100" b="1" spc="150" kern="0" dirty="0">
                <a:solidFill>
                  <a:srgbClr val="B39B6B"/>
                </a:solidFill>
              </a:rPr>
              <a:t>1 · WETTBEWERB UND USP · ABGRENZUNG ZUR KOCHBOX</a:t>
            </a:r>
            <a:endParaRPr lang="en-US" sz="1100" dirty="0"/>
          </a:p>
        </p:txBody>
      </p:sp>
      <p:sp>
        <p:nvSpPr>
          <p:cNvPr id="4" name="Text 1"/>
          <p:cNvSpPr/>
          <p:nvPr>
            <p:ph idx="101" type="title" hasCustomPrompt="1"/>
          </p:nvPr>
        </p:nvSpPr>
        <p:spPr>
          <a:xfrm>
            <a:off x="502920" y="658368"/>
            <a:ext cx="6766560" cy="105156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Die Box plant die Woche, wir retten den Abend</a:t>
            </a:r>
            <a:endParaRPr lang="en-US" sz="2800" dirty="0"/>
          </a:p>
        </p:txBody>
      </p:sp>
      <p:graphicFrame>
        <p:nvGraphicFramePr>
          <p:cNvPr id="5" name="tabelle-26"/>
          <p:cNvGraphicFramePr>
            <a:graphicFrameLocks noGrp="1"/>
          </p:cNvGraphicFramePr>
          <p:nvPr>
            <p:extLst>
              <p:ext uri="{D42A27DB-BD31-4B8C-83A1-F6EECF244321}">
                <p14:modId xmlns:p14="http://schemas.microsoft.com/office/powerpoint/2010/main" val="1579011935"/>
              </p:ext>
            </p:extLst>
          </p:nvPr>
        </p:nvGraphicFramePr>
        <p:xfrm>
          <a:off x="502920" y="1783080"/>
          <a:ext cx="6766560" cy="914400"/>
        </p:xfrm>
        <a:graphic>
          <a:graphicData uri="http://schemas.openxmlformats.org/drawingml/2006/table">
            <a:tbl>
              <a:tblPr/>
              <a:tblGrid>
                <a:gridCol w="1894637"/>
                <a:gridCol w="2977286"/>
                <a:gridCol w="1894637"/>
              </a:tblGrid>
              <a:tr h="0">
                <a:tc>
                  <a:txBody>
                    <a:bodyPr/>
                    <a:lstStyle/>
                    <a:p>
                      <a:pPr indent="0" marL="0">
                        <a:buNone/>
                      </a:pP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Kochbox</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D64527"/>
                          </a:solidFill>
                        </a:rPr>
                        <a:t>One Hour Kitchen</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400" b="1" dirty="0">
                          <a:solidFill>
                            <a:srgbClr val="EFE7D6"/>
                          </a:solidFill>
                        </a:rPr>
                        <a:t>Entscheidung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Tage vorher</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EFE7D6"/>
                          </a:solidFill>
                        </a:rPr>
                        <a:t>heute, auf dem Heimweg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3A2A26"/>
                    </a:solidFill>
                  </a:tcPr>
                </a:tc>
              </a:tr>
              <a:tr h="0">
                <a:tc>
                  <a:txBody>
                    <a:bodyPr/>
                    <a:lstStyle/>
                    <a:p>
                      <a:pPr indent="0" marL="0">
                        <a:buNone/>
                      </a:pPr>
                      <a:r>
                        <a:rPr lang="en-US" sz="1400" b="1" dirty="0">
                          <a:solidFill>
                            <a:srgbClr val="EFE7D6"/>
                          </a:solidFill>
                        </a:rPr>
                        <a:t>Bindung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Abo-Modell</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EFE7D6"/>
                          </a:solidFill>
                        </a:rPr>
                        <a:t>jeder Einkauf einzeln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3A2A26"/>
                    </a:solidFill>
                  </a:tcPr>
                </a:tc>
              </a:tr>
              <a:tr h="0">
                <a:tc>
                  <a:txBody>
                    <a:bodyPr/>
                    <a:lstStyle/>
                    <a:p>
                      <a:pPr indent="0" marL="0">
                        <a:buNone/>
                      </a:pPr>
                      <a:r>
                        <a:rPr lang="en-US" sz="1400" b="1" dirty="0">
                          <a:solidFill>
                            <a:srgbClr val="EFE7D6"/>
                          </a:solidFill>
                        </a:rPr>
                        <a:t>Auswahl</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Wochenmenü am Bildschirm</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EFE7D6"/>
                          </a:solidFill>
                        </a:rPr>
                        <a:t>Küche × Anlass, Ware sehen und probieren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3A2A26"/>
                    </a:solidFill>
                  </a:tcPr>
                </a:tc>
              </a:tr>
            </a:tbl>
          </a:graphicData>
        </a:graphic>
      </p:graphicFrame>
      <p:sp>
        <p:nvSpPr>
          <p:cNvPr id="6" name="zitat-27"/>
          <p:cNvSpPr txBox="1"/>
          <p:nvPr/>
        </p:nvSpPr>
        <p:spPr>
          <a:xfrm>
            <a:off x="502920" y="4265930"/>
            <a:ext cx="6766560" cy="713232"/>
          </a:xfrm>
          <a:prstGeom prst="rect">
            <a:avLst/>
          </a:prstGeom>
          <a:noFill/>
          <a:ln/>
        </p:spPr>
        <p:txBody>
          <a:bodyPr wrap="square" lIns="0" tIns="0" rIns="0" bIns="0" rtlCol="0" anchor="ctr"/>
          <a:lstStyle/>
          <a:p>
            <a:pPr indent="0" marL="0">
              <a:buNone/>
            </a:pPr>
            <a:r>
              <a:rPr lang="en-US" sz="1800" i="1" dirty="0">
                <a:solidFill>
                  <a:srgbClr val="B39B6B"/>
                </a:solidFill>
                <a:latin typeface="Cambria" pitchFamily="34" charset="0"/>
                <a:ea typeface="Cambria" pitchFamily="34" charset="-122"/>
                <a:cs typeface="Cambria" pitchFamily="34" charset="-120"/>
              </a:rPr>
              <a:t>„HelloFresh löst die Frage, was ich nächste Woche koche. Wir lösen die Frage, was ich heute Abend koche.“</a:t>
            </a:r>
            <a:endParaRPr lang="en-US" sz="1800" dirty="0"/>
          </a:p>
        </p:txBody>
      </p:sp>
      <p:sp>
        <p:nvSpPr>
          <p:cNvPr id="7" name="tag-28"/>
          <p:cNvSpPr/>
          <p:nvPr/>
        </p:nvSpPr>
        <p:spPr>
          <a:xfrm>
            <a:off x="502920" y="5235194"/>
            <a:ext cx="274320" cy="219456"/>
          </a:xfrm>
          <a:prstGeom prst="roundRect">
            <a:avLst>
              <a:gd name="adj" fmla="val 20833"/>
            </a:avLst>
          </a:prstGeom>
          <a:solidFill>
            <a:srgbClr val="B08A34"/>
          </a:solidFill>
          <a:ln w="12700">
            <a:solidFill>
              <a:srgbClr val="B08A34"/>
            </a:solidFill>
            <a:prstDash val="solid"/>
          </a:ln>
        </p:spPr>
      </p:sp>
      <p:sp>
        <p:nvSpPr>
          <p:cNvPr id="8" name="Text 4"/>
          <p:cNvSpPr txBox="1"/>
          <p:nvPr/>
        </p:nvSpPr>
        <p:spPr>
          <a:xfrm>
            <a:off x="502920" y="5235194"/>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9" name="tagtext-29"/>
          <p:cNvSpPr txBox="1"/>
          <p:nvPr/>
        </p:nvSpPr>
        <p:spPr>
          <a:xfrm>
            <a:off x="868680" y="5207762"/>
            <a:ext cx="6400800" cy="240792"/>
          </a:xfrm>
          <a:prstGeom prst="rect">
            <a:avLst/>
          </a:prstGeom>
          <a:noFill/>
          <a:ln/>
        </p:spPr>
        <p:txBody>
          <a:bodyPr wrap="square" lIns="0" tIns="0" rIns="0" bIns="0" rtlCol="0" anchor="t"/>
          <a:lstStyle/>
          <a:p>
            <a:pPr indent="0" marL="0">
              <a:buNone/>
            </a:pPr>
            <a:r>
              <a:rPr lang="en-US" sz="1100" dirty="0">
                <a:solidFill>
                  <a:srgbClr val="A9A296"/>
                </a:solidFill>
              </a:rPr>
              <a:t>Größe der spontanen Zielgruppe ist Annahme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30"/>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2 · RAHMEN</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Rahmendaten: wer, wo, was und auf welcher Fläche</a:t>
            </a:r>
            <a:endParaRPr lang="en-US" sz="2800" dirty="0"/>
          </a:p>
        </p:txBody>
      </p:sp>
      <p:graphicFrame>
        <p:nvGraphicFramePr>
          <p:cNvPr id="6" name="tabelle-31"/>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2013454"/>
                <a:gridCol w="8277533"/>
                <a:gridCol w="894868"/>
              </a:tblGrid>
              <a:tr h="0">
                <a:tc>
                  <a:txBody>
                    <a:bodyPr/>
                    <a:lstStyle/>
                    <a:p>
                      <a:pPr indent="0" marL="0">
                        <a:buNone/>
                      </a:pP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Annahme</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400" b="1" dirty="0">
                          <a:solidFill>
                            <a:srgbClr val="EFE7D6"/>
                          </a:solidFill>
                        </a:rPr>
                        <a:t>Store</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Food-Store mit Rezept-Matrix, klassisch sortiertem Sortiment und Showküche (Live-Cooking)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Zielgruppe</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Studierende &amp; Berufstätige, 18–35, spontan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Standort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Heilbronn, Bildungscampus, Heimweg zum ÖPNV</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Sortiment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ca. 1.200 Artikel: 3 Kochwelt-Gondeln, Vorspeisen, Frische, Basis · 9 Matrix-Rezepte</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Fläche</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190 m² Verkauf + 49 m² L-Lager</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Öffnung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Mo–Sa 8–21 Uhr; Live-Cooking 12–13:30 und 17:30–19 Uhr</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A</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bl>
          </a:graphicData>
        </a:graphic>
      </p:graphicFrame>
      <p:sp>
        <p:nvSpPr>
          <p:cNvPr id="5" name="fuss-32"/>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Alle Rahmendaten sind Fallannahmen. Vergleich Kochhaus Berlin: 150 m², 600 Artikel ◐.</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33"/>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2 · RAHMEN · WIRTSCHAFTLICHE GRÖSSE</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Showküche: trägt sich, wenn der Ø-Bon um rund 4 € steigt</a:t>
            </a:r>
            <a:endParaRPr lang="en-US" sz="2800" dirty="0"/>
          </a:p>
        </p:txBody>
      </p:sp>
      <p:graphicFrame>
        <p:nvGraphicFramePr>
          <p:cNvPr id="7" name="tabelle-34"/>
          <p:cNvGraphicFramePr>
            <a:graphicFrameLocks noGrp="1"/>
          </p:cNvGraphicFramePr>
          <p:nvPr>
            <p:extLst>
              <p:ext uri="{D42A27DB-BD31-4B8C-83A1-F6EECF244321}">
                <p14:modId xmlns:p14="http://schemas.microsoft.com/office/powerpoint/2010/main" val="1579011935"/>
              </p:ext>
            </p:extLst>
          </p:nvPr>
        </p:nvGraphicFramePr>
        <p:xfrm>
          <a:off x="502920" y="1463040"/>
          <a:ext cx="6675120" cy="914400"/>
        </p:xfrm>
        <a:graphic>
          <a:graphicData uri="http://schemas.openxmlformats.org/drawingml/2006/table">
            <a:tbl>
              <a:tblPr/>
              <a:tblGrid>
                <a:gridCol w="2103120"/>
                <a:gridCol w="3200400"/>
                <a:gridCol w="1371600"/>
              </a:tblGrid>
              <a:tr h="0">
                <a:tc>
                  <a:txBody>
                    <a:bodyPr/>
                    <a:lstStyle/>
                    <a:p>
                      <a:pPr indent="0" marL="0">
                        <a:buNone/>
                      </a:pPr>
                      <a:r>
                        <a:rPr lang="en-US" sz="1100" b="1" dirty="0">
                          <a:solidFill>
                            <a:srgbClr val="B39B6B"/>
                          </a:solidFill>
                        </a:rPr>
                        <a:t>Position</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Rechnung</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Wert</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300" b="1" dirty="0">
                          <a:solidFill>
                            <a:srgbClr val="EFE7D6"/>
                          </a:solidFill>
                        </a:rPr>
                        <a:t>Umsatz Verkauf</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140 Kunden × 24 € × 300 Tage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1.008.000 €</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Rohertrag auf 18 m² Regal</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18 m² × 5.860 €/m² × 30 %</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31.600 €</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Kosten Live-Cooking</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Personal 2 h/Tag + Probierware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18.000 €</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Nötiger Mehr-Rohertrag</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31.600 € + 18.000 €</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49.600 €</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Break-even Ø-Bon</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49.600 € ÷ (140 × 300 × 30 %)</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+3,94 €</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bl>
          </a:graphicData>
        </a:graphic>
      </p:graphicFrame>
      <p:graphicFrame>
        <p:nvGraphicFramePr>
          <p:cNvPr id="5" name="diagramm-35" descr=""/>
          <p:cNvGraphicFramePr/>
          <p:nvPr/>
        </p:nvGraphicFramePr>
        <p:xfrm>
          <a:off x="7498080" y="1463040"/>
          <a:ext cx="4190695" cy="2743200"/>
        </p:xfrm>
        <a:graphic xmlns:a="http://schemas.openxmlformats.org/drawingml/2006/main">
          <a:graphicData uri="http://schemas.openxmlformats.org/drawingml/2006/chart">
            <c:chart xmlns:c="http://schemas.openxmlformats.org/drawingml/2006/chart" r:id="rId1"/>
          </a:graphicData>
        </a:graphic>
      </p:graphicFrame>
      <p:sp>
        <p:nvSpPr>
          <p:cNvPr id="6" name="merke-36"/>
          <p:cNvSpPr/>
          <p:nvPr/>
        </p:nvSpPr>
        <p:spPr>
          <a:xfrm>
            <a:off x="7498080" y="4343400"/>
            <a:ext cx="4190695" cy="1216152"/>
          </a:xfrm>
          <a:prstGeom prst="roundRect">
            <a:avLst>
              <a:gd name="adj" fmla="val 6015"/>
            </a:avLst>
          </a:prstGeom>
          <a:solidFill>
            <a:srgbClr val="3A2A26"/>
          </a:solidFill>
          <a:ln w="12700">
            <a:solidFill>
              <a:srgbClr val="D64527"/>
            </a:solidFill>
            <a:prstDash val="solid"/>
          </a:ln>
        </p:spPr>
      </p:sp>
      <p:sp>
        <p:nvSpPr>
          <p:cNvPr id="7" name="Text 3"/>
          <p:cNvSpPr txBox="1"/>
          <p:nvPr/>
        </p:nvSpPr>
        <p:spPr>
          <a:xfrm>
            <a:off x="7680960" y="4453128"/>
            <a:ext cx="3824935" cy="996696"/>
          </a:xfrm>
          <a:prstGeom prst="rect">
            <a:avLst/>
          </a:prstGeom>
          <a:noFill/>
          <a:ln/>
        </p:spPr>
        <p:txBody>
          <a:bodyPr wrap="square" lIns="0" tIns="0" rIns="0" bIns="0" rtlCol="0" anchor="t"/>
          <a:lstStyle/>
          <a:p>
            <a:pPr indent="0" marL="0">
              <a:buNone/>
            </a:pPr>
            <a:r>
              <a:rPr lang="en-US" sz="1300" b="1" dirty="0">
                <a:solidFill>
                  <a:srgbClr val="D64527"/>
                </a:solidFill>
              </a:rPr>
              <a:t>Break-even</a:t>
            </a:r>
            <a:endParaRPr lang="en-US" sz="1300" dirty="0"/>
          </a:p>
          <a:p>
            <a:pPr indent="0" marL="0">
              <a:buNone/>
            </a:pPr>
            <a:r>
              <a:rPr lang="en-US" sz="1400" dirty="0">
                <a:solidFill>
                  <a:srgbClr val="EFE7D6"/>
                </a:solidFill>
              </a:rPr>
              <a:t>≈ +4 € Ø-Bon oder ≈ 23 Kunden mehr pro Tag. Zum Vergleich Kochhaus Berlin: 250 Kunden/Tag ◐.</a:t>
            </a:r>
            <a:endParaRPr lang="en-US" sz="1300" dirty="0"/>
          </a:p>
        </p:txBody>
      </p:sp>
      <p:sp>
        <p:nvSpPr>
          <p:cNvPr id="8" name="tag-37"/>
          <p:cNvSpPr/>
          <p:nvPr/>
        </p:nvSpPr>
        <p:spPr>
          <a:xfrm>
            <a:off x="502920" y="5559552"/>
            <a:ext cx="274320" cy="219456"/>
          </a:xfrm>
          <a:prstGeom prst="roundRect">
            <a:avLst>
              <a:gd name="adj" fmla="val 20833"/>
            </a:avLst>
          </a:prstGeom>
          <a:solidFill>
            <a:srgbClr val="B08A34"/>
          </a:solidFill>
          <a:ln w="12700">
            <a:solidFill>
              <a:srgbClr val="B08A34"/>
            </a:solidFill>
            <a:prstDash val="solid"/>
          </a:ln>
        </p:spPr>
      </p:sp>
      <p:sp>
        <p:nvSpPr>
          <p:cNvPr id="9" name="Text 5"/>
          <p:cNvSpPr txBox="1"/>
          <p:nvPr/>
        </p:nvSpPr>
        <p:spPr>
          <a:xfrm>
            <a:off x="502920" y="5559552"/>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0" name="tagtext-38"/>
          <p:cNvSpPr txBox="1"/>
          <p:nvPr/>
        </p:nvSpPr>
        <p:spPr>
          <a:xfrm>
            <a:off x="868680" y="5532120"/>
            <a:ext cx="10820095" cy="240792"/>
          </a:xfrm>
          <a:prstGeom prst="rect">
            <a:avLst/>
          </a:prstGeom>
          <a:noFill/>
          <a:ln/>
        </p:spPr>
        <p:txBody>
          <a:bodyPr wrap="square" lIns="0" tIns="0" rIns="0" bIns="0" rtlCol="0" anchor="t"/>
          <a:lstStyle/>
          <a:p>
            <a:pPr indent="0" marL="0">
              <a:buNone/>
            </a:pPr>
            <a:r>
              <a:rPr lang="en-US" sz="1100" dirty="0">
                <a:solidFill>
                  <a:srgbClr val="A9A296"/>
                </a:solidFill>
              </a:rPr>
              <a:t>Frequenz, Warenkorb, Rohertragsquote, Personalkosten (2 h × 25 €), Probierware (10 €/Tag) angenommen; ohne Investition Küche</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39"/>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3 · GRUNDRISS</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Erst entscheiden, dann im Rundlauf einkaufen</a:t>
            </a:r>
            <a:endParaRPr lang="en-US" sz="2800" dirty="0"/>
          </a:p>
        </p:txBody>
      </p:sp>
      <p:pic>
        <p:nvPicPr>
          <p:cNvPr id="4" name="grundriss-40" descr="/tmp/claude-0/-home-claude/bc97363c-87c0-54f2-9d3b-d4b9a8318a8f/scratchpad/ppt/shots/s07_plan.png">    </p:cNvPr>
          <p:cNvPicPr>
            <a:picLocks noChangeAspect="1"/>
          </p:cNvPicPr>
          <p:nvPr/>
        </p:nvPicPr>
        <p:blipFill>
          <a:blip r:embed="rId1"/>
          <a:stretch>
            <a:fillRect/>
          </a:stretch>
        </p:blipFill>
        <p:spPr>
          <a:xfrm>
            <a:off x="4542429" y="1417320"/>
            <a:ext cx="7084477" cy="4572000"/>
          </a:xfrm>
          <a:prstGeom prst="rect">
            <a:avLst/>
          </a:prstGeom>
        </p:spPr>
      </p:pic>
      <p:sp>
        <p:nvSpPr>
          <p:cNvPr id="5" name="punkt-41"/>
          <p:cNvSpPr/>
          <p:nvPr/>
        </p:nvSpPr>
        <p:spPr>
          <a:xfrm>
            <a:off x="502920" y="1517904"/>
            <a:ext cx="237744" cy="237744"/>
          </a:xfrm>
          <a:prstGeom prst="ellipse">
            <a:avLst/>
          </a:prstGeom>
          <a:solidFill>
            <a:srgbClr val="E8473A"/>
          </a:solidFill>
          <a:ln w="12700">
            <a:solidFill>
              <a:srgbClr val="E8473A"/>
            </a:solidFill>
            <a:prstDash val="solid"/>
          </a:ln>
        </p:spPr>
      </p:sp>
      <p:sp>
        <p:nvSpPr>
          <p:cNvPr id="6" name="Text 3"/>
          <p:cNvSpPr txBox="1"/>
          <p:nvPr/>
        </p:nvSpPr>
        <p:spPr>
          <a:xfrm>
            <a:off x="914400" y="1463040"/>
            <a:ext cx="3474720" cy="685800"/>
          </a:xfrm>
          <a:prstGeom prst="rect">
            <a:avLst/>
          </a:prstGeom>
          <a:noFill/>
          <a:ln/>
        </p:spPr>
        <p:txBody>
          <a:bodyPr wrap="square" lIns="0" tIns="0" rIns="0" bIns="0" rtlCol="0" anchor="ctr"/>
          <a:lstStyle/>
          <a:p>
            <a:pPr indent="0" marL="0">
              <a:buNone/>
            </a:pPr>
            <a:r>
              <a:rPr lang="en-US" sz="1600" b="1" dirty="0">
                <a:solidFill>
                  <a:srgbClr val="EFE7D6"/>
                </a:solidFill>
              </a:rPr>
              <a:t>Rezeptweg</a:t>
            </a:r>
            <a:endParaRPr lang="en-US" sz="1600" dirty="0"/>
          </a:p>
          <a:p>
            <a:pPr indent="0" marL="0">
              <a:buNone/>
            </a:pPr>
            <a:r>
              <a:rPr lang="en-US" sz="1400" dirty="0">
                <a:solidFill>
                  <a:srgbClr val="A9A296"/>
                </a:solidFill>
              </a:rPr>
              <a:t>Dashboard → Rundlauf → Kühlung → Kasse</a:t>
            </a:r>
            <a:endParaRPr lang="en-US" sz="1600" dirty="0"/>
          </a:p>
        </p:txBody>
      </p:sp>
      <p:sp>
        <p:nvSpPr>
          <p:cNvPr id="7" name="punkt-42"/>
          <p:cNvSpPr/>
          <p:nvPr/>
        </p:nvSpPr>
        <p:spPr>
          <a:xfrm>
            <a:off x="502920" y="2295144"/>
            <a:ext cx="237744" cy="237744"/>
          </a:xfrm>
          <a:prstGeom prst="ellipse">
            <a:avLst/>
          </a:prstGeom>
          <a:solidFill>
            <a:srgbClr val="46C06A"/>
          </a:solidFill>
          <a:ln w="12700">
            <a:solidFill>
              <a:srgbClr val="46C06A"/>
            </a:solidFill>
            <a:prstDash val="solid"/>
          </a:ln>
        </p:spPr>
      </p:sp>
      <p:sp>
        <p:nvSpPr>
          <p:cNvPr id="8" name="Text 5"/>
          <p:cNvSpPr txBox="1"/>
          <p:nvPr/>
        </p:nvSpPr>
        <p:spPr>
          <a:xfrm>
            <a:off x="914400" y="2240280"/>
            <a:ext cx="3474720" cy="685800"/>
          </a:xfrm>
          <a:prstGeom prst="rect">
            <a:avLst/>
          </a:prstGeom>
          <a:noFill/>
          <a:ln/>
        </p:spPr>
        <p:txBody>
          <a:bodyPr wrap="square" lIns="0" tIns="0" rIns="0" bIns="0" rtlCol="0" anchor="ctr"/>
          <a:lstStyle/>
          <a:p>
            <a:pPr indent="0" marL="0">
              <a:buNone/>
            </a:pPr>
            <a:r>
              <a:rPr lang="en-US" sz="1600" b="1" dirty="0">
                <a:solidFill>
                  <a:srgbClr val="EFE7D6"/>
                </a:solidFill>
              </a:rPr>
              <a:t>Schnellweg</a:t>
            </a:r>
            <a:endParaRPr lang="en-US" sz="1600" dirty="0"/>
          </a:p>
          <a:p>
            <a:pPr indent="0" marL="0">
              <a:buNone/>
            </a:pPr>
            <a:r>
              <a:rPr lang="en-US" sz="1400" dirty="0">
                <a:solidFill>
                  <a:srgbClr val="A9A296"/>
                </a:solidFill>
              </a:rPr>
              <a:t>Basis längs → Kasse</a:t>
            </a:r>
            <a:endParaRPr lang="en-US" sz="1600" dirty="0"/>
          </a:p>
        </p:txBody>
      </p:sp>
      <p:sp>
        <p:nvSpPr>
          <p:cNvPr id="9" name="punkt-43"/>
          <p:cNvSpPr/>
          <p:nvPr/>
        </p:nvSpPr>
        <p:spPr>
          <a:xfrm>
            <a:off x="502920" y="3072384"/>
            <a:ext cx="237744" cy="237744"/>
          </a:xfrm>
          <a:prstGeom prst="ellipse">
            <a:avLst/>
          </a:prstGeom>
          <a:solidFill>
            <a:srgbClr val="F2C230"/>
          </a:solidFill>
          <a:ln w="12700">
            <a:solidFill>
              <a:srgbClr val="F2C230"/>
            </a:solidFill>
            <a:prstDash val="solid"/>
          </a:ln>
        </p:spPr>
      </p:sp>
      <p:sp>
        <p:nvSpPr>
          <p:cNvPr id="10" name="Text 7"/>
          <p:cNvSpPr txBox="1"/>
          <p:nvPr/>
        </p:nvSpPr>
        <p:spPr>
          <a:xfrm>
            <a:off x="914400" y="3017520"/>
            <a:ext cx="3474720" cy="685800"/>
          </a:xfrm>
          <a:prstGeom prst="rect">
            <a:avLst/>
          </a:prstGeom>
          <a:noFill/>
          <a:ln/>
        </p:spPr>
        <p:txBody>
          <a:bodyPr wrap="square" lIns="0" tIns="0" rIns="0" bIns="0" rtlCol="0" anchor="ctr"/>
          <a:lstStyle/>
          <a:p>
            <a:pPr indent="0" marL="0">
              <a:buNone/>
            </a:pPr>
            <a:r>
              <a:rPr lang="en-US" sz="1600" b="1" dirty="0">
                <a:solidFill>
                  <a:srgbClr val="EFE7D6"/>
                </a:solidFill>
              </a:rPr>
              <a:t>Blickachse</a:t>
            </a:r>
            <a:endParaRPr lang="en-US" sz="1600" dirty="0"/>
          </a:p>
          <a:p>
            <a:pPr indent="0" marL="0">
              <a:buNone/>
            </a:pPr>
            <a:r>
              <a:rPr lang="en-US" sz="1400" dirty="0">
                <a:solidFill>
                  <a:srgbClr val="A9A296"/>
                </a:solidFill>
              </a:rPr>
              <a:t>Eingang → Showküche</a:t>
            </a:r>
            <a:endParaRPr lang="en-US" sz="1600" dirty="0"/>
          </a:p>
        </p:txBody>
      </p:sp>
      <p:sp>
        <p:nvSpPr>
          <p:cNvPr id="11" name="fuss-44"/>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Maße und Positionen sind Fallannahmen. Ahlert/Kenning/Brock 2020, S. 297–302 ✓</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45"/>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3 · GRUNDRISS · VON DER SKIZZE ZUM LAYOUT</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Acht Optimierungen gegenüber unserer Basisidee</a:t>
            </a:r>
            <a:endParaRPr lang="en-US" sz="2800" dirty="0"/>
          </a:p>
        </p:txBody>
      </p:sp>
      <p:pic>
        <p:nvPicPr>
          <p:cNvPr id="4" name="grundriss-46" descr="/tmp/claude-0/-home-claude/bc97363c-87c0-54f2-9d3b-d4b9a8318a8f/scratchpad/ppt/shots/s07_plan.png">    </p:cNvPr>
          <p:cNvPicPr>
            <a:picLocks noChangeAspect="1"/>
          </p:cNvPicPr>
          <p:nvPr/>
        </p:nvPicPr>
        <p:blipFill>
          <a:blip r:embed="rId1"/>
          <a:stretch>
            <a:fillRect/>
          </a:stretch>
        </p:blipFill>
        <p:spPr>
          <a:xfrm>
            <a:off x="6903720" y="1463040"/>
            <a:ext cx="4785055" cy="3088058"/>
          </a:xfrm>
          <a:prstGeom prst="rect">
            <a:avLst/>
          </a:prstGeom>
        </p:spPr>
      </p:pic>
      <p:graphicFrame>
        <p:nvGraphicFramePr>
          <p:cNvPr id="9" name="tabelle-47"/>
          <p:cNvGraphicFramePr>
            <a:graphicFrameLocks noGrp="1"/>
          </p:cNvGraphicFramePr>
          <p:nvPr>
            <p:extLst>
              <p:ext uri="{D42A27DB-BD31-4B8C-83A1-F6EECF244321}">
                <p14:modId xmlns:p14="http://schemas.microsoft.com/office/powerpoint/2010/main" val="1579011935"/>
              </p:ext>
            </p:extLst>
          </p:nvPr>
        </p:nvGraphicFramePr>
        <p:xfrm>
          <a:off x="502920" y="1463040"/>
          <a:ext cx="6126480" cy="914400"/>
        </p:xfrm>
        <a:graphic>
          <a:graphicData uri="http://schemas.openxmlformats.org/drawingml/2006/table">
            <a:tbl>
              <a:tblPr/>
              <a:tblGrid>
                <a:gridCol w="2377440"/>
                <a:gridCol w="3749040"/>
              </a:tblGrid>
              <a:tr h="0">
                <a:tc>
                  <a:txBody>
                    <a:bodyPr/>
                    <a:lstStyle/>
                    <a:p>
                      <a:pPr indent="0" marL="0">
                        <a:buNone/>
                      </a:pPr>
                      <a:r>
                        <a:rPr lang="en-US" sz="1100" b="1" dirty="0">
                          <a:solidFill>
                            <a:srgbClr val="B39B6B"/>
                          </a:solidFill>
                        </a:rPr>
                        <a:t>Skizze</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Optimiert</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300" b="1" dirty="0">
                          <a:solidFill>
                            <a:srgbClr val="EFE7D6"/>
                          </a:solidFill>
                        </a:rPr>
                        <a:t>Doppeltür mittig</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Eingang links, Ausgang an der Kasse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Dashboard vor der Tür</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leicht links, Blickachse frei</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Gänge ca. 0,7 m</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1,4–1,5 m, Gondeln je Kochwelt</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Hocker hinter der Küche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Zuschauer vorn, Sitzbank, Haube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Basis-Gondel an der Wand</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Wandregal + Gondel, 1,75 m</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Lager ohne Lage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L-Lager mit Rolltor</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Kühlung an der Wand</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Hinterbefüllung</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Rollkörbe, Vorspeisen-Regal, Notausgang frei</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bl>
          </a:graphicData>
        </a:graphic>
      </p:graphicFrame>
      <p:sp>
        <p:nvSpPr>
          <p:cNvPr id="6" name="tag-48"/>
          <p:cNvSpPr/>
          <p:nvPr/>
        </p:nvSpPr>
        <p:spPr>
          <a:xfrm>
            <a:off x="502920" y="5119497"/>
            <a:ext cx="274320" cy="219456"/>
          </a:xfrm>
          <a:prstGeom prst="roundRect">
            <a:avLst>
              <a:gd name="adj" fmla="val 20833"/>
            </a:avLst>
          </a:prstGeom>
          <a:solidFill>
            <a:srgbClr val="B08A34"/>
          </a:solidFill>
          <a:ln w="12700">
            <a:solidFill>
              <a:srgbClr val="B08A34"/>
            </a:solidFill>
            <a:prstDash val="solid"/>
          </a:ln>
        </p:spPr>
      </p:sp>
      <p:sp>
        <p:nvSpPr>
          <p:cNvPr id="7" name="Text 3"/>
          <p:cNvSpPr txBox="1"/>
          <p:nvPr/>
        </p:nvSpPr>
        <p:spPr>
          <a:xfrm>
            <a:off x="502920" y="5119497"/>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8" name="tagtext-49"/>
          <p:cNvSpPr txBox="1"/>
          <p:nvPr/>
        </p:nvSpPr>
        <p:spPr>
          <a:xfrm>
            <a:off x="868680" y="5092065"/>
            <a:ext cx="5760720" cy="408432"/>
          </a:xfrm>
          <a:prstGeom prst="rect">
            <a:avLst/>
          </a:prstGeom>
          <a:noFill/>
          <a:ln/>
        </p:spPr>
        <p:txBody>
          <a:bodyPr wrap="square" lIns="0" tIns="0" rIns="0" bIns="0" rtlCol="0" anchor="t"/>
          <a:lstStyle/>
          <a:p>
            <a:pPr indent="0" marL="0">
              <a:buNone/>
            </a:pPr>
            <a:r>
              <a:rPr lang="en-US" sz="1100" dirty="0">
                <a:solidFill>
                  <a:srgbClr val="A9A296"/>
                </a:solidFill>
              </a:rPr>
              <a:t>Alle Änderungen sind eigene Entscheidungen; Begründungen und Quellen je Station im Rundgang</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50"/>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3 · GRUNDRISS · BEGRÜNDUNG</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Sechs Layoutentscheidungen, jede einzeln begründet</a:t>
            </a:r>
            <a:endParaRPr lang="en-US" sz="2800" dirty="0"/>
          </a:p>
        </p:txBody>
      </p:sp>
      <p:sp>
        <p:nvSpPr>
          <p:cNvPr id="4" name="karte-51"/>
          <p:cNvSpPr/>
          <p:nvPr/>
        </p:nvSpPr>
        <p:spPr>
          <a:xfrm>
            <a:off x="502920" y="1463040"/>
            <a:ext cx="3576218" cy="1761744"/>
          </a:xfrm>
          <a:prstGeom prst="roundRect">
            <a:avLst>
              <a:gd name="adj" fmla="val 4152"/>
            </a:avLst>
          </a:prstGeom>
          <a:solidFill>
            <a:srgbClr val="2D2F31"/>
          </a:solidFill>
          <a:ln w="9525">
            <a:solidFill>
              <a:srgbClr val="3A3C3E"/>
            </a:solidFill>
            <a:prstDash val="solid"/>
          </a:ln>
        </p:spPr>
      </p:sp>
      <p:sp>
        <p:nvSpPr>
          <p:cNvPr id="5" name="Shape 3"/>
          <p:cNvSpPr/>
          <p:nvPr/>
        </p:nvSpPr>
        <p:spPr>
          <a:xfrm>
            <a:off x="685800" y="1627632"/>
            <a:ext cx="329184" cy="329184"/>
          </a:xfrm>
          <a:prstGeom prst="ellipse">
            <a:avLst/>
          </a:prstGeom>
          <a:solidFill>
            <a:srgbClr val="D64527"/>
          </a:solidFill>
          <a:ln w="12700">
            <a:solidFill>
              <a:srgbClr val="D64527"/>
            </a:solidFill>
            <a:prstDash val="solid"/>
          </a:ln>
        </p:spPr>
      </p:sp>
      <p:sp>
        <p:nvSpPr>
          <p:cNvPr id="6" name="Text 4"/>
          <p:cNvSpPr txBox="1"/>
          <p:nvPr/>
        </p:nvSpPr>
        <p:spPr>
          <a:xfrm>
            <a:off x="685800"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1124712" y="1627632"/>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Matrix-Dashboard am Eingang</a:t>
            </a:r>
            <a:endParaRPr lang="en-US" sz="1500" dirty="0"/>
          </a:p>
        </p:txBody>
      </p:sp>
      <p:sp>
        <p:nvSpPr>
          <p:cNvPr id="8" name="Text 6"/>
          <p:cNvSpPr txBox="1"/>
          <p:nvPr/>
        </p:nvSpPr>
        <p:spPr>
          <a:xfrm>
            <a:off x="685800" y="2011680"/>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Erst entscheiden, dann einkaufen</a:t>
            </a:r>
            <a:endParaRPr lang="en-US" sz="1400" dirty="0"/>
          </a:p>
        </p:txBody>
      </p:sp>
      <p:sp>
        <p:nvSpPr>
          <p:cNvPr id="9" name="tag-52"/>
          <p:cNvSpPr/>
          <p:nvPr/>
        </p:nvSpPr>
        <p:spPr>
          <a:xfrm>
            <a:off x="685800" y="2795016"/>
            <a:ext cx="274320" cy="219456"/>
          </a:xfrm>
          <a:prstGeom prst="roundRect">
            <a:avLst>
              <a:gd name="adj" fmla="val 20833"/>
            </a:avLst>
          </a:prstGeom>
          <a:solidFill>
            <a:srgbClr val="4F7F5A"/>
          </a:solidFill>
          <a:ln w="12700">
            <a:solidFill>
              <a:srgbClr val="4F7F5A"/>
            </a:solidFill>
            <a:prstDash val="solid"/>
          </a:ln>
        </p:spPr>
      </p:sp>
      <p:sp>
        <p:nvSpPr>
          <p:cNvPr id="10" name="Text 8"/>
          <p:cNvSpPr txBox="1"/>
          <p:nvPr/>
        </p:nvSpPr>
        <p:spPr>
          <a:xfrm>
            <a:off x="685800" y="279501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1" name="tagtext-53"/>
          <p:cNvSpPr txBox="1"/>
          <p:nvPr/>
        </p:nvSpPr>
        <p:spPr>
          <a:xfrm>
            <a:off x="1051560" y="2767584"/>
            <a:ext cx="2844698" cy="408432"/>
          </a:xfrm>
          <a:prstGeom prst="rect">
            <a:avLst/>
          </a:prstGeom>
          <a:noFill/>
          <a:ln/>
        </p:spPr>
        <p:txBody>
          <a:bodyPr wrap="square" lIns="0" tIns="0" rIns="0" bIns="0" rtlCol="0" anchor="t"/>
          <a:lstStyle/>
          <a:p>
            <a:pPr indent="0" marL="0">
              <a:buNone/>
            </a:pPr>
            <a:r>
              <a:rPr lang="en-US" sz="1100" dirty="0">
                <a:solidFill>
                  <a:srgbClr val="A9A296"/>
                </a:solidFill>
              </a:rPr>
              <a:t>Hui et al. 2009 ✓; Ahlert et al. 2020, S. 297–302 ✓</a:t>
            </a:r>
            <a:endParaRPr lang="en-US" sz="1100" dirty="0"/>
          </a:p>
        </p:txBody>
      </p:sp>
      <p:sp>
        <p:nvSpPr>
          <p:cNvPr id="12" name="karte-54"/>
          <p:cNvSpPr/>
          <p:nvPr/>
        </p:nvSpPr>
        <p:spPr>
          <a:xfrm>
            <a:off x="4307738" y="1463040"/>
            <a:ext cx="3576218" cy="1761744"/>
          </a:xfrm>
          <a:prstGeom prst="roundRect">
            <a:avLst>
              <a:gd name="adj" fmla="val 4152"/>
            </a:avLst>
          </a:prstGeom>
          <a:solidFill>
            <a:srgbClr val="2D2F31"/>
          </a:solidFill>
          <a:ln w="9525">
            <a:solidFill>
              <a:srgbClr val="3A3C3E"/>
            </a:solidFill>
            <a:prstDash val="solid"/>
          </a:ln>
        </p:spPr>
      </p:sp>
      <p:sp>
        <p:nvSpPr>
          <p:cNvPr id="13" name="Shape 11"/>
          <p:cNvSpPr/>
          <p:nvPr/>
        </p:nvSpPr>
        <p:spPr>
          <a:xfrm>
            <a:off x="4490618" y="1627632"/>
            <a:ext cx="329184" cy="329184"/>
          </a:xfrm>
          <a:prstGeom prst="ellipse">
            <a:avLst/>
          </a:prstGeom>
          <a:solidFill>
            <a:srgbClr val="D64527"/>
          </a:solidFill>
          <a:ln w="12700">
            <a:solidFill>
              <a:srgbClr val="D64527"/>
            </a:solidFill>
            <a:prstDash val="solid"/>
          </a:ln>
        </p:spPr>
      </p:sp>
      <p:sp>
        <p:nvSpPr>
          <p:cNvPr id="14" name="Text 12"/>
          <p:cNvSpPr txBox="1"/>
          <p:nvPr/>
        </p:nvSpPr>
        <p:spPr>
          <a:xfrm>
            <a:off x="4490618"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5" name="Text 13"/>
          <p:cNvSpPr txBox="1"/>
          <p:nvPr/>
        </p:nvSpPr>
        <p:spPr>
          <a:xfrm>
            <a:off x="4929530" y="1627632"/>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Eine Gondel je Kochwelt</a:t>
            </a:r>
            <a:endParaRPr lang="en-US" sz="1500" dirty="0"/>
          </a:p>
        </p:txBody>
      </p:sp>
      <p:sp>
        <p:nvSpPr>
          <p:cNvPr id="16" name="Text 14"/>
          <p:cNvSpPr txBox="1"/>
          <p:nvPr/>
        </p:nvSpPr>
        <p:spPr>
          <a:xfrm>
            <a:off x="4490618" y="2011680"/>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Reihenfolge wie die Spalten der Tafel; innen Kreuzblock</a:t>
            </a:r>
            <a:endParaRPr lang="en-US" sz="1400" dirty="0"/>
          </a:p>
        </p:txBody>
      </p:sp>
      <p:sp>
        <p:nvSpPr>
          <p:cNvPr id="17" name="tag-55"/>
          <p:cNvSpPr/>
          <p:nvPr/>
        </p:nvSpPr>
        <p:spPr>
          <a:xfrm>
            <a:off x="4490618" y="2795016"/>
            <a:ext cx="274320" cy="219456"/>
          </a:xfrm>
          <a:prstGeom prst="roundRect">
            <a:avLst>
              <a:gd name="adj" fmla="val 20833"/>
            </a:avLst>
          </a:prstGeom>
          <a:solidFill>
            <a:srgbClr val="4F7F5A"/>
          </a:solidFill>
          <a:ln w="12700">
            <a:solidFill>
              <a:srgbClr val="4F7F5A"/>
            </a:solidFill>
            <a:prstDash val="solid"/>
          </a:ln>
        </p:spPr>
      </p:sp>
      <p:sp>
        <p:nvSpPr>
          <p:cNvPr id="18" name="Text 16"/>
          <p:cNvSpPr txBox="1"/>
          <p:nvPr/>
        </p:nvSpPr>
        <p:spPr>
          <a:xfrm>
            <a:off x="4490618" y="279501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9" name="tagtext-56"/>
          <p:cNvSpPr txBox="1"/>
          <p:nvPr/>
        </p:nvSpPr>
        <p:spPr>
          <a:xfrm>
            <a:off x="4856378" y="2767584"/>
            <a:ext cx="2844698" cy="408432"/>
          </a:xfrm>
          <a:prstGeom prst="rect">
            <a:avLst/>
          </a:prstGeom>
          <a:noFill/>
          <a:ln/>
        </p:spPr>
        <p:txBody>
          <a:bodyPr wrap="square" lIns="0" tIns="0" rIns="0" bIns="0" rtlCol="0" anchor="t"/>
          <a:lstStyle/>
          <a:p>
            <a:pPr indent="0" marL="0">
              <a:buNone/>
            </a:pPr>
            <a:r>
              <a:rPr lang="en-US" sz="1100" dirty="0">
                <a:solidFill>
                  <a:srgbClr val="A9A296"/>
                </a:solidFill>
              </a:rPr>
              <a:t>Querplatzierung, S. 300–301 ✓; Blockbildung, S. 302–303 ✓</a:t>
            </a:r>
            <a:endParaRPr lang="en-US" sz="1100" dirty="0"/>
          </a:p>
        </p:txBody>
      </p:sp>
      <p:sp>
        <p:nvSpPr>
          <p:cNvPr id="20" name="karte-57"/>
          <p:cNvSpPr/>
          <p:nvPr/>
        </p:nvSpPr>
        <p:spPr>
          <a:xfrm>
            <a:off x="8112557" y="1463040"/>
            <a:ext cx="3576218" cy="1761744"/>
          </a:xfrm>
          <a:prstGeom prst="roundRect">
            <a:avLst>
              <a:gd name="adj" fmla="val 4152"/>
            </a:avLst>
          </a:prstGeom>
          <a:solidFill>
            <a:srgbClr val="2D2F31"/>
          </a:solidFill>
          <a:ln w="9525">
            <a:solidFill>
              <a:srgbClr val="3A3C3E"/>
            </a:solidFill>
            <a:prstDash val="solid"/>
          </a:ln>
        </p:spPr>
      </p:sp>
      <p:sp>
        <p:nvSpPr>
          <p:cNvPr id="21" name="Shape 19"/>
          <p:cNvSpPr/>
          <p:nvPr/>
        </p:nvSpPr>
        <p:spPr>
          <a:xfrm>
            <a:off x="8295437" y="1627632"/>
            <a:ext cx="329184" cy="329184"/>
          </a:xfrm>
          <a:prstGeom prst="ellipse">
            <a:avLst/>
          </a:prstGeom>
          <a:solidFill>
            <a:srgbClr val="D64527"/>
          </a:solidFill>
          <a:ln w="12700">
            <a:solidFill>
              <a:srgbClr val="D64527"/>
            </a:solidFill>
            <a:prstDash val="solid"/>
          </a:ln>
        </p:spPr>
      </p:sp>
      <p:sp>
        <p:nvSpPr>
          <p:cNvPr id="22" name="Text 20"/>
          <p:cNvSpPr txBox="1"/>
          <p:nvPr/>
        </p:nvSpPr>
        <p:spPr>
          <a:xfrm>
            <a:off x="8295437"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3" name="Text 21"/>
          <p:cNvSpPr txBox="1"/>
          <p:nvPr/>
        </p:nvSpPr>
        <p:spPr>
          <a:xfrm>
            <a:off x="8734349" y="1627632"/>
            <a:ext cx="2771546" cy="530352"/>
          </a:xfrm>
          <a:prstGeom prst="rect">
            <a:avLst/>
          </a:prstGeom>
          <a:noFill/>
          <a:ln/>
        </p:spPr>
        <p:txBody>
          <a:bodyPr wrap="square" lIns="0" tIns="0" rIns="0" bIns="0" rtlCol="0" anchor="ctr"/>
          <a:lstStyle/>
          <a:p>
            <a:pPr indent="0" marL="0">
              <a:buNone/>
            </a:pPr>
            <a:r>
              <a:rPr lang="en-US" sz="1500" b="1" dirty="0">
                <a:solidFill>
                  <a:srgbClr val="EFE7D6"/>
                </a:solidFill>
              </a:rPr>
              <a:t>Obst &amp; Gemüse schräg am Eingang</a:t>
            </a:r>
            <a:endParaRPr lang="en-US" sz="1500" dirty="0"/>
          </a:p>
        </p:txBody>
      </p:sp>
      <p:sp>
        <p:nvSpPr>
          <p:cNvPr id="24" name="Text 22"/>
          <p:cNvSpPr txBox="1"/>
          <p:nvPr/>
        </p:nvSpPr>
        <p:spPr>
          <a:xfrm>
            <a:off x="8295437" y="2212848"/>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Frische bremst und lenkt nach links</a:t>
            </a:r>
            <a:endParaRPr lang="en-US" sz="1400" dirty="0"/>
          </a:p>
        </p:txBody>
      </p:sp>
      <p:sp>
        <p:nvSpPr>
          <p:cNvPr id="25" name="tag-58"/>
          <p:cNvSpPr/>
          <p:nvPr/>
        </p:nvSpPr>
        <p:spPr>
          <a:xfrm>
            <a:off x="8295437" y="2795016"/>
            <a:ext cx="274320" cy="219456"/>
          </a:xfrm>
          <a:prstGeom prst="roundRect">
            <a:avLst>
              <a:gd name="adj" fmla="val 20833"/>
            </a:avLst>
          </a:prstGeom>
          <a:solidFill>
            <a:srgbClr val="B08A34"/>
          </a:solidFill>
          <a:ln w="12700">
            <a:solidFill>
              <a:srgbClr val="B08A34"/>
            </a:solidFill>
            <a:prstDash val="solid"/>
          </a:ln>
        </p:spPr>
      </p:sp>
      <p:sp>
        <p:nvSpPr>
          <p:cNvPr id="26" name="Text 24"/>
          <p:cNvSpPr txBox="1"/>
          <p:nvPr/>
        </p:nvSpPr>
        <p:spPr>
          <a:xfrm>
            <a:off x="8295437" y="279501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27" name="tagtext-59"/>
          <p:cNvSpPr txBox="1"/>
          <p:nvPr/>
        </p:nvSpPr>
        <p:spPr>
          <a:xfrm>
            <a:off x="8661197" y="2767584"/>
            <a:ext cx="2844698" cy="240792"/>
          </a:xfrm>
          <a:prstGeom prst="rect">
            <a:avLst/>
          </a:prstGeom>
          <a:noFill/>
          <a:ln/>
        </p:spPr>
        <p:txBody>
          <a:bodyPr wrap="square" lIns="0" tIns="0" rIns="0" bIns="0" rtlCol="0" anchor="t"/>
          <a:lstStyle/>
          <a:p>
            <a:pPr indent="0" marL="0">
              <a:buNone/>
            </a:pPr>
            <a:r>
              <a:rPr lang="en-US" sz="1100" dirty="0">
                <a:solidFill>
                  <a:srgbClr val="A9A296"/>
                </a:solidFill>
              </a:rPr>
              <a:t>Frische-Image ist Fallannahme</a:t>
            </a:r>
            <a:endParaRPr lang="en-US" sz="1100" dirty="0"/>
          </a:p>
        </p:txBody>
      </p:sp>
      <p:sp>
        <p:nvSpPr>
          <p:cNvPr id="28" name="karte-60"/>
          <p:cNvSpPr/>
          <p:nvPr/>
        </p:nvSpPr>
        <p:spPr>
          <a:xfrm>
            <a:off x="502920" y="3453384"/>
            <a:ext cx="3576218" cy="1749552"/>
          </a:xfrm>
          <a:prstGeom prst="roundRect">
            <a:avLst>
              <a:gd name="adj" fmla="val 4181"/>
            </a:avLst>
          </a:prstGeom>
          <a:solidFill>
            <a:srgbClr val="2D2F31"/>
          </a:solidFill>
          <a:ln w="9525">
            <a:solidFill>
              <a:srgbClr val="3A3C3E"/>
            </a:solidFill>
            <a:prstDash val="solid"/>
          </a:ln>
        </p:spPr>
      </p:sp>
      <p:sp>
        <p:nvSpPr>
          <p:cNvPr id="29" name="Shape 27"/>
          <p:cNvSpPr/>
          <p:nvPr/>
        </p:nvSpPr>
        <p:spPr>
          <a:xfrm>
            <a:off x="685800" y="3617976"/>
            <a:ext cx="329184" cy="329184"/>
          </a:xfrm>
          <a:prstGeom prst="ellipse">
            <a:avLst/>
          </a:prstGeom>
          <a:solidFill>
            <a:srgbClr val="D64527"/>
          </a:solidFill>
          <a:ln w="12700">
            <a:solidFill>
              <a:srgbClr val="D64527"/>
            </a:solidFill>
            <a:prstDash val="solid"/>
          </a:ln>
        </p:spPr>
      </p:sp>
      <p:sp>
        <p:nvSpPr>
          <p:cNvPr id="30" name="Text 28"/>
          <p:cNvSpPr txBox="1"/>
          <p:nvPr/>
        </p:nvSpPr>
        <p:spPr>
          <a:xfrm>
            <a:off x="685800" y="3617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1" name="Text 29"/>
          <p:cNvSpPr txBox="1"/>
          <p:nvPr/>
        </p:nvSpPr>
        <p:spPr>
          <a:xfrm>
            <a:off x="1124712" y="3617976"/>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Showküche, Zuschauer vorn</a:t>
            </a:r>
            <a:endParaRPr lang="en-US" sz="1500" dirty="0"/>
          </a:p>
        </p:txBody>
      </p:sp>
      <p:sp>
        <p:nvSpPr>
          <p:cNvPr id="32" name="Text 30"/>
          <p:cNvSpPr txBox="1"/>
          <p:nvPr/>
        </p:nvSpPr>
        <p:spPr>
          <a:xfrm>
            <a:off x="685800" y="4002024"/>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Anker am Ende der Blickachse</a:t>
            </a:r>
            <a:endParaRPr lang="en-US" sz="1400" dirty="0"/>
          </a:p>
        </p:txBody>
      </p:sp>
      <p:sp>
        <p:nvSpPr>
          <p:cNvPr id="33" name="tag-61"/>
          <p:cNvSpPr/>
          <p:nvPr/>
        </p:nvSpPr>
        <p:spPr>
          <a:xfrm>
            <a:off x="685800" y="4773168"/>
            <a:ext cx="274320" cy="219456"/>
          </a:xfrm>
          <a:prstGeom prst="roundRect">
            <a:avLst>
              <a:gd name="adj" fmla="val 20833"/>
            </a:avLst>
          </a:prstGeom>
          <a:solidFill>
            <a:srgbClr val="4F7F5A"/>
          </a:solidFill>
          <a:ln w="12700">
            <a:solidFill>
              <a:srgbClr val="4F7F5A"/>
            </a:solidFill>
            <a:prstDash val="solid"/>
          </a:ln>
        </p:spPr>
      </p:sp>
      <p:sp>
        <p:nvSpPr>
          <p:cNvPr id="34" name="Text 32"/>
          <p:cNvSpPr txBox="1"/>
          <p:nvPr/>
        </p:nvSpPr>
        <p:spPr>
          <a:xfrm>
            <a:off x="685800" y="477316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35" name="tagtext-62"/>
          <p:cNvSpPr txBox="1"/>
          <p:nvPr/>
        </p:nvSpPr>
        <p:spPr>
          <a:xfrm>
            <a:off x="1051560" y="4745736"/>
            <a:ext cx="2844698" cy="408432"/>
          </a:xfrm>
          <a:prstGeom prst="rect">
            <a:avLst/>
          </a:prstGeom>
          <a:noFill/>
          <a:ln/>
        </p:spPr>
        <p:txBody>
          <a:bodyPr wrap="square" lIns="0" tIns="0" rIns="0" bIns="0" rtlCol="0" anchor="t"/>
          <a:lstStyle/>
          <a:p>
            <a:pPr indent="0" marL="0">
              <a:buNone/>
            </a:pPr>
            <a:r>
              <a:rPr lang="en-US" sz="1100" dirty="0">
                <a:solidFill>
                  <a:srgbClr val="A9A296"/>
                </a:solidFill>
              </a:rPr>
              <a:t>Arena-Prinzip, S. 297–302 ✓; Hui et al. 2009 ✓</a:t>
            </a:r>
            <a:endParaRPr lang="en-US" sz="1100" dirty="0"/>
          </a:p>
        </p:txBody>
      </p:sp>
      <p:sp>
        <p:nvSpPr>
          <p:cNvPr id="36" name="karte-63"/>
          <p:cNvSpPr/>
          <p:nvPr/>
        </p:nvSpPr>
        <p:spPr>
          <a:xfrm>
            <a:off x="4307738" y="3453384"/>
            <a:ext cx="3576218" cy="1749552"/>
          </a:xfrm>
          <a:prstGeom prst="roundRect">
            <a:avLst>
              <a:gd name="adj" fmla="val 4181"/>
            </a:avLst>
          </a:prstGeom>
          <a:solidFill>
            <a:srgbClr val="2D2F31"/>
          </a:solidFill>
          <a:ln w="9525">
            <a:solidFill>
              <a:srgbClr val="3A3C3E"/>
            </a:solidFill>
            <a:prstDash val="solid"/>
          </a:ln>
        </p:spPr>
      </p:sp>
      <p:sp>
        <p:nvSpPr>
          <p:cNvPr id="37" name="Shape 35"/>
          <p:cNvSpPr/>
          <p:nvPr/>
        </p:nvSpPr>
        <p:spPr>
          <a:xfrm>
            <a:off x="4490618" y="3617976"/>
            <a:ext cx="329184" cy="329184"/>
          </a:xfrm>
          <a:prstGeom prst="ellipse">
            <a:avLst/>
          </a:prstGeom>
          <a:solidFill>
            <a:srgbClr val="D64527"/>
          </a:solidFill>
          <a:ln w="12700">
            <a:solidFill>
              <a:srgbClr val="D64527"/>
            </a:solidFill>
            <a:prstDash val="solid"/>
          </a:ln>
        </p:spPr>
      </p:sp>
      <p:sp>
        <p:nvSpPr>
          <p:cNvPr id="38" name="Text 36"/>
          <p:cNvSpPr txBox="1"/>
          <p:nvPr/>
        </p:nvSpPr>
        <p:spPr>
          <a:xfrm>
            <a:off x="4490618" y="3617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9" name="Text 37"/>
          <p:cNvSpPr txBox="1"/>
          <p:nvPr/>
        </p:nvSpPr>
        <p:spPr>
          <a:xfrm>
            <a:off x="4929530" y="3617976"/>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Basissortiment längs</a:t>
            </a:r>
            <a:endParaRPr lang="en-US" sz="1500" dirty="0"/>
          </a:p>
        </p:txBody>
      </p:sp>
      <p:sp>
        <p:nvSpPr>
          <p:cNvPr id="40" name="Text 38"/>
          <p:cNvSpPr txBox="1"/>
          <p:nvPr/>
        </p:nvSpPr>
        <p:spPr>
          <a:xfrm>
            <a:off x="4490618" y="4002024"/>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Schnell finden im Vorbeigehen</a:t>
            </a:r>
            <a:endParaRPr lang="en-US" sz="1400" dirty="0"/>
          </a:p>
        </p:txBody>
      </p:sp>
      <p:sp>
        <p:nvSpPr>
          <p:cNvPr id="41" name="tag-64"/>
          <p:cNvSpPr/>
          <p:nvPr/>
        </p:nvSpPr>
        <p:spPr>
          <a:xfrm>
            <a:off x="4490618" y="4773168"/>
            <a:ext cx="274320" cy="219456"/>
          </a:xfrm>
          <a:prstGeom prst="roundRect">
            <a:avLst>
              <a:gd name="adj" fmla="val 20833"/>
            </a:avLst>
          </a:prstGeom>
          <a:solidFill>
            <a:srgbClr val="4F7F5A"/>
          </a:solidFill>
          <a:ln w="12700">
            <a:solidFill>
              <a:srgbClr val="4F7F5A"/>
            </a:solidFill>
            <a:prstDash val="solid"/>
          </a:ln>
        </p:spPr>
      </p:sp>
      <p:sp>
        <p:nvSpPr>
          <p:cNvPr id="42" name="Text 40"/>
          <p:cNvSpPr txBox="1"/>
          <p:nvPr/>
        </p:nvSpPr>
        <p:spPr>
          <a:xfrm>
            <a:off x="4490618" y="477316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43" name="tagtext-65"/>
          <p:cNvSpPr txBox="1"/>
          <p:nvPr/>
        </p:nvSpPr>
        <p:spPr>
          <a:xfrm>
            <a:off x="4856378" y="4745736"/>
            <a:ext cx="2844698" cy="408432"/>
          </a:xfrm>
          <a:prstGeom prst="rect">
            <a:avLst/>
          </a:prstGeom>
          <a:noFill/>
          <a:ln/>
        </p:spPr>
        <p:txBody>
          <a:bodyPr wrap="square" lIns="0" tIns="0" rIns="0" bIns="0" rtlCol="0" anchor="t"/>
          <a:lstStyle/>
          <a:p>
            <a:pPr indent="0" marL="0">
              <a:buNone/>
            </a:pPr>
            <a:r>
              <a:rPr lang="en-US" sz="1100" dirty="0">
                <a:solidFill>
                  <a:srgbClr val="A9A296"/>
                </a:solidFill>
              </a:rPr>
              <a:t>Längsplatzierung, S. 300–301, Abb. 10.3 ✓</a:t>
            </a:r>
            <a:endParaRPr lang="en-US" sz="1100" dirty="0"/>
          </a:p>
        </p:txBody>
      </p:sp>
      <p:sp>
        <p:nvSpPr>
          <p:cNvPr id="44" name="karte-66"/>
          <p:cNvSpPr/>
          <p:nvPr/>
        </p:nvSpPr>
        <p:spPr>
          <a:xfrm>
            <a:off x="8112557" y="3453384"/>
            <a:ext cx="3576218" cy="1749552"/>
          </a:xfrm>
          <a:prstGeom prst="roundRect">
            <a:avLst>
              <a:gd name="adj" fmla="val 4181"/>
            </a:avLst>
          </a:prstGeom>
          <a:solidFill>
            <a:srgbClr val="2D2F31"/>
          </a:solidFill>
          <a:ln w="9525">
            <a:solidFill>
              <a:srgbClr val="3A3C3E"/>
            </a:solidFill>
            <a:prstDash val="solid"/>
          </a:ln>
        </p:spPr>
      </p:sp>
      <p:sp>
        <p:nvSpPr>
          <p:cNvPr id="45" name="Shape 43"/>
          <p:cNvSpPr/>
          <p:nvPr/>
        </p:nvSpPr>
        <p:spPr>
          <a:xfrm>
            <a:off x="8295437" y="3617976"/>
            <a:ext cx="329184" cy="329184"/>
          </a:xfrm>
          <a:prstGeom prst="ellipse">
            <a:avLst/>
          </a:prstGeom>
          <a:solidFill>
            <a:srgbClr val="D64527"/>
          </a:solidFill>
          <a:ln w="12700">
            <a:solidFill>
              <a:srgbClr val="D64527"/>
            </a:solidFill>
            <a:prstDash val="solid"/>
          </a:ln>
        </p:spPr>
      </p:sp>
      <p:sp>
        <p:nvSpPr>
          <p:cNvPr id="46" name="Text 44"/>
          <p:cNvSpPr txBox="1"/>
          <p:nvPr/>
        </p:nvSpPr>
        <p:spPr>
          <a:xfrm>
            <a:off x="8295437" y="3617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47" name="Text 45"/>
          <p:cNvSpPr txBox="1"/>
          <p:nvPr/>
        </p:nvSpPr>
        <p:spPr>
          <a:xfrm>
            <a:off x="8734349" y="3617976"/>
            <a:ext cx="2771546" cy="530352"/>
          </a:xfrm>
          <a:prstGeom prst="rect">
            <a:avLst/>
          </a:prstGeom>
          <a:noFill/>
          <a:ln/>
        </p:spPr>
        <p:txBody>
          <a:bodyPr wrap="square" lIns="0" tIns="0" rIns="0" bIns="0" rtlCol="0" anchor="ctr"/>
          <a:lstStyle/>
          <a:p>
            <a:pPr indent="0" marL="0">
              <a:buNone/>
            </a:pPr>
            <a:r>
              <a:rPr lang="en-US" sz="1500" b="1" dirty="0">
                <a:solidFill>
                  <a:srgbClr val="EFE7D6"/>
                </a:solidFill>
              </a:rPr>
              <a:t>Dessert &amp; Wein nach der Frische</a:t>
            </a:r>
            <a:endParaRPr lang="en-US" sz="1500" dirty="0"/>
          </a:p>
        </p:txBody>
      </p:sp>
      <p:sp>
        <p:nvSpPr>
          <p:cNvPr id="48" name="Text 46"/>
          <p:cNvSpPr txBox="1"/>
          <p:nvPr/>
        </p:nvSpPr>
        <p:spPr>
          <a:xfrm>
            <a:off x="8295437" y="4203192"/>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Erst Pflicht, dann Genuss</a:t>
            </a:r>
            <a:endParaRPr lang="en-US" sz="1400" dirty="0"/>
          </a:p>
        </p:txBody>
      </p:sp>
      <p:sp>
        <p:nvSpPr>
          <p:cNvPr id="49" name="tag-67"/>
          <p:cNvSpPr/>
          <p:nvPr/>
        </p:nvSpPr>
        <p:spPr>
          <a:xfrm>
            <a:off x="8295437" y="4773168"/>
            <a:ext cx="274320" cy="219456"/>
          </a:xfrm>
          <a:prstGeom prst="roundRect">
            <a:avLst>
              <a:gd name="adj" fmla="val 20833"/>
            </a:avLst>
          </a:prstGeom>
          <a:solidFill>
            <a:srgbClr val="4F7F5A"/>
          </a:solidFill>
          <a:ln w="12700">
            <a:solidFill>
              <a:srgbClr val="4F7F5A"/>
            </a:solidFill>
            <a:prstDash val="solid"/>
          </a:ln>
        </p:spPr>
      </p:sp>
      <p:sp>
        <p:nvSpPr>
          <p:cNvPr id="50" name="Text 48"/>
          <p:cNvSpPr txBox="1"/>
          <p:nvPr/>
        </p:nvSpPr>
        <p:spPr>
          <a:xfrm>
            <a:off x="8295437" y="477316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51" name="tagtext-68"/>
          <p:cNvSpPr txBox="1"/>
          <p:nvPr/>
        </p:nvSpPr>
        <p:spPr>
          <a:xfrm>
            <a:off x="8661197" y="4745736"/>
            <a:ext cx="2844698" cy="240792"/>
          </a:xfrm>
          <a:prstGeom prst="rect">
            <a:avLst/>
          </a:prstGeom>
          <a:noFill/>
          <a:ln/>
        </p:spPr>
        <p:txBody>
          <a:bodyPr wrap="square" lIns="0" tIns="0" rIns="0" bIns="0" rtlCol="0" anchor="t"/>
          <a:lstStyle/>
          <a:p>
            <a:pPr indent="0" marL="0">
              <a:buNone/>
            </a:pPr>
            <a:r>
              <a:rPr lang="en-US" sz="1100" dirty="0">
                <a:solidFill>
                  <a:srgbClr val="A9A296"/>
                </a:solidFill>
              </a:rPr>
              <a:t>Hui et al. 2009 ✓ (Licensing)</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69"/>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4 · RAUMZUTEILUNG</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Flächenbilanz und Raumzuteilung nach Warenbereichen</a:t>
            </a:r>
            <a:endParaRPr lang="en-US" sz="2800" dirty="0"/>
          </a:p>
        </p:txBody>
      </p:sp>
      <p:graphicFrame>
        <p:nvGraphicFramePr>
          <p:cNvPr id="4" name="flaechen-70" descr=""/>
          <p:cNvGraphicFramePr/>
          <p:nvPr/>
        </p:nvGraphicFramePr>
        <p:xfrm>
          <a:off x="502920" y="1463040"/>
          <a:ext cx="548640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elle-71"/>
          <p:cNvGraphicFramePr>
            <a:graphicFrameLocks noGrp="1"/>
          </p:cNvGraphicFramePr>
          <p:nvPr>
            <p:extLst>
              <p:ext uri="{D42A27DB-BD31-4B8C-83A1-F6EECF244321}">
                <p14:modId xmlns:p14="http://schemas.microsoft.com/office/powerpoint/2010/main" val="1579011935"/>
              </p:ext>
            </p:extLst>
          </p:nvPr>
        </p:nvGraphicFramePr>
        <p:xfrm>
          <a:off x="6355080" y="1463040"/>
          <a:ext cx="5333695" cy="914400"/>
        </p:xfrm>
        <a:graphic>
          <a:graphicData uri="http://schemas.openxmlformats.org/drawingml/2006/table">
            <a:tbl>
              <a:tblPr/>
              <a:tblGrid>
                <a:gridCol w="3466902"/>
                <a:gridCol w="1866793"/>
              </a:tblGrid>
              <a:tr h="0">
                <a:tc>
                  <a:txBody>
                    <a:bodyPr/>
                    <a:lstStyle/>
                    <a:p>
                      <a:pPr indent="0" marL="0">
                        <a:buNone/>
                      </a:pPr>
                      <a:r>
                        <a:rPr lang="en-US" sz="1100" b="1" dirty="0">
                          <a:solidFill>
                            <a:srgbClr val="B39B6B"/>
                          </a:solidFill>
                        </a:rPr>
                        <a:t>Warenbereich</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Stellfläche</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300" b="1" dirty="0">
                          <a:solidFill>
                            <a:srgbClr val="EFE7D6"/>
                          </a:solidFill>
                        </a:rPr>
                        <a:t>Kochwelt-Gondeln (3)</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8,3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Basissortiment</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7,5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Kühlung</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5,8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Obst &amp; Gemüse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3,1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Wein &amp; Getränke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2,9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Schaufenster</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2,1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Dessert &amp; TK</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2,1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Vorspeisen</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1,7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300" b="1" dirty="0">
                          <a:solidFill>
                            <a:srgbClr val="EFE7D6"/>
                          </a:solidFill>
                        </a:rPr>
                        <a:t>Impuls an der Kasse</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300" dirty="0">
                          <a:solidFill>
                            <a:srgbClr val="EFE7D6"/>
                          </a:solidFill>
                        </a:rPr>
                        <a:t>0,6 m²</a:t>
                      </a:r>
                      <a:endParaRPr lang="en-US" sz="13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bl>
          </a:graphicData>
        </a:graphic>
      </p:graphicFrame>
      <p:sp>
        <p:nvSpPr>
          <p:cNvPr id="6" name="merke-72"/>
          <p:cNvSpPr/>
          <p:nvPr/>
        </p:nvSpPr>
        <p:spPr>
          <a:xfrm>
            <a:off x="6355080" y="4846320"/>
            <a:ext cx="5333695" cy="1216152"/>
          </a:xfrm>
          <a:prstGeom prst="roundRect">
            <a:avLst>
              <a:gd name="adj" fmla="val 6015"/>
            </a:avLst>
          </a:prstGeom>
          <a:solidFill>
            <a:srgbClr val="3A2A26"/>
          </a:solidFill>
          <a:ln w="12700">
            <a:solidFill>
              <a:srgbClr val="D64527"/>
            </a:solidFill>
            <a:prstDash val="solid"/>
          </a:ln>
        </p:spPr>
      </p:sp>
      <p:sp>
        <p:nvSpPr>
          <p:cNvPr id="7" name="Text 3"/>
          <p:cNvSpPr txBox="1"/>
          <p:nvPr/>
        </p:nvSpPr>
        <p:spPr>
          <a:xfrm>
            <a:off x="6537960" y="4956048"/>
            <a:ext cx="4967935" cy="996696"/>
          </a:xfrm>
          <a:prstGeom prst="rect">
            <a:avLst/>
          </a:prstGeom>
          <a:noFill/>
          <a:ln/>
        </p:spPr>
        <p:txBody>
          <a:bodyPr wrap="square" lIns="0" tIns="0" rIns="0" bIns="0" rtlCol="0" anchor="t"/>
          <a:lstStyle/>
          <a:p>
            <a:pPr indent="0" marL="0">
              <a:buNone/>
            </a:pPr>
            <a:r>
              <a:rPr lang="en-US" sz="1300" b="1" dirty="0">
                <a:solidFill>
                  <a:srgbClr val="D64527"/>
                </a:solidFill>
              </a:rPr>
              <a:t>Kundenfläche ≈ 70 %</a:t>
            </a:r>
            <a:endParaRPr lang="en-US" sz="1300" dirty="0"/>
          </a:p>
          <a:p>
            <a:pPr indent="0" marL="0">
              <a:buNone/>
            </a:pPr>
            <a:r>
              <a:rPr lang="en-US" sz="1400" dirty="0">
                <a:solidFill>
                  <a:srgbClr val="EFE7D6"/>
                </a:solidFill>
              </a:rPr>
              <a:t>Übergangszone mit Dashboard, Zuschauerbereich vor der Showküche und 1,4–1,75 m breite Gänge gehören zum Konzept.</a:t>
            </a:r>
            <a:endParaRPr lang="en-US" sz="1300" dirty="0"/>
          </a:p>
        </p:txBody>
      </p:sp>
      <p:sp>
        <p:nvSpPr>
          <p:cNvPr id="8" name="fuss-73"/>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Live aus dem Grundriss berechnet. Flächenarten: Ahlert/Kenning/Brock 2020, S. 297–302 ✓</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74"/>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5 · REGALZUTEILUNG</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Zwei Wege, zwei Anordnungen: quer entdecken, längs schnell finden</a:t>
            </a:r>
            <a:endParaRPr lang="en-US" sz="2800" dirty="0"/>
          </a:p>
        </p:txBody>
      </p:sp>
      <p:sp>
        <p:nvSpPr>
          <p:cNvPr id="4" name="karte-75"/>
          <p:cNvSpPr/>
          <p:nvPr/>
        </p:nvSpPr>
        <p:spPr>
          <a:xfrm>
            <a:off x="502920" y="1463040"/>
            <a:ext cx="5478628" cy="2517648"/>
          </a:xfrm>
          <a:prstGeom prst="roundRect">
            <a:avLst>
              <a:gd name="adj" fmla="val 2906"/>
            </a:avLst>
          </a:prstGeom>
          <a:solidFill>
            <a:srgbClr val="2D2F31"/>
          </a:solidFill>
          <a:ln w="9525">
            <a:solidFill>
              <a:srgbClr val="3A3C3E"/>
            </a:solidFill>
            <a:prstDash val="solid"/>
          </a:ln>
        </p:spPr>
      </p:sp>
      <p:sp>
        <p:nvSpPr>
          <p:cNvPr id="5" name="Text 3"/>
          <p:cNvSpPr txBox="1"/>
          <p:nvPr/>
        </p:nvSpPr>
        <p:spPr>
          <a:xfrm>
            <a:off x="685800" y="1627632"/>
            <a:ext cx="5112868" cy="329184"/>
          </a:xfrm>
          <a:prstGeom prst="rect">
            <a:avLst/>
          </a:prstGeom>
          <a:noFill/>
          <a:ln/>
        </p:spPr>
        <p:txBody>
          <a:bodyPr wrap="square" lIns="0" tIns="0" rIns="0" bIns="0" rtlCol="0" anchor="t"/>
          <a:lstStyle/>
          <a:p>
            <a:pPr indent="0" marL="0">
              <a:buNone/>
            </a:pPr>
            <a:r>
              <a:rPr lang="en-US" sz="1500" b="1" dirty="0">
                <a:solidFill>
                  <a:srgbClr val="EFE7D6"/>
                </a:solidFill>
              </a:rPr>
              <a:t>Kochwelt-Gondeln: Querplatzierung</a:t>
            </a:r>
            <a:endParaRPr lang="en-US" sz="1500" dirty="0"/>
          </a:p>
        </p:txBody>
      </p:sp>
      <p:sp>
        <p:nvSpPr>
          <p:cNvPr id="6" name="Text 4"/>
          <p:cNvSpPr txBox="1"/>
          <p:nvPr/>
        </p:nvSpPr>
        <p:spPr>
          <a:xfrm>
            <a:off x="685800" y="2011680"/>
            <a:ext cx="5112868" cy="1347216"/>
          </a:xfrm>
          <a:prstGeom prst="rect">
            <a:avLst/>
          </a:prstGeom>
          <a:noFill/>
          <a:ln/>
        </p:spPr>
        <p:txBody>
          <a:bodyPr wrap="square" lIns="0" tIns="0" rIns="0" bIns="0" rtlCol="0" anchor="t"/>
          <a:lstStyle/>
          <a:p>
            <a:pPr indent="0" marL="0">
              <a:spcAft>
                <a:spcPts val="300"/>
              </a:spcAft>
              <a:buNone/>
            </a:pPr>
            <a:r>
              <a:rPr lang="en-US" sz="1400" b="1" dirty="0">
                <a:solidFill>
                  <a:srgbClr val="B39B6B"/>
                </a:solidFill>
              </a:rPr>
              <a:t>Kunde: </a:t>
            </a:r>
            <a:pPr indent="0" marL="0">
              <a:spcAft>
                <a:spcPts val="300"/>
              </a:spcAft>
              <a:buNone/>
            </a:pPr>
            <a:r>
              <a:rPr lang="en-US" sz="1400" dirty="0">
                <a:solidFill>
                  <a:srgbClr val="EFE7D6"/>
                </a:solidFill>
              </a:rPr>
              <a:t>neue Kaufrelevanz: im Gang der gewählten Welt Sauce, Gewürz und Vorspeise entdecken</a:t>
            </a:r>
            <a:endParaRPr lang="en-US" sz="1400" dirty="0"/>
          </a:p>
          <a:p>
            <a:pPr indent="0" marL="0">
              <a:spcAft>
                <a:spcPts val="300"/>
              </a:spcAft>
              <a:buNone/>
            </a:pPr>
            <a:r>
              <a:rPr lang="en-US" sz="1400" b="1" dirty="0">
                <a:solidFill>
                  <a:srgbClr val="B39B6B"/>
                </a:solidFill>
              </a:rPr>
              <a:t>Händler: </a:t>
            </a:r>
            <a:pPr indent="0" marL="0">
              <a:spcAft>
                <a:spcPts val="300"/>
              </a:spcAft>
              <a:buNone/>
            </a:pPr>
            <a:r>
              <a:rPr lang="en-US" sz="1400" dirty="0">
                <a:solidFill>
                  <a:srgbClr val="EFE7D6"/>
                </a:solidFill>
              </a:rPr>
              <a:t>Verbundkäufe in der Welt, Küchenhelfer am Regalkopf</a:t>
            </a:r>
            <a:endParaRPr lang="en-US" sz="1400" dirty="0"/>
          </a:p>
          <a:p>
            <a:pPr indent="0" marL="0">
              <a:spcAft>
                <a:spcPts val="300"/>
              </a:spcAft>
              <a:buNone/>
            </a:pPr>
            <a:r>
              <a:rPr lang="en-US" sz="1400" b="1" dirty="0">
                <a:solidFill>
                  <a:srgbClr val="B39B6B"/>
                </a:solidFill>
              </a:rPr>
              <a:t>Bei uns: </a:t>
            </a:r>
            <a:pPr indent="0" marL="0">
              <a:spcAft>
                <a:spcPts val="300"/>
              </a:spcAft>
              <a:buNone/>
            </a:pPr>
            <a:r>
              <a:rPr lang="en-US" sz="1400" dirty="0">
                <a:solidFill>
                  <a:srgbClr val="EFE7D6"/>
                </a:solidFill>
              </a:rPr>
              <a:t>3 Gondeln quer, je Kochwelt eine, innen Kreuzblock</a:t>
            </a:r>
            <a:endParaRPr lang="en-US" sz="1400" dirty="0"/>
          </a:p>
        </p:txBody>
      </p:sp>
      <p:sp>
        <p:nvSpPr>
          <p:cNvPr id="7" name="tag-76"/>
          <p:cNvSpPr/>
          <p:nvPr/>
        </p:nvSpPr>
        <p:spPr>
          <a:xfrm>
            <a:off x="685800" y="3550920"/>
            <a:ext cx="274320" cy="219456"/>
          </a:xfrm>
          <a:prstGeom prst="roundRect">
            <a:avLst>
              <a:gd name="adj" fmla="val 20833"/>
            </a:avLst>
          </a:prstGeom>
          <a:solidFill>
            <a:srgbClr val="4F7F5A"/>
          </a:solidFill>
          <a:ln w="12700">
            <a:solidFill>
              <a:srgbClr val="4F7F5A"/>
            </a:solidFill>
            <a:prstDash val="solid"/>
          </a:ln>
        </p:spPr>
      </p:sp>
      <p:sp>
        <p:nvSpPr>
          <p:cNvPr id="8" name="Text 6"/>
          <p:cNvSpPr txBox="1"/>
          <p:nvPr/>
        </p:nvSpPr>
        <p:spPr>
          <a:xfrm>
            <a:off x="685800" y="355092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9" name="tagtext-77"/>
          <p:cNvSpPr txBox="1"/>
          <p:nvPr/>
        </p:nvSpPr>
        <p:spPr>
          <a:xfrm>
            <a:off x="1051560" y="3523488"/>
            <a:ext cx="4747108" cy="240792"/>
          </a:xfrm>
          <a:prstGeom prst="rect">
            <a:avLst/>
          </a:prstGeom>
          <a:noFill/>
          <a:ln/>
        </p:spPr>
        <p:txBody>
          <a:bodyPr wrap="square" lIns="0" tIns="0" rIns="0" bIns="0" rtlCol="0" anchor="t"/>
          <a:lstStyle/>
          <a:p>
            <a:pPr indent="0" marL="0">
              <a:buNone/>
            </a:pPr>
            <a:r>
              <a:rPr lang="en-US" sz="1100" dirty="0">
                <a:solidFill>
                  <a:srgbClr val="A9A296"/>
                </a:solidFill>
              </a:rPr>
              <a:t>Abb. 10.3, S. 300–301 ✓</a:t>
            </a:r>
            <a:endParaRPr lang="en-US" sz="1100" dirty="0"/>
          </a:p>
        </p:txBody>
      </p:sp>
      <p:sp>
        <p:nvSpPr>
          <p:cNvPr id="10" name="karte-78"/>
          <p:cNvSpPr/>
          <p:nvPr/>
        </p:nvSpPr>
        <p:spPr>
          <a:xfrm>
            <a:off x="6210148" y="1463040"/>
            <a:ext cx="5478628" cy="2517648"/>
          </a:xfrm>
          <a:prstGeom prst="roundRect">
            <a:avLst>
              <a:gd name="adj" fmla="val 2906"/>
            </a:avLst>
          </a:prstGeom>
          <a:solidFill>
            <a:srgbClr val="2D2F31"/>
          </a:solidFill>
          <a:ln w="9525">
            <a:solidFill>
              <a:srgbClr val="3A3C3E"/>
            </a:solidFill>
            <a:prstDash val="solid"/>
          </a:ln>
        </p:spPr>
      </p:sp>
      <p:sp>
        <p:nvSpPr>
          <p:cNvPr id="11" name="Text 9"/>
          <p:cNvSpPr txBox="1"/>
          <p:nvPr/>
        </p:nvSpPr>
        <p:spPr>
          <a:xfrm>
            <a:off x="6393028" y="1627632"/>
            <a:ext cx="5112868" cy="329184"/>
          </a:xfrm>
          <a:prstGeom prst="rect">
            <a:avLst/>
          </a:prstGeom>
          <a:noFill/>
          <a:ln/>
        </p:spPr>
        <p:txBody>
          <a:bodyPr wrap="square" lIns="0" tIns="0" rIns="0" bIns="0" rtlCol="0" anchor="t"/>
          <a:lstStyle/>
          <a:p>
            <a:pPr indent="0" marL="0">
              <a:buNone/>
            </a:pPr>
            <a:r>
              <a:rPr lang="en-US" sz="1500" b="1" dirty="0">
                <a:solidFill>
                  <a:srgbClr val="EFE7D6"/>
                </a:solidFill>
              </a:rPr>
              <a:t>Basissortiment: Längsplatzierung</a:t>
            </a:r>
            <a:endParaRPr lang="en-US" sz="1500" dirty="0"/>
          </a:p>
        </p:txBody>
      </p:sp>
      <p:sp>
        <p:nvSpPr>
          <p:cNvPr id="12" name="Text 10"/>
          <p:cNvSpPr txBox="1"/>
          <p:nvPr/>
        </p:nvSpPr>
        <p:spPr>
          <a:xfrm>
            <a:off x="6393028" y="2011680"/>
            <a:ext cx="5112868" cy="1133856"/>
          </a:xfrm>
          <a:prstGeom prst="rect">
            <a:avLst/>
          </a:prstGeom>
          <a:noFill/>
          <a:ln/>
        </p:spPr>
        <p:txBody>
          <a:bodyPr wrap="square" lIns="0" tIns="0" rIns="0" bIns="0" rtlCol="0" anchor="t"/>
          <a:lstStyle/>
          <a:p>
            <a:pPr indent="0" marL="0">
              <a:spcAft>
                <a:spcPts val="300"/>
              </a:spcAft>
              <a:buNone/>
            </a:pPr>
            <a:r>
              <a:rPr lang="en-US" sz="1400" b="1" dirty="0">
                <a:solidFill>
                  <a:srgbClr val="B39B6B"/>
                </a:solidFill>
              </a:rPr>
              <a:t>Kunde: </a:t>
            </a:r>
            <a:pPr indent="0" marL="0">
              <a:spcAft>
                <a:spcPts val="300"/>
              </a:spcAft>
              <a:buNone/>
            </a:pPr>
            <a:r>
              <a:rPr lang="en-US" sz="1400" dirty="0">
                <a:solidFill>
                  <a:srgbClr val="EFE7D6"/>
                </a:solidFill>
              </a:rPr>
              <a:t>bestehende Kaufrelevanz: schnell greifen</a:t>
            </a:r>
            <a:endParaRPr lang="en-US" sz="1400" dirty="0"/>
          </a:p>
          <a:p>
            <a:pPr indent="0" marL="0">
              <a:spcAft>
                <a:spcPts val="300"/>
              </a:spcAft>
              <a:buNone/>
            </a:pPr>
            <a:r>
              <a:rPr lang="en-US" sz="1400" b="1" dirty="0">
                <a:solidFill>
                  <a:srgbClr val="B39B6B"/>
                </a:solidFill>
              </a:rPr>
              <a:t>Händler: </a:t>
            </a:r>
            <a:pPr indent="0" marL="0">
              <a:spcAft>
                <a:spcPts val="300"/>
              </a:spcAft>
              <a:buNone/>
            </a:pPr>
            <a:r>
              <a:rPr lang="en-US" sz="1400" dirty="0">
                <a:solidFill>
                  <a:srgbClr val="EFE7D6"/>
                </a:solidFill>
              </a:rPr>
              <a:t>geplante Käufe im Vorbeigehen</a:t>
            </a:r>
            <a:endParaRPr lang="en-US" sz="1400" dirty="0"/>
          </a:p>
          <a:p>
            <a:pPr indent="0" marL="0">
              <a:spcAft>
                <a:spcPts val="300"/>
              </a:spcAft>
              <a:buNone/>
            </a:pPr>
            <a:r>
              <a:rPr lang="en-US" sz="1400" b="1" dirty="0">
                <a:solidFill>
                  <a:srgbClr val="B39B6B"/>
                </a:solidFill>
              </a:rPr>
              <a:t>Bei uns: </a:t>
            </a:r>
            <a:pPr indent="0" marL="0">
              <a:spcAft>
                <a:spcPts val="300"/>
              </a:spcAft>
              <a:buNone/>
            </a:pPr>
            <a:r>
              <a:rPr lang="en-US" sz="1400" dirty="0">
                <a:solidFill>
                  <a:srgbClr val="EFE7D6"/>
                </a:solidFill>
              </a:rPr>
              <a:t>Wandregal + Gondel am Schnellweg</a:t>
            </a:r>
            <a:endParaRPr lang="en-US" sz="1400" dirty="0"/>
          </a:p>
        </p:txBody>
      </p:sp>
      <p:sp>
        <p:nvSpPr>
          <p:cNvPr id="13" name="tag-79"/>
          <p:cNvSpPr/>
          <p:nvPr/>
        </p:nvSpPr>
        <p:spPr>
          <a:xfrm>
            <a:off x="6393028" y="3550920"/>
            <a:ext cx="274320" cy="219456"/>
          </a:xfrm>
          <a:prstGeom prst="roundRect">
            <a:avLst>
              <a:gd name="adj" fmla="val 20833"/>
            </a:avLst>
          </a:prstGeom>
          <a:solidFill>
            <a:srgbClr val="4F7F5A"/>
          </a:solidFill>
          <a:ln w="12700">
            <a:solidFill>
              <a:srgbClr val="4F7F5A"/>
            </a:solidFill>
            <a:prstDash val="solid"/>
          </a:ln>
        </p:spPr>
      </p:sp>
      <p:sp>
        <p:nvSpPr>
          <p:cNvPr id="14" name="Text 12"/>
          <p:cNvSpPr txBox="1"/>
          <p:nvPr/>
        </p:nvSpPr>
        <p:spPr>
          <a:xfrm>
            <a:off x="6393028" y="355092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5" name="tagtext-80"/>
          <p:cNvSpPr txBox="1"/>
          <p:nvPr/>
        </p:nvSpPr>
        <p:spPr>
          <a:xfrm>
            <a:off x="6758788" y="3523488"/>
            <a:ext cx="4747108" cy="240792"/>
          </a:xfrm>
          <a:prstGeom prst="rect">
            <a:avLst/>
          </a:prstGeom>
          <a:noFill/>
          <a:ln/>
        </p:spPr>
        <p:txBody>
          <a:bodyPr wrap="square" lIns="0" tIns="0" rIns="0" bIns="0" rtlCol="0" anchor="t"/>
          <a:lstStyle/>
          <a:p>
            <a:pPr indent="0" marL="0">
              <a:buNone/>
            </a:pPr>
            <a:r>
              <a:rPr lang="en-US" sz="1100" dirty="0">
                <a:solidFill>
                  <a:srgbClr val="A9A296"/>
                </a:solidFill>
              </a:rPr>
              <a:t>Abb. 10.3, S. 300–301 ✓</a:t>
            </a:r>
            <a:endParaRPr lang="en-US" sz="1100" dirty="0"/>
          </a:p>
        </p:txBody>
      </p:sp>
      <p:pic>
        <p:nvPicPr>
          <p:cNvPr id="16" name="modellbild-81" descr="/tmp/claude-0/-home-claude/bc97363c-87c0-54f2-9d3b-d4b9a8318a8f/scratchpad/ppt/shots/s10.png">    </p:cNvPr>
          <p:cNvPicPr>
            <a:picLocks noChangeAspect="1"/>
          </p:cNvPicPr>
          <p:nvPr/>
        </p:nvPicPr>
        <p:blipFill>
          <a:blip r:embed="rId1"/>
          <a:srcRect l="0" r="0" t="0" b="0"/>
          <a:stretch/>
        </p:blipFill>
        <p:spPr>
          <a:xfrm>
            <a:off x="502920" y="4255008"/>
            <a:ext cx="11185855" cy="1688592"/>
          </a:xfrm>
          <a:prstGeom prst="rect">
            <a:avLst/>
          </a:prstGeom>
        </p:spPr>
      </p:pic>
      <p:sp>
        <p:nvSpPr>
          <p:cNvPr id="17" name="fuss-82"/>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Ahlert/Kenning/Brock 2020, S. 300–301, Abb. 10.3 ✓ · Leitdifferenzen nach Seminarskript (Luhmann 1984)</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modellbild-83" descr="/tmp/claude-0/-home-claude/bc97363c-87c0-54f2-9d3b-d4b9a8318a8f/scratchpad/ppt/shots/s11.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1/13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M1 · Eingang · Ausgang</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Schaufenster &amp; getrennter Ein-/Ausgang</a:t>
            </a:r>
            <a:endParaRPr lang="en-US" sz="2400" dirty="0"/>
          </a:p>
        </p:txBody>
      </p:sp>
      <p:sp>
        <p:nvSpPr>
          <p:cNvPr id="7" name="entscheidung-84"/>
          <p:cNvSpPr txBox="1"/>
          <p:nvPr/>
        </p:nvSpPr>
        <p:spPr>
          <a:xfrm>
            <a:off x="6629400" y="1600200"/>
            <a:ext cx="5059375" cy="972312"/>
          </a:xfrm>
          <a:prstGeom prst="rect">
            <a:avLst/>
          </a:prstGeom>
          <a:noFill/>
          <a:ln/>
        </p:spPr>
        <p:txBody>
          <a:bodyPr wrap="square" lIns="0" tIns="0" rIns="0" bIns="0" rtlCol="0" anchor="t"/>
          <a:lstStyle/>
          <a:p>
            <a:pPr indent="0" marL="0">
              <a:buNone/>
            </a:pPr>
            <a:r>
              <a:rPr lang="en-US" sz="1200" b="1" dirty="0">
                <a:solidFill>
                  <a:srgbClr val="EFE7D6"/>
                </a:solidFill>
              </a:rPr>
              <a:t>Themenfenster „Was kochst du heute?“: drei Podeste – je Kochwelt ein Gericht mit seinen Zutaten und dem Preis je Portion –, darüber ein Leuchtplakat mit QR-Code und Live-Cooking-Zeiten, Spots und Glasbeschriftung. Eingang (1,8 m) und Ausgang (1,4 m) sind getrennt, die Kasse sitzt direkt vor dem Ausgang.</a:t>
            </a:r>
            <a:endParaRPr lang="en-US" sz="1200" dirty="0"/>
          </a:p>
        </p:txBody>
      </p:sp>
      <p:sp>
        <p:nvSpPr>
          <p:cNvPr id="8" name="Text 5"/>
          <p:cNvSpPr txBox="1"/>
          <p:nvPr/>
        </p:nvSpPr>
        <p:spPr>
          <a:xfrm>
            <a:off x="6629400" y="2682240"/>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85"/>
          <p:cNvSpPr txBox="1"/>
          <p:nvPr/>
        </p:nvSpPr>
        <p:spPr>
          <a:xfrm>
            <a:off x="6629400" y="2929128"/>
            <a:ext cx="5059375" cy="1331976"/>
          </a:xfrm>
          <a:prstGeom prst="rect">
            <a:avLst/>
          </a:prstGeom>
          <a:noFill/>
          <a:ln/>
        </p:spPr>
        <p:txBody>
          <a:bodyPr wrap="square" lIns="0" tIns="0" rIns="0" bIns="0" rtlCol="0" anchor="t"/>
          <a:lstStyle/>
          <a:p>
            <a:pPr indent="0" marL="0">
              <a:buNone/>
            </a:pPr>
            <a:r>
              <a:rPr lang="en-US" sz="1200" dirty="0">
                <a:solidFill>
                  <a:srgbClr val="EFE7D6"/>
                </a:solidFill>
              </a:rPr>
              <a:t>Das Fenster zeigt der Laufkundschaft vom Campus in Sekunden, was es heute gibt, wie schnell es geht und was es kostet. Fertige Gerichte statt einzelner Produkte machen das Konzept von der Straße aus verständlich; der QR-Code bringt die Rezeptkarte aufs Handy – auch nach Ladenschluss. Spots lenken den Blick auf die Ware. Getrennte Türen geben eine klare Laufrichtung vor: rein links, raus rechts an der Kasse vorbei.</a:t>
            </a:r>
            <a:endParaRPr lang="en-US" sz="1200" dirty="0"/>
          </a:p>
        </p:txBody>
      </p:sp>
      <p:sp>
        <p:nvSpPr>
          <p:cNvPr id="10" name="tag-86"/>
          <p:cNvSpPr/>
          <p:nvPr/>
        </p:nvSpPr>
        <p:spPr>
          <a:xfrm>
            <a:off x="6629400" y="4425696"/>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442569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87"/>
          <p:cNvSpPr txBox="1"/>
          <p:nvPr/>
        </p:nvSpPr>
        <p:spPr>
          <a:xfrm>
            <a:off x="6995160" y="4398264"/>
            <a:ext cx="4693615" cy="576072"/>
          </a:xfrm>
          <a:prstGeom prst="rect">
            <a:avLst/>
          </a:prstGeom>
          <a:noFill/>
          <a:ln/>
        </p:spPr>
        <p:txBody>
          <a:bodyPr wrap="square" lIns="0" tIns="0" rIns="0" bIns="0" rtlCol="0" anchor="t"/>
          <a:lstStyle/>
          <a:p>
            <a:pPr indent="0" marL="0">
              <a:buNone/>
            </a:pPr>
            <a:r>
              <a:rPr lang="en-US" sz="1100" dirty="0">
                <a:solidFill>
                  <a:srgbClr val="A9A296"/>
                </a:solidFill>
              </a:rPr>
              <a:t>Ahlert/Kenning/Brock 2020, S. 303–306 (Fensterarten, Warenpräsentation) ✓; S. 297–302 (Eingang, Kasse, Wege anordnen) ✓; Summers/Hebert 2001, JBR 54(2) (Licht an Displays) ◐</a:t>
            </a:r>
            <a:endParaRPr lang="en-US" sz="1100" dirty="0"/>
          </a:p>
        </p:txBody>
      </p:sp>
      <p:sp>
        <p:nvSpPr>
          <p:cNvPr id="13" name="tag-88"/>
          <p:cNvSpPr/>
          <p:nvPr/>
        </p:nvSpPr>
        <p:spPr>
          <a:xfrm>
            <a:off x="6629400" y="5056632"/>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5056632"/>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89"/>
          <p:cNvSpPr txBox="1"/>
          <p:nvPr/>
        </p:nvSpPr>
        <p:spPr>
          <a:xfrm>
            <a:off x="6995160" y="5029200"/>
            <a:ext cx="4693615" cy="408432"/>
          </a:xfrm>
          <a:prstGeom prst="rect">
            <a:avLst/>
          </a:prstGeom>
          <a:noFill/>
          <a:ln/>
        </p:spPr>
        <p:txBody>
          <a:bodyPr wrap="square" lIns="0" tIns="0" rIns="0" bIns="0" rtlCol="0" anchor="t"/>
          <a:lstStyle/>
          <a:p>
            <a:pPr indent="0" marL="0">
              <a:buNone/>
            </a:pPr>
            <a:r>
              <a:rPr lang="en-US" sz="1100" dirty="0">
                <a:solidFill>
                  <a:srgbClr val="A9A296"/>
                </a:solidFill>
              </a:rPr>
              <a:t>Monatlicher Wechsel des Fensters ist personell leistbar; mehr Eintritte durch das Fenster sind nicht belegt.</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Skizze: eine Doppeltür in der Mitte. Neu: Ein- und Ausgang getrennt, Themenfenster mit drei Podesten.</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modellbild-90" descr="/tmp/claude-0/-home-claude/bc97363c-87c0-54f2-9d3b-d4b9a8318a8f/scratchpad/ppt/shots/s12.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2/13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M2</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Matrix-Dashboard</a:t>
            </a:r>
            <a:endParaRPr lang="en-US" sz="2400" dirty="0"/>
          </a:p>
        </p:txBody>
      </p:sp>
      <p:sp>
        <p:nvSpPr>
          <p:cNvPr id="7" name="entscheidung-91"/>
          <p:cNvSpPr txBox="1"/>
          <p:nvPr/>
        </p:nvSpPr>
        <p:spPr>
          <a:xfrm>
            <a:off x="6629400" y="1600200"/>
            <a:ext cx="5059375" cy="1242060"/>
          </a:xfrm>
          <a:prstGeom prst="rect">
            <a:avLst/>
          </a:prstGeom>
          <a:noFill/>
          <a:ln/>
        </p:spPr>
        <p:txBody>
          <a:bodyPr wrap="square" lIns="0" tIns="0" rIns="0" bIns="0" rtlCol="0" anchor="t"/>
          <a:lstStyle/>
          <a:p>
            <a:pPr indent="0" marL="0">
              <a:buNone/>
            </a:pPr>
            <a:r>
              <a:rPr lang="en-US" sz="1300" b="1" dirty="0">
                <a:solidFill>
                  <a:srgbClr val="EFE7D6"/>
                </a:solidFill>
              </a:rPr>
              <a:t>Ca. 3 m hinter dem Eingang steht das Dashboard: Küche (Spalten) × Anlass (Zeilen: besonders, schnell, günstig) = genau ein Rezept. Jede Karte trägt einen QR-Code – das Rezept mit allen Fachcodes gibt es auch aufs Handy. Rückseite: Live-Cooking-Plan der Woche. Es steht links der Blickachse, damit der Blick zur Showküche frei bleibt.</a:t>
            </a:r>
            <a:endParaRPr lang="en-US" sz="1300" dirty="0"/>
          </a:p>
        </p:txBody>
      </p:sp>
      <p:sp>
        <p:nvSpPr>
          <p:cNvPr id="8" name="Text 5"/>
          <p:cNvSpPr txBox="1"/>
          <p:nvPr/>
        </p:nvSpPr>
        <p:spPr>
          <a:xfrm>
            <a:off x="6629400" y="2951988"/>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92"/>
          <p:cNvSpPr txBox="1"/>
          <p:nvPr/>
        </p:nvSpPr>
        <p:spPr>
          <a:xfrm>
            <a:off x="6629400" y="3198876"/>
            <a:ext cx="5059375" cy="1047242"/>
          </a:xfrm>
          <a:prstGeom prst="rect">
            <a:avLst/>
          </a:prstGeom>
          <a:noFill/>
          <a:ln/>
        </p:spPr>
        <p:txBody>
          <a:bodyPr wrap="square" lIns="0" tIns="0" rIns="0" bIns="0" rtlCol="0" anchor="t"/>
          <a:lstStyle/>
          <a:p>
            <a:pPr indent="0" marL="0">
              <a:buNone/>
            </a:pPr>
            <a:r>
              <a:rPr lang="en-US" sz="1300" dirty="0">
                <a:solidFill>
                  <a:srgbClr val="EFE7D6"/>
                </a:solidFill>
              </a:rPr>
              <a:t>Die Kundin hat eine Kaufabsicht („heute kochen“), offen ist nur das Gericht. Das Dashboard macht aus neun Rezepten zwei einfache Fragen und gibt Orientierung, bevor der Einkauf beginnt. Je länger Kunden im Laden sind, desto zielgerichteter werden sie – Inspiration gehört deshalb an den Anfang des Weges.</a:t>
            </a:r>
            <a:endParaRPr lang="en-US" sz="1300" dirty="0"/>
          </a:p>
        </p:txBody>
      </p:sp>
      <p:sp>
        <p:nvSpPr>
          <p:cNvPr id="10" name="tag-93"/>
          <p:cNvSpPr/>
          <p:nvPr/>
        </p:nvSpPr>
        <p:spPr>
          <a:xfrm>
            <a:off x="6629400" y="4410710"/>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441071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94"/>
          <p:cNvSpPr txBox="1"/>
          <p:nvPr/>
        </p:nvSpPr>
        <p:spPr>
          <a:xfrm>
            <a:off x="6995160" y="4383278"/>
            <a:ext cx="4693615" cy="743712"/>
          </a:xfrm>
          <a:prstGeom prst="rect">
            <a:avLst/>
          </a:prstGeom>
          <a:noFill/>
          <a:ln/>
        </p:spPr>
        <p:txBody>
          <a:bodyPr wrap="square" lIns="0" tIns="0" rIns="0" bIns="0" rtlCol="0" anchor="t"/>
          <a:lstStyle/>
          <a:p>
            <a:pPr indent="0" marL="0">
              <a:buNone/>
            </a:pPr>
            <a:r>
              <a:rPr lang="en-US" sz="1100" dirty="0">
                <a:solidFill>
                  <a:srgbClr val="A9A296"/>
                </a:solidFill>
              </a:rPr>
              <a:t>Seminarskript HD25A23: Leitdifferenz kaufrelevant (in Anlehnung an Luhmann 1984, S. 63) ✓; Hui/Bradlow/Fader 2009, J. of Consumer Research 36(3) ✓; Scheuch 2001, der markt 40(2–3), S. 90 u. 92 (Cognitive Maps) ◐</a:t>
            </a:r>
            <a:endParaRPr lang="en-US" sz="1100" dirty="0"/>
          </a:p>
        </p:txBody>
      </p:sp>
      <p:sp>
        <p:nvSpPr>
          <p:cNvPr id="13" name="tag-95"/>
          <p:cNvSpPr/>
          <p:nvPr/>
        </p:nvSpPr>
        <p:spPr>
          <a:xfrm>
            <a:off x="6629400" y="5209286"/>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520928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96"/>
          <p:cNvSpPr txBox="1"/>
          <p:nvPr/>
        </p:nvSpPr>
        <p:spPr>
          <a:xfrm>
            <a:off x="6995160" y="5181854"/>
            <a:ext cx="4693615" cy="240792"/>
          </a:xfrm>
          <a:prstGeom prst="rect">
            <a:avLst/>
          </a:prstGeom>
          <a:noFill/>
          <a:ln/>
        </p:spPr>
        <p:txBody>
          <a:bodyPr wrap="square" lIns="0" tIns="0" rIns="0" bIns="0" rtlCol="0" anchor="t"/>
          <a:lstStyle/>
          <a:p>
            <a:pPr indent="0" marL="0">
              <a:buNone/>
            </a:pPr>
            <a:r>
              <a:rPr lang="en-US" sz="1100" dirty="0">
                <a:solidFill>
                  <a:srgbClr val="A9A296"/>
                </a:solidFill>
              </a:rPr>
              <a:t>Dass die Wahl dadurch schneller fällt, ist nicht belegt.</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Skizze: „Dashboard“ mittig vor der Tür. Neu: etwas nach links versetzt, die Blickachse zur Küche bleibt frei.</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97"/>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6 · WARENPRÄSENTATION · KERNELEMENT</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Das Matrix-Dashboard: Küche × Anlass = ein Rezept</a:t>
            </a:r>
            <a:endParaRPr lang="en-US" sz="2800" dirty="0"/>
          </a:p>
        </p:txBody>
      </p:sp>
      <p:graphicFrame>
        <p:nvGraphicFramePr>
          <p:cNvPr id="15" name="matrix-98"/>
          <p:cNvGraphicFramePr>
            <a:graphicFrameLocks noGrp="1"/>
          </p:cNvGraphicFramePr>
          <p:nvPr>
            <p:extLst>
              <p:ext uri="{D42A27DB-BD31-4B8C-83A1-F6EECF244321}">
                <p14:modId xmlns:p14="http://schemas.microsoft.com/office/powerpoint/2010/main" val="1579011935"/>
              </p:ext>
            </p:extLst>
          </p:nvPr>
        </p:nvGraphicFramePr>
        <p:xfrm>
          <a:off x="502920" y="1463040"/>
          <a:ext cx="7680960" cy="914400"/>
        </p:xfrm>
        <a:graphic>
          <a:graphicData uri="http://schemas.openxmlformats.org/drawingml/2006/table">
            <a:tbl>
              <a:tblPr/>
              <a:tblGrid>
                <a:gridCol w="1737360"/>
                <a:gridCol w="1984248"/>
                <a:gridCol w="1984248"/>
                <a:gridCol w="1975104"/>
              </a:tblGrid>
              <a:tr h="365760">
                <a:tc>
                  <a:txBody>
                    <a:bodyPr/>
                    <a:lstStyle/>
                    <a:p>
                      <a:pPr indent="0" marL="0">
                        <a:buNone/>
                      </a:pPr>
                      <a:endParaRPr lang="en-US" sz="12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400" b="1" dirty="0">
                          <a:solidFill>
                            <a:srgbClr val="B39B6B"/>
                          </a:solidFill>
                          <a:latin typeface="Cambria" pitchFamily="34" charset="0"/>
                          <a:ea typeface="Cambria" pitchFamily="34" charset="-122"/>
                          <a:cs typeface="Cambria" pitchFamily="34" charset="-120"/>
                        </a:rPr>
                        <a:t>Pasta Night</a:t>
                      </a:r>
                      <a:endParaRPr lang="en-US" sz="1400" dirty="0">
                        <a:latin typeface="Cambria" charset="0"/>
                        <a:ea typeface="Cambria" charset="0"/>
                        <a:cs typeface="Cambria" charset="0"/>
                      </a:endParaRPr>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400" b="1" dirty="0">
                          <a:solidFill>
                            <a:srgbClr val="B39B6B"/>
                          </a:solidFill>
                          <a:latin typeface="Cambria" pitchFamily="34" charset="0"/>
                          <a:ea typeface="Cambria" pitchFamily="34" charset="-122"/>
                          <a:cs typeface="Cambria" pitchFamily="34" charset="-120"/>
                        </a:rPr>
                        <a:t>Asian Night</a:t>
                      </a:r>
                      <a:endParaRPr lang="en-US" sz="1400" dirty="0">
                        <a:latin typeface="Cambria" charset="0"/>
                        <a:ea typeface="Cambria" charset="0"/>
                        <a:cs typeface="Cambria" charset="0"/>
                      </a:endParaRPr>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400" b="1" dirty="0">
                          <a:solidFill>
                            <a:srgbClr val="B39B6B"/>
                          </a:solidFill>
                          <a:latin typeface="Cambria" pitchFamily="34" charset="0"/>
                          <a:ea typeface="Cambria" pitchFamily="34" charset="-122"/>
                          <a:cs typeface="Cambria" pitchFamily="34" charset="-120"/>
                        </a:rPr>
                        <a:t>Mexican Night</a:t>
                      </a:r>
                      <a:endParaRPr lang="en-US" sz="1400" dirty="0">
                        <a:latin typeface="Cambria" charset="0"/>
                        <a:ea typeface="Cambria" charset="0"/>
                        <a:cs typeface="Cambria" charset="0"/>
                      </a:endParaRPr>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1F2120"/>
                    </a:solidFill>
                  </a:tcPr>
                </a:tc>
              </a:tr>
              <a:tr h="777240">
                <a:tc>
                  <a:txBody>
                    <a:bodyPr/>
                    <a:lstStyle/>
                    <a:p>
                      <a:pPr indent="0" marL="0">
                        <a:buNone/>
                      </a:pPr>
                      <a:r>
                        <a:rPr lang="en-US" sz="1500" b="1" dirty="0">
                          <a:solidFill>
                            <a:srgbClr val="EFE7D6"/>
                          </a:solidFill>
                        </a:rPr>
                        <a:t>★ besonders</a:t>
                      </a:r>
                      <a:endParaRPr lang="en-US" sz="1500" dirty="0"/>
                    </a:p>
                    <a:p>
                      <a:pPr indent="0" marL="0">
                        <a:buNone/>
                      </a:pPr>
                      <a:r>
                        <a:rPr lang="en-US" sz="1100" dirty="0">
                          <a:solidFill>
                            <a:srgbClr val="A9A296"/>
                          </a:solidFill>
                        </a:rPr>
                        <a:t>Menü mit Dessert</a:t>
                      </a:r>
                      <a:endParaRPr lang="en-US" sz="15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#02  </a:t>
                      </a:r>
                      <a:pPr indent="0" marL="0">
                        <a:buNone/>
                      </a:pPr>
                      <a:r>
                        <a:rPr lang="en-US" sz="1400" dirty="0">
                          <a:solidFill>
                            <a:srgbClr val="EFE7D6"/>
                          </a:solidFill>
                        </a:rPr>
                        <a:t>Tagliatelle al Limone + Tiramisu</a:t>
                      </a:r>
                      <a:endParaRPr lang="en-US" sz="1400" dirty="0"/>
                    </a:p>
                    <a:p>
                      <a:pPr indent="0" marL="0">
                        <a:buNone/>
                      </a:pPr>
                      <a:r>
                        <a:rPr lang="en-US" sz="1100" dirty="0">
                          <a:solidFill>
                            <a:srgbClr val="A9A296"/>
                          </a:solidFill>
                        </a:rPr>
                        <a:t>35 Min. · für 2</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#05  </a:t>
                      </a:r>
                      <a:pPr indent="0" marL="0">
                        <a:buNone/>
                      </a:pPr>
                      <a:r>
                        <a:rPr lang="en-US" sz="1400" dirty="0">
                          <a:solidFill>
                            <a:srgbClr val="EFE7D6"/>
                          </a:solidFill>
                        </a:rPr>
                        <a:t>Ramen-Abend + Mochi</a:t>
                      </a:r>
                      <a:endParaRPr lang="en-US" sz="1400" dirty="0"/>
                    </a:p>
                    <a:p>
                      <a:pPr indent="0" marL="0">
                        <a:buNone/>
                      </a:pPr>
                      <a:r>
                        <a:rPr lang="en-US" sz="1100" dirty="0">
                          <a:solidFill>
                            <a:srgbClr val="A9A296"/>
                          </a:solidFill>
                        </a:rPr>
                        <a:t>40 Min. · für 2</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#08  </a:t>
                      </a:r>
                      <a:pPr indent="0" marL="0">
                        <a:buNone/>
                      </a:pPr>
                      <a:r>
                        <a:rPr lang="en-US" sz="1400" dirty="0">
                          <a:solidFill>
                            <a:srgbClr val="EFE7D6"/>
                          </a:solidFill>
                        </a:rPr>
                        <a:t>Taco-Abend mit Guacamole</a:t>
                      </a:r>
                      <a:endParaRPr lang="en-US" sz="1400" dirty="0"/>
                    </a:p>
                    <a:p>
                      <a:pPr indent="0" marL="0">
                        <a:buNone/>
                      </a:pPr>
                      <a:r>
                        <a:rPr lang="en-US" sz="1100" dirty="0">
                          <a:solidFill>
                            <a:srgbClr val="A9A296"/>
                          </a:solidFill>
                        </a:rPr>
                        <a:t>35 Min. · für 2</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r>
              <a:tr h="777240">
                <a:tc>
                  <a:txBody>
                    <a:bodyPr/>
                    <a:lstStyle/>
                    <a:p>
                      <a:pPr indent="0" marL="0">
                        <a:buNone/>
                      </a:pPr>
                      <a:r>
                        <a:rPr lang="en-US" sz="1500" b="1" dirty="0">
                          <a:solidFill>
                            <a:srgbClr val="EFE7D6"/>
                          </a:solidFill>
                        </a:rPr>
                        <a:t>» schnell</a:t>
                      </a:r>
                      <a:endParaRPr lang="en-US" sz="1500" dirty="0"/>
                    </a:p>
                    <a:p>
                      <a:pPr indent="0" marL="0">
                        <a:buNone/>
                      </a:pPr>
                      <a:r>
                        <a:rPr lang="en-US" sz="1100" dirty="0">
                          <a:solidFill>
                            <a:srgbClr val="A9A296"/>
                          </a:solidFill>
                        </a:rPr>
                        <a:t>≤ 20 Min.</a:t>
                      </a:r>
                      <a:endParaRPr lang="en-US" sz="15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#01  </a:t>
                      </a:r>
                      <a:pPr indent="0" marL="0">
                        <a:buNone/>
                      </a:pPr>
                      <a:r>
                        <a:rPr lang="en-US" sz="1400" dirty="0">
                          <a:solidFill>
                            <a:srgbClr val="EFE7D6"/>
                          </a:solidFill>
                        </a:rPr>
                        <a:t>Creamy Tomato Pasta</a:t>
                      </a:r>
                      <a:endParaRPr lang="en-US" sz="1400" dirty="0"/>
                    </a:p>
                    <a:p>
                      <a:pPr indent="0" marL="0">
                        <a:buNone/>
                      </a:pPr>
                      <a:r>
                        <a:rPr lang="en-US" sz="1100" dirty="0">
                          <a:solidFill>
                            <a:srgbClr val="A9A296"/>
                          </a:solidFill>
                        </a:rPr>
                        <a:t>20 Min. · 4,60 €/Portion</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#04  </a:t>
                      </a:r>
                      <a:pPr indent="0" marL="0">
                        <a:buNone/>
                      </a:pPr>
                      <a:r>
                        <a:rPr lang="en-US" sz="1400" dirty="0">
                          <a:solidFill>
                            <a:srgbClr val="EFE7D6"/>
                          </a:solidFill>
                        </a:rPr>
                        <a:t>Gebratene Udon</a:t>
                      </a:r>
                      <a:endParaRPr lang="en-US" sz="1400" dirty="0"/>
                    </a:p>
                    <a:p>
                      <a:pPr indent="0" marL="0">
                        <a:buNone/>
                      </a:pPr>
                      <a:r>
                        <a:rPr lang="en-US" sz="1100" dirty="0">
                          <a:solidFill>
                            <a:srgbClr val="A9A296"/>
                          </a:solidFill>
                        </a:rPr>
                        <a:t>15 Min. · 4,40 €/Portion</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#07  </a:t>
                      </a:r>
                      <a:pPr indent="0" marL="0">
                        <a:buNone/>
                      </a:pPr>
                      <a:r>
                        <a:rPr lang="en-US" sz="1400" dirty="0">
                          <a:solidFill>
                            <a:srgbClr val="EFE7D6"/>
                          </a:solidFill>
                        </a:rPr>
                        <a:t>Quesadillas</a:t>
                      </a:r>
                      <a:endParaRPr lang="en-US" sz="1400" dirty="0"/>
                    </a:p>
                    <a:p>
                      <a:pPr indent="0" marL="0">
                        <a:buNone/>
                      </a:pPr>
                      <a:r>
                        <a:rPr lang="en-US" sz="1100" dirty="0">
                          <a:solidFill>
                            <a:srgbClr val="A9A296"/>
                          </a:solidFill>
                        </a:rPr>
                        <a:t>15 Min. · 4,20 €/Portion</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r>
              <a:tr h="777240">
                <a:tc>
                  <a:txBody>
                    <a:bodyPr/>
                    <a:lstStyle/>
                    <a:p>
                      <a:pPr indent="0" marL="0">
                        <a:buNone/>
                      </a:pPr>
                      <a:r>
                        <a:rPr lang="en-US" sz="1500" b="1" dirty="0">
                          <a:solidFill>
                            <a:srgbClr val="EFE7D6"/>
                          </a:solidFill>
                        </a:rPr>
                        <a:t>€ günstig</a:t>
                      </a:r>
                      <a:endParaRPr lang="en-US" sz="1500" dirty="0"/>
                    </a:p>
                    <a:p>
                      <a:pPr indent="0" marL="0">
                        <a:buNone/>
                      </a:pPr>
                      <a:r>
                        <a:rPr lang="en-US" sz="1100" dirty="0">
                          <a:solidFill>
                            <a:srgbClr val="A9A296"/>
                          </a:solidFill>
                        </a:rPr>
                        <a:t>≤ 4 € je Portion</a:t>
                      </a:r>
                      <a:endParaRPr lang="en-US" sz="15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#03  </a:t>
                      </a:r>
                      <a:pPr indent="0" marL="0">
                        <a:buNone/>
                      </a:pPr>
                      <a:r>
                        <a:rPr lang="en-US" sz="1400" dirty="0">
                          <a:solidFill>
                            <a:srgbClr val="EFE7D6"/>
                          </a:solidFill>
                        </a:rPr>
                        <a:t>Pasta e Fagioli</a:t>
                      </a:r>
                      <a:endParaRPr lang="en-US" sz="1400" dirty="0"/>
                    </a:p>
                    <a:p>
                      <a:pPr indent="0" marL="0">
                        <a:buNone/>
                      </a:pPr>
                      <a:r>
                        <a:rPr lang="en-US" sz="1100" dirty="0">
                          <a:solidFill>
                            <a:srgbClr val="A9A296"/>
                          </a:solidFill>
                        </a:rPr>
                        <a:t>30 Min. · 3,20 €/Portion</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#06  </a:t>
                      </a:r>
                      <a:pPr indent="0" marL="0">
                        <a:buNone/>
                      </a:pPr>
                      <a:r>
                        <a:rPr lang="en-US" sz="1400" dirty="0">
                          <a:solidFill>
                            <a:srgbClr val="EFE7D6"/>
                          </a:solidFill>
                        </a:rPr>
                        <a:t>Gemüse-Fried-Rice</a:t>
                      </a:r>
                      <a:endParaRPr lang="en-US" sz="1400" dirty="0"/>
                    </a:p>
                    <a:p>
                      <a:pPr indent="0" marL="0">
                        <a:buNone/>
                      </a:pPr>
                      <a:r>
                        <a:rPr lang="en-US" sz="1100" dirty="0">
                          <a:solidFill>
                            <a:srgbClr val="A9A296"/>
                          </a:solidFill>
                        </a:rPr>
                        <a:t>20 Min. · 2,90 €/Portion</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D64527"/>
                          </a:solidFill>
                        </a:rPr>
                        <a:t>#09  </a:t>
                      </a:r>
                      <a:pPr indent="0" marL="0">
                        <a:buNone/>
                      </a:pPr>
                      <a:r>
                        <a:rPr lang="en-US" sz="1400" dirty="0">
                          <a:solidFill>
                            <a:srgbClr val="EFE7D6"/>
                          </a:solidFill>
                        </a:rPr>
                        <a:t>Chili sin Carne</a:t>
                      </a:r>
                      <a:endParaRPr lang="en-US" sz="1400" dirty="0"/>
                    </a:p>
                    <a:p>
                      <a:pPr indent="0" marL="0">
                        <a:buNone/>
                      </a:pPr>
                      <a:r>
                        <a:rPr lang="en-US" sz="1100" dirty="0">
                          <a:solidFill>
                            <a:srgbClr val="A9A296"/>
                          </a:solidFill>
                        </a:rPr>
                        <a:t>30 Min. · 2,80 €/Portion</a:t>
                      </a:r>
                      <a:endParaRPr lang="en-US" sz="1400" dirty="0"/>
                    </a:p>
                  </a:txBody>
                  <a:tcPr marL="109728" marR="109728" marT="73152" marB="73152" anchor="ctr">
                    <a:lnL w="12700" cap="flat" cmpd="sng" algn="ctr">
                      <a:solidFill>
                        <a:srgbClr val="1F2120"/>
                      </a:solidFill>
                      <a:prstDash val="solid"/>
                      <a:round/>
                      <a:headEnd type="none" w="med" len="med"/>
                      <a:tailEnd type="none" w="med" len="med"/>
                    </a:lnL>
                    <a:lnR w="12700" cap="flat" cmpd="sng" algn="ctr">
                      <a:solidFill>
                        <a:srgbClr val="1F2120"/>
                      </a:solidFill>
                      <a:prstDash val="solid"/>
                      <a:round/>
                      <a:headEnd type="none" w="med" len="med"/>
                      <a:tailEnd type="none" w="med" len="med"/>
                    </a:lnR>
                    <a:lnT w="12700" cap="flat" cmpd="sng" algn="ctr">
                      <a:solidFill>
                        <a:srgbClr val="1F2120"/>
                      </a:solidFill>
                      <a:prstDash val="solid"/>
                      <a:round/>
                      <a:headEnd type="none" w="med" len="med"/>
                      <a:tailEnd type="none" w="med" len="med"/>
                    </a:lnT>
                    <a:lnB w="12700" cap="flat" cmpd="sng" algn="ctr">
                      <a:solidFill>
                        <a:srgbClr val="1F2120"/>
                      </a:solidFill>
                      <a:prstDash val="solid"/>
                      <a:round/>
                      <a:headEnd type="none" w="med" len="med"/>
                      <a:tailEnd type="none" w="med" len="med"/>
                    </a:lnB>
                    <a:solidFill>
                      <a:srgbClr val="2D2F31"/>
                    </a:solidFill>
                  </a:tcPr>
                </a:tc>
              </a:tr>
            </a:tbl>
          </a:graphicData>
        </a:graphic>
      </p:graphicFrame>
      <p:pic>
        <p:nvPicPr>
          <p:cNvPr id="5" name="modellbild-99" descr="/tmp/claude-0/-home-claude/bc97363c-87c0-54f2-9d3b-d4b9a8318a8f/scratchpad/ppt/shots/s13.png">    </p:cNvPr>
          <p:cNvPicPr>
            <a:picLocks noChangeAspect="1"/>
          </p:cNvPicPr>
          <p:nvPr/>
        </p:nvPicPr>
        <p:blipFill>
          <a:blip r:embed="rId1"/>
          <a:srcRect l="0" r="0" t="0" b="0"/>
          <a:stretch/>
        </p:blipFill>
        <p:spPr>
          <a:xfrm>
            <a:off x="8458200" y="1463040"/>
            <a:ext cx="3230575" cy="2697480"/>
          </a:xfrm>
          <a:prstGeom prst="rect">
            <a:avLst/>
          </a:prstGeom>
        </p:spPr>
      </p:pic>
      <p:sp>
        <p:nvSpPr>
          <p:cNvPr id="6" name="karte-100"/>
          <p:cNvSpPr/>
          <p:nvPr/>
        </p:nvSpPr>
        <p:spPr>
          <a:xfrm>
            <a:off x="502920" y="4389120"/>
            <a:ext cx="3576218" cy="1548384"/>
          </a:xfrm>
          <a:prstGeom prst="roundRect">
            <a:avLst>
              <a:gd name="adj" fmla="val 4724"/>
            </a:avLst>
          </a:prstGeom>
          <a:solidFill>
            <a:srgbClr val="2D2F31"/>
          </a:solidFill>
          <a:ln w="9525">
            <a:solidFill>
              <a:srgbClr val="3A3C3E"/>
            </a:solidFill>
            <a:prstDash val="solid"/>
          </a:ln>
        </p:spPr>
      </p:sp>
      <p:sp>
        <p:nvSpPr>
          <p:cNvPr id="7" name="Text 3"/>
          <p:cNvSpPr txBox="1"/>
          <p:nvPr/>
        </p:nvSpPr>
        <p:spPr>
          <a:xfrm>
            <a:off x="685800" y="455371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Aufbau</a:t>
            </a:r>
            <a:endParaRPr lang="en-US" sz="1500" dirty="0"/>
          </a:p>
        </p:txBody>
      </p:sp>
      <p:sp>
        <p:nvSpPr>
          <p:cNvPr id="8" name="Text 4"/>
          <p:cNvSpPr txBox="1"/>
          <p:nvPr/>
        </p:nvSpPr>
        <p:spPr>
          <a:xfrm>
            <a:off x="685800" y="4937760"/>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2,4 m breit, 3 m hinter dem Eingang, 9 Kartenspender</a:t>
            </a:r>
            <a:endParaRPr lang="en-US" sz="1400" dirty="0"/>
          </a:p>
        </p:txBody>
      </p:sp>
      <p:sp>
        <p:nvSpPr>
          <p:cNvPr id="9" name="karte-101"/>
          <p:cNvSpPr/>
          <p:nvPr/>
        </p:nvSpPr>
        <p:spPr>
          <a:xfrm>
            <a:off x="4307738" y="4389120"/>
            <a:ext cx="3576218" cy="1548384"/>
          </a:xfrm>
          <a:prstGeom prst="roundRect">
            <a:avLst>
              <a:gd name="adj" fmla="val 4724"/>
            </a:avLst>
          </a:prstGeom>
          <a:solidFill>
            <a:srgbClr val="2D2F31"/>
          </a:solidFill>
          <a:ln w="9525">
            <a:solidFill>
              <a:srgbClr val="3A3C3E"/>
            </a:solidFill>
            <a:prstDash val="solid"/>
          </a:ln>
        </p:spPr>
      </p:sp>
      <p:sp>
        <p:nvSpPr>
          <p:cNvPr id="10" name="Text 6"/>
          <p:cNvSpPr txBox="1"/>
          <p:nvPr/>
        </p:nvSpPr>
        <p:spPr>
          <a:xfrm>
            <a:off x="4490618" y="455371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Orientierung zuerst</a:t>
            </a:r>
            <a:endParaRPr lang="en-US" sz="1500" dirty="0"/>
          </a:p>
        </p:txBody>
      </p:sp>
      <p:sp>
        <p:nvSpPr>
          <p:cNvPr id="11" name="Text 7"/>
          <p:cNvSpPr txBox="1"/>
          <p:nvPr/>
        </p:nvSpPr>
        <p:spPr>
          <a:xfrm>
            <a:off x="4490618" y="4937760"/>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Aus 9 Rezepten werden 2 Fragen</a:t>
            </a:r>
            <a:endParaRPr lang="en-US" sz="1400" dirty="0"/>
          </a:p>
        </p:txBody>
      </p:sp>
      <p:sp>
        <p:nvSpPr>
          <p:cNvPr id="12" name="tag-102"/>
          <p:cNvSpPr/>
          <p:nvPr/>
        </p:nvSpPr>
        <p:spPr>
          <a:xfrm>
            <a:off x="4490618" y="5507736"/>
            <a:ext cx="274320" cy="219456"/>
          </a:xfrm>
          <a:prstGeom prst="roundRect">
            <a:avLst>
              <a:gd name="adj" fmla="val 20833"/>
            </a:avLst>
          </a:prstGeom>
          <a:solidFill>
            <a:srgbClr val="4F7F5A"/>
          </a:solidFill>
          <a:ln w="12700">
            <a:solidFill>
              <a:srgbClr val="4F7F5A"/>
            </a:solidFill>
            <a:prstDash val="solid"/>
          </a:ln>
        </p:spPr>
      </p:sp>
      <p:sp>
        <p:nvSpPr>
          <p:cNvPr id="13" name="Text 9"/>
          <p:cNvSpPr txBox="1"/>
          <p:nvPr/>
        </p:nvSpPr>
        <p:spPr>
          <a:xfrm>
            <a:off x="4490618" y="550773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4" name="tagtext-103"/>
          <p:cNvSpPr txBox="1"/>
          <p:nvPr/>
        </p:nvSpPr>
        <p:spPr>
          <a:xfrm>
            <a:off x="4856378" y="5480304"/>
            <a:ext cx="2844698" cy="240792"/>
          </a:xfrm>
          <a:prstGeom prst="rect">
            <a:avLst/>
          </a:prstGeom>
          <a:noFill/>
          <a:ln/>
        </p:spPr>
        <p:txBody>
          <a:bodyPr wrap="square" lIns="0" tIns="0" rIns="0" bIns="0" rtlCol="0" anchor="t"/>
          <a:lstStyle/>
          <a:p>
            <a:pPr indent="0" marL="0">
              <a:buNone/>
            </a:pPr>
            <a:r>
              <a:rPr lang="en-US" sz="1100" dirty="0">
                <a:solidFill>
                  <a:srgbClr val="A9A296"/>
                </a:solidFill>
              </a:rPr>
              <a:t>Seminarskript ✓</a:t>
            </a:r>
            <a:endParaRPr lang="en-US" sz="1100" dirty="0"/>
          </a:p>
        </p:txBody>
      </p:sp>
      <p:sp>
        <p:nvSpPr>
          <p:cNvPr id="15" name="karte-104"/>
          <p:cNvSpPr/>
          <p:nvPr/>
        </p:nvSpPr>
        <p:spPr>
          <a:xfrm>
            <a:off x="8112557" y="4389120"/>
            <a:ext cx="3576218" cy="1548384"/>
          </a:xfrm>
          <a:prstGeom prst="roundRect">
            <a:avLst>
              <a:gd name="adj" fmla="val 4724"/>
            </a:avLst>
          </a:prstGeom>
          <a:solidFill>
            <a:srgbClr val="2D2F31"/>
          </a:solidFill>
          <a:ln w="9525">
            <a:solidFill>
              <a:srgbClr val="3A3C3E"/>
            </a:solidFill>
            <a:prstDash val="solid"/>
          </a:ln>
        </p:spPr>
      </p:sp>
      <p:sp>
        <p:nvSpPr>
          <p:cNvPr id="16" name="Text 12"/>
          <p:cNvSpPr txBox="1"/>
          <p:nvPr/>
        </p:nvSpPr>
        <p:spPr>
          <a:xfrm>
            <a:off x="8295437" y="455371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Wechsel ohne Umbau</a:t>
            </a:r>
            <a:endParaRPr lang="en-US" sz="1500" dirty="0"/>
          </a:p>
        </p:txBody>
      </p:sp>
      <p:sp>
        <p:nvSpPr>
          <p:cNvPr id="17" name="Text 13"/>
          <p:cNvSpPr txBox="1"/>
          <p:nvPr/>
        </p:nvSpPr>
        <p:spPr>
          <a:xfrm>
            <a:off x="8295437" y="4937760"/>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Monatlich neue Rezepte, gleiches System</a:t>
            </a:r>
            <a:endParaRPr lang="en-US" sz="1400" dirty="0"/>
          </a:p>
        </p:txBody>
      </p:sp>
      <p:sp>
        <p:nvSpPr>
          <p:cNvPr id="18" name="fuss-105"/>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In Anlehnung an den Kreuzblock, Ahlert/Kenning/Brock 2020, S. 303 ✓. Rezepte und Kriterien sind Annahmen.</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106"/>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6 · WARENPRÄSENTATION</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Die Rezeptkarte führt durch den Einkauf</a:t>
            </a:r>
            <a:endParaRPr lang="en-US" sz="2800" dirty="0"/>
          </a:p>
        </p:txBody>
      </p:sp>
      <p:sp>
        <p:nvSpPr>
          <p:cNvPr id="4" name="rezeptkarte-107"/>
          <p:cNvSpPr/>
          <p:nvPr/>
        </p:nvSpPr>
        <p:spPr>
          <a:xfrm>
            <a:off x="502920" y="1463040"/>
            <a:ext cx="3931920" cy="4343400"/>
          </a:xfrm>
          <a:prstGeom prst="roundRect">
            <a:avLst>
              <a:gd name="adj" fmla="val 2326"/>
            </a:avLst>
          </a:prstGeom>
          <a:solidFill>
            <a:srgbClr val="FBF8F2"/>
          </a:solidFill>
          <a:ln w="12700">
            <a:solidFill>
              <a:srgbClr val="FBF8F2"/>
            </a:solidFill>
            <a:prstDash val="solid"/>
          </a:ln>
        </p:spPr>
      </p:sp>
      <p:sp>
        <p:nvSpPr>
          <p:cNvPr id="5" name="Text 3"/>
          <p:cNvSpPr txBox="1"/>
          <p:nvPr/>
        </p:nvSpPr>
        <p:spPr>
          <a:xfrm>
            <a:off x="731520" y="1645920"/>
            <a:ext cx="3474720" cy="1051560"/>
          </a:xfrm>
          <a:prstGeom prst="rect">
            <a:avLst/>
          </a:prstGeom>
          <a:noFill/>
          <a:ln/>
        </p:spPr>
        <p:txBody>
          <a:bodyPr wrap="square" lIns="0" tIns="0" rIns="0" bIns="0" rtlCol="0" anchor="ctr"/>
          <a:lstStyle/>
          <a:p>
            <a:pPr indent="0" marL="0">
              <a:buNone/>
            </a:pPr>
            <a:r>
              <a:rPr lang="en-US" sz="1100" dirty="0">
                <a:solidFill>
                  <a:srgbClr val="8A8378"/>
                </a:solidFill>
              </a:rPr>
              <a:t>Rezept #01 · schnell · Pasta Night</a:t>
            </a:r>
            <a:endParaRPr lang="en-US" sz="1100" dirty="0"/>
          </a:p>
          <a:p>
            <a:pPr indent="0" marL="0">
              <a:buNone/>
            </a:pPr>
            <a:r>
              <a:rPr lang="en-US" sz="2200" dirty="0">
                <a:solidFill>
                  <a:srgbClr val="1F2120"/>
                </a:solidFill>
                <a:latin typeface="Cambria" pitchFamily="34" charset="0"/>
                <a:ea typeface="Cambria" pitchFamily="34" charset="-122"/>
                <a:cs typeface="Cambria" pitchFamily="34" charset="-120"/>
              </a:rPr>
              <a:t>Creamy Tomato Pasta</a:t>
            </a:r>
            <a:endParaRPr lang="en-US" sz="1100" dirty="0"/>
          </a:p>
          <a:p>
            <a:pPr indent="0" marL="0">
              <a:buNone/>
            </a:pPr>
            <a:r>
              <a:rPr lang="en-US" sz="1200" dirty="0">
                <a:solidFill>
                  <a:srgbClr val="6B6258"/>
                </a:solidFill>
              </a:rPr>
              <a:t>20 Min. · 4,60 €/Portion</a:t>
            </a:r>
            <a:endParaRPr lang="en-US" sz="1100" dirty="0"/>
          </a:p>
        </p:txBody>
      </p:sp>
      <p:graphicFrame>
        <p:nvGraphicFramePr>
          <p:cNvPr id="16" name="zutaten-108"/>
          <p:cNvGraphicFramePr>
            <a:graphicFrameLocks noGrp="1"/>
          </p:cNvGraphicFramePr>
          <p:nvPr>
            <p:extLst>
              <p:ext uri="{D42A27DB-BD31-4B8C-83A1-F6EECF244321}">
                <p14:modId xmlns:p14="http://schemas.microsoft.com/office/powerpoint/2010/main" val="1579011935"/>
              </p:ext>
            </p:extLst>
          </p:nvPr>
        </p:nvGraphicFramePr>
        <p:xfrm>
          <a:off x="731520" y="2788920"/>
          <a:ext cx="3474720" cy="914400"/>
        </p:xfrm>
        <a:graphic>
          <a:graphicData uri="http://schemas.openxmlformats.org/drawingml/2006/table">
            <a:tbl>
              <a:tblPr/>
              <a:tblGrid>
                <a:gridCol w="2743200"/>
                <a:gridCol w="731520"/>
              </a:tblGrid>
              <a:tr h="274320">
                <a:tc>
                  <a:txBody>
                    <a:bodyPr/>
                    <a:lstStyle/>
                    <a:p>
                      <a:pPr indent="0" marL="0">
                        <a:buNone/>
                      </a:pPr>
                      <a:r>
                        <a:rPr lang="en-US" sz="1300" dirty="0">
                          <a:solidFill>
                            <a:srgbClr val="2B2C30"/>
                          </a:solidFill>
                        </a:rPr>
                        <a:t>Pasta</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T1</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A8642C"/>
                    </a:solidFill>
                  </a:tcPr>
                </a:tc>
              </a:tr>
              <a:tr h="274320">
                <a:tc>
                  <a:txBody>
                    <a:bodyPr/>
                    <a:lstStyle/>
                    <a:p>
                      <a:pPr indent="0" marL="0">
                        <a:buNone/>
                      </a:pPr>
                      <a:r>
                        <a:rPr lang="en-US" sz="1300" dirty="0">
                          <a:solidFill>
                            <a:srgbClr val="2B2C30"/>
                          </a:solidFill>
                        </a:rPr>
                        <a:t>Tomatensauce</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T2</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A8642C"/>
                    </a:solidFill>
                  </a:tcPr>
                </a:tc>
              </a:tr>
              <a:tr h="274320">
                <a:tc>
                  <a:txBody>
                    <a:bodyPr/>
                    <a:lstStyle/>
                    <a:p>
                      <a:pPr indent="0" marL="0">
                        <a:buNone/>
                      </a:pPr>
                      <a:r>
                        <a:rPr lang="en-US" sz="1300" dirty="0">
                          <a:solidFill>
                            <a:srgbClr val="2B2C30"/>
                          </a:solidFill>
                        </a:rPr>
                        <a:t>Sahne</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K1</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2B6CB0"/>
                    </a:solidFill>
                  </a:tcPr>
                </a:tc>
              </a:tr>
              <a:tr h="274320">
                <a:tc>
                  <a:txBody>
                    <a:bodyPr/>
                    <a:lstStyle/>
                    <a:p>
                      <a:pPr indent="0" marL="0">
                        <a:buNone/>
                      </a:pPr>
                      <a:r>
                        <a:rPr lang="en-US" sz="1300" dirty="0">
                          <a:solidFill>
                            <a:srgbClr val="2B2C30"/>
                          </a:solidFill>
                        </a:rPr>
                        <a:t>Parmesan</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K2</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2B6CB0"/>
                    </a:solidFill>
                  </a:tcPr>
                </a:tc>
              </a:tr>
              <a:tr h="274320">
                <a:tc>
                  <a:txBody>
                    <a:bodyPr/>
                    <a:lstStyle/>
                    <a:p>
                      <a:pPr indent="0" marL="0">
                        <a:buNone/>
                      </a:pPr>
                      <a:r>
                        <a:rPr lang="en-US" sz="1300" dirty="0">
                          <a:solidFill>
                            <a:srgbClr val="2B2C30"/>
                          </a:solidFill>
                        </a:rPr>
                        <a:t>Basilikum</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K6</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2B6CB0"/>
                    </a:solidFill>
                  </a:tcPr>
                </a:tc>
              </a:tr>
              <a:tr h="274320">
                <a:tc>
                  <a:txBody>
                    <a:bodyPr/>
                    <a:lstStyle/>
                    <a:p>
                      <a:pPr indent="0" marL="0">
                        <a:buNone/>
                      </a:pPr>
                      <a:r>
                        <a:rPr lang="en-US" sz="1300" dirty="0">
                          <a:solidFill>
                            <a:srgbClr val="2B2C30"/>
                          </a:solidFill>
                        </a:rPr>
                        <a:t>Knoblauch</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O1</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2F9E44"/>
                    </a:solidFill>
                  </a:tcPr>
                </a:tc>
              </a:tr>
              <a:tr h="274320">
                <a:tc>
                  <a:txBody>
                    <a:bodyPr/>
                    <a:lstStyle/>
                    <a:p>
                      <a:pPr indent="0" marL="0">
                        <a:buNone/>
                      </a:pPr>
                      <a:r>
                        <a:rPr lang="en-US" sz="1300" dirty="0">
                          <a:solidFill>
                            <a:srgbClr val="2B2C30"/>
                          </a:solidFill>
                        </a:rPr>
                        <a:t>Olivenöl</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B1</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6B4F2A"/>
                    </a:solidFill>
                  </a:tcPr>
                </a:tc>
              </a:tr>
              <a:tr h="274320">
                <a:tc>
                  <a:txBody>
                    <a:bodyPr/>
                    <a:lstStyle/>
                    <a:p>
                      <a:pPr indent="0" marL="0">
                        <a:buNone/>
                      </a:pPr>
                      <a:r>
                        <a:rPr lang="en-US" sz="1300" dirty="0">
                          <a:solidFill>
                            <a:srgbClr val="2B2C30"/>
                          </a:solidFill>
                        </a:rPr>
                        <a:t>+ Antipasti</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V1</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8A5A32"/>
                    </a:solidFill>
                  </a:tcPr>
                </a:tc>
              </a:tr>
              <a:tr h="274320">
                <a:tc>
                  <a:txBody>
                    <a:bodyPr/>
                    <a:lstStyle/>
                    <a:p>
                      <a:pPr indent="0" marL="0">
                        <a:buNone/>
                      </a:pPr>
                      <a:r>
                        <a:rPr lang="en-US" sz="1300" dirty="0">
                          <a:solidFill>
                            <a:srgbClr val="2B2C30"/>
                          </a:solidFill>
                        </a:rPr>
                        <a:t>+ Limonade</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G3</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7B1E3A"/>
                    </a:solidFill>
                  </a:tcPr>
                </a:tc>
              </a:tr>
              <a:tr h="274320">
                <a:tc>
                  <a:txBody>
                    <a:bodyPr/>
                    <a:lstStyle/>
                    <a:p>
                      <a:pPr indent="0" marL="0">
                        <a:buNone/>
                      </a:pPr>
                      <a:r>
                        <a:rPr lang="en-US" sz="1300" dirty="0">
                          <a:solidFill>
                            <a:srgbClr val="2B2C30"/>
                          </a:solidFill>
                        </a:rPr>
                        <a:t>+ Cantuccini</a:t>
                      </a:r>
                      <a:endParaRPr lang="en-US" sz="13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FBF8F2"/>
                    </a:solidFill>
                  </a:tcPr>
                </a:tc>
                <a:tc>
                  <a:txBody>
                    <a:bodyPr/>
                    <a:lstStyle/>
                    <a:p>
                      <a:pPr algn="ctr" indent="0" marL="0">
                        <a:buNone/>
                      </a:pPr>
                      <a:r>
                        <a:rPr lang="en-US" sz="1200" b="1" dirty="0">
                          <a:solidFill>
                            <a:srgbClr val="FFFFFF"/>
                          </a:solidFill>
                        </a:rPr>
                        <a:t>B6</a:t>
                      </a:r>
                      <a:endParaRPr lang="en-US" sz="1200" dirty="0"/>
                    </a:p>
                  </a:txBody>
                  <a:tcPr marL="54864" marR="54864" marT="18288" marB="18288">
                    <a:lnL w="25400" cap="flat" cmpd="sng" algn="ctr">
                      <a:solidFill>
                        <a:srgbClr val="FBF8F2"/>
                      </a:solidFill>
                      <a:prstDash val="solid"/>
                      <a:round/>
                      <a:headEnd type="none" w="med" len="med"/>
                      <a:tailEnd type="none" w="med" len="med"/>
                    </a:lnL>
                    <a:lnR w="25400" cap="flat" cmpd="sng" algn="ctr">
                      <a:solidFill>
                        <a:srgbClr val="FBF8F2"/>
                      </a:solidFill>
                      <a:prstDash val="solid"/>
                      <a:round/>
                      <a:headEnd type="none" w="med" len="med"/>
                      <a:tailEnd type="none" w="med" len="med"/>
                    </a:lnR>
                    <a:lnT w="25400" cap="flat" cmpd="sng" algn="ctr">
                      <a:solidFill>
                        <a:srgbClr val="FBF8F2"/>
                      </a:solidFill>
                      <a:prstDash val="solid"/>
                      <a:round/>
                      <a:headEnd type="none" w="med" len="med"/>
                      <a:tailEnd type="none" w="med" len="med"/>
                    </a:lnT>
                    <a:lnB w="25400" cap="flat" cmpd="sng" algn="ctr">
                      <a:solidFill>
                        <a:srgbClr val="FBF8F2"/>
                      </a:solidFill>
                      <a:prstDash val="solid"/>
                      <a:round/>
                      <a:headEnd type="none" w="med" len="med"/>
                      <a:tailEnd type="none" w="med" len="med"/>
                    </a:lnB>
                    <a:solidFill>
                      <a:srgbClr val="6B4F2A"/>
                    </a:solidFill>
                  </a:tcPr>
                </a:tc>
              </a:tr>
            </a:tbl>
          </a:graphicData>
        </a:graphic>
      </p:graphicFrame>
      <p:sp>
        <p:nvSpPr>
          <p:cNvPr id="7" name="schritt-109"/>
          <p:cNvSpPr/>
          <p:nvPr/>
        </p:nvSpPr>
        <p:spPr>
          <a:xfrm>
            <a:off x="4846320" y="1463040"/>
            <a:ext cx="1222187" cy="1371600"/>
          </a:xfrm>
          <a:prstGeom prst="roundRect">
            <a:avLst>
              <a:gd name="adj" fmla="val 5985"/>
            </a:avLst>
          </a:prstGeom>
          <a:solidFill>
            <a:srgbClr val="2D2F31"/>
          </a:solidFill>
          <a:ln w="12700">
            <a:solidFill>
              <a:srgbClr val="3A3C3E"/>
            </a:solidFill>
            <a:prstDash val="solid"/>
          </a:ln>
        </p:spPr>
      </p:sp>
      <p:sp>
        <p:nvSpPr>
          <p:cNvPr id="8" name="Text 5"/>
          <p:cNvSpPr txBox="1"/>
          <p:nvPr/>
        </p:nvSpPr>
        <p:spPr>
          <a:xfrm>
            <a:off x="4956048" y="1554480"/>
            <a:ext cx="1002731" cy="1188720"/>
          </a:xfrm>
          <a:prstGeom prst="rect">
            <a:avLst/>
          </a:prstGeom>
          <a:noFill/>
          <a:ln/>
        </p:spPr>
        <p:txBody>
          <a:bodyPr wrap="square" lIns="0" tIns="0" rIns="0" bIns="0" rtlCol="0" anchor="t"/>
          <a:lstStyle/>
          <a:p>
            <a:pPr indent="0" marL="0">
              <a:buNone/>
            </a:pPr>
            <a:r>
              <a:rPr lang="en-US" sz="2000" b="1" dirty="0">
                <a:solidFill>
                  <a:srgbClr val="D64527"/>
                </a:solidFill>
                <a:latin typeface="Cambria" pitchFamily="34" charset="0"/>
                <a:ea typeface="Cambria" pitchFamily="34" charset="-122"/>
                <a:cs typeface="Cambria" pitchFamily="34" charset="-120"/>
              </a:rPr>
              <a:t>01</a:t>
            </a:r>
            <a:endParaRPr lang="en-US" sz="2000" dirty="0"/>
          </a:p>
          <a:p>
            <a:pPr indent="0" marL="0">
              <a:buNone/>
            </a:pPr>
            <a:r>
              <a:rPr lang="en-US" sz="1400" b="1" dirty="0">
                <a:solidFill>
                  <a:srgbClr val="EFE7D6"/>
                </a:solidFill>
              </a:rPr>
              <a:t>Entscheiden</a:t>
            </a:r>
            <a:endParaRPr lang="en-US" sz="2000" dirty="0"/>
          </a:p>
          <a:p>
            <a:pPr indent="0" marL="0">
              <a:buNone/>
            </a:pPr>
            <a:r>
              <a:rPr lang="en-US" sz="1100" dirty="0">
                <a:solidFill>
                  <a:srgbClr val="A9A296"/>
                </a:solidFill>
              </a:rPr>
              <a:t>Küche × Anlass</a:t>
            </a:r>
            <a:endParaRPr lang="en-US" sz="2000" dirty="0"/>
          </a:p>
        </p:txBody>
      </p:sp>
      <p:sp>
        <p:nvSpPr>
          <p:cNvPr id="9" name="schritt-110"/>
          <p:cNvSpPr/>
          <p:nvPr/>
        </p:nvSpPr>
        <p:spPr>
          <a:xfrm>
            <a:off x="6251387" y="1463040"/>
            <a:ext cx="1222187" cy="1371600"/>
          </a:xfrm>
          <a:prstGeom prst="roundRect">
            <a:avLst>
              <a:gd name="adj" fmla="val 5985"/>
            </a:avLst>
          </a:prstGeom>
          <a:solidFill>
            <a:srgbClr val="2D2F31"/>
          </a:solidFill>
          <a:ln w="12700">
            <a:solidFill>
              <a:srgbClr val="3A3C3E"/>
            </a:solidFill>
            <a:prstDash val="solid"/>
          </a:ln>
        </p:spPr>
      </p:sp>
      <p:sp>
        <p:nvSpPr>
          <p:cNvPr id="10" name="Text 7"/>
          <p:cNvSpPr txBox="1"/>
          <p:nvPr/>
        </p:nvSpPr>
        <p:spPr>
          <a:xfrm>
            <a:off x="6361115" y="1554480"/>
            <a:ext cx="1002731" cy="1188720"/>
          </a:xfrm>
          <a:prstGeom prst="rect">
            <a:avLst/>
          </a:prstGeom>
          <a:noFill/>
          <a:ln/>
        </p:spPr>
        <p:txBody>
          <a:bodyPr wrap="square" lIns="0" tIns="0" rIns="0" bIns="0" rtlCol="0" anchor="t"/>
          <a:lstStyle/>
          <a:p>
            <a:pPr indent="0" marL="0">
              <a:buNone/>
            </a:pPr>
            <a:r>
              <a:rPr lang="en-US" sz="2000" b="1" dirty="0">
                <a:solidFill>
                  <a:srgbClr val="D64527"/>
                </a:solidFill>
                <a:latin typeface="Cambria" pitchFamily="34" charset="0"/>
                <a:ea typeface="Cambria" pitchFamily="34" charset="-122"/>
                <a:cs typeface="Cambria" pitchFamily="34" charset="-120"/>
              </a:rPr>
              <a:t>02</a:t>
            </a:r>
            <a:endParaRPr lang="en-US" sz="2000" dirty="0"/>
          </a:p>
          <a:p>
            <a:pPr indent="0" marL="0">
              <a:buNone/>
            </a:pPr>
            <a:r>
              <a:rPr lang="en-US" sz="1400" b="1" dirty="0">
                <a:solidFill>
                  <a:srgbClr val="EFE7D6"/>
                </a:solidFill>
              </a:rPr>
              <a:t>Rezept</a:t>
            </a:r>
            <a:endParaRPr lang="en-US" sz="2000" dirty="0"/>
          </a:p>
          <a:p>
            <a:pPr indent="0" marL="0">
              <a:buNone/>
            </a:pPr>
            <a:r>
              <a:rPr lang="en-US" sz="1100" dirty="0">
                <a:solidFill>
                  <a:srgbClr val="A9A296"/>
                </a:solidFill>
              </a:rPr>
              <a:t>Karte ziehen</a:t>
            </a:r>
            <a:endParaRPr lang="en-US" sz="2000" dirty="0"/>
          </a:p>
        </p:txBody>
      </p:sp>
      <p:sp>
        <p:nvSpPr>
          <p:cNvPr id="11" name="schritt-111"/>
          <p:cNvSpPr/>
          <p:nvPr/>
        </p:nvSpPr>
        <p:spPr>
          <a:xfrm>
            <a:off x="7656454" y="1463040"/>
            <a:ext cx="1222187" cy="1371600"/>
          </a:xfrm>
          <a:prstGeom prst="roundRect">
            <a:avLst>
              <a:gd name="adj" fmla="val 5985"/>
            </a:avLst>
          </a:prstGeom>
          <a:solidFill>
            <a:srgbClr val="2D2F31"/>
          </a:solidFill>
          <a:ln w="12700">
            <a:solidFill>
              <a:srgbClr val="3A3C3E"/>
            </a:solidFill>
            <a:prstDash val="solid"/>
          </a:ln>
        </p:spPr>
      </p:sp>
      <p:sp>
        <p:nvSpPr>
          <p:cNvPr id="12" name="Text 9"/>
          <p:cNvSpPr txBox="1"/>
          <p:nvPr/>
        </p:nvSpPr>
        <p:spPr>
          <a:xfrm>
            <a:off x="7766182" y="1554480"/>
            <a:ext cx="1002731" cy="1188720"/>
          </a:xfrm>
          <a:prstGeom prst="rect">
            <a:avLst/>
          </a:prstGeom>
          <a:noFill/>
          <a:ln/>
        </p:spPr>
        <p:txBody>
          <a:bodyPr wrap="square" lIns="0" tIns="0" rIns="0" bIns="0" rtlCol="0" anchor="t"/>
          <a:lstStyle/>
          <a:p>
            <a:pPr indent="0" marL="0">
              <a:buNone/>
            </a:pPr>
            <a:r>
              <a:rPr lang="en-US" sz="2000" b="1" dirty="0">
                <a:solidFill>
                  <a:srgbClr val="D64527"/>
                </a:solidFill>
                <a:latin typeface="Cambria" pitchFamily="34" charset="0"/>
                <a:ea typeface="Cambria" pitchFamily="34" charset="-122"/>
                <a:cs typeface="Cambria" pitchFamily="34" charset="-120"/>
              </a:rPr>
              <a:t>03</a:t>
            </a:r>
            <a:endParaRPr lang="en-US" sz="2000" dirty="0"/>
          </a:p>
          <a:p>
            <a:pPr indent="0" marL="0">
              <a:buNone/>
            </a:pPr>
            <a:r>
              <a:rPr lang="en-US" sz="1400" b="1" dirty="0">
                <a:solidFill>
                  <a:srgbClr val="EFE7D6"/>
                </a:solidFill>
              </a:rPr>
              <a:t>Einkauf</a:t>
            </a:r>
            <a:endParaRPr lang="en-US" sz="2000" dirty="0"/>
          </a:p>
          <a:p>
            <a:pPr indent="0" marL="0">
              <a:buNone/>
            </a:pPr>
            <a:r>
              <a:rPr lang="en-US" sz="1100" dirty="0">
                <a:solidFill>
                  <a:srgbClr val="A9A296"/>
                </a:solidFill>
              </a:rPr>
              <a:t>Fundort per Fachcode</a:t>
            </a:r>
            <a:endParaRPr lang="en-US" sz="2000" dirty="0"/>
          </a:p>
        </p:txBody>
      </p:sp>
      <p:sp>
        <p:nvSpPr>
          <p:cNvPr id="13" name="schritt-112"/>
          <p:cNvSpPr/>
          <p:nvPr/>
        </p:nvSpPr>
        <p:spPr>
          <a:xfrm>
            <a:off x="9061521" y="1463040"/>
            <a:ext cx="1222187" cy="1371600"/>
          </a:xfrm>
          <a:prstGeom prst="roundRect">
            <a:avLst>
              <a:gd name="adj" fmla="val 5985"/>
            </a:avLst>
          </a:prstGeom>
          <a:solidFill>
            <a:srgbClr val="2D2F31"/>
          </a:solidFill>
          <a:ln w="12700">
            <a:solidFill>
              <a:srgbClr val="3A3C3E"/>
            </a:solidFill>
            <a:prstDash val="solid"/>
          </a:ln>
        </p:spPr>
      </p:sp>
      <p:sp>
        <p:nvSpPr>
          <p:cNvPr id="14" name="Text 11"/>
          <p:cNvSpPr txBox="1"/>
          <p:nvPr/>
        </p:nvSpPr>
        <p:spPr>
          <a:xfrm>
            <a:off x="9171249" y="1554480"/>
            <a:ext cx="1002731" cy="1188720"/>
          </a:xfrm>
          <a:prstGeom prst="rect">
            <a:avLst/>
          </a:prstGeom>
          <a:noFill/>
          <a:ln/>
        </p:spPr>
        <p:txBody>
          <a:bodyPr wrap="square" lIns="0" tIns="0" rIns="0" bIns="0" rtlCol="0" anchor="t"/>
          <a:lstStyle/>
          <a:p>
            <a:pPr indent="0" marL="0">
              <a:buNone/>
            </a:pPr>
            <a:r>
              <a:rPr lang="en-US" sz="2000" b="1" dirty="0">
                <a:solidFill>
                  <a:srgbClr val="D64527"/>
                </a:solidFill>
                <a:latin typeface="Cambria" pitchFamily="34" charset="0"/>
                <a:ea typeface="Cambria" pitchFamily="34" charset="-122"/>
                <a:cs typeface="Cambria" pitchFamily="34" charset="-120"/>
              </a:rPr>
              <a:t>04</a:t>
            </a:r>
            <a:endParaRPr lang="en-US" sz="2000" dirty="0"/>
          </a:p>
          <a:p>
            <a:pPr indent="0" marL="0">
              <a:buNone/>
            </a:pPr>
            <a:r>
              <a:rPr lang="en-US" sz="1400" b="1" dirty="0">
                <a:solidFill>
                  <a:srgbClr val="EFE7D6"/>
                </a:solidFill>
              </a:rPr>
              <a:t>Ergänzen</a:t>
            </a:r>
            <a:endParaRPr lang="en-US" sz="2000" dirty="0"/>
          </a:p>
          <a:p>
            <a:pPr indent="0" marL="0">
              <a:buNone/>
            </a:pPr>
            <a:r>
              <a:rPr lang="en-US" sz="1100" dirty="0">
                <a:solidFill>
                  <a:srgbClr val="A9A296"/>
                </a:solidFill>
              </a:rPr>
              <a:t>Vorspeise, Drink, Dessert</a:t>
            </a:r>
            <a:endParaRPr lang="en-US" sz="2000" dirty="0"/>
          </a:p>
        </p:txBody>
      </p:sp>
      <p:sp>
        <p:nvSpPr>
          <p:cNvPr id="15" name="schritt-113"/>
          <p:cNvSpPr/>
          <p:nvPr/>
        </p:nvSpPr>
        <p:spPr>
          <a:xfrm>
            <a:off x="10466588" y="1463040"/>
            <a:ext cx="1222187" cy="1371600"/>
          </a:xfrm>
          <a:prstGeom prst="roundRect">
            <a:avLst>
              <a:gd name="adj" fmla="val 5985"/>
            </a:avLst>
          </a:prstGeom>
          <a:solidFill>
            <a:srgbClr val="2D2F31"/>
          </a:solidFill>
          <a:ln w="12700">
            <a:solidFill>
              <a:srgbClr val="3A3C3E"/>
            </a:solidFill>
            <a:prstDash val="solid"/>
          </a:ln>
        </p:spPr>
      </p:sp>
      <p:sp>
        <p:nvSpPr>
          <p:cNvPr id="16" name="Text 13"/>
          <p:cNvSpPr txBox="1"/>
          <p:nvPr/>
        </p:nvSpPr>
        <p:spPr>
          <a:xfrm>
            <a:off x="10576316" y="1554480"/>
            <a:ext cx="1002731" cy="1188720"/>
          </a:xfrm>
          <a:prstGeom prst="rect">
            <a:avLst/>
          </a:prstGeom>
          <a:noFill/>
          <a:ln/>
        </p:spPr>
        <p:txBody>
          <a:bodyPr wrap="square" lIns="0" tIns="0" rIns="0" bIns="0" rtlCol="0" anchor="t"/>
          <a:lstStyle/>
          <a:p>
            <a:pPr indent="0" marL="0">
              <a:buNone/>
            </a:pPr>
            <a:r>
              <a:rPr lang="en-US" sz="2000" b="1" dirty="0">
                <a:solidFill>
                  <a:srgbClr val="D64527"/>
                </a:solidFill>
                <a:latin typeface="Cambria" pitchFamily="34" charset="0"/>
                <a:ea typeface="Cambria" pitchFamily="34" charset="-122"/>
                <a:cs typeface="Cambria" pitchFamily="34" charset="-120"/>
              </a:rPr>
              <a:t>05</a:t>
            </a:r>
            <a:endParaRPr lang="en-US" sz="2000" dirty="0"/>
          </a:p>
          <a:p>
            <a:pPr indent="0" marL="0">
              <a:buNone/>
            </a:pPr>
            <a:r>
              <a:rPr lang="en-US" sz="1400" b="1" dirty="0">
                <a:solidFill>
                  <a:srgbClr val="EFE7D6"/>
                </a:solidFill>
              </a:rPr>
              <a:t>Abschluss</a:t>
            </a:r>
            <a:endParaRPr lang="en-US" sz="2000" dirty="0"/>
          </a:p>
          <a:p>
            <a:pPr indent="0" marL="0">
              <a:buNone/>
            </a:pPr>
            <a:r>
              <a:rPr lang="en-US" sz="1100" dirty="0">
                <a:solidFill>
                  <a:srgbClr val="A9A296"/>
                </a:solidFill>
              </a:rPr>
              <a:t>Kasse / Live-Cooking</a:t>
            </a:r>
            <a:endParaRPr lang="en-US" sz="2000" dirty="0"/>
          </a:p>
        </p:txBody>
      </p:sp>
      <p:sp>
        <p:nvSpPr>
          <p:cNvPr id="17" name="karte-114"/>
          <p:cNvSpPr/>
          <p:nvPr/>
        </p:nvSpPr>
        <p:spPr>
          <a:xfrm>
            <a:off x="4846320" y="3108960"/>
            <a:ext cx="2128418" cy="1304544"/>
          </a:xfrm>
          <a:prstGeom prst="roundRect">
            <a:avLst>
              <a:gd name="adj" fmla="val 5607"/>
            </a:avLst>
          </a:prstGeom>
          <a:solidFill>
            <a:srgbClr val="2D2F31"/>
          </a:solidFill>
          <a:ln w="9525">
            <a:solidFill>
              <a:srgbClr val="3A3C3E"/>
            </a:solidFill>
            <a:prstDash val="solid"/>
          </a:ln>
        </p:spPr>
      </p:sp>
      <p:sp>
        <p:nvSpPr>
          <p:cNvPr id="18" name="Text 15"/>
          <p:cNvSpPr txBox="1"/>
          <p:nvPr/>
        </p:nvSpPr>
        <p:spPr>
          <a:xfrm>
            <a:off x="5029200" y="3273552"/>
            <a:ext cx="1762658" cy="329184"/>
          </a:xfrm>
          <a:prstGeom prst="rect">
            <a:avLst/>
          </a:prstGeom>
          <a:noFill/>
          <a:ln/>
        </p:spPr>
        <p:txBody>
          <a:bodyPr wrap="square" lIns="0" tIns="0" rIns="0" bIns="0" rtlCol="0" anchor="t"/>
          <a:lstStyle/>
          <a:p>
            <a:pPr indent="0" marL="0">
              <a:buNone/>
            </a:pPr>
            <a:r>
              <a:rPr lang="en-US" sz="1500" b="1" dirty="0">
                <a:solidFill>
                  <a:srgbClr val="EFE7D6"/>
                </a:solidFill>
              </a:rPr>
              <a:t>Wegweiser</a:t>
            </a:r>
            <a:endParaRPr lang="en-US" sz="1500" dirty="0"/>
          </a:p>
        </p:txBody>
      </p:sp>
      <p:sp>
        <p:nvSpPr>
          <p:cNvPr id="19" name="Text 16"/>
          <p:cNvSpPr txBox="1"/>
          <p:nvPr/>
        </p:nvSpPr>
        <p:spPr>
          <a:xfrm>
            <a:off x="5029200" y="3657600"/>
            <a:ext cx="17626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Jede Zutat mit Fachcode des Regals</a:t>
            </a:r>
            <a:endParaRPr lang="en-US" sz="1400" dirty="0"/>
          </a:p>
        </p:txBody>
      </p:sp>
      <p:sp>
        <p:nvSpPr>
          <p:cNvPr id="20" name="karte-115"/>
          <p:cNvSpPr/>
          <p:nvPr/>
        </p:nvSpPr>
        <p:spPr>
          <a:xfrm>
            <a:off x="7203338" y="3108960"/>
            <a:ext cx="2128418" cy="1304544"/>
          </a:xfrm>
          <a:prstGeom prst="roundRect">
            <a:avLst>
              <a:gd name="adj" fmla="val 5607"/>
            </a:avLst>
          </a:prstGeom>
          <a:solidFill>
            <a:srgbClr val="2D2F31"/>
          </a:solidFill>
          <a:ln w="9525">
            <a:solidFill>
              <a:srgbClr val="3A3C3E"/>
            </a:solidFill>
            <a:prstDash val="solid"/>
          </a:ln>
        </p:spPr>
      </p:sp>
      <p:sp>
        <p:nvSpPr>
          <p:cNvPr id="21" name="Text 18"/>
          <p:cNvSpPr txBox="1"/>
          <p:nvPr/>
        </p:nvSpPr>
        <p:spPr>
          <a:xfrm>
            <a:off x="7386218" y="3273552"/>
            <a:ext cx="1762658" cy="329184"/>
          </a:xfrm>
          <a:prstGeom prst="rect">
            <a:avLst/>
          </a:prstGeom>
          <a:noFill/>
          <a:ln/>
        </p:spPr>
        <p:txBody>
          <a:bodyPr wrap="square" lIns="0" tIns="0" rIns="0" bIns="0" rtlCol="0" anchor="t"/>
          <a:lstStyle/>
          <a:p>
            <a:pPr indent="0" marL="0">
              <a:buNone/>
            </a:pPr>
            <a:r>
              <a:rPr lang="en-US" sz="1500" b="1" dirty="0">
                <a:solidFill>
                  <a:srgbClr val="EFE7D6"/>
                </a:solidFill>
              </a:rPr>
              <a:t>QR-Code</a:t>
            </a:r>
            <a:endParaRPr lang="en-US" sz="1500" dirty="0"/>
          </a:p>
        </p:txBody>
      </p:sp>
      <p:sp>
        <p:nvSpPr>
          <p:cNvPr id="22" name="Text 19"/>
          <p:cNvSpPr txBox="1"/>
          <p:nvPr/>
        </p:nvSpPr>
        <p:spPr>
          <a:xfrm>
            <a:off x="7386218" y="3657600"/>
            <a:ext cx="17626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Rezept mit Fundorten aufs Handy</a:t>
            </a:r>
            <a:endParaRPr lang="en-US" sz="1400" dirty="0"/>
          </a:p>
        </p:txBody>
      </p:sp>
      <p:sp>
        <p:nvSpPr>
          <p:cNvPr id="23" name="karte-116"/>
          <p:cNvSpPr/>
          <p:nvPr/>
        </p:nvSpPr>
        <p:spPr>
          <a:xfrm>
            <a:off x="9560357" y="3108960"/>
            <a:ext cx="2128418" cy="1304544"/>
          </a:xfrm>
          <a:prstGeom prst="roundRect">
            <a:avLst>
              <a:gd name="adj" fmla="val 5607"/>
            </a:avLst>
          </a:prstGeom>
          <a:solidFill>
            <a:srgbClr val="2D2F31"/>
          </a:solidFill>
          <a:ln w="9525">
            <a:solidFill>
              <a:srgbClr val="3A3C3E"/>
            </a:solidFill>
            <a:prstDash val="solid"/>
          </a:ln>
        </p:spPr>
      </p:sp>
      <p:sp>
        <p:nvSpPr>
          <p:cNvPr id="24" name="Text 21"/>
          <p:cNvSpPr txBox="1"/>
          <p:nvPr/>
        </p:nvSpPr>
        <p:spPr>
          <a:xfrm>
            <a:off x="9743237" y="3273552"/>
            <a:ext cx="1762658" cy="329184"/>
          </a:xfrm>
          <a:prstGeom prst="rect">
            <a:avLst/>
          </a:prstGeom>
          <a:noFill/>
          <a:ln/>
        </p:spPr>
        <p:txBody>
          <a:bodyPr wrap="square" lIns="0" tIns="0" rIns="0" bIns="0" rtlCol="0" anchor="t"/>
          <a:lstStyle/>
          <a:p>
            <a:pPr indent="0" marL="0">
              <a:buNone/>
            </a:pPr>
            <a:r>
              <a:rPr lang="en-US" sz="1500" b="1" dirty="0">
                <a:solidFill>
                  <a:srgbClr val="EFE7D6"/>
                </a:solidFill>
              </a:rPr>
              <a:t>Brücke zur Küche</a:t>
            </a:r>
            <a:endParaRPr lang="en-US" sz="1500" dirty="0"/>
          </a:p>
        </p:txBody>
      </p:sp>
      <p:sp>
        <p:nvSpPr>
          <p:cNvPr id="25" name="Text 22"/>
          <p:cNvSpPr txBox="1"/>
          <p:nvPr/>
        </p:nvSpPr>
        <p:spPr>
          <a:xfrm>
            <a:off x="9743237" y="3657600"/>
            <a:ext cx="17626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Rezept im Live-Cooking probieren</a:t>
            </a:r>
            <a:endParaRPr lang="en-US" sz="1400" dirty="0"/>
          </a:p>
        </p:txBody>
      </p:sp>
      <p:sp>
        <p:nvSpPr>
          <p:cNvPr id="26" name="fuss-117"/>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Eigene Gestaltung (A). Im Modell ausprobieren: Einkaufs-Spiel (G).</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modellbild-118" descr="/tmp/claude-0/-home-claude/bc97363c-87c0-54f2-9d3b-d4b9a8318a8f/scratchpad/ppt/shots/s15.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3/13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M3 · Z2</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Obst &amp; Gemüse schräg</a:t>
            </a:r>
            <a:endParaRPr lang="en-US" sz="2400" dirty="0"/>
          </a:p>
        </p:txBody>
      </p:sp>
      <p:sp>
        <p:nvSpPr>
          <p:cNvPr id="7" name="entscheidung-119"/>
          <p:cNvSpPr txBox="1"/>
          <p:nvPr/>
        </p:nvSpPr>
        <p:spPr>
          <a:xfrm>
            <a:off x="6629400" y="1600200"/>
            <a:ext cx="5059375" cy="657606"/>
          </a:xfrm>
          <a:prstGeom prst="rect">
            <a:avLst/>
          </a:prstGeom>
          <a:noFill/>
          <a:ln/>
        </p:spPr>
        <p:txBody>
          <a:bodyPr wrap="square" lIns="0" tIns="0" rIns="0" bIns="0" rtlCol="0" anchor="t"/>
          <a:lstStyle/>
          <a:p>
            <a:pPr indent="0" marL="0">
              <a:buNone/>
            </a:pPr>
            <a:r>
              <a:rPr lang="en-US" sz="1300" b="1" dirty="0">
                <a:solidFill>
                  <a:srgbClr val="EFE7D6"/>
                </a:solidFill>
              </a:rPr>
              <a:t>Obst &amp; Gemüse als schräg gestellter Marktstand direkt links vom Eingang; der Rezeptweg führt an ihm vorbei nach links in den Rundlauf.</a:t>
            </a:r>
            <a:endParaRPr lang="en-US" sz="1300" dirty="0"/>
          </a:p>
        </p:txBody>
      </p:sp>
      <p:sp>
        <p:nvSpPr>
          <p:cNvPr id="8" name="Text 5"/>
          <p:cNvSpPr txBox="1"/>
          <p:nvPr/>
        </p:nvSpPr>
        <p:spPr>
          <a:xfrm>
            <a:off x="6629400" y="2367534"/>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20"/>
          <p:cNvSpPr txBox="1"/>
          <p:nvPr/>
        </p:nvSpPr>
        <p:spPr>
          <a:xfrm>
            <a:off x="6629400" y="2614422"/>
            <a:ext cx="5059375" cy="852424"/>
          </a:xfrm>
          <a:prstGeom prst="rect">
            <a:avLst/>
          </a:prstGeom>
          <a:noFill/>
          <a:ln/>
        </p:spPr>
        <p:txBody>
          <a:bodyPr wrap="square" lIns="0" tIns="0" rIns="0" bIns="0" rtlCol="0" anchor="t"/>
          <a:lstStyle/>
          <a:p>
            <a:pPr indent="0" marL="0">
              <a:buNone/>
            </a:pPr>
            <a:r>
              <a:rPr lang="en-US" sz="1300" dirty="0">
                <a:solidFill>
                  <a:srgbClr val="EFE7D6"/>
                </a:solidFill>
              </a:rPr>
              <a:t>Frische Zutaten (Fachcode O1) stehen auf fast jeder Rezeptkarte. Die schräge Stellung unterbricht den Lauf wie eine Querplatzierung, lenkt nach links und ist durchs Schaufenster sichtbar.</a:t>
            </a:r>
            <a:endParaRPr lang="en-US" sz="1300" dirty="0"/>
          </a:p>
        </p:txBody>
      </p:sp>
      <p:sp>
        <p:nvSpPr>
          <p:cNvPr id="10" name="tag-121"/>
          <p:cNvSpPr/>
          <p:nvPr/>
        </p:nvSpPr>
        <p:spPr>
          <a:xfrm>
            <a:off x="6629400" y="3631438"/>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363143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122"/>
          <p:cNvSpPr txBox="1"/>
          <p:nvPr/>
        </p:nvSpPr>
        <p:spPr>
          <a:xfrm>
            <a:off x="6995160" y="3604006"/>
            <a:ext cx="4693615" cy="408432"/>
          </a:xfrm>
          <a:prstGeom prst="rect">
            <a:avLst/>
          </a:prstGeom>
          <a:noFill/>
          <a:ln/>
        </p:spPr>
        <p:txBody>
          <a:bodyPr wrap="square" lIns="0" tIns="0" rIns="0" bIns="0" rtlCol="0" anchor="t"/>
          <a:lstStyle/>
          <a:p>
            <a:pPr indent="0" marL="0">
              <a:buNone/>
            </a:pPr>
            <a:r>
              <a:rPr lang="en-US" sz="1100" dirty="0">
                <a:solidFill>
                  <a:srgbClr val="A9A296"/>
                </a:solidFill>
              </a:rPr>
              <a:t>Ahlert/Kenning/Brock 2020, S. 300–301, Abb. 10.3 (Querplatzierung, Bremseffekt) ✓</a:t>
            </a:r>
            <a:endParaRPr lang="en-US" sz="1100" dirty="0"/>
          </a:p>
        </p:txBody>
      </p:sp>
      <p:sp>
        <p:nvSpPr>
          <p:cNvPr id="13" name="tag-123"/>
          <p:cNvSpPr/>
          <p:nvPr/>
        </p:nvSpPr>
        <p:spPr>
          <a:xfrm>
            <a:off x="6629400" y="4094734"/>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4094734"/>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124"/>
          <p:cNvSpPr txBox="1"/>
          <p:nvPr/>
        </p:nvSpPr>
        <p:spPr>
          <a:xfrm>
            <a:off x="6995160" y="4067302"/>
            <a:ext cx="4693615" cy="240792"/>
          </a:xfrm>
          <a:prstGeom prst="rect">
            <a:avLst/>
          </a:prstGeom>
          <a:noFill/>
          <a:ln/>
        </p:spPr>
        <p:txBody>
          <a:bodyPr wrap="square" lIns="0" tIns="0" rIns="0" bIns="0" rtlCol="0" anchor="t"/>
          <a:lstStyle/>
          <a:p>
            <a:pPr indent="0" marL="0">
              <a:buNone/>
            </a:pPr>
            <a:r>
              <a:rPr lang="en-US" sz="1100" dirty="0">
                <a:solidFill>
                  <a:srgbClr val="A9A296"/>
                </a:solidFill>
              </a:rPr>
              <a:t>Frische am Eingang stärkt das Frische-Image (Fallannahme).</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Wie in der Skizze (schräg, links vorn). Neu: 0,9 m Abstand zum Dashboard und Rundlauf links daran vorbei.</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modellbild-125" descr="/tmp/claude-0/-home-claude/bc97363c-87c0-54f2-9d3b-d4b9a8318a8f/scratchpad/ppt/shots/s16.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4/13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M21 · M20</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Rollkörbe &amp; Vorspeisen-Regal</a:t>
            </a:r>
            <a:endParaRPr lang="en-US" sz="2400" dirty="0"/>
          </a:p>
        </p:txBody>
      </p:sp>
      <p:sp>
        <p:nvSpPr>
          <p:cNvPr id="7" name="entscheidung-126"/>
          <p:cNvSpPr txBox="1"/>
          <p:nvPr/>
        </p:nvSpPr>
        <p:spPr>
          <a:xfrm>
            <a:off x="6629400" y="1600200"/>
            <a:ext cx="5059375" cy="1047242"/>
          </a:xfrm>
          <a:prstGeom prst="rect">
            <a:avLst/>
          </a:prstGeom>
          <a:noFill/>
          <a:ln/>
        </p:spPr>
        <p:txBody>
          <a:bodyPr wrap="square" lIns="0" tIns="0" rIns="0" bIns="0" rtlCol="0" anchor="t"/>
          <a:lstStyle/>
          <a:p>
            <a:pPr indent="0" marL="0">
              <a:buNone/>
            </a:pPr>
            <a:r>
              <a:rPr lang="en-US" sz="1300" b="1" dirty="0">
                <a:solidFill>
                  <a:srgbClr val="EFE7D6"/>
                </a:solidFill>
              </a:rPr>
              <a:t>Direkt links hinter dem Eingang stehen Rollkörbe (Korb mit Rollen und Teleskopgriff) statt Einkaufswagen. An der linken Wand steht ein Vorspeisen-Regal mit drei Fächern – je Kochwelt eines: V1 Antipasti, V2 Asia-Vorspeisen, V3 Nachos &amp; Dips –, darüber hängt das Banner „Vorspeisen“.</a:t>
            </a:r>
            <a:endParaRPr lang="en-US" sz="1300" dirty="0"/>
          </a:p>
        </p:txBody>
      </p:sp>
      <p:sp>
        <p:nvSpPr>
          <p:cNvPr id="8" name="Text 5"/>
          <p:cNvSpPr txBox="1"/>
          <p:nvPr/>
        </p:nvSpPr>
        <p:spPr>
          <a:xfrm>
            <a:off x="6629400" y="2757170"/>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27"/>
          <p:cNvSpPr txBox="1"/>
          <p:nvPr/>
        </p:nvSpPr>
        <p:spPr>
          <a:xfrm>
            <a:off x="6629400" y="3004058"/>
            <a:ext cx="5059375" cy="1436878"/>
          </a:xfrm>
          <a:prstGeom prst="rect">
            <a:avLst/>
          </a:prstGeom>
          <a:noFill/>
          <a:ln/>
        </p:spPr>
        <p:txBody>
          <a:bodyPr wrap="square" lIns="0" tIns="0" rIns="0" bIns="0" rtlCol="0" anchor="t"/>
          <a:lstStyle/>
          <a:p>
            <a:pPr indent="0" marL="0">
              <a:buNone/>
            </a:pPr>
            <a:r>
              <a:rPr lang="en-US" sz="1300" dirty="0">
                <a:solidFill>
                  <a:srgbClr val="EFE7D6"/>
                </a:solidFill>
              </a:rPr>
              <a:t>Auf 190 m² mit 1,4–1,5 m breiten Gängen ist kein Platz für Wagenbox und Einkaufswagen; ein Rollkorb fasst den Einkauf für ein Rezept, ohne getragen zu werden (wie bei Lidl). Die Vorspeisen machen aus dem Gericht ein Menü: Die Rezeptkarte nennt sie unter „Passt dazu“ mit Fachcode (z. B. #01 → V1 Antipasti). Sie stehen am Anfang des Rundlaufs, wo Kunden noch offen für Anregungen sind.</a:t>
            </a:r>
            <a:endParaRPr lang="en-US" sz="1300" dirty="0"/>
          </a:p>
        </p:txBody>
      </p:sp>
      <p:sp>
        <p:nvSpPr>
          <p:cNvPr id="10" name="tag-128"/>
          <p:cNvSpPr/>
          <p:nvPr/>
        </p:nvSpPr>
        <p:spPr>
          <a:xfrm>
            <a:off x="6629400" y="4605528"/>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460552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129"/>
          <p:cNvSpPr txBox="1"/>
          <p:nvPr/>
        </p:nvSpPr>
        <p:spPr>
          <a:xfrm>
            <a:off x="6995160" y="4578096"/>
            <a:ext cx="4693615" cy="576072"/>
          </a:xfrm>
          <a:prstGeom prst="rect">
            <a:avLst/>
          </a:prstGeom>
          <a:noFill/>
          <a:ln/>
        </p:spPr>
        <p:txBody>
          <a:bodyPr wrap="square" lIns="0" tIns="0" rIns="0" bIns="0" rtlCol="0" anchor="t"/>
          <a:lstStyle/>
          <a:p>
            <a:pPr indent="0" marL="0">
              <a:buNone/>
            </a:pPr>
            <a:r>
              <a:rPr lang="en-US" sz="1100" dirty="0">
                <a:solidFill>
                  <a:srgbClr val="A9A296"/>
                </a:solidFill>
              </a:rPr>
              <a:t>Ahlert/Kenning/Brock 2020, S. 297–302 (Eingangsbereich, Kundenlauf) ✓; Hui/Bradlow/Fader 2009, J. of Consumer Research 36(3) (Verhalten am Anfang vs. Ende des Einkaufs) ✓</a:t>
            </a:r>
            <a:endParaRPr lang="en-US" sz="1100" dirty="0"/>
          </a:p>
        </p:txBody>
      </p:sp>
      <p:sp>
        <p:nvSpPr>
          <p:cNvPr id="13" name="tag-130"/>
          <p:cNvSpPr/>
          <p:nvPr/>
        </p:nvSpPr>
        <p:spPr>
          <a:xfrm>
            <a:off x="6629400" y="5236464"/>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5236464"/>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131"/>
          <p:cNvSpPr txBox="1"/>
          <p:nvPr/>
        </p:nvSpPr>
        <p:spPr>
          <a:xfrm>
            <a:off x="6995160" y="5209032"/>
            <a:ext cx="4693615" cy="408432"/>
          </a:xfrm>
          <a:prstGeom prst="rect">
            <a:avLst/>
          </a:prstGeom>
          <a:noFill/>
          <a:ln/>
        </p:spPr>
        <p:txBody>
          <a:bodyPr wrap="square" lIns="0" tIns="0" rIns="0" bIns="0" rtlCol="0" anchor="t"/>
          <a:lstStyle/>
          <a:p>
            <a:pPr indent="0" marL="0">
              <a:buNone/>
            </a:pPr>
            <a:r>
              <a:rPr lang="en-US" sz="1100" dirty="0">
                <a:solidFill>
                  <a:srgbClr val="A9A296"/>
                </a:solidFill>
              </a:rPr>
              <a:t>Rollkörbe reichen für den typischen Einkauf (ein Rezept plus Ergänzung); ein höherer Bon durch Vorspeisen ist nicht gemessen.</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Neu (in der Skizze nicht enthalten): Rollkörbe am Eingang, Vorspeisen-Regal an der linken Wand.</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132"/>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6 · WARENPRÄSENTATION</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Warenpräsentation: vier Elemente, jeweils begründet</a:t>
            </a:r>
            <a:endParaRPr lang="en-US" sz="2800" dirty="0"/>
          </a:p>
        </p:txBody>
      </p:sp>
      <p:graphicFrame>
        <p:nvGraphicFramePr>
          <p:cNvPr id="19" name="tabelle-133"/>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3132039"/>
                <a:gridCol w="4921776"/>
                <a:gridCol w="3132039"/>
              </a:tblGrid>
              <a:tr h="0">
                <a:tc>
                  <a:txBody>
                    <a:bodyPr/>
                    <a:lstStyle/>
                    <a:p>
                      <a:pPr indent="0" marL="0">
                        <a:buNone/>
                      </a:pPr>
                      <a:r>
                        <a:rPr lang="en-US" sz="1100" b="1" dirty="0">
                          <a:solidFill>
                            <a:srgbClr val="B39B6B"/>
                          </a:solidFill>
                        </a:rPr>
                        <a:t>Merkmal</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Funktion</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Aussagegrenze</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400" b="1" dirty="0">
                          <a:solidFill>
                            <a:srgbClr val="EFE7D6"/>
                          </a:solidFill>
                        </a:rPr>
                        <a:t>Matrix-Dashboard</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2 Fragen statt 9 Rezepte, QR-Code aufs Handy</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schnellere Wahl nicht belegt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Obst &amp; Gemüse schräg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Frische im Blick, lenkt in den Rundlauf</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Frische-Image nicht belegt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Themenfenster</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3 Gerichte mit Preis je Portion, schon von der Straße sichtbar</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mehr Eintritte nicht belegt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Küchenhelfer am Regalkopf</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Non-Food aus der Showküche, Zweitplatzierung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Mehrumsatz nicht belegt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bl>
          </a:graphicData>
        </a:graphic>
      </p:graphicFrame>
      <p:sp>
        <p:nvSpPr>
          <p:cNvPr id="5" name="fuss-134"/>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Ahlert/Kenning/Brock 2020, S. 300–306 ✓</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modellbild-135" descr="/tmp/claude-0/-home-claude/bc97363c-87c0-54f2-9d3b-d4b9a8318a8f/scratchpad/ppt/shots/s18.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5/13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M4–M6 · Z3</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Gondeln nach Kochwelten</a:t>
            </a:r>
            <a:endParaRPr lang="en-US" sz="2400" dirty="0"/>
          </a:p>
        </p:txBody>
      </p:sp>
      <p:sp>
        <p:nvSpPr>
          <p:cNvPr id="7" name="entscheidung-136"/>
          <p:cNvSpPr txBox="1"/>
          <p:nvPr/>
        </p:nvSpPr>
        <p:spPr>
          <a:xfrm>
            <a:off x="6629400" y="1600200"/>
            <a:ext cx="5059375" cy="1511808"/>
          </a:xfrm>
          <a:prstGeom prst="rect">
            <a:avLst/>
          </a:prstGeom>
          <a:noFill/>
          <a:ln/>
        </p:spPr>
        <p:txBody>
          <a:bodyPr wrap="square" lIns="0" tIns="0" rIns="0" bIns="0" rtlCol="0" anchor="t"/>
          <a:lstStyle/>
          <a:p>
            <a:pPr indent="0" marL="0">
              <a:buNone/>
            </a:pPr>
            <a:r>
              <a:rPr lang="en-US" sz="1200" b="1" dirty="0">
                <a:solidFill>
                  <a:srgbClr val="EFE7D6"/>
                </a:solidFill>
              </a:rPr>
              <a:t>Drei querstehende Gondeln, jede gehört zu einer Kochwelt der Anzeigetafel – in derselben Reihenfolge: Gondel 1 Pasta Night (Pasta &amp; Risotto | Sugo, Pesto &amp; Tomaten), Gondel 2 Asian Night (Nudeln, Reis &amp; Naan | Saucen, Currys &amp; Würzen), Gondel 3 Mexican Night (Tortillas, Kits &amp; Chips | Bohnen, Salsa &amp; Gewürze). Am Regalkopf zum Hauptgang: Küchenhelfer aus der Showküche (Pfanne, Reibe, Pfeffermühle …). Keine Aktionsschilder, nur Bio- und Regional-Kennzeichnung.</a:t>
            </a:r>
            <a:endParaRPr lang="en-US" sz="1200" dirty="0"/>
          </a:p>
        </p:txBody>
      </p:sp>
      <p:sp>
        <p:nvSpPr>
          <p:cNvPr id="8" name="Text 5"/>
          <p:cNvSpPr txBox="1"/>
          <p:nvPr/>
        </p:nvSpPr>
        <p:spPr>
          <a:xfrm>
            <a:off x="6629400" y="3221736"/>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37"/>
          <p:cNvSpPr txBox="1"/>
          <p:nvPr/>
        </p:nvSpPr>
        <p:spPr>
          <a:xfrm>
            <a:off x="6629400" y="3468624"/>
            <a:ext cx="5059375" cy="1511808"/>
          </a:xfrm>
          <a:prstGeom prst="rect">
            <a:avLst/>
          </a:prstGeom>
          <a:noFill/>
          <a:ln/>
        </p:spPr>
        <p:txBody>
          <a:bodyPr wrap="square" lIns="0" tIns="0" rIns="0" bIns="0" rtlCol="0" anchor="t"/>
          <a:lstStyle/>
          <a:p>
            <a:pPr indent="0" marL="0">
              <a:buNone/>
            </a:pPr>
            <a:r>
              <a:rPr lang="en-US" sz="1200" dirty="0">
                <a:solidFill>
                  <a:srgbClr val="EFE7D6"/>
                </a:solidFill>
              </a:rPr>
              <a:t>Die Gondeln wiederholen die Spalten der Tafel: Wer „Asian Night“ gewählt hat, geht zur zweiten Gondel und findet dort alle haltbaren Zutaten. Das verbindet Dashboard und Regal zu einer einfachen Orientierung (Cognitive Map). Anders als beim Kochhaus gibt es keine Regale je Rezept, sondern nur drei grobe Welten – innen klassisch nach Warengruppen. Der Regalkopf ist die stärkste Zweitplatzierung: Non-Food aus der Showküche bringt mehr Marge als Lebensmittel und verbindet Küche und Verkaufsraum.</a:t>
            </a:r>
            <a:endParaRPr lang="en-US" sz="1200" dirty="0"/>
          </a:p>
        </p:txBody>
      </p:sp>
      <p:sp>
        <p:nvSpPr>
          <p:cNvPr id="10" name="tag-138"/>
          <p:cNvSpPr/>
          <p:nvPr/>
        </p:nvSpPr>
        <p:spPr>
          <a:xfrm>
            <a:off x="6629400" y="5145024"/>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5145024"/>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139"/>
          <p:cNvSpPr txBox="1"/>
          <p:nvPr/>
        </p:nvSpPr>
        <p:spPr>
          <a:xfrm>
            <a:off x="6995160" y="5117592"/>
            <a:ext cx="4693615" cy="743712"/>
          </a:xfrm>
          <a:prstGeom prst="rect">
            <a:avLst/>
          </a:prstGeom>
          <a:noFill/>
          <a:ln/>
        </p:spPr>
        <p:txBody>
          <a:bodyPr wrap="square" lIns="0" tIns="0" rIns="0" bIns="0" rtlCol="0" anchor="t"/>
          <a:lstStyle/>
          <a:p>
            <a:pPr indent="0" marL="0">
              <a:buNone/>
            </a:pPr>
            <a:r>
              <a:rPr lang="en-US" sz="1100" dirty="0">
                <a:solidFill>
                  <a:srgbClr val="A9A296"/>
                </a:solidFill>
              </a:rPr>
              <a:t>Ahlert/Kenning/Brock 2020, S. 300–301, Abb. 10.3 (Querplatzierung) ✓; S. 302–303 (Platzierung, Blockbildung) ✓; Scheuch 2001, der markt 40(2–3) (Cognitive Maps) ◐; Larson/Bradlow/Fader 2005, IJRM 22(4) (Laufwege, Gänge) ◐</a:t>
            </a:r>
            <a:endParaRPr lang="en-US" sz="1100" dirty="0"/>
          </a:p>
        </p:txBody>
      </p:sp>
      <p:sp>
        <p:nvSpPr>
          <p:cNvPr id="13" name="tag-140"/>
          <p:cNvSpPr/>
          <p:nvPr/>
        </p:nvSpPr>
        <p:spPr>
          <a:xfrm>
            <a:off x="6629400" y="5943600"/>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594360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141"/>
          <p:cNvSpPr txBox="1"/>
          <p:nvPr/>
        </p:nvSpPr>
        <p:spPr>
          <a:xfrm>
            <a:off x="6995160" y="5916168"/>
            <a:ext cx="4693615" cy="408432"/>
          </a:xfrm>
          <a:prstGeom prst="rect">
            <a:avLst/>
          </a:prstGeom>
          <a:noFill/>
          <a:ln/>
        </p:spPr>
        <p:txBody>
          <a:bodyPr wrap="square" lIns="0" tIns="0" rIns="0" bIns="0" rtlCol="0" anchor="t"/>
          <a:lstStyle/>
          <a:p>
            <a:pPr indent="0" marL="0">
              <a:buNone/>
            </a:pPr>
            <a:r>
              <a:rPr lang="en-US" sz="1100" dirty="0">
                <a:solidFill>
                  <a:srgbClr val="A9A296"/>
                </a:solidFill>
              </a:rPr>
              <a:t>Höhere Marge bei Non-Food ist eine Branchenannahme; Zusatzkäufe am Regalkopf sind nicht gemessen.</a:t>
            </a:r>
            <a:endParaRPr lang="en-US" sz="1100" dirty="0"/>
          </a:p>
        </p:txBody>
      </p:sp>
      <p:sp>
        <p:nvSpPr>
          <p:cNvPr id="16" name="Text 13"/>
          <p:cNvSpPr txBox="1"/>
          <p:nvPr/>
        </p:nvSpPr>
        <p:spPr>
          <a:xfrm>
            <a:off x="6629400" y="6379464"/>
            <a:ext cx="5059375" cy="411480"/>
          </a:xfrm>
          <a:prstGeom prst="rect">
            <a:avLst/>
          </a:prstGeom>
          <a:noFill/>
          <a:ln/>
        </p:spPr>
        <p:txBody>
          <a:bodyPr wrap="square" lIns="0" tIns="0" rIns="0" bIns="0" rtlCol="0" anchor="t"/>
          <a:lstStyle/>
          <a:p>
            <a:pPr indent="0" marL="0">
              <a:buNone/>
            </a:pPr>
            <a:r>
              <a:rPr lang="en-US" sz="1000" i="1" dirty="0">
                <a:solidFill>
                  <a:srgbClr val="A9A296"/>
                </a:solidFill>
              </a:rPr>
              <a:t>Skizze: drei Gondeln mit ca. 0,7 m Abstand. Neu: 1,4–1,5 m Gänge, Reihenfolge der Gondeln = Spalten der Tafel, Küchenhelfer am Regalkopf.</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modellbild-142" descr="/tmp/claude-0/-home-claude/bc97363c-87c0-54f2-9d3b-d4b9a8318a8f/scratchpad/ppt/shots/s19.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6/13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M4 · Rückseite · T2</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Regalbild Pasta Night: Kreuzblock</a:t>
            </a:r>
            <a:endParaRPr lang="en-US" sz="2400" dirty="0"/>
          </a:p>
        </p:txBody>
      </p:sp>
      <p:sp>
        <p:nvSpPr>
          <p:cNvPr id="7" name="entscheidung-143"/>
          <p:cNvSpPr txBox="1"/>
          <p:nvPr/>
        </p:nvSpPr>
        <p:spPr>
          <a:xfrm>
            <a:off x="6629400" y="1600200"/>
            <a:ext cx="5059375" cy="1152144"/>
          </a:xfrm>
          <a:prstGeom prst="rect">
            <a:avLst/>
          </a:prstGeom>
          <a:noFill/>
          <a:ln/>
        </p:spPr>
        <p:txBody>
          <a:bodyPr wrap="square" lIns="0" tIns="0" rIns="0" bIns="0" rtlCol="0" anchor="t"/>
          <a:lstStyle/>
          <a:p>
            <a:pPr indent="0" marL="0">
              <a:buNone/>
            </a:pPr>
            <a:r>
              <a:rPr lang="en-US" sz="1200" b="1" dirty="0">
                <a:solidFill>
                  <a:srgbClr val="EFE7D6"/>
                </a:solidFill>
              </a:rPr>
              <a:t>Jede Gondelseite ist ein Kreuzblock: senkrecht die Warengruppen (hier Tomaten &amp; Passata | Sugo &amp; Pastasaucen | Pesto | Bohnen &amp; Thunfisch), waagerecht die Marken nach Preislage – Premium in der Sichtzone, klassische Marken und Bio in der Greifzone, Eigenmarke und Großpackungen in der Bückzone. Jede Sorte steht genau einmal, mit 1–3 Facings.</a:t>
            </a:r>
            <a:endParaRPr lang="en-US" sz="1200" dirty="0"/>
          </a:p>
        </p:txBody>
      </p:sp>
      <p:sp>
        <p:nvSpPr>
          <p:cNvPr id="8" name="Text 5"/>
          <p:cNvSpPr txBox="1"/>
          <p:nvPr/>
        </p:nvSpPr>
        <p:spPr>
          <a:xfrm>
            <a:off x="6629400" y="2862072"/>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44"/>
          <p:cNvSpPr txBox="1"/>
          <p:nvPr/>
        </p:nvSpPr>
        <p:spPr>
          <a:xfrm>
            <a:off x="6629400" y="3108960"/>
            <a:ext cx="5059375" cy="1511808"/>
          </a:xfrm>
          <a:prstGeom prst="rect">
            <a:avLst/>
          </a:prstGeom>
          <a:noFill/>
          <a:ln/>
        </p:spPr>
        <p:txBody>
          <a:bodyPr wrap="square" lIns="0" tIns="0" rIns="0" bIns="0" rtlCol="0" anchor="t"/>
          <a:lstStyle/>
          <a:p>
            <a:pPr indent="0" marL="0">
              <a:buNone/>
            </a:pPr>
            <a:r>
              <a:rPr lang="en-US" sz="1200" dirty="0">
                <a:solidFill>
                  <a:srgbClr val="EFE7D6"/>
                </a:solidFill>
              </a:rPr>
              <a:t>Wir haben die drei Blockarten abgewogen: Ein Herstellerblock passt zu markentreuen Warengruppen (z. B. Kaffee), ein reiner Produktblock zum Vergleich innerhalb einer Warengruppe. Unsere Kundin sucht mit der Rezeptkarte nach einem Produkt („Passata“), nicht nach einer Marke – deshalb Warengruppen senkrecht. Die Marken laufen waagerecht als Band über alle Warengruppen: Wer günstig kocht, findet die Eigenmarke immer unten, wer Premium will, auf Augenhöhe. Facings und Regalhöhe steuern die Aufmerksamkeit.</a:t>
            </a:r>
            <a:endParaRPr lang="en-US" sz="1200" dirty="0"/>
          </a:p>
        </p:txBody>
      </p:sp>
      <p:sp>
        <p:nvSpPr>
          <p:cNvPr id="10" name="tag-145"/>
          <p:cNvSpPr/>
          <p:nvPr/>
        </p:nvSpPr>
        <p:spPr>
          <a:xfrm>
            <a:off x="6629400" y="4785360"/>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478536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146"/>
          <p:cNvSpPr txBox="1"/>
          <p:nvPr/>
        </p:nvSpPr>
        <p:spPr>
          <a:xfrm>
            <a:off x="6995160" y="4757928"/>
            <a:ext cx="4693615" cy="576072"/>
          </a:xfrm>
          <a:prstGeom prst="rect">
            <a:avLst/>
          </a:prstGeom>
          <a:noFill/>
          <a:ln/>
        </p:spPr>
        <p:txBody>
          <a:bodyPr wrap="square" lIns="0" tIns="0" rIns="0" bIns="0" rtlCol="0" anchor="t"/>
          <a:lstStyle/>
          <a:p>
            <a:pPr indent="0" marL="0">
              <a:buNone/>
            </a:pPr>
            <a:r>
              <a:rPr lang="en-US" sz="1100" dirty="0">
                <a:solidFill>
                  <a:srgbClr val="A9A296"/>
                </a:solidFill>
              </a:rPr>
              <a:t>Ahlert/Kenning/Brock 2020, S. 302–303 (Regalzonen; Hersteller-, Produkt- und Kreuzblock) ✓; Chandon et al. 2009, J. of Marketing 73(6), S. 1–17 (Facings &amp; Regalhöhe → Aufmerksamkeit) ✓</a:t>
            </a:r>
            <a:endParaRPr lang="en-US" sz="1100" dirty="0"/>
          </a:p>
        </p:txBody>
      </p:sp>
      <p:sp>
        <p:nvSpPr>
          <p:cNvPr id="13" name="tag-147"/>
          <p:cNvSpPr/>
          <p:nvPr/>
        </p:nvSpPr>
        <p:spPr>
          <a:xfrm>
            <a:off x="6629400" y="5416296"/>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541629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148"/>
          <p:cNvSpPr txBox="1"/>
          <p:nvPr/>
        </p:nvSpPr>
        <p:spPr>
          <a:xfrm>
            <a:off x="6995160" y="5388864"/>
            <a:ext cx="4693615" cy="408432"/>
          </a:xfrm>
          <a:prstGeom prst="rect">
            <a:avLst/>
          </a:prstGeom>
          <a:noFill/>
          <a:ln/>
        </p:spPr>
        <p:txBody>
          <a:bodyPr wrap="square" lIns="0" tIns="0" rIns="0" bIns="0" rtlCol="0" anchor="t"/>
          <a:lstStyle/>
          <a:p>
            <a:pPr indent="0" marL="0">
              <a:buNone/>
            </a:pPr>
            <a:r>
              <a:rPr lang="en-US" sz="1100" dirty="0">
                <a:solidFill>
                  <a:srgbClr val="A9A296"/>
                </a:solidFill>
              </a:rPr>
              <a:t>Sortiment, Markenreihenfolge und Facings sind Fallannahmen; die Wirkung im eigenen Store ist nicht gemessen.</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Neu ausgearbeitet (in der Skizze nicht enthalten).</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149"/>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5 · REGALZUTEILUNG · BLOCKBILDUNG</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Herstellerblock, Produktblock oder Kreuzblock? Wir nehmen den Kreuzblock</a:t>
            </a:r>
            <a:endParaRPr lang="en-US" sz="2800" dirty="0"/>
          </a:p>
        </p:txBody>
      </p:sp>
      <p:sp>
        <p:nvSpPr>
          <p:cNvPr id="4" name="karte-150"/>
          <p:cNvSpPr/>
          <p:nvPr/>
        </p:nvSpPr>
        <p:spPr>
          <a:xfrm>
            <a:off x="502920" y="1463040"/>
            <a:ext cx="3576218" cy="1517904"/>
          </a:xfrm>
          <a:prstGeom prst="roundRect">
            <a:avLst>
              <a:gd name="adj" fmla="val 4819"/>
            </a:avLst>
          </a:prstGeom>
          <a:solidFill>
            <a:srgbClr val="2D2F31"/>
          </a:solidFill>
          <a:ln w="9525">
            <a:solidFill>
              <a:srgbClr val="3A3C3E"/>
            </a:solidFill>
            <a:prstDash val="solid"/>
          </a:ln>
        </p:spPr>
      </p:sp>
      <p:sp>
        <p:nvSpPr>
          <p:cNvPr id="5" name="Text 3"/>
          <p:cNvSpPr txBox="1"/>
          <p:nvPr/>
        </p:nvSpPr>
        <p:spPr>
          <a:xfrm>
            <a:off x="685800" y="162763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Senkrecht: Warengruppe</a:t>
            </a:r>
            <a:endParaRPr lang="en-US" sz="1500" dirty="0"/>
          </a:p>
        </p:txBody>
      </p:sp>
      <p:sp>
        <p:nvSpPr>
          <p:cNvPr id="6" name="Text 4"/>
          <p:cNvSpPr txBox="1"/>
          <p:nvPr/>
        </p:nvSpPr>
        <p:spPr>
          <a:xfrm>
            <a:off x="685800" y="2011680"/>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„Passata“ von der Karte finden, ohne die Marke zu kennen</a:t>
            </a:r>
            <a:endParaRPr lang="en-US" sz="1400" dirty="0"/>
          </a:p>
        </p:txBody>
      </p:sp>
      <p:sp>
        <p:nvSpPr>
          <p:cNvPr id="7" name="karte-151"/>
          <p:cNvSpPr/>
          <p:nvPr/>
        </p:nvSpPr>
        <p:spPr>
          <a:xfrm>
            <a:off x="4307738" y="1463040"/>
            <a:ext cx="3576218" cy="1517904"/>
          </a:xfrm>
          <a:prstGeom prst="roundRect">
            <a:avLst>
              <a:gd name="adj" fmla="val 4819"/>
            </a:avLst>
          </a:prstGeom>
          <a:solidFill>
            <a:srgbClr val="2D2F31"/>
          </a:solidFill>
          <a:ln w="9525">
            <a:solidFill>
              <a:srgbClr val="3A3C3E"/>
            </a:solidFill>
            <a:prstDash val="solid"/>
          </a:ln>
        </p:spPr>
      </p:sp>
      <p:sp>
        <p:nvSpPr>
          <p:cNvPr id="8" name="Text 6"/>
          <p:cNvSpPr txBox="1"/>
          <p:nvPr/>
        </p:nvSpPr>
        <p:spPr>
          <a:xfrm>
            <a:off x="4490618" y="162763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Waagerecht: Preislage</a:t>
            </a:r>
            <a:endParaRPr lang="en-US" sz="1500" dirty="0"/>
          </a:p>
        </p:txBody>
      </p:sp>
      <p:sp>
        <p:nvSpPr>
          <p:cNvPr id="9" name="Text 7"/>
          <p:cNvSpPr txBox="1"/>
          <p:nvPr/>
        </p:nvSpPr>
        <p:spPr>
          <a:xfrm>
            <a:off x="4490618" y="2011680"/>
            <a:ext cx="3210458" cy="80467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Premium oben, Bio in der Mitte, Eigenmarke unten – über alle Warengruppen</a:t>
            </a:r>
            <a:endParaRPr lang="en-US" sz="1400" dirty="0"/>
          </a:p>
        </p:txBody>
      </p:sp>
      <p:sp>
        <p:nvSpPr>
          <p:cNvPr id="10" name="karte-152"/>
          <p:cNvSpPr/>
          <p:nvPr/>
        </p:nvSpPr>
        <p:spPr>
          <a:xfrm>
            <a:off x="8112557" y="1463040"/>
            <a:ext cx="3576218" cy="1517904"/>
          </a:xfrm>
          <a:prstGeom prst="roundRect">
            <a:avLst>
              <a:gd name="adj" fmla="val 4819"/>
            </a:avLst>
          </a:prstGeom>
          <a:solidFill>
            <a:srgbClr val="2D2F31"/>
          </a:solidFill>
          <a:ln w="9525">
            <a:solidFill>
              <a:srgbClr val="3A3C3E"/>
            </a:solidFill>
            <a:prstDash val="solid"/>
          </a:ln>
        </p:spPr>
      </p:sp>
      <p:sp>
        <p:nvSpPr>
          <p:cNvPr id="11" name="Text 9"/>
          <p:cNvSpPr txBox="1"/>
          <p:nvPr/>
        </p:nvSpPr>
        <p:spPr>
          <a:xfrm>
            <a:off x="8295437" y="162763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Jede Sorte einmal</a:t>
            </a:r>
            <a:endParaRPr lang="en-US" sz="1500" dirty="0"/>
          </a:p>
        </p:txBody>
      </p:sp>
      <p:sp>
        <p:nvSpPr>
          <p:cNvPr id="12" name="Text 10"/>
          <p:cNvSpPr txBox="1"/>
          <p:nvPr/>
        </p:nvSpPr>
        <p:spPr>
          <a:xfrm>
            <a:off x="8295437" y="2011680"/>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1–3 Facings, keine Doppelplatzierung</a:t>
            </a:r>
            <a:endParaRPr lang="en-US" sz="1400" dirty="0"/>
          </a:p>
        </p:txBody>
      </p:sp>
      <p:graphicFrame>
        <p:nvGraphicFramePr>
          <p:cNvPr id="22" name="tabelle-153"/>
          <p:cNvGraphicFramePr>
            <a:graphicFrameLocks noGrp="1"/>
          </p:cNvGraphicFramePr>
          <p:nvPr>
            <p:extLst>
              <p:ext uri="{D42A27DB-BD31-4B8C-83A1-F6EECF244321}">
                <p14:modId xmlns:p14="http://schemas.microsoft.com/office/powerpoint/2010/main" val="1579011935"/>
              </p:ext>
            </p:extLst>
          </p:nvPr>
        </p:nvGraphicFramePr>
        <p:xfrm>
          <a:off x="502920" y="3255264"/>
          <a:ext cx="11185855" cy="914400"/>
        </p:xfrm>
        <a:graphic>
          <a:graphicData uri="http://schemas.openxmlformats.org/drawingml/2006/table">
            <a:tbl>
              <a:tblPr/>
              <a:tblGrid>
                <a:gridCol w="2237171"/>
                <a:gridCol w="3020181"/>
                <a:gridCol w="3020181"/>
                <a:gridCol w="2908322"/>
              </a:tblGrid>
              <a:tr h="0">
                <a:tc>
                  <a:txBody>
                    <a:bodyPr/>
                    <a:lstStyle/>
                    <a:p>
                      <a:pPr indent="0" marL="0">
                        <a:buNone/>
                      </a:pPr>
                      <a:r>
                        <a:rPr lang="en-US" sz="1100" b="1" dirty="0">
                          <a:solidFill>
                            <a:srgbClr val="B39B6B"/>
                          </a:solidFill>
                        </a:rPr>
                        <a:t>Blockart</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Ordnung</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passt, wenn …</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D64527"/>
                          </a:solidFill>
                        </a:rPr>
                        <a:t>bei uns</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400" b="1" dirty="0">
                          <a:solidFill>
                            <a:srgbClr val="EFE7D6"/>
                          </a:solidFill>
                        </a:rPr>
                        <a:t>Herstellerblock</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eine Marke senkrecht, alle Sorten darin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Kunden markentreu sind (z. B. Kaffee)</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EFE7D6"/>
                          </a:solidFill>
                        </a:rPr>
                        <a:t>nein – die Karte nennt Produkte, keine Marken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3A2A26"/>
                    </a:solidFill>
                  </a:tcPr>
                </a:tc>
              </a:tr>
              <a:tr h="0">
                <a:tc>
                  <a:txBody>
                    <a:bodyPr/>
                    <a:lstStyle/>
                    <a:p>
                      <a:pPr indent="0" marL="0">
                        <a:buNone/>
                      </a:pPr>
                      <a:r>
                        <a:rPr lang="en-US" sz="1400" b="1" dirty="0">
                          <a:solidFill>
                            <a:srgbClr val="EFE7D6"/>
                          </a:solidFill>
                        </a:rPr>
                        <a:t>Produktblock</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eine Warengruppe zusammen, Marken gemischt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Kunden Produkte vergleichen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EFE7D6"/>
                          </a:solidFill>
                        </a:rPr>
                        <a:t>teilweise – Warengruppen senkrecht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3A2A26"/>
                    </a:solidFill>
                  </a:tcPr>
                </a:tc>
              </a:tr>
              <a:tr h="0">
                <a:tc>
                  <a:txBody>
                    <a:bodyPr/>
                    <a:lstStyle/>
                    <a:p>
                      <a:pPr indent="0" marL="0">
                        <a:buNone/>
                      </a:pPr>
                      <a:r>
                        <a:rPr lang="en-US" sz="1400" b="1" dirty="0">
                          <a:solidFill>
                            <a:srgbClr val="EFE7D6"/>
                          </a:solidFill>
                        </a:rPr>
                        <a:t>Kreuzblock</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Warengruppen senkrecht, Marken waagerecht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beides gilt: erst Produkt, dann Preislage</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b="1" dirty="0">
                          <a:solidFill>
                            <a:srgbClr val="EFE7D6"/>
                          </a:solidFill>
                        </a:rPr>
                        <a:t>ja – an allen Gondeln und Regalen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3A2A26"/>
                    </a:solidFill>
                  </a:tcPr>
                </a:tc>
              </a:tr>
            </a:tbl>
          </a:graphicData>
        </a:graphic>
      </p:graphicFrame>
      <p:sp>
        <p:nvSpPr>
          <p:cNvPr id="14" name="tag-154"/>
          <p:cNvSpPr/>
          <p:nvPr/>
        </p:nvSpPr>
        <p:spPr>
          <a:xfrm>
            <a:off x="502920" y="5515356"/>
            <a:ext cx="274320" cy="219456"/>
          </a:xfrm>
          <a:prstGeom prst="roundRect">
            <a:avLst>
              <a:gd name="adj" fmla="val 20833"/>
            </a:avLst>
          </a:prstGeom>
          <a:solidFill>
            <a:srgbClr val="4F7F5A"/>
          </a:solidFill>
          <a:ln w="12700">
            <a:solidFill>
              <a:srgbClr val="4F7F5A"/>
            </a:solidFill>
            <a:prstDash val="solid"/>
          </a:ln>
        </p:spPr>
      </p:sp>
      <p:sp>
        <p:nvSpPr>
          <p:cNvPr id="15" name="Text 12"/>
          <p:cNvSpPr txBox="1"/>
          <p:nvPr/>
        </p:nvSpPr>
        <p:spPr>
          <a:xfrm>
            <a:off x="502920" y="551535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6" name="tagtext-155"/>
          <p:cNvSpPr txBox="1"/>
          <p:nvPr/>
        </p:nvSpPr>
        <p:spPr>
          <a:xfrm>
            <a:off x="868680" y="5487924"/>
            <a:ext cx="10820095" cy="240792"/>
          </a:xfrm>
          <a:prstGeom prst="rect">
            <a:avLst/>
          </a:prstGeom>
          <a:noFill/>
          <a:ln/>
        </p:spPr>
        <p:txBody>
          <a:bodyPr wrap="square" lIns="0" tIns="0" rIns="0" bIns="0" rtlCol="0" anchor="t"/>
          <a:lstStyle/>
          <a:p>
            <a:pPr indent="0" marL="0">
              <a:buNone/>
            </a:pPr>
            <a:r>
              <a:rPr lang="en-US" sz="1100" dirty="0">
                <a:solidFill>
                  <a:srgbClr val="A9A296"/>
                </a:solidFill>
              </a:rPr>
              <a:t>Ahlert/Kenning/Brock 2020, S. 302–303 (Blockbildung, Regalzonen) ✓; Chandon et al. 2009 ✓</a:t>
            </a:r>
            <a:endParaRPr lang="en-US" sz="1100" dirty="0"/>
          </a:p>
        </p:txBody>
      </p:sp>
      <p:sp>
        <p:nvSpPr>
          <p:cNvPr id="17" name="tag-156"/>
          <p:cNvSpPr/>
          <p:nvPr/>
        </p:nvSpPr>
        <p:spPr>
          <a:xfrm>
            <a:off x="502920" y="5862828"/>
            <a:ext cx="274320" cy="219456"/>
          </a:xfrm>
          <a:prstGeom prst="roundRect">
            <a:avLst>
              <a:gd name="adj" fmla="val 20833"/>
            </a:avLst>
          </a:prstGeom>
          <a:solidFill>
            <a:srgbClr val="B08A34"/>
          </a:solidFill>
          <a:ln w="12700">
            <a:solidFill>
              <a:srgbClr val="B08A34"/>
            </a:solidFill>
            <a:prstDash val="solid"/>
          </a:ln>
        </p:spPr>
      </p:sp>
      <p:sp>
        <p:nvSpPr>
          <p:cNvPr id="18" name="Text 15"/>
          <p:cNvSpPr txBox="1"/>
          <p:nvPr/>
        </p:nvSpPr>
        <p:spPr>
          <a:xfrm>
            <a:off x="502920" y="586282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9" name="tagtext-157"/>
          <p:cNvSpPr txBox="1"/>
          <p:nvPr/>
        </p:nvSpPr>
        <p:spPr>
          <a:xfrm>
            <a:off x="868680" y="5835396"/>
            <a:ext cx="10820095" cy="240792"/>
          </a:xfrm>
          <a:prstGeom prst="rect">
            <a:avLst/>
          </a:prstGeom>
          <a:noFill/>
          <a:ln/>
        </p:spPr>
        <p:txBody>
          <a:bodyPr wrap="square" lIns="0" tIns="0" rIns="0" bIns="0" rtlCol="0" anchor="t"/>
          <a:lstStyle/>
          <a:p>
            <a:pPr indent="0" marL="0">
              <a:buNone/>
            </a:pPr>
            <a:r>
              <a:rPr lang="en-US" sz="1100" dirty="0">
                <a:solidFill>
                  <a:srgbClr val="A9A296"/>
                </a:solidFill>
              </a:rPr>
              <a:t>Markenreihenfolge ist eigene Entscheidung</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modellbild-158" descr="/tmp/claude-0/-home-claude/bc97363c-87c0-54f2-9d3b-d4b9a8318a8f/scratchpad/ppt/shots/s21.png">    </p:cNvPr>
          <p:cNvPicPr>
            <a:picLocks noChangeAspect="1"/>
          </p:cNvPicPr>
          <p:nvPr/>
        </p:nvPicPr>
        <p:blipFill>
          <a:blip r:embed="rId1"/>
          <a:srcRect l="0" r="0" t="0" b="0"/>
          <a:stretch/>
        </p:blipFill>
        <p:spPr>
          <a:xfrm>
            <a:off x="7635240" y="0"/>
            <a:ext cx="4556455" cy="6858000"/>
          </a:xfrm>
          <a:prstGeom prst="rect">
            <a:avLst/>
          </a:prstGeom>
        </p:spPr>
      </p:pic>
      <p:sp>
        <p:nvSpPr>
          <p:cNvPr id="3" name="kicker-159"/>
          <p:cNvSpPr txBox="1"/>
          <p:nvPr/>
        </p:nvSpPr>
        <p:spPr>
          <a:xfrm>
            <a:off x="502920" y="384048"/>
            <a:ext cx="6766560" cy="256032"/>
          </a:xfrm>
          <a:prstGeom prst="rect">
            <a:avLst/>
          </a:prstGeom>
          <a:noFill/>
          <a:ln/>
        </p:spPr>
        <p:txBody>
          <a:bodyPr wrap="square" lIns="0" tIns="0" rIns="0" bIns="0" rtlCol="0" anchor="ctr"/>
          <a:lstStyle/>
          <a:p>
            <a:pPr indent="0" marL="0">
              <a:buNone/>
            </a:pPr>
            <a:r>
              <a:rPr lang="en-US" sz="1100" b="1" spc="150" kern="0" dirty="0">
                <a:solidFill>
                  <a:srgbClr val="B39B6B"/>
                </a:solidFill>
              </a:rPr>
              <a:t>5 · REGALZUTEILUNG · PLATZIERUNGSREGEL</a:t>
            </a:r>
            <a:endParaRPr lang="en-US" sz="1100" dirty="0"/>
          </a:p>
        </p:txBody>
      </p:sp>
      <p:sp>
        <p:nvSpPr>
          <p:cNvPr id="4" name="Text 1"/>
          <p:cNvSpPr/>
          <p:nvPr>
            <p:ph idx="101" type="title" hasCustomPrompt="1"/>
          </p:nvPr>
        </p:nvSpPr>
        <p:spPr>
          <a:xfrm>
            <a:off x="502920" y="658368"/>
            <a:ext cx="6766560" cy="105156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Ein Artikel, mehrere Rezepte: die Parmesan-Regel</a:t>
            </a:r>
            <a:endParaRPr lang="en-US" sz="2800" dirty="0"/>
          </a:p>
        </p:txBody>
      </p:sp>
      <p:sp>
        <p:nvSpPr>
          <p:cNvPr id="5" name="Shape 2"/>
          <p:cNvSpPr/>
          <p:nvPr/>
        </p:nvSpPr>
        <p:spPr>
          <a:xfrm>
            <a:off x="502920" y="1783080"/>
            <a:ext cx="2743200" cy="548640"/>
          </a:xfrm>
          <a:prstGeom prst="roundRect">
            <a:avLst>
              <a:gd name="adj" fmla="val 13333"/>
            </a:avLst>
          </a:prstGeom>
          <a:solidFill>
            <a:srgbClr val="2D2F31"/>
          </a:solidFill>
          <a:ln w="12700">
            <a:solidFill>
              <a:srgbClr val="3A3C3E"/>
            </a:solidFill>
            <a:prstDash val="solid"/>
          </a:ln>
        </p:spPr>
      </p:sp>
      <p:sp>
        <p:nvSpPr>
          <p:cNvPr id="6" name="Text 3"/>
          <p:cNvSpPr txBox="1"/>
          <p:nvPr/>
        </p:nvSpPr>
        <p:spPr>
          <a:xfrm>
            <a:off x="640080" y="1783080"/>
            <a:ext cx="2560320" cy="548640"/>
          </a:xfrm>
          <a:prstGeom prst="rect">
            <a:avLst/>
          </a:prstGeom>
          <a:noFill/>
          <a:ln/>
        </p:spPr>
        <p:txBody>
          <a:bodyPr wrap="square" lIns="0" tIns="0" rIns="0" bIns="0" rtlCol="0" anchor="ctr"/>
          <a:lstStyle/>
          <a:p>
            <a:pPr indent="0" marL="0">
              <a:buNone/>
            </a:pPr>
            <a:r>
              <a:rPr lang="en-US" sz="1300" dirty="0">
                <a:solidFill>
                  <a:srgbClr val="EFE7D6"/>
                </a:solidFill>
              </a:rPr>
              <a:t>Rezept #01 · Creamy Tomato Pasta</a:t>
            </a:r>
            <a:endParaRPr lang="en-US" sz="1300" dirty="0"/>
          </a:p>
        </p:txBody>
      </p:sp>
      <p:sp>
        <p:nvSpPr>
          <p:cNvPr id="7" name="Shape 4"/>
          <p:cNvSpPr/>
          <p:nvPr/>
        </p:nvSpPr>
        <p:spPr>
          <a:xfrm>
            <a:off x="502920" y="2468880"/>
            <a:ext cx="2743200" cy="548640"/>
          </a:xfrm>
          <a:prstGeom prst="roundRect">
            <a:avLst>
              <a:gd name="adj" fmla="val 13333"/>
            </a:avLst>
          </a:prstGeom>
          <a:solidFill>
            <a:srgbClr val="2D2F31"/>
          </a:solidFill>
          <a:ln w="12700">
            <a:solidFill>
              <a:srgbClr val="3A3C3E"/>
            </a:solidFill>
            <a:prstDash val="solid"/>
          </a:ln>
        </p:spPr>
      </p:sp>
      <p:sp>
        <p:nvSpPr>
          <p:cNvPr id="8" name="Text 5"/>
          <p:cNvSpPr txBox="1"/>
          <p:nvPr/>
        </p:nvSpPr>
        <p:spPr>
          <a:xfrm>
            <a:off x="640080" y="2468880"/>
            <a:ext cx="2560320" cy="548640"/>
          </a:xfrm>
          <a:prstGeom prst="rect">
            <a:avLst/>
          </a:prstGeom>
          <a:noFill/>
          <a:ln/>
        </p:spPr>
        <p:txBody>
          <a:bodyPr wrap="square" lIns="0" tIns="0" rIns="0" bIns="0" rtlCol="0" anchor="ctr"/>
          <a:lstStyle/>
          <a:p>
            <a:pPr indent="0" marL="0">
              <a:buNone/>
            </a:pPr>
            <a:r>
              <a:rPr lang="en-US" sz="1300" dirty="0">
                <a:solidFill>
                  <a:srgbClr val="EFE7D6"/>
                </a:solidFill>
              </a:rPr>
              <a:t>Rezept #02 · Tagliatelle al Limone</a:t>
            </a:r>
            <a:endParaRPr lang="en-US" sz="1300" dirty="0"/>
          </a:p>
        </p:txBody>
      </p:sp>
      <p:sp>
        <p:nvSpPr>
          <p:cNvPr id="9" name="Text 6"/>
          <p:cNvSpPr txBox="1"/>
          <p:nvPr/>
        </p:nvSpPr>
        <p:spPr>
          <a:xfrm>
            <a:off x="3337560" y="2057400"/>
            <a:ext cx="548640" cy="548640"/>
          </a:xfrm>
          <a:prstGeom prst="rect">
            <a:avLst/>
          </a:prstGeom>
          <a:noFill/>
          <a:ln/>
        </p:spPr>
        <p:txBody>
          <a:bodyPr wrap="square" lIns="0" tIns="0" rIns="0" bIns="0" rtlCol="0" anchor="ctr"/>
          <a:lstStyle/>
          <a:p>
            <a:pPr algn="ctr" indent="0" marL="0">
              <a:buNone/>
            </a:pPr>
            <a:r>
              <a:rPr lang="en-US" sz="3000" dirty="0">
                <a:solidFill>
                  <a:srgbClr val="D64527"/>
                </a:solidFill>
              </a:rPr>
              <a:t>→</a:t>
            </a:r>
            <a:endParaRPr lang="en-US" sz="3000" dirty="0"/>
          </a:p>
        </p:txBody>
      </p:sp>
      <p:sp>
        <p:nvSpPr>
          <p:cNvPr id="10" name="zuordnung-160"/>
          <p:cNvSpPr/>
          <p:nvPr/>
        </p:nvSpPr>
        <p:spPr>
          <a:xfrm>
            <a:off x="3977640" y="1874520"/>
            <a:ext cx="3291840" cy="1051560"/>
          </a:xfrm>
          <a:prstGeom prst="roundRect">
            <a:avLst>
              <a:gd name="adj" fmla="val 6957"/>
            </a:avLst>
          </a:prstGeom>
          <a:solidFill>
            <a:srgbClr val="3A2A26"/>
          </a:solidFill>
          <a:ln w="12700">
            <a:solidFill>
              <a:srgbClr val="D64527"/>
            </a:solidFill>
            <a:prstDash val="solid"/>
          </a:ln>
        </p:spPr>
      </p:sp>
      <p:sp>
        <p:nvSpPr>
          <p:cNvPr id="11" name="Text 8"/>
          <p:cNvSpPr txBox="1"/>
          <p:nvPr/>
        </p:nvSpPr>
        <p:spPr>
          <a:xfrm>
            <a:off x="4160520" y="1920240"/>
            <a:ext cx="2926080" cy="960120"/>
          </a:xfrm>
          <a:prstGeom prst="rect">
            <a:avLst/>
          </a:prstGeom>
          <a:noFill/>
          <a:ln/>
        </p:spPr>
        <p:txBody>
          <a:bodyPr wrap="square" lIns="0" tIns="0" rIns="0" bIns="0" rtlCol="0" anchor="ctr"/>
          <a:lstStyle/>
          <a:p>
            <a:pPr indent="0" marL="0">
              <a:buNone/>
            </a:pPr>
            <a:r>
              <a:rPr lang="en-US" sz="1500" b="1" dirty="0">
                <a:solidFill>
                  <a:srgbClr val="EFE7D6"/>
                </a:solidFill>
              </a:rPr>
              <a:t>Ein Platz: Parmesan im Kühlregal, Fach K2, Warengruppe Käse</a:t>
            </a:r>
            <a:endParaRPr lang="en-US" sz="1500" dirty="0"/>
          </a:p>
          <a:p>
            <a:pPr indent="0" marL="0">
              <a:buNone/>
            </a:pPr>
            <a:r>
              <a:rPr lang="en-US" sz="1200" dirty="0">
                <a:solidFill>
                  <a:srgbClr val="A9A296"/>
                </a:solidFill>
              </a:rPr>
              <a:t>Beide Karten verweisen auf „K2“</a:t>
            </a:r>
            <a:endParaRPr lang="en-US" sz="1500" dirty="0"/>
          </a:p>
        </p:txBody>
      </p:sp>
      <p:sp>
        <p:nvSpPr>
          <p:cNvPr id="12" name="karte-161"/>
          <p:cNvSpPr/>
          <p:nvPr/>
        </p:nvSpPr>
        <p:spPr>
          <a:xfrm>
            <a:off x="502920" y="3337560"/>
            <a:ext cx="2103120" cy="1133856"/>
          </a:xfrm>
          <a:prstGeom prst="roundRect">
            <a:avLst>
              <a:gd name="adj" fmla="val 6452"/>
            </a:avLst>
          </a:prstGeom>
          <a:solidFill>
            <a:srgbClr val="2D2F31"/>
          </a:solidFill>
          <a:ln w="9525">
            <a:solidFill>
              <a:srgbClr val="3A3C3E"/>
            </a:solidFill>
            <a:prstDash val="solid"/>
          </a:ln>
        </p:spPr>
      </p:sp>
      <p:sp>
        <p:nvSpPr>
          <p:cNvPr id="13" name="Shape 10"/>
          <p:cNvSpPr/>
          <p:nvPr/>
        </p:nvSpPr>
        <p:spPr>
          <a:xfrm>
            <a:off x="685800" y="3502152"/>
            <a:ext cx="329184" cy="329184"/>
          </a:xfrm>
          <a:prstGeom prst="ellipse">
            <a:avLst/>
          </a:prstGeom>
          <a:solidFill>
            <a:srgbClr val="D64527"/>
          </a:solidFill>
          <a:ln w="12700">
            <a:solidFill>
              <a:srgbClr val="D64527"/>
            </a:solidFill>
            <a:prstDash val="solid"/>
          </a:ln>
        </p:spPr>
      </p:sp>
      <p:sp>
        <p:nvSpPr>
          <p:cNvPr id="14" name="Text 11"/>
          <p:cNvSpPr txBox="1"/>
          <p:nvPr/>
        </p:nvSpPr>
        <p:spPr>
          <a:xfrm>
            <a:off x="685800" y="35021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5" name="Text 12"/>
          <p:cNvSpPr txBox="1"/>
          <p:nvPr/>
        </p:nvSpPr>
        <p:spPr>
          <a:xfrm>
            <a:off x="1124712" y="3502152"/>
            <a:ext cx="1298448" cy="80467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Jeder Artikel hat genau einen Platz</a:t>
            </a:r>
            <a:endParaRPr lang="en-US" sz="1400" dirty="0"/>
          </a:p>
        </p:txBody>
      </p:sp>
      <p:sp>
        <p:nvSpPr>
          <p:cNvPr id="16" name="karte-162"/>
          <p:cNvSpPr/>
          <p:nvPr/>
        </p:nvSpPr>
        <p:spPr>
          <a:xfrm>
            <a:off x="2834640" y="3337560"/>
            <a:ext cx="2103120" cy="1133856"/>
          </a:xfrm>
          <a:prstGeom prst="roundRect">
            <a:avLst>
              <a:gd name="adj" fmla="val 6452"/>
            </a:avLst>
          </a:prstGeom>
          <a:solidFill>
            <a:srgbClr val="2D2F31"/>
          </a:solidFill>
          <a:ln w="9525">
            <a:solidFill>
              <a:srgbClr val="3A3C3E"/>
            </a:solidFill>
            <a:prstDash val="solid"/>
          </a:ln>
        </p:spPr>
      </p:sp>
      <p:sp>
        <p:nvSpPr>
          <p:cNvPr id="17" name="Shape 14"/>
          <p:cNvSpPr/>
          <p:nvPr/>
        </p:nvSpPr>
        <p:spPr>
          <a:xfrm>
            <a:off x="3017520" y="3502152"/>
            <a:ext cx="329184" cy="329184"/>
          </a:xfrm>
          <a:prstGeom prst="ellipse">
            <a:avLst/>
          </a:prstGeom>
          <a:solidFill>
            <a:srgbClr val="D64527"/>
          </a:solidFill>
          <a:ln w="12700">
            <a:solidFill>
              <a:srgbClr val="D64527"/>
            </a:solidFill>
            <a:prstDash val="solid"/>
          </a:ln>
        </p:spPr>
      </p:sp>
      <p:sp>
        <p:nvSpPr>
          <p:cNvPr id="18" name="Text 15"/>
          <p:cNvSpPr txBox="1"/>
          <p:nvPr/>
        </p:nvSpPr>
        <p:spPr>
          <a:xfrm>
            <a:off x="3017520" y="35021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9" name="Text 16"/>
          <p:cNvSpPr txBox="1"/>
          <p:nvPr/>
        </p:nvSpPr>
        <p:spPr>
          <a:xfrm>
            <a:off x="3456432" y="3502152"/>
            <a:ext cx="1298448" cy="80467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Mehrere Rezepte → ein Fachcode</a:t>
            </a:r>
            <a:endParaRPr lang="en-US" sz="1400" dirty="0"/>
          </a:p>
        </p:txBody>
      </p:sp>
      <p:sp>
        <p:nvSpPr>
          <p:cNvPr id="20" name="karte-163"/>
          <p:cNvSpPr/>
          <p:nvPr/>
        </p:nvSpPr>
        <p:spPr>
          <a:xfrm>
            <a:off x="5166360" y="3337560"/>
            <a:ext cx="2103120" cy="1133856"/>
          </a:xfrm>
          <a:prstGeom prst="roundRect">
            <a:avLst>
              <a:gd name="adj" fmla="val 6452"/>
            </a:avLst>
          </a:prstGeom>
          <a:solidFill>
            <a:srgbClr val="2D2F31"/>
          </a:solidFill>
          <a:ln w="9525">
            <a:solidFill>
              <a:srgbClr val="3A3C3E"/>
            </a:solidFill>
            <a:prstDash val="solid"/>
          </a:ln>
        </p:spPr>
      </p:sp>
      <p:sp>
        <p:nvSpPr>
          <p:cNvPr id="21" name="Shape 18"/>
          <p:cNvSpPr/>
          <p:nvPr/>
        </p:nvSpPr>
        <p:spPr>
          <a:xfrm>
            <a:off x="5349240" y="3502152"/>
            <a:ext cx="329184" cy="329184"/>
          </a:xfrm>
          <a:prstGeom prst="ellipse">
            <a:avLst/>
          </a:prstGeom>
          <a:solidFill>
            <a:srgbClr val="D64527"/>
          </a:solidFill>
          <a:ln w="12700">
            <a:solidFill>
              <a:srgbClr val="D64527"/>
            </a:solidFill>
            <a:prstDash val="solid"/>
          </a:ln>
        </p:spPr>
      </p:sp>
      <p:sp>
        <p:nvSpPr>
          <p:cNvPr id="22" name="Text 19"/>
          <p:cNvSpPr txBox="1"/>
          <p:nvPr/>
        </p:nvSpPr>
        <p:spPr>
          <a:xfrm>
            <a:off x="5349240" y="35021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3" name="Text 20"/>
          <p:cNvSpPr txBox="1"/>
          <p:nvPr/>
        </p:nvSpPr>
        <p:spPr>
          <a:xfrm>
            <a:off x="5788152" y="3502152"/>
            <a:ext cx="1298448" cy="80467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Kühlware immer in der Kühlung</a:t>
            </a:r>
            <a:endParaRPr lang="en-US" sz="1400" dirty="0"/>
          </a:p>
        </p:txBody>
      </p:sp>
      <p:sp>
        <p:nvSpPr>
          <p:cNvPr id="24" name="tag-164"/>
          <p:cNvSpPr/>
          <p:nvPr/>
        </p:nvSpPr>
        <p:spPr>
          <a:xfrm>
            <a:off x="502920" y="4727448"/>
            <a:ext cx="274320" cy="219456"/>
          </a:xfrm>
          <a:prstGeom prst="roundRect">
            <a:avLst>
              <a:gd name="adj" fmla="val 20833"/>
            </a:avLst>
          </a:prstGeom>
          <a:solidFill>
            <a:srgbClr val="4F7F5A"/>
          </a:solidFill>
          <a:ln w="12700">
            <a:solidFill>
              <a:srgbClr val="4F7F5A"/>
            </a:solidFill>
            <a:prstDash val="solid"/>
          </a:ln>
        </p:spPr>
      </p:sp>
      <p:sp>
        <p:nvSpPr>
          <p:cNvPr id="25" name="Text 22"/>
          <p:cNvSpPr txBox="1"/>
          <p:nvPr/>
        </p:nvSpPr>
        <p:spPr>
          <a:xfrm>
            <a:off x="502920" y="472744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26" name="tagtext-165"/>
          <p:cNvSpPr txBox="1"/>
          <p:nvPr/>
        </p:nvSpPr>
        <p:spPr>
          <a:xfrm>
            <a:off x="868680" y="4700016"/>
            <a:ext cx="6400800" cy="240792"/>
          </a:xfrm>
          <a:prstGeom prst="rect">
            <a:avLst/>
          </a:prstGeom>
          <a:noFill/>
          <a:ln/>
        </p:spPr>
        <p:txBody>
          <a:bodyPr wrap="square" lIns="0" tIns="0" rIns="0" bIns="0" rtlCol="0" anchor="t"/>
          <a:lstStyle/>
          <a:p>
            <a:pPr indent="0" marL="0">
              <a:buNone/>
            </a:pPr>
            <a:r>
              <a:rPr lang="en-US" sz="1100" dirty="0">
                <a:solidFill>
                  <a:srgbClr val="A9A296"/>
                </a:solidFill>
              </a:rPr>
              <a:t>Blockbildung, Ahlert/Kenning/Brock 2020, S. 302–303 ✓</a:t>
            </a:r>
            <a:endParaRPr lang="en-US" sz="1100" dirty="0"/>
          </a:p>
        </p:txBody>
      </p:sp>
      <p:sp>
        <p:nvSpPr>
          <p:cNvPr id="27" name="tag-166"/>
          <p:cNvSpPr/>
          <p:nvPr/>
        </p:nvSpPr>
        <p:spPr>
          <a:xfrm>
            <a:off x="502920" y="5074920"/>
            <a:ext cx="274320" cy="219456"/>
          </a:xfrm>
          <a:prstGeom prst="roundRect">
            <a:avLst>
              <a:gd name="adj" fmla="val 20833"/>
            </a:avLst>
          </a:prstGeom>
          <a:solidFill>
            <a:srgbClr val="B08A34"/>
          </a:solidFill>
          <a:ln w="12700">
            <a:solidFill>
              <a:srgbClr val="B08A34"/>
            </a:solidFill>
            <a:prstDash val="solid"/>
          </a:ln>
        </p:spPr>
      </p:sp>
      <p:sp>
        <p:nvSpPr>
          <p:cNvPr id="28" name="Text 25"/>
          <p:cNvSpPr txBox="1"/>
          <p:nvPr/>
        </p:nvSpPr>
        <p:spPr>
          <a:xfrm>
            <a:off x="502920" y="507492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29" name="tagtext-167"/>
          <p:cNvSpPr txBox="1"/>
          <p:nvPr/>
        </p:nvSpPr>
        <p:spPr>
          <a:xfrm>
            <a:off x="868680" y="5047488"/>
            <a:ext cx="6400800" cy="240792"/>
          </a:xfrm>
          <a:prstGeom prst="rect">
            <a:avLst/>
          </a:prstGeom>
          <a:noFill/>
          <a:ln/>
        </p:spPr>
        <p:txBody>
          <a:bodyPr wrap="square" lIns="0" tIns="0" rIns="0" bIns="0" rtlCol="0" anchor="t"/>
          <a:lstStyle/>
          <a:p>
            <a:pPr indent="0" marL="0">
              <a:buNone/>
            </a:pPr>
            <a:r>
              <a:rPr lang="en-US" sz="1100" dirty="0">
                <a:solidFill>
                  <a:srgbClr val="A9A296"/>
                </a:solidFill>
              </a:rPr>
              <a:t>Regel ist eigene Entscheidung</a:t>
            </a:r>
            <a:endParaRPr lang="en-US" sz="11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modellbild-168" descr="/tmp/claude-0/-home-claude/bc97363c-87c0-54f2-9d3b-d4b9a8318a8f/scratchpad/ppt/shots/s22.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7/13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M7 · L1</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Kühlung an der Rückwand</a:t>
            </a:r>
            <a:endParaRPr lang="en-US" sz="2400" dirty="0"/>
          </a:p>
        </p:txBody>
      </p:sp>
      <p:sp>
        <p:nvSpPr>
          <p:cNvPr id="7" name="entscheidung-169"/>
          <p:cNvSpPr txBox="1"/>
          <p:nvPr/>
        </p:nvSpPr>
        <p:spPr>
          <a:xfrm>
            <a:off x="6629400" y="1600200"/>
            <a:ext cx="5059375" cy="657606"/>
          </a:xfrm>
          <a:prstGeom prst="rect">
            <a:avLst/>
          </a:prstGeom>
          <a:noFill/>
          <a:ln/>
        </p:spPr>
        <p:txBody>
          <a:bodyPr wrap="square" lIns="0" tIns="0" rIns="0" bIns="0" rtlCol="0" anchor="t"/>
          <a:lstStyle/>
          <a:p>
            <a:pPr indent="0" marL="0">
              <a:buNone/>
            </a:pPr>
            <a:r>
              <a:rPr lang="en-US" sz="1300" b="1" dirty="0">
                <a:solidFill>
                  <a:srgbClr val="EFE7D6"/>
                </a:solidFill>
              </a:rPr>
              <a:t>Ein 7,2 m langes Kühlregal (K1–K6) mit Bannern darüber über die ganze linke Rückwand, das vom L-Lager aus über eine Kühlzelle befüllt wird.</a:t>
            </a:r>
            <a:endParaRPr lang="en-US" sz="1300" dirty="0"/>
          </a:p>
        </p:txBody>
      </p:sp>
      <p:sp>
        <p:nvSpPr>
          <p:cNvPr id="8" name="Text 5"/>
          <p:cNvSpPr txBox="1"/>
          <p:nvPr/>
        </p:nvSpPr>
        <p:spPr>
          <a:xfrm>
            <a:off x="6629400" y="2367534"/>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70"/>
          <p:cNvSpPr txBox="1"/>
          <p:nvPr/>
        </p:nvSpPr>
        <p:spPr>
          <a:xfrm>
            <a:off x="6629400" y="2614422"/>
            <a:ext cx="5059375" cy="852424"/>
          </a:xfrm>
          <a:prstGeom prst="rect">
            <a:avLst/>
          </a:prstGeom>
          <a:noFill/>
          <a:ln/>
        </p:spPr>
        <p:txBody>
          <a:bodyPr wrap="square" lIns="0" tIns="0" rIns="0" bIns="0" rtlCol="0" anchor="t"/>
          <a:lstStyle/>
          <a:p>
            <a:pPr indent="0" marL="0">
              <a:buNone/>
            </a:pPr>
            <a:r>
              <a:rPr lang="en-US" sz="1300" dirty="0">
                <a:solidFill>
                  <a:srgbClr val="EFE7D6"/>
                </a:solidFill>
              </a:rPr>
              <a:t>Kühlpflichtige Zutaten stehen auf fast jeder Rezeptkarte und ziehen die Kundschaft in die Tiefe des Raums. Die Befüllung von hinten trennt den Warenweg vom Kundenweg: Nachfüllen ohne Rollwagen im Gang.</a:t>
            </a:r>
            <a:endParaRPr lang="en-US" sz="1300" dirty="0"/>
          </a:p>
        </p:txBody>
      </p:sp>
      <p:sp>
        <p:nvSpPr>
          <p:cNvPr id="10" name="tag-171"/>
          <p:cNvSpPr/>
          <p:nvPr/>
        </p:nvSpPr>
        <p:spPr>
          <a:xfrm>
            <a:off x="6629400" y="3631438"/>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363143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172"/>
          <p:cNvSpPr txBox="1"/>
          <p:nvPr/>
        </p:nvSpPr>
        <p:spPr>
          <a:xfrm>
            <a:off x="6995160" y="3604006"/>
            <a:ext cx="4693615" cy="408432"/>
          </a:xfrm>
          <a:prstGeom prst="rect">
            <a:avLst/>
          </a:prstGeom>
          <a:noFill/>
          <a:ln/>
        </p:spPr>
        <p:txBody>
          <a:bodyPr wrap="square" lIns="0" tIns="0" rIns="0" bIns="0" rtlCol="0" anchor="t"/>
          <a:lstStyle/>
          <a:p>
            <a:pPr indent="0" marL="0">
              <a:buNone/>
            </a:pPr>
            <a:r>
              <a:rPr lang="en-US" sz="1100" dirty="0">
                <a:solidFill>
                  <a:srgbClr val="A9A296"/>
                </a:solidFill>
              </a:rPr>
              <a:t>Seminar-Checkliste Tag 2: F4 Warenweg, F5 Arbeitsweg, F6 Wegkreuzungen ✓; Ahlert/Kenning/Brock 2020, S. 297–302 ✓</a:t>
            </a:r>
            <a:endParaRPr lang="en-US" sz="1100" dirty="0"/>
          </a:p>
        </p:txBody>
      </p:sp>
      <p:sp>
        <p:nvSpPr>
          <p:cNvPr id="13" name="tag-173"/>
          <p:cNvSpPr/>
          <p:nvPr/>
        </p:nvSpPr>
        <p:spPr>
          <a:xfrm>
            <a:off x="6629400" y="4094734"/>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4094734"/>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174"/>
          <p:cNvSpPr txBox="1"/>
          <p:nvPr/>
        </p:nvSpPr>
        <p:spPr>
          <a:xfrm>
            <a:off x="6995160" y="4067302"/>
            <a:ext cx="4693615" cy="408432"/>
          </a:xfrm>
          <a:prstGeom prst="rect">
            <a:avLst/>
          </a:prstGeom>
          <a:noFill/>
          <a:ln/>
        </p:spPr>
        <p:txBody>
          <a:bodyPr wrap="square" lIns="0" tIns="0" rIns="0" bIns="0" rtlCol="0" anchor="t"/>
          <a:lstStyle/>
          <a:p>
            <a:pPr indent="0" marL="0">
              <a:buNone/>
            </a:pPr>
            <a:r>
              <a:rPr lang="en-US" sz="1100" dirty="0">
                <a:solidFill>
                  <a:srgbClr val="A9A296"/>
                </a:solidFill>
              </a:rPr>
              <a:t>Frische wirkt als Zielartikel (nicht belegt); Kosten der Kühlzelle sind nicht kalkuliert.</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Wie in der Skizze (Kühlung hinten links). Neu: Hinterbefüllung aus dem L-Lager.</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modellbild-175" descr="/tmp/claude-0/-home-claude/bc97363c-87c0-54f2-9d3b-d4b9a8318a8f/scratchpad/ppt/shots/s23.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8/13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M12–M15 · M19 · Z4</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Showküche</a:t>
            </a:r>
            <a:endParaRPr lang="en-US" sz="2400" dirty="0"/>
          </a:p>
        </p:txBody>
      </p:sp>
      <p:sp>
        <p:nvSpPr>
          <p:cNvPr id="7" name="entscheidung-176"/>
          <p:cNvSpPr txBox="1"/>
          <p:nvPr/>
        </p:nvSpPr>
        <p:spPr>
          <a:xfrm>
            <a:off x="6629400" y="1600200"/>
            <a:ext cx="5059375" cy="1152144"/>
          </a:xfrm>
          <a:prstGeom prst="rect">
            <a:avLst/>
          </a:prstGeom>
          <a:noFill/>
          <a:ln/>
        </p:spPr>
        <p:txBody>
          <a:bodyPr wrap="square" lIns="0" tIns="0" rIns="0" bIns="0" rtlCol="0" anchor="t"/>
          <a:lstStyle/>
          <a:p>
            <a:pPr indent="0" marL="0">
              <a:buNone/>
            </a:pPr>
            <a:r>
              <a:rPr lang="en-US" sz="1200" b="1" dirty="0">
                <a:solidFill>
                  <a:srgbClr val="EFE7D6"/>
                </a:solidFill>
              </a:rPr>
              <a:t>Showküche (ca. 18 m²) in der Raummitte als visueller Anker: Kochtresen mit vier Barhockern zum Eingang, darüber eine Dunstabzugshaube (Inselesse mit Kamin), links an der Glaswand eine Polsterbank mit einem durchgehenden Tisch zum Probieren, hinten die Küchenzeile. Glaswand an drei Seiten. Live-Cooking zweimal täglich, Probierportionen kostenlos – Kochkurse bieten wir nicht an.</a:t>
            </a:r>
            <a:endParaRPr lang="en-US" sz="1200" dirty="0"/>
          </a:p>
        </p:txBody>
      </p:sp>
      <p:sp>
        <p:nvSpPr>
          <p:cNvPr id="8" name="Text 5"/>
          <p:cNvSpPr txBox="1"/>
          <p:nvPr/>
        </p:nvSpPr>
        <p:spPr>
          <a:xfrm>
            <a:off x="6629400" y="2862072"/>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77"/>
          <p:cNvSpPr txBox="1"/>
          <p:nvPr/>
        </p:nvSpPr>
        <p:spPr>
          <a:xfrm>
            <a:off x="6629400" y="3108960"/>
            <a:ext cx="5059375" cy="1152144"/>
          </a:xfrm>
          <a:prstGeom prst="rect">
            <a:avLst/>
          </a:prstGeom>
          <a:noFill/>
          <a:ln/>
        </p:spPr>
        <p:txBody>
          <a:bodyPr wrap="square" lIns="0" tIns="0" rIns="0" bIns="0" rtlCol="0" anchor="t"/>
          <a:lstStyle/>
          <a:p>
            <a:pPr indent="0" marL="0">
              <a:buNone/>
            </a:pPr>
            <a:r>
              <a:rPr lang="en-US" sz="1200" dirty="0">
                <a:solidFill>
                  <a:srgbClr val="EFE7D6"/>
                </a:solidFill>
              </a:rPr>
              <a:t>Die Blickachse vom Eingang endet auf dem Kochtresen (Arena-Prinzip). Das Live-Cooking zeigt ein Rezept der Matrix und macht es probierbar. Die Haube zieht Dunst direkt am Kochfeld ab, die Glaswand hält Geruch und Lärm von den Regalen fern. Statt eines Stehtischs in der Mitte gibt es Sitzplätze: Wer sitzt, probiert in Ruhe und bleibt länger; die Mitte bleibt für den Koch frei.</a:t>
            </a:r>
            <a:endParaRPr lang="en-US" sz="1200" dirty="0"/>
          </a:p>
        </p:txBody>
      </p:sp>
      <p:sp>
        <p:nvSpPr>
          <p:cNvPr id="10" name="tag-178"/>
          <p:cNvSpPr/>
          <p:nvPr/>
        </p:nvSpPr>
        <p:spPr>
          <a:xfrm>
            <a:off x="6629400" y="4425696"/>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442569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179"/>
          <p:cNvSpPr txBox="1"/>
          <p:nvPr/>
        </p:nvSpPr>
        <p:spPr>
          <a:xfrm>
            <a:off x="6995160" y="4398264"/>
            <a:ext cx="4693615" cy="576072"/>
          </a:xfrm>
          <a:prstGeom prst="rect">
            <a:avLst/>
          </a:prstGeom>
          <a:noFill/>
          <a:ln/>
        </p:spPr>
        <p:txBody>
          <a:bodyPr wrap="square" lIns="0" tIns="0" rIns="0" bIns="0" rtlCol="0" anchor="t"/>
          <a:lstStyle/>
          <a:p>
            <a:pPr indent="0" marL="0">
              <a:buNone/>
            </a:pPr>
            <a:r>
              <a:rPr lang="en-US" sz="1100" dirty="0">
                <a:solidFill>
                  <a:srgbClr val="A9A296"/>
                </a:solidFill>
              </a:rPr>
              <a:t>Seminarskript (Arena-Prinzip, Blickachse mit visuellem Anker) ✓; Ahlert/Kenning/Brock 2020, S. 297–302 ✓; Hui/Bradlow/Fader 2009 (Einfluss anderer Kunden) ✓; Gröppel 1991 (Erlebnisstrategien) ◐</a:t>
            </a:r>
            <a:endParaRPr lang="en-US" sz="1100" dirty="0"/>
          </a:p>
        </p:txBody>
      </p:sp>
      <p:sp>
        <p:nvSpPr>
          <p:cNvPr id="13" name="tag-180"/>
          <p:cNvSpPr/>
          <p:nvPr/>
        </p:nvSpPr>
        <p:spPr>
          <a:xfrm>
            <a:off x="6629400" y="5056632"/>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5056632"/>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181"/>
          <p:cNvSpPr txBox="1"/>
          <p:nvPr/>
        </p:nvSpPr>
        <p:spPr>
          <a:xfrm>
            <a:off x="6995160" y="5029200"/>
            <a:ext cx="4693615" cy="408432"/>
          </a:xfrm>
          <a:prstGeom prst="rect">
            <a:avLst/>
          </a:prstGeom>
          <a:noFill/>
          <a:ln/>
        </p:spPr>
        <p:txBody>
          <a:bodyPr wrap="square" lIns="0" tIns="0" rIns="0" bIns="0" rtlCol="0" anchor="t"/>
          <a:lstStyle/>
          <a:p>
            <a:pPr indent="0" marL="0">
              <a:buNone/>
            </a:pPr>
            <a:r>
              <a:rPr lang="en-US" sz="1100" dirty="0">
                <a:solidFill>
                  <a:srgbClr val="A9A296"/>
                </a:solidFill>
              </a:rPr>
              <a:t>Wirtschaftlich, wenn der Ø-Bon um ca. 4 € steigt (Folie Wirtschaftlichkeit).</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Skizze: Zuschauer-Hocker an der Rückseite der Küche. Neu: Zuschauer vorn – der hintere Gang bleibt frei für den Rezeptweg.</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modellbild-182" descr="/tmp/claude-0/-home-claude/bc97363c-87c0-54f2-9d3b-d4b9a8318a8f/scratchpad/ppt/shots/s24.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9/13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M8 · M9</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Dessert &amp; Wein</a:t>
            </a:r>
            <a:endParaRPr lang="en-US" sz="2400" dirty="0"/>
          </a:p>
        </p:txBody>
      </p:sp>
      <p:sp>
        <p:nvSpPr>
          <p:cNvPr id="7" name="entscheidung-183"/>
          <p:cNvSpPr txBox="1"/>
          <p:nvPr/>
        </p:nvSpPr>
        <p:spPr>
          <a:xfrm>
            <a:off x="6629400" y="1600200"/>
            <a:ext cx="5059375" cy="657606"/>
          </a:xfrm>
          <a:prstGeom prst="rect">
            <a:avLst/>
          </a:prstGeom>
          <a:noFill/>
          <a:ln/>
        </p:spPr>
        <p:txBody>
          <a:bodyPr wrap="square" lIns="0" tIns="0" rIns="0" bIns="0" rtlCol="0" anchor="t"/>
          <a:lstStyle/>
          <a:p>
            <a:pPr indent="0" marL="0">
              <a:buNone/>
            </a:pPr>
            <a:r>
              <a:rPr lang="en-US" sz="1300" b="1" dirty="0">
                <a:solidFill>
                  <a:srgbClr val="EFE7D6"/>
                </a:solidFill>
              </a:rPr>
              <a:t>Die Ergänzungen „Dessert &amp; TK“ (D1–D3) und „Wein &amp; Getränke“ (G1–G3) liegen an der Rückwand rechts – auf dem Rezeptweg nach der Kühlung.</a:t>
            </a:r>
            <a:endParaRPr lang="en-US" sz="1300" dirty="0"/>
          </a:p>
        </p:txBody>
      </p:sp>
      <p:sp>
        <p:nvSpPr>
          <p:cNvPr id="8" name="Text 5"/>
          <p:cNvSpPr txBox="1"/>
          <p:nvPr/>
        </p:nvSpPr>
        <p:spPr>
          <a:xfrm>
            <a:off x="6629400" y="2367534"/>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84"/>
          <p:cNvSpPr txBox="1"/>
          <p:nvPr/>
        </p:nvSpPr>
        <p:spPr>
          <a:xfrm>
            <a:off x="6629400" y="2614422"/>
            <a:ext cx="5059375" cy="852424"/>
          </a:xfrm>
          <a:prstGeom prst="rect">
            <a:avLst/>
          </a:prstGeom>
          <a:noFill/>
          <a:ln/>
        </p:spPr>
        <p:txBody>
          <a:bodyPr wrap="square" lIns="0" tIns="0" rIns="0" bIns="0" rtlCol="0" anchor="t"/>
          <a:lstStyle/>
          <a:p>
            <a:pPr indent="0" marL="0">
              <a:buNone/>
            </a:pPr>
            <a:r>
              <a:rPr lang="en-US" sz="1300" dirty="0">
                <a:solidFill>
                  <a:srgbClr val="EFE7D6"/>
                </a:solidFill>
              </a:rPr>
              <a:t>Studien zeigen einen „Licensing“-Effekt: Wer zuerst „vernünftige“ Produkte gekauft hat, steuert danach eher Genussartikel an. Erst Frische, dann Dessert und Wein folgt dieser Reihenfolge – und dem Schritt „Ergänzen“ der Rezeptkarte.</a:t>
            </a:r>
            <a:endParaRPr lang="en-US" sz="1300" dirty="0"/>
          </a:p>
        </p:txBody>
      </p:sp>
      <p:sp>
        <p:nvSpPr>
          <p:cNvPr id="10" name="tag-185"/>
          <p:cNvSpPr/>
          <p:nvPr/>
        </p:nvSpPr>
        <p:spPr>
          <a:xfrm>
            <a:off x="6629400" y="3631438"/>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363143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186"/>
          <p:cNvSpPr txBox="1"/>
          <p:nvPr/>
        </p:nvSpPr>
        <p:spPr>
          <a:xfrm>
            <a:off x="6995160" y="3604006"/>
            <a:ext cx="4693615" cy="408432"/>
          </a:xfrm>
          <a:prstGeom prst="rect">
            <a:avLst/>
          </a:prstGeom>
          <a:noFill/>
          <a:ln/>
        </p:spPr>
        <p:txBody>
          <a:bodyPr wrap="square" lIns="0" tIns="0" rIns="0" bIns="0" rtlCol="0" anchor="t"/>
          <a:lstStyle/>
          <a:p>
            <a:pPr indent="0" marL="0">
              <a:buNone/>
            </a:pPr>
            <a:r>
              <a:rPr lang="en-US" sz="1100" dirty="0">
                <a:solidFill>
                  <a:srgbClr val="A9A296"/>
                </a:solidFill>
              </a:rPr>
              <a:t>Hui/Bradlow/Fader 2009, J. of Consumer Research 36(3), S. 478–493 (Licensing) ✓</a:t>
            </a:r>
            <a:endParaRPr lang="en-US" sz="1100" dirty="0"/>
          </a:p>
        </p:txBody>
      </p:sp>
      <p:sp>
        <p:nvSpPr>
          <p:cNvPr id="13" name="tag-187"/>
          <p:cNvSpPr/>
          <p:nvPr/>
        </p:nvSpPr>
        <p:spPr>
          <a:xfrm>
            <a:off x="6629400" y="4094734"/>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4094734"/>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188"/>
          <p:cNvSpPr txBox="1"/>
          <p:nvPr/>
        </p:nvSpPr>
        <p:spPr>
          <a:xfrm>
            <a:off x="6995160" y="4067302"/>
            <a:ext cx="4693615" cy="240792"/>
          </a:xfrm>
          <a:prstGeom prst="rect">
            <a:avLst/>
          </a:prstGeom>
          <a:noFill/>
          <a:ln/>
        </p:spPr>
        <p:txBody>
          <a:bodyPr wrap="square" lIns="0" tIns="0" rIns="0" bIns="0" rtlCol="0" anchor="t"/>
          <a:lstStyle/>
          <a:p>
            <a:pPr indent="0" marL="0">
              <a:buNone/>
            </a:pPr>
            <a:r>
              <a:rPr lang="en-US" sz="1100" dirty="0">
                <a:solidFill>
                  <a:srgbClr val="A9A296"/>
                </a:solidFill>
              </a:rPr>
              <a:t>Die Reihenfolge erhöht den Warenkorb – nicht gemessen.</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Wie in der Skizze (Dessert und Wein an der Rückwand).</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modellbild-189" descr="/tmp/claude-0/-home-claude/bc97363c-87c0-54f2-9d3b-d4b9a8318a8f/scratchpad/ppt/shots/s25.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10/13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M10 · M11 · Z7</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Basissortiment längs</a:t>
            </a:r>
            <a:endParaRPr lang="en-US" sz="2400" dirty="0"/>
          </a:p>
        </p:txBody>
      </p:sp>
      <p:sp>
        <p:nvSpPr>
          <p:cNvPr id="7" name="entscheidung-190"/>
          <p:cNvSpPr txBox="1"/>
          <p:nvPr/>
        </p:nvSpPr>
        <p:spPr>
          <a:xfrm>
            <a:off x="6629400" y="1600200"/>
            <a:ext cx="5059375" cy="1047242"/>
          </a:xfrm>
          <a:prstGeom prst="rect">
            <a:avLst/>
          </a:prstGeom>
          <a:noFill/>
          <a:ln/>
        </p:spPr>
        <p:txBody>
          <a:bodyPr wrap="square" lIns="0" tIns="0" rIns="0" bIns="0" rtlCol="0" anchor="t"/>
          <a:lstStyle/>
          <a:p>
            <a:pPr indent="0" marL="0">
              <a:buNone/>
            </a:pPr>
            <a:r>
              <a:rPr lang="en-US" sz="1300" b="1" dirty="0">
                <a:solidFill>
                  <a:srgbClr val="EFE7D6"/>
                </a:solidFill>
              </a:rPr>
              <a:t>Basissortiment („Vorratskammer“) längs: Wandregal (Öl &amp; Essig, Gewürze &amp; Brühe, Backen) plus eine Gondel (Frühstück, Kaffee &amp; Tee, Süßwaren, Knabberartikel) mit 1,75 m Gang – das ist der Schnellweg vom Eingang zur Kasse. Die Schilder nennen nur die Warengruppe, ohne Kürzel.</a:t>
            </a:r>
            <a:endParaRPr lang="en-US" sz="1300" dirty="0"/>
          </a:p>
        </p:txBody>
      </p:sp>
      <p:sp>
        <p:nvSpPr>
          <p:cNvPr id="8" name="Text 5"/>
          <p:cNvSpPr txBox="1"/>
          <p:nvPr/>
        </p:nvSpPr>
        <p:spPr>
          <a:xfrm>
            <a:off x="6629400" y="2757170"/>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91"/>
          <p:cNvSpPr txBox="1"/>
          <p:nvPr/>
        </p:nvSpPr>
        <p:spPr>
          <a:xfrm>
            <a:off x="6629400" y="3004058"/>
            <a:ext cx="5059375" cy="852424"/>
          </a:xfrm>
          <a:prstGeom prst="rect">
            <a:avLst/>
          </a:prstGeom>
          <a:noFill/>
          <a:ln/>
        </p:spPr>
        <p:txBody>
          <a:bodyPr wrap="square" lIns="0" tIns="0" rIns="0" bIns="0" rtlCol="0" anchor="t"/>
          <a:lstStyle/>
          <a:p>
            <a:pPr indent="0" marL="0">
              <a:buNone/>
            </a:pPr>
            <a:r>
              <a:rPr lang="en-US" sz="1300" dirty="0">
                <a:solidFill>
                  <a:srgbClr val="EFE7D6"/>
                </a:solidFill>
              </a:rPr>
              <a:t>Längsplatzierung unterstützt bestehende Kaufabsichten: Wer gezielt Olivenöl sucht, erkennt die Warengruppe im Vorbeigehen, vergleicht und greift. Das Basissortiment sichert die Grundfrequenz (Lehre aus dem Kochhaus).</a:t>
            </a:r>
            <a:endParaRPr lang="en-US" sz="1300" dirty="0"/>
          </a:p>
        </p:txBody>
      </p:sp>
      <p:sp>
        <p:nvSpPr>
          <p:cNvPr id="10" name="tag-192"/>
          <p:cNvSpPr/>
          <p:nvPr/>
        </p:nvSpPr>
        <p:spPr>
          <a:xfrm>
            <a:off x="6629400" y="4021074"/>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4021074"/>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193"/>
          <p:cNvSpPr txBox="1"/>
          <p:nvPr/>
        </p:nvSpPr>
        <p:spPr>
          <a:xfrm>
            <a:off x="6995160" y="3993642"/>
            <a:ext cx="4693615" cy="576072"/>
          </a:xfrm>
          <a:prstGeom prst="rect">
            <a:avLst/>
          </a:prstGeom>
          <a:noFill/>
          <a:ln/>
        </p:spPr>
        <p:txBody>
          <a:bodyPr wrap="square" lIns="0" tIns="0" rIns="0" bIns="0" rtlCol="0" anchor="t"/>
          <a:lstStyle/>
          <a:p>
            <a:pPr indent="0" marL="0">
              <a:buNone/>
            </a:pPr>
            <a:r>
              <a:rPr lang="en-US" sz="1100" dirty="0">
                <a:solidFill>
                  <a:srgbClr val="A9A296"/>
                </a:solidFill>
              </a:rPr>
              <a:t>Ahlert/Kenning/Brock 2020, S. 300–301, Abb. 10.3 ✓; Seminarskript: Längsplatzierung → „bestehende Kaufrelevanz“ ✓; Meyer, Tagesspiegel 28.03.2019 (Kochhaus) ✓</a:t>
            </a:r>
            <a:endParaRPr lang="en-US" sz="1100" dirty="0"/>
          </a:p>
        </p:txBody>
      </p:sp>
      <p:sp>
        <p:nvSpPr>
          <p:cNvPr id="13" name="tag-194"/>
          <p:cNvSpPr/>
          <p:nvPr/>
        </p:nvSpPr>
        <p:spPr>
          <a:xfrm>
            <a:off x="6629400" y="4652010"/>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465201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195"/>
          <p:cNvSpPr txBox="1"/>
          <p:nvPr/>
        </p:nvSpPr>
        <p:spPr>
          <a:xfrm>
            <a:off x="6995160" y="4624578"/>
            <a:ext cx="4693615" cy="240792"/>
          </a:xfrm>
          <a:prstGeom prst="rect">
            <a:avLst/>
          </a:prstGeom>
          <a:noFill/>
          <a:ln/>
        </p:spPr>
        <p:txBody>
          <a:bodyPr wrap="square" lIns="0" tIns="0" rIns="0" bIns="0" rtlCol="0" anchor="t"/>
          <a:lstStyle/>
          <a:p>
            <a:pPr indent="0" marL="0">
              <a:buNone/>
            </a:pPr>
            <a:r>
              <a:rPr lang="en-US" sz="1100" dirty="0">
                <a:solidFill>
                  <a:srgbClr val="A9A296"/>
                </a:solidFill>
              </a:rPr>
              <a:t>Schnellkauf ≤ 15 Minuten ist ein Zielwert.</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Skizze: eine Gondel ca. 0,8 m vor der Wand (Gang zu schmal). Neu: Wandregal + Gondel, Gang 1,75 m.</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modellbild-196" descr="/tmp/claude-0/-home-claude/bc97363c-87c0-54f2-9d3b-d4b9a8318a8f/scratchpad/ppt/shots/s26.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11/13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M16–M18 · Z8</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Kasse &amp; SB-Kasse</a:t>
            </a:r>
            <a:endParaRPr lang="en-US" sz="2400" dirty="0"/>
          </a:p>
        </p:txBody>
      </p:sp>
      <p:sp>
        <p:nvSpPr>
          <p:cNvPr id="7" name="entscheidung-197"/>
          <p:cNvSpPr txBox="1"/>
          <p:nvPr/>
        </p:nvSpPr>
        <p:spPr>
          <a:xfrm>
            <a:off x="6629400" y="1600200"/>
            <a:ext cx="5059375" cy="657606"/>
          </a:xfrm>
          <a:prstGeom prst="rect">
            <a:avLst/>
          </a:prstGeom>
          <a:noFill/>
          <a:ln/>
        </p:spPr>
        <p:txBody>
          <a:bodyPr wrap="square" lIns="0" tIns="0" rIns="0" bIns="0" rtlCol="0" anchor="t"/>
          <a:lstStyle/>
          <a:p>
            <a:pPr indent="0" marL="0">
              <a:buNone/>
            </a:pPr>
            <a:r>
              <a:rPr lang="en-US" sz="1300" b="1" dirty="0">
                <a:solidFill>
                  <a:srgbClr val="EFE7D6"/>
                </a:solidFill>
              </a:rPr>
              <a:t>Eine Bedienkasse mit Band und zwei SB-Kassen direkt vor dem Ausgang. Dazu ein Impulsregal (Kräuter, Schokolade, Riegel) an der Warteschlange.</a:t>
            </a:r>
            <a:endParaRPr lang="en-US" sz="1300" dirty="0"/>
          </a:p>
        </p:txBody>
      </p:sp>
      <p:sp>
        <p:nvSpPr>
          <p:cNvPr id="8" name="Text 5"/>
          <p:cNvSpPr txBox="1"/>
          <p:nvPr/>
        </p:nvSpPr>
        <p:spPr>
          <a:xfrm>
            <a:off x="6629400" y="2367534"/>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198"/>
          <p:cNvSpPr txBox="1"/>
          <p:nvPr/>
        </p:nvSpPr>
        <p:spPr>
          <a:xfrm>
            <a:off x="6629400" y="2614422"/>
            <a:ext cx="5059375" cy="1047242"/>
          </a:xfrm>
          <a:prstGeom prst="rect">
            <a:avLst/>
          </a:prstGeom>
          <a:noFill/>
          <a:ln/>
        </p:spPr>
        <p:txBody>
          <a:bodyPr wrap="square" lIns="0" tIns="0" rIns="0" bIns="0" rtlCol="0" anchor="t"/>
          <a:lstStyle/>
          <a:p>
            <a:pPr indent="0" marL="0">
              <a:buNone/>
            </a:pPr>
            <a:r>
              <a:rPr lang="en-US" sz="1300" dirty="0">
                <a:solidFill>
                  <a:srgbClr val="EFE7D6"/>
                </a:solidFill>
              </a:rPr>
              <a:t>Die Kasse liegt am Ende beider Wege. SB-Kassen fangen die Spitzen nach Vorlesung und Feierabend ab (Checkliste K8: Wartezeit). Ob SB-Technik angenommen wird, hängt laut Studien vom wahrgenommenen Nutzen ab – deshalb gibt es weiter eine Bedienkasse.</a:t>
            </a:r>
            <a:endParaRPr lang="en-US" sz="1300" dirty="0"/>
          </a:p>
        </p:txBody>
      </p:sp>
      <p:sp>
        <p:nvSpPr>
          <p:cNvPr id="10" name="tag-199"/>
          <p:cNvSpPr/>
          <p:nvPr/>
        </p:nvSpPr>
        <p:spPr>
          <a:xfrm>
            <a:off x="6629400" y="3826256"/>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3826256"/>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200"/>
          <p:cNvSpPr txBox="1"/>
          <p:nvPr/>
        </p:nvSpPr>
        <p:spPr>
          <a:xfrm>
            <a:off x="6995160" y="3798824"/>
            <a:ext cx="4693615" cy="408432"/>
          </a:xfrm>
          <a:prstGeom prst="rect">
            <a:avLst/>
          </a:prstGeom>
          <a:noFill/>
          <a:ln/>
        </p:spPr>
        <p:txBody>
          <a:bodyPr wrap="square" lIns="0" tIns="0" rIns="0" bIns="0" rtlCol="0" anchor="t"/>
          <a:lstStyle/>
          <a:p>
            <a:pPr indent="0" marL="0">
              <a:buNone/>
            </a:pPr>
            <a:r>
              <a:rPr lang="en-US" sz="1100" dirty="0">
                <a:solidFill>
                  <a:srgbClr val="A9A296"/>
                </a:solidFill>
              </a:rPr>
              <a:t>Ahlert/Kenning/Brock 2020, S. 297–302 ✓; Inman/Nikolova 2017, J. of Retailing 93(1), S. 7–28 ◐; Seminar-Checkliste K8 ✓</a:t>
            </a:r>
            <a:endParaRPr lang="en-US" sz="1100" dirty="0"/>
          </a:p>
        </p:txBody>
      </p:sp>
      <p:sp>
        <p:nvSpPr>
          <p:cNvPr id="13" name="tag-201"/>
          <p:cNvSpPr/>
          <p:nvPr/>
        </p:nvSpPr>
        <p:spPr>
          <a:xfrm>
            <a:off x="6629400" y="4289552"/>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4289552"/>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202"/>
          <p:cNvSpPr txBox="1"/>
          <p:nvPr/>
        </p:nvSpPr>
        <p:spPr>
          <a:xfrm>
            <a:off x="6995160" y="4262120"/>
            <a:ext cx="4693615" cy="240792"/>
          </a:xfrm>
          <a:prstGeom prst="rect">
            <a:avLst/>
          </a:prstGeom>
          <a:noFill/>
          <a:ln/>
        </p:spPr>
        <p:txBody>
          <a:bodyPr wrap="square" lIns="0" tIns="0" rIns="0" bIns="0" rtlCol="0" anchor="t"/>
          <a:lstStyle/>
          <a:p>
            <a:pPr indent="0" marL="0">
              <a:buNone/>
            </a:pPr>
            <a:r>
              <a:rPr lang="en-US" sz="1100" dirty="0">
                <a:solidFill>
                  <a:srgbClr val="A9A296"/>
                </a:solidFill>
              </a:rPr>
              <a:t>Spitzenlast ca. 25 Kunden pro Stunde (Fallannahme).</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Wie in der Skizze (Kasse 1 + SB-Kasse rechts vorn). Neu: Ausgang direkt hinter den Kassen, Impulsregal an der Schlange.</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modellbild-203" descr="/tmp/claude-0/-home-claude/bc97363c-87c0-54f2-9d3b-d4b9a8318a8f/scratchpad/ppt/shots/s27.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12/13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Z9 · Z10 · L1–L4</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L-Lager &amp; Warenweg</a:t>
            </a:r>
            <a:endParaRPr lang="en-US" sz="2400" dirty="0"/>
          </a:p>
        </p:txBody>
      </p:sp>
      <p:sp>
        <p:nvSpPr>
          <p:cNvPr id="7" name="entscheidung-204"/>
          <p:cNvSpPr txBox="1"/>
          <p:nvPr/>
        </p:nvSpPr>
        <p:spPr>
          <a:xfrm>
            <a:off x="6629400" y="1600200"/>
            <a:ext cx="5059375" cy="852424"/>
          </a:xfrm>
          <a:prstGeom prst="rect">
            <a:avLst/>
          </a:prstGeom>
          <a:noFill/>
          <a:ln/>
        </p:spPr>
        <p:txBody>
          <a:bodyPr wrap="square" lIns="0" tIns="0" rIns="0" bIns="0" rtlCol="0" anchor="t"/>
          <a:lstStyle/>
          <a:p>
            <a:pPr indent="0" marL="0">
              <a:buNone/>
            </a:pPr>
            <a:r>
              <a:rPr lang="en-US" sz="1300" b="1" dirty="0">
                <a:solidFill>
                  <a:srgbClr val="EFE7D6"/>
                </a:solidFill>
              </a:rPr>
              <a:t>Das L-Lager umfasst die Rückseite und die rechte Seite (ca. 49 m²). Anlieferung über ein Rolltor hinten rechts, die Lagertür liegt am Basissortiment, die Kühlung wird von hinten befüllt.</a:t>
            </a:r>
            <a:endParaRPr lang="en-US" sz="1300" dirty="0"/>
          </a:p>
        </p:txBody>
      </p:sp>
      <p:sp>
        <p:nvSpPr>
          <p:cNvPr id="8" name="Text 5"/>
          <p:cNvSpPr txBox="1"/>
          <p:nvPr/>
        </p:nvSpPr>
        <p:spPr>
          <a:xfrm>
            <a:off x="6629400" y="2562352"/>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205"/>
          <p:cNvSpPr txBox="1"/>
          <p:nvPr/>
        </p:nvSpPr>
        <p:spPr>
          <a:xfrm>
            <a:off x="6629400" y="2809240"/>
            <a:ext cx="5059375" cy="657606"/>
          </a:xfrm>
          <a:prstGeom prst="rect">
            <a:avLst/>
          </a:prstGeom>
          <a:noFill/>
          <a:ln/>
        </p:spPr>
        <p:txBody>
          <a:bodyPr wrap="square" lIns="0" tIns="0" rIns="0" bIns="0" rtlCol="0" anchor="t"/>
          <a:lstStyle/>
          <a:p>
            <a:pPr indent="0" marL="0">
              <a:buNone/>
            </a:pPr>
            <a:r>
              <a:rPr lang="en-US" sz="1300" dirty="0">
                <a:solidFill>
                  <a:srgbClr val="EFE7D6"/>
                </a:solidFill>
              </a:rPr>
              <a:t>Waren-, Arbeits- und Kundenweg kreuzen sich kaum: Die Ware kommt hinten rein und geht direkt in Kühlzelle und Regale. Der Personalraum liegt abgetrennt vorn rechts.</a:t>
            </a:r>
            <a:endParaRPr lang="en-US" sz="1300" dirty="0"/>
          </a:p>
        </p:txBody>
      </p:sp>
      <p:sp>
        <p:nvSpPr>
          <p:cNvPr id="10" name="tag-206"/>
          <p:cNvSpPr/>
          <p:nvPr/>
        </p:nvSpPr>
        <p:spPr>
          <a:xfrm>
            <a:off x="6629400" y="3631438"/>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363143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207"/>
          <p:cNvSpPr txBox="1"/>
          <p:nvPr/>
        </p:nvSpPr>
        <p:spPr>
          <a:xfrm>
            <a:off x="6995160" y="3604006"/>
            <a:ext cx="4693615" cy="240792"/>
          </a:xfrm>
          <a:prstGeom prst="rect">
            <a:avLst/>
          </a:prstGeom>
          <a:noFill/>
          <a:ln/>
        </p:spPr>
        <p:txBody>
          <a:bodyPr wrap="square" lIns="0" tIns="0" rIns="0" bIns="0" rtlCol="0" anchor="t"/>
          <a:lstStyle/>
          <a:p>
            <a:pPr indent="0" marL="0">
              <a:buNone/>
            </a:pPr>
            <a:r>
              <a:rPr lang="en-US" sz="1100" dirty="0">
                <a:solidFill>
                  <a:srgbClr val="A9A296"/>
                </a:solidFill>
              </a:rPr>
              <a:t>Seminar-Checkliste Tag 2: F4–F6, E9 Anlieferung ✓</a:t>
            </a:r>
            <a:endParaRPr lang="en-US" sz="1100" dirty="0"/>
          </a:p>
        </p:txBody>
      </p:sp>
      <p:sp>
        <p:nvSpPr>
          <p:cNvPr id="13" name="tag-208"/>
          <p:cNvSpPr/>
          <p:nvPr/>
        </p:nvSpPr>
        <p:spPr>
          <a:xfrm>
            <a:off x="6629400" y="3978910"/>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397891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209"/>
          <p:cNvSpPr txBox="1"/>
          <p:nvPr/>
        </p:nvSpPr>
        <p:spPr>
          <a:xfrm>
            <a:off x="6995160" y="3951478"/>
            <a:ext cx="4693615" cy="408432"/>
          </a:xfrm>
          <a:prstGeom prst="rect">
            <a:avLst/>
          </a:prstGeom>
          <a:noFill/>
          <a:ln/>
        </p:spPr>
        <p:txBody>
          <a:bodyPr wrap="square" lIns="0" tIns="0" rIns="0" bIns="0" rtlCol="0" anchor="t"/>
          <a:lstStyle/>
          <a:p>
            <a:pPr indent="0" marL="0">
              <a:buNone/>
            </a:pPr>
            <a:r>
              <a:rPr lang="en-US" sz="1100" dirty="0">
                <a:solidFill>
                  <a:srgbClr val="A9A296"/>
                </a:solidFill>
              </a:rPr>
              <a:t>Anlieferzeiten und Rolltor sind am Standort zulässig (Fallannahme).</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Skizze: „L-Lager“ ohne Lage. Neu: L-Form hinten/rechts mit Anlieferung und Hinterbefüllung.</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modellbild-210" descr="/tmp/claude-0/-home-claude/bc97363c-87c0-54f2-9d3b-d4b9a8318a8f/scratchpad/ppt/shots/s28.png">    </p:cNvPr>
          <p:cNvPicPr>
            <a:picLocks noChangeAspect="1"/>
          </p:cNvPicPr>
          <p:nvPr/>
        </p:nvPicPr>
        <p:blipFill>
          <a:blip r:embed="rId1"/>
          <a:srcRect l="0" r="0" t="0" b="0"/>
          <a:stretch/>
        </p:blipFill>
        <p:spPr>
          <a:xfrm>
            <a:off x="0" y="0"/>
            <a:ext cx="6263640" cy="6858000"/>
          </a:xfrm>
          <a:prstGeom prst="rect">
            <a:avLst/>
          </a:prstGeom>
        </p:spPr>
      </p:pic>
      <p:sp>
        <p:nvSpPr>
          <p:cNvPr id="3" name="Shape 0"/>
          <p:cNvSpPr/>
          <p:nvPr/>
        </p:nvSpPr>
        <p:spPr>
          <a:xfrm>
            <a:off x="6629400" y="384048"/>
            <a:ext cx="1325880" cy="329184"/>
          </a:xfrm>
          <a:prstGeom prst="roundRect">
            <a:avLst>
              <a:gd name="adj" fmla="val 22222"/>
            </a:avLst>
          </a:prstGeom>
          <a:solidFill>
            <a:srgbClr val="D64527"/>
          </a:solidFill>
          <a:ln w="12700">
            <a:solidFill>
              <a:srgbClr val="D64527"/>
            </a:solidFill>
            <a:prstDash val="solid"/>
          </a:ln>
        </p:spPr>
      </p:sp>
      <p:sp>
        <p:nvSpPr>
          <p:cNvPr id="4" name="Text 1"/>
          <p:cNvSpPr txBox="1"/>
          <p:nvPr/>
        </p:nvSpPr>
        <p:spPr>
          <a:xfrm>
            <a:off x="6629400" y="384048"/>
            <a:ext cx="1325880" cy="329184"/>
          </a:xfrm>
          <a:prstGeom prst="rect">
            <a:avLst/>
          </a:prstGeom>
          <a:noFill/>
          <a:ln/>
        </p:spPr>
        <p:txBody>
          <a:bodyPr wrap="square" lIns="0" tIns="0" rIns="0" bIns="0" rtlCol="0" anchor="ctr"/>
          <a:lstStyle/>
          <a:p>
            <a:pPr algn="ctr" indent="0" marL="0">
              <a:buNone/>
            </a:pPr>
            <a:r>
              <a:rPr lang="en-US" sz="1200" b="1" dirty="0">
                <a:solidFill>
                  <a:srgbClr val="FFFFFF"/>
                </a:solidFill>
              </a:rPr>
              <a:t>Station 13/13</a:t>
            </a:r>
            <a:endParaRPr lang="en-US" sz="1200" dirty="0"/>
          </a:p>
        </p:txBody>
      </p:sp>
      <p:sp>
        <p:nvSpPr>
          <p:cNvPr id="5" name="Text 2"/>
          <p:cNvSpPr txBox="1"/>
          <p:nvPr/>
        </p:nvSpPr>
        <p:spPr>
          <a:xfrm>
            <a:off x="8092440" y="384048"/>
            <a:ext cx="3596335" cy="329184"/>
          </a:xfrm>
          <a:prstGeom prst="rect">
            <a:avLst/>
          </a:prstGeom>
          <a:noFill/>
          <a:ln/>
        </p:spPr>
        <p:txBody>
          <a:bodyPr wrap="square" lIns="0" tIns="0" rIns="0" bIns="0" rtlCol="0" anchor="ctr"/>
          <a:lstStyle/>
          <a:p>
            <a:pPr indent="0" marL="0">
              <a:buNone/>
            </a:pPr>
            <a:r>
              <a:rPr lang="en-US" sz="1100" dirty="0">
                <a:solidFill>
                  <a:srgbClr val="B39B6B"/>
                </a:solidFill>
              </a:rPr>
              <a:t>Licht · Duft · Material · Klang</a:t>
            </a:r>
            <a:endParaRPr lang="en-US" sz="1100" dirty="0"/>
          </a:p>
        </p:txBody>
      </p:sp>
      <p:sp>
        <p:nvSpPr>
          <p:cNvPr id="6" name="Text 0"/>
          <p:cNvSpPr/>
          <p:nvPr>
            <p:ph idx="100" type="title" hasCustomPrompt="1"/>
          </p:nvPr>
        </p:nvSpPr>
        <p:spPr>
          <a:xfrm>
            <a:off x="6629400" y="868680"/>
            <a:ext cx="5059375" cy="685800"/>
          </a:xfrm>
          <a:prstGeom prst="rect">
            <a:avLst/>
          </a:prstGeom>
          <a:noFill/>
          <a:ln/>
        </p:spPr>
        <p:txBody>
          <a:bodyPr wrap="square" lIns="0" tIns="0" rIns="0" bIns="0" rtlCol="0" anchor="t"/>
          <a:lstStyle/>
          <a:p>
            <a:pPr algn="l" indent="0" marL="0">
              <a:buNone/>
            </a:pPr>
            <a:r>
              <a:rPr lang="en-US" sz="2400" dirty="0">
                <a:solidFill>
                  <a:srgbClr val="EFE7D6"/>
                </a:solidFill>
                <a:latin typeface="Cambria" pitchFamily="34" charset="0"/>
                <a:ea typeface="Cambria" pitchFamily="34" charset="-122"/>
                <a:cs typeface="Cambria" pitchFamily="34" charset="-120"/>
              </a:rPr>
              <a:t>Atmosphäre</a:t>
            </a:r>
            <a:endParaRPr lang="en-US" sz="2400" dirty="0"/>
          </a:p>
        </p:txBody>
      </p:sp>
      <p:sp>
        <p:nvSpPr>
          <p:cNvPr id="7" name="entscheidung-211"/>
          <p:cNvSpPr txBox="1"/>
          <p:nvPr/>
        </p:nvSpPr>
        <p:spPr>
          <a:xfrm>
            <a:off x="6629400" y="1600200"/>
            <a:ext cx="5059375" cy="1047242"/>
          </a:xfrm>
          <a:prstGeom prst="rect">
            <a:avLst/>
          </a:prstGeom>
          <a:noFill/>
          <a:ln/>
        </p:spPr>
        <p:txBody>
          <a:bodyPr wrap="square" lIns="0" tIns="0" rIns="0" bIns="0" rtlCol="0" anchor="t"/>
          <a:lstStyle/>
          <a:p>
            <a:pPr indent="0" marL="0">
              <a:buNone/>
            </a:pPr>
            <a:r>
              <a:rPr lang="en-US" sz="1300" b="1" dirty="0">
                <a:solidFill>
                  <a:srgbClr val="EFE7D6"/>
                </a:solidFill>
              </a:rPr>
              <a:t>Warmes Licht (2.900–3.000 K) über Gondeln und Küche, neutral-helles (3.600–4.000 K) in Basis und Kühlung. Kochduft nur zu festen Zeiten mit Dunstabzug und Glaswand, Eiche und Schwarzstahl im Ladenbau, Terrazzo und Edelstahl in der Küche, leise Musik.</a:t>
            </a:r>
            <a:endParaRPr lang="en-US" sz="1300" dirty="0"/>
          </a:p>
        </p:txBody>
      </p:sp>
      <p:sp>
        <p:nvSpPr>
          <p:cNvPr id="8" name="Text 5"/>
          <p:cNvSpPr txBox="1"/>
          <p:nvPr/>
        </p:nvSpPr>
        <p:spPr>
          <a:xfrm>
            <a:off x="6629400" y="2757170"/>
            <a:ext cx="5059375" cy="228600"/>
          </a:xfrm>
          <a:prstGeom prst="rect">
            <a:avLst/>
          </a:prstGeom>
          <a:noFill/>
          <a:ln/>
        </p:spPr>
        <p:txBody>
          <a:bodyPr wrap="square" lIns="0" tIns="0" rIns="0" bIns="0" rtlCol="0" anchor="ctr"/>
          <a:lstStyle/>
          <a:p>
            <a:pPr indent="0" marL="0">
              <a:buNone/>
            </a:pPr>
            <a:r>
              <a:rPr lang="en-US" sz="1000" b="1" spc="150" kern="0" dirty="0">
                <a:solidFill>
                  <a:srgbClr val="B39B6B"/>
                </a:solidFill>
              </a:rPr>
              <a:t>WARUM</a:t>
            </a:r>
            <a:endParaRPr lang="en-US" sz="1000" dirty="0"/>
          </a:p>
        </p:txBody>
      </p:sp>
      <p:sp>
        <p:nvSpPr>
          <p:cNvPr id="9" name="begruendung-212"/>
          <p:cNvSpPr txBox="1"/>
          <p:nvPr/>
        </p:nvSpPr>
        <p:spPr>
          <a:xfrm>
            <a:off x="6629400" y="3004058"/>
            <a:ext cx="5059375" cy="1047242"/>
          </a:xfrm>
          <a:prstGeom prst="rect">
            <a:avLst/>
          </a:prstGeom>
          <a:noFill/>
          <a:ln/>
        </p:spPr>
        <p:txBody>
          <a:bodyPr wrap="square" lIns="0" tIns="0" rIns="0" bIns="0" rtlCol="0" anchor="t"/>
          <a:lstStyle/>
          <a:p>
            <a:pPr indent="0" marL="0">
              <a:buNone/>
            </a:pPr>
            <a:r>
              <a:rPr lang="en-US" sz="1300" dirty="0">
                <a:solidFill>
                  <a:srgbClr val="EFE7D6"/>
                </a:solidFill>
              </a:rPr>
              <a:t>Stimmung dort, wo inspiriert werden soll, Klarheit dort, wo schnell gekauft wird. Studien zeigen: Mehr Licht an Displays führt dazu, dass mehr Artikel angefasst werden. Duft wirkt auf die Wahrnehmung von Umfeld und Ware, wenn er zum Sortiment passt.</a:t>
            </a:r>
            <a:endParaRPr lang="en-US" sz="1300" dirty="0"/>
          </a:p>
        </p:txBody>
      </p:sp>
      <p:sp>
        <p:nvSpPr>
          <p:cNvPr id="10" name="tag-213"/>
          <p:cNvSpPr/>
          <p:nvPr/>
        </p:nvSpPr>
        <p:spPr>
          <a:xfrm>
            <a:off x="6629400" y="4215892"/>
            <a:ext cx="274320" cy="219456"/>
          </a:xfrm>
          <a:prstGeom prst="roundRect">
            <a:avLst>
              <a:gd name="adj" fmla="val 20833"/>
            </a:avLst>
          </a:prstGeom>
          <a:solidFill>
            <a:srgbClr val="4F7F5A"/>
          </a:solidFill>
          <a:ln w="12700">
            <a:solidFill>
              <a:srgbClr val="4F7F5A"/>
            </a:solidFill>
            <a:prstDash val="solid"/>
          </a:ln>
        </p:spPr>
      </p:sp>
      <p:sp>
        <p:nvSpPr>
          <p:cNvPr id="11" name="Text 8"/>
          <p:cNvSpPr txBox="1"/>
          <p:nvPr/>
        </p:nvSpPr>
        <p:spPr>
          <a:xfrm>
            <a:off x="6629400" y="4215892"/>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2" name="tagtext-214"/>
          <p:cNvSpPr txBox="1"/>
          <p:nvPr/>
        </p:nvSpPr>
        <p:spPr>
          <a:xfrm>
            <a:off x="6995160" y="4188460"/>
            <a:ext cx="4693615" cy="743712"/>
          </a:xfrm>
          <a:prstGeom prst="rect">
            <a:avLst/>
          </a:prstGeom>
          <a:noFill/>
          <a:ln/>
        </p:spPr>
        <p:txBody>
          <a:bodyPr wrap="square" lIns="0" tIns="0" rIns="0" bIns="0" rtlCol="0" anchor="t"/>
          <a:lstStyle/>
          <a:p>
            <a:pPr indent="0" marL="0">
              <a:buNone/>
            </a:pPr>
            <a:r>
              <a:rPr lang="en-US" sz="1100" dirty="0">
                <a:solidFill>
                  <a:srgbClr val="A9A296"/>
                </a:solidFill>
              </a:rPr>
              <a:t>Ahlert/Kenning/Brock 2020, S. 303–306 ✓; Summers/Hebert 2001, JBR 54(2), S. 145–150 ◐; Chebat/Michon 2003, JBR 56(7), S. 529–539 ◐; Spence et al. 2014, Psychology &amp; Marketing 31(7), S. 472–488 ◐; Baker et al. 2002, J. of Marketing 66(2), S. 120–141 ◐</a:t>
            </a:r>
            <a:endParaRPr lang="en-US" sz="1100" dirty="0"/>
          </a:p>
        </p:txBody>
      </p:sp>
      <p:sp>
        <p:nvSpPr>
          <p:cNvPr id="13" name="tag-215"/>
          <p:cNvSpPr/>
          <p:nvPr/>
        </p:nvSpPr>
        <p:spPr>
          <a:xfrm>
            <a:off x="6629400" y="5014468"/>
            <a:ext cx="274320" cy="219456"/>
          </a:xfrm>
          <a:prstGeom prst="roundRect">
            <a:avLst>
              <a:gd name="adj" fmla="val 20833"/>
            </a:avLst>
          </a:prstGeom>
          <a:solidFill>
            <a:srgbClr val="B08A34"/>
          </a:solidFill>
          <a:ln w="12700">
            <a:solidFill>
              <a:srgbClr val="B08A34"/>
            </a:solidFill>
            <a:prstDash val="solid"/>
          </a:ln>
        </p:spPr>
      </p:sp>
      <p:sp>
        <p:nvSpPr>
          <p:cNvPr id="14" name="Text 11"/>
          <p:cNvSpPr txBox="1"/>
          <p:nvPr/>
        </p:nvSpPr>
        <p:spPr>
          <a:xfrm>
            <a:off x="6629400" y="5014468"/>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15" name="tagtext-216"/>
          <p:cNvSpPr txBox="1"/>
          <p:nvPr/>
        </p:nvSpPr>
        <p:spPr>
          <a:xfrm>
            <a:off x="6995160" y="4987036"/>
            <a:ext cx="4693615" cy="408432"/>
          </a:xfrm>
          <a:prstGeom prst="rect">
            <a:avLst/>
          </a:prstGeom>
          <a:noFill/>
          <a:ln/>
        </p:spPr>
        <p:txBody>
          <a:bodyPr wrap="square" lIns="0" tIns="0" rIns="0" bIns="0" rtlCol="0" anchor="t"/>
          <a:lstStyle/>
          <a:p>
            <a:pPr indent="0" marL="0">
              <a:buNone/>
            </a:pPr>
            <a:r>
              <a:rPr lang="en-US" sz="1100" dirty="0">
                <a:solidFill>
                  <a:srgbClr val="A9A296"/>
                </a:solidFill>
              </a:rPr>
              <a:t>Die Wirkungen sind im eigenen Store nicht gemessen; die Lautstärke ist ein Zielwert.</a:t>
            </a:r>
            <a:endParaRPr lang="en-US" sz="1100" dirty="0"/>
          </a:p>
        </p:txBody>
      </p:sp>
      <p:sp>
        <p:nvSpPr>
          <p:cNvPr id="16" name="Text 13"/>
          <p:cNvSpPr txBox="1"/>
          <p:nvPr/>
        </p:nvSpPr>
        <p:spPr>
          <a:xfrm>
            <a:off x="6629400" y="5989320"/>
            <a:ext cx="5059375" cy="411480"/>
          </a:xfrm>
          <a:prstGeom prst="rect">
            <a:avLst/>
          </a:prstGeom>
          <a:noFill/>
          <a:ln/>
        </p:spPr>
        <p:txBody>
          <a:bodyPr wrap="square" lIns="0" tIns="0" rIns="0" bIns="0" rtlCol="0" anchor="t"/>
          <a:lstStyle/>
          <a:p>
            <a:pPr indent="0" marL="0">
              <a:buNone/>
            </a:pPr>
            <a:r>
              <a:rPr lang="en-US" sz="1000" i="1" dirty="0">
                <a:solidFill>
                  <a:srgbClr val="A9A296"/>
                </a:solidFill>
              </a:rPr>
              <a:t>Neu ausgearbeitet.</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217"/>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7 · ATMOSPHÄRE</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Stimmung an Gondeln und Küche, Klarheit in der Basis</a:t>
            </a:r>
            <a:endParaRPr lang="en-US" sz="2800" dirty="0"/>
          </a:p>
        </p:txBody>
      </p:sp>
      <p:graphicFrame>
        <p:nvGraphicFramePr>
          <p:cNvPr id="31" name="tabelle-218"/>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3132039"/>
                <a:gridCol w="4921776"/>
                <a:gridCol w="3132039"/>
              </a:tblGrid>
              <a:tr h="0">
                <a:tc>
                  <a:txBody>
                    <a:bodyPr/>
                    <a:lstStyle/>
                    <a:p>
                      <a:pPr indent="0" marL="0">
                        <a:buNone/>
                      </a:pPr>
                      <a:r>
                        <a:rPr lang="en-US" sz="1100" b="1" dirty="0">
                          <a:solidFill>
                            <a:srgbClr val="B39B6B"/>
                          </a:solidFill>
                        </a:rPr>
                        <a:t>Merkmal</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Funktion</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Aussagegrenze</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400" b="1" dirty="0">
                          <a:solidFill>
                            <a:srgbClr val="EFE7D6"/>
                          </a:solidFill>
                        </a:rPr>
                        <a:t>Licht warm / neutral</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Verweilen an Gondeln und Küche, Finden in der Basis</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Verweildauer nicht belegt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Kochgeruch, dosiert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Live-Cooking erlebbar, Glaswand hält Geruch fern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Wirkung auf Kauf nicht belegt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Holz &amp; Edelstahl</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wohnlich und hygienisch</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Wahrnehmung nicht belegt</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400" b="1" dirty="0">
                          <a:solidFill>
                            <a:srgbClr val="EFE7D6"/>
                          </a:solidFill>
                        </a:rPr>
                        <a:t>Musik leise</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ruhiger Einkauf neben dem Live-Cooking</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400" dirty="0">
                          <a:solidFill>
                            <a:srgbClr val="EFE7D6"/>
                          </a:solidFill>
                        </a:rPr>
                        <a:t>Zielwert, nicht gemessen</a:t>
                      </a:r>
                      <a:endParaRPr lang="en-US" sz="14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bl>
          </a:graphicData>
        </a:graphic>
      </p:graphicFrame>
      <p:sp>
        <p:nvSpPr>
          <p:cNvPr id="5" name="fuss-219"/>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Ahlert/Kenning/Brock 2020, S. 303–306 ✓; Summers/Hebert 2001 ◐; Chebat/Michon 2003 ◐; Baker et al. 2002 ◐</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220"/>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8 · ZIELKONFLIKTE</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Sechs Zielkonflikte und unsere Antworten</a:t>
            </a:r>
            <a:endParaRPr lang="en-US" sz="2800" dirty="0"/>
          </a:p>
        </p:txBody>
      </p:sp>
      <p:sp>
        <p:nvSpPr>
          <p:cNvPr id="4" name="karte-221"/>
          <p:cNvSpPr/>
          <p:nvPr/>
        </p:nvSpPr>
        <p:spPr>
          <a:xfrm>
            <a:off x="502920" y="1463040"/>
            <a:ext cx="3576218" cy="1304544"/>
          </a:xfrm>
          <a:prstGeom prst="roundRect">
            <a:avLst>
              <a:gd name="adj" fmla="val 5607"/>
            </a:avLst>
          </a:prstGeom>
          <a:solidFill>
            <a:srgbClr val="2D2F31"/>
          </a:solidFill>
          <a:ln w="9525">
            <a:solidFill>
              <a:srgbClr val="3A3C3E"/>
            </a:solidFill>
            <a:prstDash val="solid"/>
          </a:ln>
        </p:spPr>
      </p:sp>
      <p:sp>
        <p:nvSpPr>
          <p:cNvPr id="5" name="Shape 3"/>
          <p:cNvSpPr/>
          <p:nvPr/>
        </p:nvSpPr>
        <p:spPr>
          <a:xfrm>
            <a:off x="685800" y="1627632"/>
            <a:ext cx="329184" cy="329184"/>
          </a:xfrm>
          <a:prstGeom prst="ellipse">
            <a:avLst/>
          </a:prstGeom>
          <a:solidFill>
            <a:srgbClr val="D64527"/>
          </a:solidFill>
          <a:ln w="12700">
            <a:solidFill>
              <a:srgbClr val="D64527"/>
            </a:solidFill>
            <a:prstDash val="solid"/>
          </a:ln>
        </p:spPr>
      </p:sp>
      <p:sp>
        <p:nvSpPr>
          <p:cNvPr id="6" name="Text 4"/>
          <p:cNvSpPr txBox="1"/>
          <p:nvPr/>
        </p:nvSpPr>
        <p:spPr>
          <a:xfrm>
            <a:off x="685800"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7" name="Text 5"/>
          <p:cNvSpPr txBox="1"/>
          <p:nvPr/>
        </p:nvSpPr>
        <p:spPr>
          <a:xfrm>
            <a:off x="1124712" y="1627632"/>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Showküche braucht Fläche</a:t>
            </a:r>
            <a:endParaRPr lang="en-US" sz="1500" dirty="0"/>
          </a:p>
        </p:txBody>
      </p:sp>
      <p:sp>
        <p:nvSpPr>
          <p:cNvPr id="8" name="Text 6"/>
          <p:cNvSpPr txBox="1"/>
          <p:nvPr/>
        </p:nvSpPr>
        <p:spPr>
          <a:xfrm>
            <a:off x="685800" y="2011680"/>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18 m²; trägt sich ab ca. +4 € Ø-Bon</a:t>
            </a:r>
            <a:endParaRPr lang="en-US" sz="1400" dirty="0"/>
          </a:p>
        </p:txBody>
      </p:sp>
      <p:sp>
        <p:nvSpPr>
          <p:cNvPr id="9" name="karte-222"/>
          <p:cNvSpPr/>
          <p:nvPr/>
        </p:nvSpPr>
        <p:spPr>
          <a:xfrm>
            <a:off x="4307738" y="1463040"/>
            <a:ext cx="3576218" cy="1304544"/>
          </a:xfrm>
          <a:prstGeom prst="roundRect">
            <a:avLst>
              <a:gd name="adj" fmla="val 5607"/>
            </a:avLst>
          </a:prstGeom>
          <a:solidFill>
            <a:srgbClr val="2D2F31"/>
          </a:solidFill>
          <a:ln w="9525">
            <a:solidFill>
              <a:srgbClr val="3A3C3E"/>
            </a:solidFill>
            <a:prstDash val="solid"/>
          </a:ln>
        </p:spPr>
      </p:sp>
      <p:sp>
        <p:nvSpPr>
          <p:cNvPr id="10" name="Shape 8"/>
          <p:cNvSpPr/>
          <p:nvPr/>
        </p:nvSpPr>
        <p:spPr>
          <a:xfrm>
            <a:off x="4490618" y="1627632"/>
            <a:ext cx="329184" cy="329184"/>
          </a:xfrm>
          <a:prstGeom prst="ellipse">
            <a:avLst/>
          </a:prstGeom>
          <a:solidFill>
            <a:srgbClr val="D64527"/>
          </a:solidFill>
          <a:ln w="12700">
            <a:solidFill>
              <a:srgbClr val="D64527"/>
            </a:solidFill>
            <a:prstDash val="solid"/>
          </a:ln>
        </p:spPr>
      </p:sp>
      <p:sp>
        <p:nvSpPr>
          <p:cNvPr id="11" name="Text 9"/>
          <p:cNvSpPr txBox="1"/>
          <p:nvPr/>
        </p:nvSpPr>
        <p:spPr>
          <a:xfrm>
            <a:off x="4490618"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2" name="Text 10"/>
          <p:cNvSpPr txBox="1"/>
          <p:nvPr/>
        </p:nvSpPr>
        <p:spPr>
          <a:xfrm>
            <a:off x="4929530" y="1627632"/>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Leerlauf am Vormittag</a:t>
            </a:r>
            <a:endParaRPr lang="en-US" sz="1500" dirty="0"/>
          </a:p>
        </p:txBody>
      </p:sp>
      <p:sp>
        <p:nvSpPr>
          <p:cNvPr id="13" name="Text 11"/>
          <p:cNvSpPr txBox="1"/>
          <p:nvPr/>
        </p:nvSpPr>
        <p:spPr>
          <a:xfrm>
            <a:off x="4490618" y="2011680"/>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Live-Cooking zu festen Zeiten, vormittags Vorbereitung</a:t>
            </a:r>
            <a:endParaRPr lang="en-US" sz="1400" dirty="0"/>
          </a:p>
        </p:txBody>
      </p:sp>
      <p:sp>
        <p:nvSpPr>
          <p:cNvPr id="14" name="karte-223"/>
          <p:cNvSpPr/>
          <p:nvPr/>
        </p:nvSpPr>
        <p:spPr>
          <a:xfrm>
            <a:off x="8112557" y="1463040"/>
            <a:ext cx="3576218" cy="1304544"/>
          </a:xfrm>
          <a:prstGeom prst="roundRect">
            <a:avLst>
              <a:gd name="adj" fmla="val 5607"/>
            </a:avLst>
          </a:prstGeom>
          <a:solidFill>
            <a:srgbClr val="2D2F31"/>
          </a:solidFill>
          <a:ln w="9525">
            <a:solidFill>
              <a:srgbClr val="3A3C3E"/>
            </a:solidFill>
            <a:prstDash val="solid"/>
          </a:ln>
        </p:spPr>
      </p:sp>
      <p:sp>
        <p:nvSpPr>
          <p:cNvPr id="15" name="Shape 13"/>
          <p:cNvSpPr/>
          <p:nvPr/>
        </p:nvSpPr>
        <p:spPr>
          <a:xfrm>
            <a:off x="8295437" y="1627632"/>
            <a:ext cx="329184" cy="329184"/>
          </a:xfrm>
          <a:prstGeom prst="ellipse">
            <a:avLst/>
          </a:prstGeom>
          <a:solidFill>
            <a:srgbClr val="D64527"/>
          </a:solidFill>
          <a:ln w="12700">
            <a:solidFill>
              <a:srgbClr val="D64527"/>
            </a:solidFill>
            <a:prstDash val="solid"/>
          </a:ln>
        </p:spPr>
      </p:sp>
      <p:sp>
        <p:nvSpPr>
          <p:cNvPr id="16" name="Text 14"/>
          <p:cNvSpPr txBox="1"/>
          <p:nvPr/>
        </p:nvSpPr>
        <p:spPr>
          <a:xfrm>
            <a:off x="8295437" y="16276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17" name="Text 15"/>
          <p:cNvSpPr txBox="1"/>
          <p:nvPr/>
        </p:nvSpPr>
        <p:spPr>
          <a:xfrm>
            <a:off x="8734349" y="1627632"/>
            <a:ext cx="2771546" cy="530352"/>
          </a:xfrm>
          <a:prstGeom prst="rect">
            <a:avLst/>
          </a:prstGeom>
          <a:noFill/>
          <a:ln/>
        </p:spPr>
        <p:txBody>
          <a:bodyPr wrap="square" lIns="0" tIns="0" rIns="0" bIns="0" rtlCol="0" anchor="ctr"/>
          <a:lstStyle/>
          <a:p>
            <a:pPr indent="0" marL="0">
              <a:buNone/>
            </a:pPr>
            <a:r>
              <a:rPr lang="en-US" sz="1500" b="1" dirty="0">
                <a:solidFill>
                  <a:srgbClr val="EFE7D6"/>
                </a:solidFill>
              </a:rPr>
              <a:t>Erlebnis vs. schneller Einkauf</a:t>
            </a:r>
            <a:endParaRPr lang="en-US" sz="1500" dirty="0"/>
          </a:p>
        </p:txBody>
      </p:sp>
      <p:sp>
        <p:nvSpPr>
          <p:cNvPr id="18" name="Text 16"/>
          <p:cNvSpPr txBox="1"/>
          <p:nvPr/>
        </p:nvSpPr>
        <p:spPr>
          <a:xfrm>
            <a:off x="8295437" y="2212848"/>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Zwei Wege, Küche ist kein Pflichtweg</a:t>
            </a:r>
            <a:endParaRPr lang="en-US" sz="1400" dirty="0"/>
          </a:p>
        </p:txBody>
      </p:sp>
      <p:sp>
        <p:nvSpPr>
          <p:cNvPr id="19" name="karte-224"/>
          <p:cNvSpPr/>
          <p:nvPr/>
        </p:nvSpPr>
        <p:spPr>
          <a:xfrm>
            <a:off x="502920" y="2996184"/>
            <a:ext cx="3576218" cy="1304544"/>
          </a:xfrm>
          <a:prstGeom prst="roundRect">
            <a:avLst>
              <a:gd name="adj" fmla="val 5607"/>
            </a:avLst>
          </a:prstGeom>
          <a:solidFill>
            <a:srgbClr val="2D2F31"/>
          </a:solidFill>
          <a:ln w="9525">
            <a:solidFill>
              <a:srgbClr val="3A3C3E"/>
            </a:solidFill>
            <a:prstDash val="solid"/>
          </a:ln>
        </p:spPr>
      </p:sp>
      <p:sp>
        <p:nvSpPr>
          <p:cNvPr id="20" name="Shape 18"/>
          <p:cNvSpPr/>
          <p:nvPr/>
        </p:nvSpPr>
        <p:spPr>
          <a:xfrm>
            <a:off x="685800" y="3160776"/>
            <a:ext cx="329184" cy="329184"/>
          </a:xfrm>
          <a:prstGeom prst="ellipse">
            <a:avLst/>
          </a:prstGeom>
          <a:solidFill>
            <a:srgbClr val="D64527"/>
          </a:solidFill>
          <a:ln w="12700">
            <a:solidFill>
              <a:srgbClr val="D64527"/>
            </a:solidFill>
            <a:prstDash val="solid"/>
          </a:ln>
        </p:spPr>
      </p:sp>
      <p:sp>
        <p:nvSpPr>
          <p:cNvPr id="21" name="Text 19"/>
          <p:cNvSpPr txBox="1"/>
          <p:nvPr/>
        </p:nvSpPr>
        <p:spPr>
          <a:xfrm>
            <a:off x="685800" y="31607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2" name="Text 20"/>
          <p:cNvSpPr txBox="1"/>
          <p:nvPr/>
        </p:nvSpPr>
        <p:spPr>
          <a:xfrm>
            <a:off x="1124712" y="3160776"/>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Wechselnde Rezepte</a:t>
            </a:r>
            <a:endParaRPr lang="en-US" sz="1500" dirty="0"/>
          </a:p>
        </p:txBody>
      </p:sp>
      <p:sp>
        <p:nvSpPr>
          <p:cNvPr id="23" name="Text 21"/>
          <p:cNvSpPr txBox="1"/>
          <p:nvPr/>
        </p:nvSpPr>
        <p:spPr>
          <a:xfrm>
            <a:off x="685800" y="3544824"/>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Kochwelten bleiben, nur Rezepte und Karten wechseln</a:t>
            </a:r>
            <a:endParaRPr lang="en-US" sz="1400" dirty="0"/>
          </a:p>
        </p:txBody>
      </p:sp>
      <p:sp>
        <p:nvSpPr>
          <p:cNvPr id="24" name="karte-225"/>
          <p:cNvSpPr/>
          <p:nvPr/>
        </p:nvSpPr>
        <p:spPr>
          <a:xfrm>
            <a:off x="4307738" y="2996184"/>
            <a:ext cx="3576218" cy="1304544"/>
          </a:xfrm>
          <a:prstGeom prst="roundRect">
            <a:avLst>
              <a:gd name="adj" fmla="val 5607"/>
            </a:avLst>
          </a:prstGeom>
          <a:solidFill>
            <a:srgbClr val="2D2F31"/>
          </a:solidFill>
          <a:ln w="9525">
            <a:solidFill>
              <a:srgbClr val="3A3C3E"/>
            </a:solidFill>
            <a:prstDash val="solid"/>
          </a:ln>
        </p:spPr>
      </p:sp>
      <p:sp>
        <p:nvSpPr>
          <p:cNvPr id="25" name="Shape 23"/>
          <p:cNvSpPr/>
          <p:nvPr/>
        </p:nvSpPr>
        <p:spPr>
          <a:xfrm>
            <a:off x="4490618" y="3160776"/>
            <a:ext cx="329184" cy="329184"/>
          </a:xfrm>
          <a:prstGeom prst="ellipse">
            <a:avLst/>
          </a:prstGeom>
          <a:solidFill>
            <a:srgbClr val="D64527"/>
          </a:solidFill>
          <a:ln w="12700">
            <a:solidFill>
              <a:srgbClr val="D64527"/>
            </a:solidFill>
            <a:prstDash val="solid"/>
          </a:ln>
        </p:spPr>
      </p:sp>
      <p:sp>
        <p:nvSpPr>
          <p:cNvPr id="26" name="Text 24"/>
          <p:cNvSpPr txBox="1"/>
          <p:nvPr/>
        </p:nvSpPr>
        <p:spPr>
          <a:xfrm>
            <a:off x="4490618" y="31607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27" name="Text 25"/>
          <p:cNvSpPr txBox="1"/>
          <p:nvPr/>
        </p:nvSpPr>
        <p:spPr>
          <a:xfrm>
            <a:off x="4929530" y="3160776"/>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Zuschauer vs. Warenfluss</a:t>
            </a:r>
            <a:endParaRPr lang="en-US" sz="1500" dirty="0"/>
          </a:p>
        </p:txBody>
      </p:sp>
      <p:sp>
        <p:nvSpPr>
          <p:cNvPr id="28" name="Text 26"/>
          <p:cNvSpPr txBox="1"/>
          <p:nvPr/>
        </p:nvSpPr>
        <p:spPr>
          <a:xfrm>
            <a:off x="4490618" y="3544824"/>
            <a:ext cx="3210458" cy="37795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Zuschauer vorn, nicht im Gang</a:t>
            </a:r>
            <a:endParaRPr lang="en-US" sz="1400" dirty="0"/>
          </a:p>
        </p:txBody>
      </p:sp>
      <p:sp>
        <p:nvSpPr>
          <p:cNvPr id="29" name="karte-226"/>
          <p:cNvSpPr/>
          <p:nvPr/>
        </p:nvSpPr>
        <p:spPr>
          <a:xfrm>
            <a:off x="8112557" y="2996184"/>
            <a:ext cx="3576218" cy="1304544"/>
          </a:xfrm>
          <a:prstGeom prst="roundRect">
            <a:avLst>
              <a:gd name="adj" fmla="val 5607"/>
            </a:avLst>
          </a:prstGeom>
          <a:solidFill>
            <a:srgbClr val="2D2F31"/>
          </a:solidFill>
          <a:ln w="9525">
            <a:solidFill>
              <a:srgbClr val="3A3C3E"/>
            </a:solidFill>
            <a:prstDash val="solid"/>
          </a:ln>
        </p:spPr>
      </p:sp>
      <p:sp>
        <p:nvSpPr>
          <p:cNvPr id="30" name="Shape 28"/>
          <p:cNvSpPr/>
          <p:nvPr/>
        </p:nvSpPr>
        <p:spPr>
          <a:xfrm>
            <a:off x="8295437" y="3160776"/>
            <a:ext cx="329184" cy="329184"/>
          </a:xfrm>
          <a:prstGeom prst="ellipse">
            <a:avLst/>
          </a:prstGeom>
          <a:solidFill>
            <a:srgbClr val="D64527"/>
          </a:solidFill>
          <a:ln w="12700">
            <a:solidFill>
              <a:srgbClr val="D64527"/>
            </a:solidFill>
            <a:prstDash val="solid"/>
          </a:ln>
        </p:spPr>
      </p:sp>
      <p:sp>
        <p:nvSpPr>
          <p:cNvPr id="31" name="Text 29"/>
          <p:cNvSpPr txBox="1"/>
          <p:nvPr/>
        </p:nvSpPr>
        <p:spPr>
          <a:xfrm>
            <a:off x="8295437" y="31607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a:t>
            </a:r>
            <a:endParaRPr lang="en-US" sz="1200" dirty="0"/>
          </a:p>
        </p:txBody>
      </p:sp>
      <p:sp>
        <p:nvSpPr>
          <p:cNvPr id="32" name="Text 30"/>
          <p:cNvSpPr txBox="1"/>
          <p:nvPr/>
        </p:nvSpPr>
        <p:spPr>
          <a:xfrm>
            <a:off x="8734349" y="3160776"/>
            <a:ext cx="2771546" cy="329184"/>
          </a:xfrm>
          <a:prstGeom prst="rect">
            <a:avLst/>
          </a:prstGeom>
          <a:noFill/>
          <a:ln/>
        </p:spPr>
        <p:txBody>
          <a:bodyPr wrap="square" lIns="0" tIns="0" rIns="0" bIns="0" rtlCol="0" anchor="ctr"/>
          <a:lstStyle/>
          <a:p>
            <a:pPr indent="0" marL="0">
              <a:buNone/>
            </a:pPr>
            <a:r>
              <a:rPr lang="en-US" sz="1500" b="1" dirty="0">
                <a:solidFill>
                  <a:srgbClr val="EFE7D6"/>
                </a:solidFill>
              </a:rPr>
              <a:t>Hygiene &amp; Geruch</a:t>
            </a:r>
            <a:endParaRPr lang="en-US" sz="1500" dirty="0"/>
          </a:p>
        </p:txBody>
      </p:sp>
      <p:sp>
        <p:nvSpPr>
          <p:cNvPr id="33" name="Text 31"/>
          <p:cNvSpPr txBox="1"/>
          <p:nvPr/>
        </p:nvSpPr>
        <p:spPr>
          <a:xfrm>
            <a:off x="8295437" y="3544824"/>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Eigene Küchenzone, Dunstabzugshaube, Glaswand</a:t>
            </a:r>
            <a:endParaRPr lang="en-US" sz="1400" dirty="0"/>
          </a:p>
        </p:txBody>
      </p:sp>
      <p:pic>
        <p:nvPicPr>
          <p:cNvPr id="34" name="modellbild-227" descr="/tmp/claude-0/-home-claude/bc97363c-87c0-54f2-9d3b-d4b9a8318a8f/scratchpad/ppt/shots/s30.png">    </p:cNvPr>
          <p:cNvPicPr>
            <a:picLocks noChangeAspect="1"/>
          </p:cNvPicPr>
          <p:nvPr/>
        </p:nvPicPr>
        <p:blipFill>
          <a:blip r:embed="rId1"/>
          <a:srcRect l="0" r="0" t="0" b="0"/>
          <a:stretch/>
        </p:blipFill>
        <p:spPr>
          <a:xfrm>
            <a:off x="502920" y="4575048"/>
            <a:ext cx="11185855" cy="1368552"/>
          </a:xfrm>
          <a:prstGeom prst="rect">
            <a:avLst/>
          </a:prstGeom>
        </p:spPr>
      </p:pic>
      <p:sp>
        <p:nvSpPr>
          <p:cNvPr id="35" name="fuss-228"/>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Alle Lösungen sind eigene Entscheidungen (A).</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229"/>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9 · BEGRÜNDUNG</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Die Begründungskette: vom Kundenproblem zur Gestaltung</a:t>
            </a:r>
            <a:endParaRPr lang="en-US" sz="2800" dirty="0"/>
          </a:p>
        </p:txBody>
      </p:sp>
      <p:sp>
        <p:nvSpPr>
          <p:cNvPr id="4" name="glied-230"/>
          <p:cNvSpPr/>
          <p:nvPr/>
        </p:nvSpPr>
        <p:spPr>
          <a:xfrm>
            <a:off x="502920" y="1463040"/>
            <a:ext cx="1635709" cy="2103120"/>
          </a:xfrm>
          <a:prstGeom prst="roundRect">
            <a:avLst>
              <a:gd name="adj" fmla="val 4472"/>
            </a:avLst>
          </a:prstGeom>
          <a:solidFill>
            <a:srgbClr val="2D2F31"/>
          </a:solidFill>
          <a:ln w="12700">
            <a:solidFill>
              <a:srgbClr val="3A3C3E"/>
            </a:solidFill>
            <a:prstDash val="solid"/>
          </a:ln>
        </p:spPr>
      </p:sp>
      <p:sp>
        <p:nvSpPr>
          <p:cNvPr id="5" name="Text 3"/>
          <p:cNvSpPr txBox="1"/>
          <p:nvPr/>
        </p:nvSpPr>
        <p:spPr>
          <a:xfrm>
            <a:off x="630936" y="1572768"/>
            <a:ext cx="1379677" cy="1417320"/>
          </a:xfrm>
          <a:prstGeom prst="rect">
            <a:avLst/>
          </a:prstGeom>
          <a:noFill/>
          <a:ln/>
        </p:spPr>
        <p:txBody>
          <a:bodyPr wrap="square" lIns="0" tIns="0" rIns="0" bIns="0" rtlCol="0" anchor="t"/>
          <a:lstStyle/>
          <a:p>
            <a:pPr indent="0" marL="0">
              <a:buNone/>
            </a:pPr>
            <a:r>
              <a:rPr lang="en-US" sz="2200" b="1" dirty="0">
                <a:solidFill>
                  <a:srgbClr val="D64527"/>
                </a:solidFill>
                <a:latin typeface="Cambria" pitchFamily="34" charset="0"/>
                <a:ea typeface="Cambria" pitchFamily="34" charset="-122"/>
                <a:cs typeface="Cambria" pitchFamily="34" charset="-120"/>
              </a:rPr>
              <a:t>1</a:t>
            </a:r>
            <a:endParaRPr lang="en-US" sz="2200" dirty="0"/>
          </a:p>
          <a:p>
            <a:pPr indent="0" marL="0">
              <a:buNone/>
            </a:pPr>
            <a:r>
              <a:rPr lang="en-US" sz="1500" b="1" dirty="0">
                <a:solidFill>
                  <a:srgbClr val="EFE7D6"/>
                </a:solidFill>
              </a:rPr>
              <a:t>Kundenproblem</a:t>
            </a:r>
            <a:endParaRPr lang="en-US" sz="2200" dirty="0"/>
          </a:p>
          <a:p>
            <a:pPr indent="0" marL="0">
              <a:buNone/>
            </a:pPr>
            <a:r>
              <a:rPr lang="en-US" sz="1300" dirty="0">
                <a:solidFill>
                  <a:srgbClr val="EFE7D6"/>
                </a:solidFill>
              </a:rPr>
              <a:t>„Was koche ich heute Abend?“</a:t>
            </a:r>
            <a:endParaRPr lang="en-US" sz="2200" dirty="0"/>
          </a:p>
        </p:txBody>
      </p:sp>
      <p:sp>
        <p:nvSpPr>
          <p:cNvPr id="6" name="tag-231"/>
          <p:cNvSpPr/>
          <p:nvPr/>
        </p:nvSpPr>
        <p:spPr>
          <a:xfrm>
            <a:off x="630936" y="2971800"/>
            <a:ext cx="274320" cy="219456"/>
          </a:xfrm>
          <a:prstGeom prst="roundRect">
            <a:avLst>
              <a:gd name="adj" fmla="val 20833"/>
            </a:avLst>
          </a:prstGeom>
          <a:solidFill>
            <a:srgbClr val="B08A34"/>
          </a:solidFill>
          <a:ln w="12700">
            <a:solidFill>
              <a:srgbClr val="B08A34"/>
            </a:solidFill>
            <a:prstDash val="solid"/>
          </a:ln>
        </p:spPr>
      </p:sp>
      <p:sp>
        <p:nvSpPr>
          <p:cNvPr id="7" name="Text 5"/>
          <p:cNvSpPr txBox="1"/>
          <p:nvPr/>
        </p:nvSpPr>
        <p:spPr>
          <a:xfrm>
            <a:off x="630936" y="297180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8" name="tagtext-232"/>
          <p:cNvSpPr txBox="1"/>
          <p:nvPr/>
        </p:nvSpPr>
        <p:spPr>
          <a:xfrm>
            <a:off x="996696" y="2944368"/>
            <a:ext cx="1087069" cy="210312"/>
          </a:xfrm>
          <a:prstGeom prst="rect">
            <a:avLst/>
          </a:prstGeom>
          <a:noFill/>
          <a:ln/>
        </p:spPr>
        <p:txBody>
          <a:bodyPr wrap="square" lIns="0" tIns="0" rIns="0" bIns="0" rtlCol="0" anchor="t"/>
          <a:lstStyle/>
          <a:p>
            <a:pPr indent="0" marL="0">
              <a:buNone/>
            </a:pPr>
            <a:r>
              <a:rPr lang="en-US" sz="900" dirty="0">
                <a:solidFill>
                  <a:srgbClr val="A9A296"/>
                </a:solidFill>
              </a:rPr>
              <a:t>Zielgruppenannahme</a:t>
            </a:r>
            <a:endParaRPr lang="en-US" sz="900" dirty="0"/>
          </a:p>
        </p:txBody>
      </p:sp>
      <p:sp>
        <p:nvSpPr>
          <p:cNvPr id="9" name="Text 7"/>
          <p:cNvSpPr txBox="1"/>
          <p:nvPr/>
        </p:nvSpPr>
        <p:spPr>
          <a:xfrm>
            <a:off x="2138629" y="2194560"/>
            <a:ext cx="274320" cy="457200"/>
          </a:xfrm>
          <a:prstGeom prst="rect">
            <a:avLst/>
          </a:prstGeom>
          <a:noFill/>
          <a:ln/>
        </p:spPr>
        <p:txBody>
          <a:bodyPr wrap="square" lIns="0" tIns="0" rIns="0" bIns="0" rtlCol="0" anchor="ctr"/>
          <a:lstStyle/>
          <a:p>
            <a:pPr algn="ctr" indent="0" marL="0">
              <a:buNone/>
            </a:pPr>
            <a:r>
              <a:rPr lang="en-US" sz="2400" dirty="0">
                <a:solidFill>
                  <a:srgbClr val="B39B6B"/>
                </a:solidFill>
              </a:rPr>
              <a:t>›</a:t>
            </a:r>
            <a:endParaRPr lang="en-US" sz="2400" dirty="0"/>
          </a:p>
        </p:txBody>
      </p:sp>
      <p:sp>
        <p:nvSpPr>
          <p:cNvPr id="10" name="glied-233"/>
          <p:cNvSpPr/>
          <p:nvPr/>
        </p:nvSpPr>
        <p:spPr>
          <a:xfrm>
            <a:off x="2412949" y="1463040"/>
            <a:ext cx="1635709" cy="2103120"/>
          </a:xfrm>
          <a:prstGeom prst="roundRect">
            <a:avLst>
              <a:gd name="adj" fmla="val 4472"/>
            </a:avLst>
          </a:prstGeom>
          <a:solidFill>
            <a:srgbClr val="2D2F31"/>
          </a:solidFill>
          <a:ln w="12700">
            <a:solidFill>
              <a:srgbClr val="3A3C3E"/>
            </a:solidFill>
            <a:prstDash val="solid"/>
          </a:ln>
        </p:spPr>
      </p:sp>
      <p:sp>
        <p:nvSpPr>
          <p:cNvPr id="11" name="Text 9"/>
          <p:cNvSpPr txBox="1"/>
          <p:nvPr/>
        </p:nvSpPr>
        <p:spPr>
          <a:xfrm>
            <a:off x="2540965" y="1572768"/>
            <a:ext cx="1379677" cy="1417320"/>
          </a:xfrm>
          <a:prstGeom prst="rect">
            <a:avLst/>
          </a:prstGeom>
          <a:noFill/>
          <a:ln/>
        </p:spPr>
        <p:txBody>
          <a:bodyPr wrap="square" lIns="0" tIns="0" rIns="0" bIns="0" rtlCol="0" anchor="t"/>
          <a:lstStyle/>
          <a:p>
            <a:pPr indent="0" marL="0">
              <a:buNone/>
            </a:pPr>
            <a:r>
              <a:rPr lang="en-US" sz="2200" b="1" dirty="0">
                <a:solidFill>
                  <a:srgbClr val="D64527"/>
                </a:solidFill>
                <a:latin typeface="Cambria" pitchFamily="34" charset="0"/>
                <a:ea typeface="Cambria" pitchFamily="34" charset="-122"/>
                <a:cs typeface="Cambria" pitchFamily="34" charset="-120"/>
              </a:rPr>
              <a:t>2</a:t>
            </a:r>
            <a:endParaRPr lang="en-US" sz="2200" dirty="0"/>
          </a:p>
          <a:p>
            <a:pPr indent="0" marL="0">
              <a:buNone/>
            </a:pPr>
            <a:r>
              <a:rPr lang="en-US" sz="1500" b="1" dirty="0">
                <a:solidFill>
                  <a:srgbClr val="EFE7D6"/>
                </a:solidFill>
              </a:rPr>
              <a:t>Dashboard</a:t>
            </a:r>
            <a:endParaRPr lang="en-US" sz="2200" dirty="0"/>
          </a:p>
          <a:p>
            <a:pPr indent="0" marL="0">
              <a:buNone/>
            </a:pPr>
            <a:r>
              <a:rPr lang="en-US" sz="1300" dirty="0">
                <a:solidFill>
                  <a:srgbClr val="EFE7D6"/>
                </a:solidFill>
              </a:rPr>
              <a:t>Küche × Anlass = ein Rezept</a:t>
            </a:r>
            <a:endParaRPr lang="en-US" sz="2200" dirty="0"/>
          </a:p>
        </p:txBody>
      </p:sp>
      <p:sp>
        <p:nvSpPr>
          <p:cNvPr id="12" name="tag-234"/>
          <p:cNvSpPr/>
          <p:nvPr/>
        </p:nvSpPr>
        <p:spPr>
          <a:xfrm>
            <a:off x="2540965" y="2971800"/>
            <a:ext cx="274320" cy="219456"/>
          </a:xfrm>
          <a:prstGeom prst="roundRect">
            <a:avLst>
              <a:gd name="adj" fmla="val 20833"/>
            </a:avLst>
          </a:prstGeom>
          <a:solidFill>
            <a:srgbClr val="4F7F5A"/>
          </a:solidFill>
          <a:ln w="12700">
            <a:solidFill>
              <a:srgbClr val="4F7F5A"/>
            </a:solidFill>
            <a:prstDash val="solid"/>
          </a:ln>
        </p:spPr>
      </p:sp>
      <p:sp>
        <p:nvSpPr>
          <p:cNvPr id="13" name="Text 11"/>
          <p:cNvSpPr txBox="1"/>
          <p:nvPr/>
        </p:nvSpPr>
        <p:spPr>
          <a:xfrm>
            <a:off x="2540965" y="297180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4" name="tagtext-235"/>
          <p:cNvSpPr txBox="1"/>
          <p:nvPr/>
        </p:nvSpPr>
        <p:spPr>
          <a:xfrm>
            <a:off x="2906725" y="2944368"/>
            <a:ext cx="1087069" cy="210312"/>
          </a:xfrm>
          <a:prstGeom prst="rect">
            <a:avLst/>
          </a:prstGeom>
          <a:noFill/>
          <a:ln/>
        </p:spPr>
        <p:txBody>
          <a:bodyPr wrap="square" lIns="0" tIns="0" rIns="0" bIns="0" rtlCol="0" anchor="t"/>
          <a:lstStyle/>
          <a:p>
            <a:pPr indent="0" marL="0">
              <a:buNone/>
            </a:pPr>
            <a:r>
              <a:rPr lang="en-US" sz="900" dirty="0">
                <a:solidFill>
                  <a:srgbClr val="A9A296"/>
                </a:solidFill>
              </a:rPr>
              <a:t>S. 303; Hui 2009</a:t>
            </a:r>
            <a:endParaRPr lang="en-US" sz="900" dirty="0"/>
          </a:p>
        </p:txBody>
      </p:sp>
      <p:sp>
        <p:nvSpPr>
          <p:cNvPr id="15" name="Text 13"/>
          <p:cNvSpPr txBox="1"/>
          <p:nvPr/>
        </p:nvSpPr>
        <p:spPr>
          <a:xfrm>
            <a:off x="4048658" y="2194560"/>
            <a:ext cx="274320" cy="457200"/>
          </a:xfrm>
          <a:prstGeom prst="rect">
            <a:avLst/>
          </a:prstGeom>
          <a:noFill/>
          <a:ln/>
        </p:spPr>
        <p:txBody>
          <a:bodyPr wrap="square" lIns="0" tIns="0" rIns="0" bIns="0" rtlCol="0" anchor="ctr"/>
          <a:lstStyle/>
          <a:p>
            <a:pPr algn="ctr" indent="0" marL="0">
              <a:buNone/>
            </a:pPr>
            <a:r>
              <a:rPr lang="en-US" sz="2400" dirty="0">
                <a:solidFill>
                  <a:srgbClr val="B39B6B"/>
                </a:solidFill>
              </a:rPr>
              <a:t>›</a:t>
            </a:r>
            <a:endParaRPr lang="en-US" sz="2400" dirty="0"/>
          </a:p>
        </p:txBody>
      </p:sp>
      <p:sp>
        <p:nvSpPr>
          <p:cNvPr id="16" name="glied-236"/>
          <p:cNvSpPr/>
          <p:nvPr/>
        </p:nvSpPr>
        <p:spPr>
          <a:xfrm>
            <a:off x="4322978" y="1463040"/>
            <a:ext cx="1635709" cy="2103120"/>
          </a:xfrm>
          <a:prstGeom prst="roundRect">
            <a:avLst>
              <a:gd name="adj" fmla="val 4472"/>
            </a:avLst>
          </a:prstGeom>
          <a:solidFill>
            <a:srgbClr val="2D2F31"/>
          </a:solidFill>
          <a:ln w="12700">
            <a:solidFill>
              <a:srgbClr val="3A3C3E"/>
            </a:solidFill>
            <a:prstDash val="solid"/>
          </a:ln>
        </p:spPr>
      </p:sp>
      <p:sp>
        <p:nvSpPr>
          <p:cNvPr id="17" name="Text 15"/>
          <p:cNvSpPr txBox="1"/>
          <p:nvPr/>
        </p:nvSpPr>
        <p:spPr>
          <a:xfrm>
            <a:off x="4450994" y="1572768"/>
            <a:ext cx="1379677" cy="1417320"/>
          </a:xfrm>
          <a:prstGeom prst="rect">
            <a:avLst/>
          </a:prstGeom>
          <a:noFill/>
          <a:ln/>
        </p:spPr>
        <p:txBody>
          <a:bodyPr wrap="square" lIns="0" tIns="0" rIns="0" bIns="0" rtlCol="0" anchor="t"/>
          <a:lstStyle/>
          <a:p>
            <a:pPr indent="0" marL="0">
              <a:buNone/>
            </a:pPr>
            <a:r>
              <a:rPr lang="en-US" sz="2200" b="1" dirty="0">
                <a:solidFill>
                  <a:srgbClr val="D64527"/>
                </a:solidFill>
                <a:latin typeface="Cambria" pitchFamily="34" charset="0"/>
                <a:ea typeface="Cambria" pitchFamily="34" charset="-122"/>
                <a:cs typeface="Cambria" pitchFamily="34" charset="-120"/>
              </a:rPr>
              <a:t>3</a:t>
            </a:r>
            <a:endParaRPr lang="en-US" sz="2200" dirty="0"/>
          </a:p>
          <a:p>
            <a:pPr indent="0" marL="0">
              <a:buNone/>
            </a:pPr>
            <a:r>
              <a:rPr lang="en-US" sz="1500" b="1" dirty="0">
                <a:solidFill>
                  <a:srgbClr val="EFE7D6"/>
                </a:solidFill>
              </a:rPr>
              <a:t>Grundriss</a:t>
            </a:r>
            <a:endParaRPr lang="en-US" sz="2200" dirty="0"/>
          </a:p>
          <a:p>
            <a:pPr indent="0" marL="0">
              <a:buNone/>
            </a:pPr>
            <a:r>
              <a:rPr lang="en-US" sz="1300" dirty="0">
                <a:solidFill>
                  <a:srgbClr val="EFE7D6"/>
                </a:solidFill>
              </a:rPr>
              <a:t>Rezeptweg und Schnellweg</a:t>
            </a:r>
            <a:endParaRPr lang="en-US" sz="2200" dirty="0"/>
          </a:p>
        </p:txBody>
      </p:sp>
      <p:sp>
        <p:nvSpPr>
          <p:cNvPr id="18" name="tag-237"/>
          <p:cNvSpPr/>
          <p:nvPr/>
        </p:nvSpPr>
        <p:spPr>
          <a:xfrm>
            <a:off x="4450994" y="2971800"/>
            <a:ext cx="274320" cy="219456"/>
          </a:xfrm>
          <a:prstGeom prst="roundRect">
            <a:avLst>
              <a:gd name="adj" fmla="val 20833"/>
            </a:avLst>
          </a:prstGeom>
          <a:solidFill>
            <a:srgbClr val="4F7F5A"/>
          </a:solidFill>
          <a:ln w="12700">
            <a:solidFill>
              <a:srgbClr val="4F7F5A"/>
            </a:solidFill>
            <a:prstDash val="solid"/>
          </a:ln>
        </p:spPr>
      </p:sp>
      <p:sp>
        <p:nvSpPr>
          <p:cNvPr id="19" name="Text 17"/>
          <p:cNvSpPr txBox="1"/>
          <p:nvPr/>
        </p:nvSpPr>
        <p:spPr>
          <a:xfrm>
            <a:off x="4450994" y="297180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20" name="tagtext-238"/>
          <p:cNvSpPr txBox="1"/>
          <p:nvPr/>
        </p:nvSpPr>
        <p:spPr>
          <a:xfrm>
            <a:off x="4816754" y="2944368"/>
            <a:ext cx="1087069" cy="347472"/>
          </a:xfrm>
          <a:prstGeom prst="rect">
            <a:avLst/>
          </a:prstGeom>
          <a:noFill/>
          <a:ln/>
        </p:spPr>
        <p:txBody>
          <a:bodyPr wrap="square" lIns="0" tIns="0" rIns="0" bIns="0" rtlCol="0" anchor="t"/>
          <a:lstStyle/>
          <a:p>
            <a:pPr indent="0" marL="0">
              <a:buNone/>
            </a:pPr>
            <a:r>
              <a:rPr lang="en-US" sz="900" dirty="0">
                <a:solidFill>
                  <a:srgbClr val="A9A296"/>
                </a:solidFill>
              </a:rPr>
              <a:t>S. 297–302; Larson 2005</a:t>
            </a:r>
            <a:endParaRPr lang="en-US" sz="900" dirty="0"/>
          </a:p>
        </p:txBody>
      </p:sp>
      <p:sp>
        <p:nvSpPr>
          <p:cNvPr id="21" name="Text 19"/>
          <p:cNvSpPr txBox="1"/>
          <p:nvPr/>
        </p:nvSpPr>
        <p:spPr>
          <a:xfrm>
            <a:off x="5958688" y="2194560"/>
            <a:ext cx="274320" cy="457200"/>
          </a:xfrm>
          <a:prstGeom prst="rect">
            <a:avLst/>
          </a:prstGeom>
          <a:noFill/>
          <a:ln/>
        </p:spPr>
        <p:txBody>
          <a:bodyPr wrap="square" lIns="0" tIns="0" rIns="0" bIns="0" rtlCol="0" anchor="ctr"/>
          <a:lstStyle/>
          <a:p>
            <a:pPr algn="ctr" indent="0" marL="0">
              <a:buNone/>
            </a:pPr>
            <a:r>
              <a:rPr lang="en-US" sz="2400" dirty="0">
                <a:solidFill>
                  <a:srgbClr val="B39B6B"/>
                </a:solidFill>
              </a:rPr>
              <a:t>›</a:t>
            </a:r>
            <a:endParaRPr lang="en-US" sz="2400" dirty="0"/>
          </a:p>
        </p:txBody>
      </p:sp>
      <p:sp>
        <p:nvSpPr>
          <p:cNvPr id="22" name="glied-239"/>
          <p:cNvSpPr/>
          <p:nvPr/>
        </p:nvSpPr>
        <p:spPr>
          <a:xfrm>
            <a:off x="6233008" y="1463040"/>
            <a:ext cx="1635709" cy="2103120"/>
          </a:xfrm>
          <a:prstGeom prst="roundRect">
            <a:avLst>
              <a:gd name="adj" fmla="val 4472"/>
            </a:avLst>
          </a:prstGeom>
          <a:solidFill>
            <a:srgbClr val="2D2F31"/>
          </a:solidFill>
          <a:ln w="12700">
            <a:solidFill>
              <a:srgbClr val="3A3C3E"/>
            </a:solidFill>
            <a:prstDash val="solid"/>
          </a:ln>
        </p:spPr>
      </p:sp>
      <p:sp>
        <p:nvSpPr>
          <p:cNvPr id="23" name="Text 21"/>
          <p:cNvSpPr txBox="1"/>
          <p:nvPr/>
        </p:nvSpPr>
        <p:spPr>
          <a:xfrm>
            <a:off x="6361024" y="1572768"/>
            <a:ext cx="1379677" cy="1417320"/>
          </a:xfrm>
          <a:prstGeom prst="rect">
            <a:avLst/>
          </a:prstGeom>
          <a:noFill/>
          <a:ln/>
        </p:spPr>
        <p:txBody>
          <a:bodyPr wrap="square" lIns="0" tIns="0" rIns="0" bIns="0" rtlCol="0" anchor="t"/>
          <a:lstStyle/>
          <a:p>
            <a:pPr indent="0" marL="0">
              <a:buNone/>
            </a:pPr>
            <a:r>
              <a:rPr lang="en-US" sz="2200" b="1" dirty="0">
                <a:solidFill>
                  <a:srgbClr val="D64527"/>
                </a:solidFill>
                <a:latin typeface="Cambria" pitchFamily="34" charset="0"/>
                <a:ea typeface="Cambria" pitchFamily="34" charset="-122"/>
                <a:cs typeface="Cambria" pitchFamily="34" charset="-120"/>
              </a:rPr>
              <a:t>4</a:t>
            </a:r>
            <a:endParaRPr lang="en-US" sz="2200" dirty="0"/>
          </a:p>
          <a:p>
            <a:pPr indent="0" marL="0">
              <a:buNone/>
            </a:pPr>
            <a:r>
              <a:rPr lang="en-US" sz="1500" b="1" dirty="0">
                <a:solidFill>
                  <a:srgbClr val="EFE7D6"/>
                </a:solidFill>
              </a:rPr>
              <a:t>Regal</a:t>
            </a:r>
            <a:endParaRPr lang="en-US" sz="2200" dirty="0"/>
          </a:p>
          <a:p>
            <a:pPr indent="0" marL="0">
              <a:buNone/>
            </a:pPr>
            <a:r>
              <a:rPr lang="en-US" sz="1300" dirty="0">
                <a:solidFill>
                  <a:srgbClr val="EFE7D6"/>
                </a:solidFill>
              </a:rPr>
              <a:t>Gondel je Kochwelt, Kreuzblock, quer vs. längs</a:t>
            </a:r>
            <a:endParaRPr lang="en-US" sz="2200" dirty="0"/>
          </a:p>
        </p:txBody>
      </p:sp>
      <p:sp>
        <p:nvSpPr>
          <p:cNvPr id="24" name="tag-240"/>
          <p:cNvSpPr/>
          <p:nvPr/>
        </p:nvSpPr>
        <p:spPr>
          <a:xfrm>
            <a:off x="6361024" y="2971800"/>
            <a:ext cx="274320" cy="219456"/>
          </a:xfrm>
          <a:prstGeom prst="roundRect">
            <a:avLst>
              <a:gd name="adj" fmla="val 20833"/>
            </a:avLst>
          </a:prstGeom>
          <a:solidFill>
            <a:srgbClr val="4F7F5A"/>
          </a:solidFill>
          <a:ln w="12700">
            <a:solidFill>
              <a:srgbClr val="4F7F5A"/>
            </a:solidFill>
            <a:prstDash val="solid"/>
          </a:ln>
        </p:spPr>
      </p:sp>
      <p:sp>
        <p:nvSpPr>
          <p:cNvPr id="25" name="Text 23"/>
          <p:cNvSpPr txBox="1"/>
          <p:nvPr/>
        </p:nvSpPr>
        <p:spPr>
          <a:xfrm>
            <a:off x="6361024" y="297180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26" name="tagtext-241"/>
          <p:cNvSpPr txBox="1"/>
          <p:nvPr/>
        </p:nvSpPr>
        <p:spPr>
          <a:xfrm>
            <a:off x="6726784" y="2944368"/>
            <a:ext cx="1087069" cy="347472"/>
          </a:xfrm>
          <a:prstGeom prst="rect">
            <a:avLst/>
          </a:prstGeom>
          <a:noFill/>
          <a:ln/>
        </p:spPr>
        <p:txBody>
          <a:bodyPr wrap="square" lIns="0" tIns="0" rIns="0" bIns="0" rtlCol="0" anchor="t"/>
          <a:lstStyle/>
          <a:p>
            <a:pPr indent="0" marL="0">
              <a:buNone/>
            </a:pPr>
            <a:r>
              <a:rPr lang="en-US" sz="900" dirty="0">
                <a:solidFill>
                  <a:srgbClr val="A9A296"/>
                </a:solidFill>
              </a:rPr>
              <a:t>S. 300–303; Chandon 2009</a:t>
            </a:r>
            <a:endParaRPr lang="en-US" sz="900" dirty="0"/>
          </a:p>
        </p:txBody>
      </p:sp>
      <p:sp>
        <p:nvSpPr>
          <p:cNvPr id="27" name="Text 25"/>
          <p:cNvSpPr txBox="1"/>
          <p:nvPr/>
        </p:nvSpPr>
        <p:spPr>
          <a:xfrm>
            <a:off x="7868717" y="2194560"/>
            <a:ext cx="274320" cy="457200"/>
          </a:xfrm>
          <a:prstGeom prst="rect">
            <a:avLst/>
          </a:prstGeom>
          <a:noFill/>
          <a:ln/>
        </p:spPr>
        <p:txBody>
          <a:bodyPr wrap="square" lIns="0" tIns="0" rIns="0" bIns="0" rtlCol="0" anchor="ctr"/>
          <a:lstStyle/>
          <a:p>
            <a:pPr algn="ctr" indent="0" marL="0">
              <a:buNone/>
            </a:pPr>
            <a:r>
              <a:rPr lang="en-US" sz="2400" dirty="0">
                <a:solidFill>
                  <a:srgbClr val="B39B6B"/>
                </a:solidFill>
              </a:rPr>
              <a:t>›</a:t>
            </a:r>
            <a:endParaRPr lang="en-US" sz="2400" dirty="0"/>
          </a:p>
        </p:txBody>
      </p:sp>
      <p:sp>
        <p:nvSpPr>
          <p:cNvPr id="28" name="glied-242"/>
          <p:cNvSpPr/>
          <p:nvPr/>
        </p:nvSpPr>
        <p:spPr>
          <a:xfrm>
            <a:off x="8143037" y="1463040"/>
            <a:ext cx="1635709" cy="2103120"/>
          </a:xfrm>
          <a:prstGeom prst="roundRect">
            <a:avLst>
              <a:gd name="adj" fmla="val 4472"/>
            </a:avLst>
          </a:prstGeom>
          <a:solidFill>
            <a:srgbClr val="2D2F31"/>
          </a:solidFill>
          <a:ln w="12700">
            <a:solidFill>
              <a:srgbClr val="3A3C3E"/>
            </a:solidFill>
            <a:prstDash val="solid"/>
          </a:ln>
        </p:spPr>
      </p:sp>
      <p:sp>
        <p:nvSpPr>
          <p:cNvPr id="29" name="Text 27"/>
          <p:cNvSpPr txBox="1"/>
          <p:nvPr/>
        </p:nvSpPr>
        <p:spPr>
          <a:xfrm>
            <a:off x="8271053" y="1572768"/>
            <a:ext cx="1379677" cy="1417320"/>
          </a:xfrm>
          <a:prstGeom prst="rect">
            <a:avLst/>
          </a:prstGeom>
          <a:noFill/>
          <a:ln/>
        </p:spPr>
        <p:txBody>
          <a:bodyPr wrap="square" lIns="0" tIns="0" rIns="0" bIns="0" rtlCol="0" anchor="t"/>
          <a:lstStyle/>
          <a:p>
            <a:pPr indent="0" marL="0">
              <a:buNone/>
            </a:pPr>
            <a:r>
              <a:rPr lang="en-US" sz="2200" b="1" dirty="0">
                <a:solidFill>
                  <a:srgbClr val="D64527"/>
                </a:solidFill>
                <a:latin typeface="Cambria" pitchFamily="34" charset="0"/>
                <a:ea typeface="Cambria" pitchFamily="34" charset="-122"/>
                <a:cs typeface="Cambria" pitchFamily="34" charset="-120"/>
              </a:rPr>
              <a:t>5</a:t>
            </a:r>
            <a:endParaRPr lang="en-US" sz="2200" dirty="0"/>
          </a:p>
          <a:p>
            <a:pPr indent="0" marL="0">
              <a:buNone/>
            </a:pPr>
            <a:r>
              <a:rPr lang="en-US" sz="1500" b="1" dirty="0">
                <a:solidFill>
                  <a:srgbClr val="EFE7D6"/>
                </a:solidFill>
              </a:rPr>
              <a:t>Präsentation</a:t>
            </a:r>
            <a:endParaRPr lang="en-US" sz="2200" dirty="0"/>
          </a:p>
          <a:p>
            <a:pPr indent="0" marL="0">
              <a:buNone/>
            </a:pPr>
            <a:r>
              <a:rPr lang="en-US" sz="1300" dirty="0">
                <a:solidFill>
                  <a:srgbClr val="EFE7D6"/>
                </a:solidFill>
              </a:rPr>
              <a:t>Karte mit QR, Themenfenster, Küchenhelfer</a:t>
            </a:r>
            <a:endParaRPr lang="en-US" sz="2200" dirty="0"/>
          </a:p>
        </p:txBody>
      </p:sp>
      <p:sp>
        <p:nvSpPr>
          <p:cNvPr id="30" name="tag-243"/>
          <p:cNvSpPr/>
          <p:nvPr/>
        </p:nvSpPr>
        <p:spPr>
          <a:xfrm>
            <a:off x="8271053" y="2971800"/>
            <a:ext cx="274320" cy="219456"/>
          </a:xfrm>
          <a:prstGeom prst="roundRect">
            <a:avLst>
              <a:gd name="adj" fmla="val 20833"/>
            </a:avLst>
          </a:prstGeom>
          <a:solidFill>
            <a:srgbClr val="4F7F5A"/>
          </a:solidFill>
          <a:ln w="12700">
            <a:solidFill>
              <a:srgbClr val="4F7F5A"/>
            </a:solidFill>
            <a:prstDash val="solid"/>
          </a:ln>
        </p:spPr>
      </p:sp>
      <p:sp>
        <p:nvSpPr>
          <p:cNvPr id="31" name="Text 29"/>
          <p:cNvSpPr txBox="1"/>
          <p:nvPr/>
        </p:nvSpPr>
        <p:spPr>
          <a:xfrm>
            <a:off x="8271053" y="297180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32" name="tagtext-244"/>
          <p:cNvSpPr txBox="1"/>
          <p:nvPr/>
        </p:nvSpPr>
        <p:spPr>
          <a:xfrm>
            <a:off x="8636813" y="2944368"/>
            <a:ext cx="1087069" cy="210312"/>
          </a:xfrm>
          <a:prstGeom prst="rect">
            <a:avLst/>
          </a:prstGeom>
          <a:noFill/>
          <a:ln/>
        </p:spPr>
        <p:txBody>
          <a:bodyPr wrap="square" lIns="0" tIns="0" rIns="0" bIns="0" rtlCol="0" anchor="t"/>
          <a:lstStyle/>
          <a:p>
            <a:pPr indent="0" marL="0">
              <a:buNone/>
            </a:pPr>
            <a:r>
              <a:rPr lang="en-US" sz="900" dirty="0">
                <a:solidFill>
                  <a:srgbClr val="A9A296"/>
                </a:solidFill>
              </a:rPr>
              <a:t>S. 303–306</a:t>
            </a:r>
            <a:endParaRPr lang="en-US" sz="900" dirty="0"/>
          </a:p>
        </p:txBody>
      </p:sp>
      <p:sp>
        <p:nvSpPr>
          <p:cNvPr id="33" name="Text 31"/>
          <p:cNvSpPr txBox="1"/>
          <p:nvPr/>
        </p:nvSpPr>
        <p:spPr>
          <a:xfrm>
            <a:off x="9778746" y="2194560"/>
            <a:ext cx="274320" cy="457200"/>
          </a:xfrm>
          <a:prstGeom prst="rect">
            <a:avLst/>
          </a:prstGeom>
          <a:noFill/>
          <a:ln/>
        </p:spPr>
        <p:txBody>
          <a:bodyPr wrap="square" lIns="0" tIns="0" rIns="0" bIns="0" rtlCol="0" anchor="ctr"/>
          <a:lstStyle/>
          <a:p>
            <a:pPr algn="ctr" indent="0" marL="0">
              <a:buNone/>
            </a:pPr>
            <a:r>
              <a:rPr lang="en-US" sz="2400" dirty="0">
                <a:solidFill>
                  <a:srgbClr val="B39B6B"/>
                </a:solidFill>
              </a:rPr>
              <a:t>›</a:t>
            </a:r>
            <a:endParaRPr lang="en-US" sz="2400" dirty="0"/>
          </a:p>
        </p:txBody>
      </p:sp>
      <p:sp>
        <p:nvSpPr>
          <p:cNvPr id="34" name="glied-245"/>
          <p:cNvSpPr/>
          <p:nvPr/>
        </p:nvSpPr>
        <p:spPr>
          <a:xfrm>
            <a:off x="10053066" y="1463040"/>
            <a:ext cx="1635709" cy="2103120"/>
          </a:xfrm>
          <a:prstGeom prst="roundRect">
            <a:avLst>
              <a:gd name="adj" fmla="val 4472"/>
            </a:avLst>
          </a:prstGeom>
          <a:solidFill>
            <a:srgbClr val="2D2F31"/>
          </a:solidFill>
          <a:ln w="12700">
            <a:solidFill>
              <a:srgbClr val="3A3C3E"/>
            </a:solidFill>
            <a:prstDash val="solid"/>
          </a:ln>
        </p:spPr>
      </p:sp>
      <p:sp>
        <p:nvSpPr>
          <p:cNvPr id="35" name="Text 33"/>
          <p:cNvSpPr txBox="1"/>
          <p:nvPr/>
        </p:nvSpPr>
        <p:spPr>
          <a:xfrm>
            <a:off x="10181082" y="1572768"/>
            <a:ext cx="1379677" cy="1417320"/>
          </a:xfrm>
          <a:prstGeom prst="rect">
            <a:avLst/>
          </a:prstGeom>
          <a:noFill/>
          <a:ln/>
        </p:spPr>
        <p:txBody>
          <a:bodyPr wrap="square" lIns="0" tIns="0" rIns="0" bIns="0" rtlCol="0" anchor="t"/>
          <a:lstStyle/>
          <a:p>
            <a:pPr indent="0" marL="0">
              <a:buNone/>
            </a:pPr>
            <a:r>
              <a:rPr lang="en-US" sz="2200" b="1" dirty="0">
                <a:solidFill>
                  <a:srgbClr val="D64527"/>
                </a:solidFill>
                <a:latin typeface="Cambria" pitchFamily="34" charset="0"/>
                <a:ea typeface="Cambria" pitchFamily="34" charset="-122"/>
                <a:cs typeface="Cambria" pitchFamily="34" charset="-120"/>
              </a:rPr>
              <a:t>6</a:t>
            </a:r>
            <a:endParaRPr lang="en-US" sz="2200" dirty="0"/>
          </a:p>
          <a:p>
            <a:pPr indent="0" marL="0">
              <a:buNone/>
            </a:pPr>
            <a:r>
              <a:rPr lang="en-US" sz="1500" b="1" dirty="0">
                <a:solidFill>
                  <a:srgbClr val="EFE7D6"/>
                </a:solidFill>
              </a:rPr>
              <a:t>Atmosphäre</a:t>
            </a:r>
            <a:endParaRPr lang="en-US" sz="2200" dirty="0"/>
          </a:p>
          <a:p>
            <a:pPr indent="0" marL="0">
              <a:buNone/>
            </a:pPr>
            <a:r>
              <a:rPr lang="en-US" sz="1300" dirty="0">
                <a:solidFill>
                  <a:srgbClr val="EFE7D6"/>
                </a:solidFill>
              </a:rPr>
              <a:t>Licht, Geruch, Material</a:t>
            </a:r>
            <a:endParaRPr lang="en-US" sz="2200" dirty="0"/>
          </a:p>
        </p:txBody>
      </p:sp>
      <p:sp>
        <p:nvSpPr>
          <p:cNvPr id="36" name="tag-246"/>
          <p:cNvSpPr/>
          <p:nvPr/>
        </p:nvSpPr>
        <p:spPr>
          <a:xfrm>
            <a:off x="10181082" y="2971800"/>
            <a:ext cx="274320" cy="219456"/>
          </a:xfrm>
          <a:prstGeom prst="roundRect">
            <a:avLst>
              <a:gd name="adj" fmla="val 20833"/>
            </a:avLst>
          </a:prstGeom>
          <a:solidFill>
            <a:srgbClr val="4F7F5A"/>
          </a:solidFill>
          <a:ln w="12700">
            <a:solidFill>
              <a:srgbClr val="4F7F5A"/>
            </a:solidFill>
            <a:prstDash val="solid"/>
          </a:ln>
        </p:spPr>
      </p:sp>
      <p:sp>
        <p:nvSpPr>
          <p:cNvPr id="37" name="Text 35"/>
          <p:cNvSpPr txBox="1"/>
          <p:nvPr/>
        </p:nvSpPr>
        <p:spPr>
          <a:xfrm>
            <a:off x="10181082" y="2971800"/>
            <a:ext cx="274320"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38" name="tagtext-247"/>
          <p:cNvSpPr txBox="1"/>
          <p:nvPr/>
        </p:nvSpPr>
        <p:spPr>
          <a:xfrm>
            <a:off x="10546842" y="2944368"/>
            <a:ext cx="1087069" cy="347472"/>
          </a:xfrm>
          <a:prstGeom prst="rect">
            <a:avLst/>
          </a:prstGeom>
          <a:noFill/>
          <a:ln/>
        </p:spPr>
        <p:txBody>
          <a:bodyPr wrap="square" lIns="0" tIns="0" rIns="0" bIns="0" rtlCol="0" anchor="t"/>
          <a:lstStyle/>
          <a:p>
            <a:pPr indent="0" marL="0">
              <a:buNone/>
            </a:pPr>
            <a:r>
              <a:rPr lang="en-US" sz="900" dirty="0">
                <a:solidFill>
                  <a:srgbClr val="A9A296"/>
                </a:solidFill>
              </a:rPr>
              <a:t>S. 303–306; Summers 2001</a:t>
            </a:r>
            <a:endParaRPr lang="en-US" sz="900" dirty="0"/>
          </a:p>
        </p:txBody>
      </p:sp>
      <p:sp>
        <p:nvSpPr>
          <p:cNvPr id="39" name="merke-248"/>
          <p:cNvSpPr/>
          <p:nvPr/>
        </p:nvSpPr>
        <p:spPr>
          <a:xfrm>
            <a:off x="502920" y="3931920"/>
            <a:ext cx="11185855" cy="789432"/>
          </a:xfrm>
          <a:prstGeom prst="roundRect">
            <a:avLst>
              <a:gd name="adj" fmla="val 9266"/>
            </a:avLst>
          </a:prstGeom>
          <a:solidFill>
            <a:srgbClr val="3A2A26"/>
          </a:solidFill>
          <a:ln w="12700">
            <a:solidFill>
              <a:srgbClr val="D64527"/>
            </a:solidFill>
            <a:prstDash val="solid"/>
          </a:ln>
        </p:spPr>
      </p:sp>
      <p:sp>
        <p:nvSpPr>
          <p:cNvPr id="40" name="Text 38"/>
          <p:cNvSpPr txBox="1"/>
          <p:nvPr/>
        </p:nvSpPr>
        <p:spPr>
          <a:xfrm>
            <a:off x="685800" y="4041648"/>
            <a:ext cx="10820095" cy="569976"/>
          </a:xfrm>
          <a:prstGeom prst="rect">
            <a:avLst/>
          </a:prstGeom>
          <a:noFill/>
          <a:ln/>
        </p:spPr>
        <p:txBody>
          <a:bodyPr wrap="square" lIns="0" tIns="0" rIns="0" bIns="0" rtlCol="0" anchor="t"/>
          <a:lstStyle/>
          <a:p>
            <a:pPr indent="0" marL="0">
              <a:buNone/>
            </a:pPr>
            <a:r>
              <a:rPr lang="en-US" sz="1300" b="1" dirty="0">
                <a:solidFill>
                  <a:srgbClr val="D64527"/>
                </a:solidFill>
              </a:rPr>
              <a:t>Aussagegrenze</a:t>
            </a:r>
            <a:endParaRPr lang="en-US" sz="1300" dirty="0"/>
          </a:p>
          <a:p>
            <a:pPr indent="0" marL="0">
              <a:buNone/>
            </a:pPr>
            <a:r>
              <a:rPr lang="en-US" sz="1400" dirty="0">
                <a:solidFill>
                  <a:srgbClr val="EFE7D6"/>
                </a:solidFill>
              </a:rPr>
              <a:t>Kapitel 10 liefert die Logik – nicht den Beweis, dass es im Store wirkt.</a:t>
            </a:r>
            <a:endParaRPr lang="en-US" sz="1300" dirty="0"/>
          </a:p>
        </p:txBody>
      </p:sp>
      <p:sp>
        <p:nvSpPr>
          <p:cNvPr id="41" name="fuss-249"/>
          <p:cNvSpPr txBox="1"/>
          <p:nvPr/>
        </p:nvSpPr>
        <p:spPr>
          <a:xfrm>
            <a:off x="502920" y="6080760"/>
            <a:ext cx="10637215" cy="329184"/>
          </a:xfrm>
          <a:prstGeom prst="rect">
            <a:avLst/>
          </a:prstGeom>
          <a:noFill/>
          <a:ln/>
        </p:spPr>
        <p:txBody>
          <a:bodyPr wrap="square" lIns="0" tIns="0" rIns="0" bIns="0" rtlCol="0" anchor="b"/>
          <a:lstStyle/>
          <a:p>
            <a:pPr indent="0" marL="0">
              <a:buNone/>
            </a:pPr>
            <a:r>
              <a:rPr lang="en-US" sz="1000" i="1" dirty="0">
                <a:solidFill>
                  <a:srgbClr val="A9A296"/>
                </a:solidFill>
              </a:rPr>
              <a:t>Q: Ahlert/Kenning/Brock 2020, Kap. 10 · Hui 2009 · Larson 2005 · Chandon 2009 · Summers/Hebert 2001</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250"/>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10 · QUELLEN UND KENNZEICHNUNG</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Quellen und Kennzeichnung</a:t>
            </a:r>
            <a:endParaRPr lang="en-US" sz="2800" dirty="0"/>
          </a:p>
        </p:txBody>
      </p:sp>
      <p:sp>
        <p:nvSpPr>
          <p:cNvPr id="4" name="quellen-251"/>
          <p:cNvSpPr txBox="1"/>
          <p:nvPr/>
        </p:nvSpPr>
        <p:spPr>
          <a:xfrm>
            <a:off x="502920" y="1463040"/>
            <a:ext cx="5410048" cy="3840480"/>
          </a:xfrm>
          <a:prstGeom prst="rect">
            <a:avLst/>
          </a:prstGeom>
          <a:noFill/>
          <a:ln/>
        </p:spPr>
        <p:txBody>
          <a:bodyPr wrap="square" lIns="0" tIns="0" rIns="0" bIns="0" rtlCol="0" anchor="t"/>
          <a:lstStyle/>
          <a:p>
            <a:pPr indent="0" marL="0">
              <a:spcAft>
                <a:spcPts val="500"/>
              </a:spcAft>
              <a:buNone/>
            </a:pPr>
            <a:r>
              <a:rPr lang="en-US" sz="1100" dirty="0">
                <a:solidFill>
                  <a:srgbClr val="EFE7D6"/>
                </a:solidFill>
              </a:rPr>
              <a:t>Ahlert, D.; Kenning, P.; Brock, C. (2020): Handelsmarketing. Grundlagen der marktorientierten Führung von Handelsbetrieben. 3. Aufl., Springer Gabler, Kap. 10, S. 295–309. ✓ (Fundstellen laut Seminarskript)</a:t>
            </a:r>
            <a:endParaRPr lang="en-US" sz="1100" dirty="0"/>
          </a:p>
          <a:p>
            <a:pPr indent="0" marL="0">
              <a:spcAft>
                <a:spcPts val="500"/>
              </a:spcAft>
              <a:buNone/>
            </a:pPr>
            <a:r>
              <a:rPr lang="en-US" sz="1100" dirty="0">
                <a:solidFill>
                  <a:srgbClr val="EFE7D6"/>
                </a:solidFill>
              </a:rPr>
              <a:t>Baker, J.; Parasuraman, A.; Grewal, D.; Voss, G. B. (2002): The Influence of Multiple Store Environment Cues on Perceived Merchandise Value and Patronage Intentions. Journal of Marketing, 66(2), S. 120–141. ◐</a:t>
            </a:r>
            <a:endParaRPr lang="en-US" sz="1100" dirty="0"/>
          </a:p>
          <a:p>
            <a:pPr indent="0" marL="0">
              <a:spcAft>
                <a:spcPts val="500"/>
              </a:spcAft>
              <a:buNone/>
            </a:pPr>
            <a:r>
              <a:rPr lang="en-US" sz="1100" dirty="0">
                <a:solidFill>
                  <a:srgbClr val="EFE7D6"/>
                </a:solidFill>
              </a:rPr>
              <a:t>Chandon, P.; Hutchinson, J. W.; Bradlow, E. T.; Young, S. H. (2009): Does In-Store Marketing Work? Journal of Marketing, 73(6), S. 1–17. ✓</a:t>
            </a:r>
            <a:endParaRPr lang="en-US" sz="1100" dirty="0"/>
          </a:p>
          <a:p>
            <a:pPr indent="0" marL="0">
              <a:spcAft>
                <a:spcPts val="500"/>
              </a:spcAft>
              <a:buNone/>
            </a:pPr>
            <a:r>
              <a:rPr lang="en-US" sz="1100" dirty="0">
                <a:solidFill>
                  <a:srgbClr val="EFE7D6"/>
                </a:solidFill>
              </a:rPr>
              <a:t>Chebat, J.-C.; Michon, R. (2003): Impact of ambient odors on mall shoppers' emotions, cognition, and spending. Journal of Business Research, 56(7), S. 529–539. ◐</a:t>
            </a:r>
            <a:endParaRPr lang="en-US" sz="1100" dirty="0"/>
          </a:p>
          <a:p>
            <a:pPr indent="0" marL="0">
              <a:spcAft>
                <a:spcPts val="500"/>
              </a:spcAft>
              <a:buNone/>
            </a:pPr>
            <a:r>
              <a:rPr lang="en-US" sz="1100" dirty="0">
                <a:solidFill>
                  <a:srgbClr val="EFE7D6"/>
                </a:solidFill>
              </a:rPr>
              <a:t>Gröppel, A. (1991): Erlebnisstrategien im Einzelhandel. Physica-Verlag, Heidelberg. ◐</a:t>
            </a:r>
            <a:endParaRPr lang="en-US" sz="1100" dirty="0"/>
          </a:p>
          <a:p>
            <a:pPr indent="0" marL="0">
              <a:spcAft>
                <a:spcPts val="500"/>
              </a:spcAft>
              <a:buNone/>
            </a:pPr>
            <a:r>
              <a:rPr lang="en-US" sz="1100" dirty="0">
                <a:solidFill>
                  <a:srgbClr val="EFE7D6"/>
                </a:solidFill>
              </a:rPr>
              <a:t>Hui, S. K.; Bradlow, E. T.; Fader, P. S. (2009): Testing Behavioral Hypotheses Using an Integrated Model of Grocery Store Shopping Path and Purchase Behavior. Journal of Consumer Research, 36(3), S. 478–493. ✓</a:t>
            </a:r>
            <a:endParaRPr lang="en-US" sz="1100" dirty="0"/>
          </a:p>
          <a:p>
            <a:pPr indent="0" marL="0">
              <a:spcAft>
                <a:spcPts val="500"/>
              </a:spcAft>
              <a:buNone/>
            </a:pPr>
            <a:r>
              <a:rPr lang="en-US" sz="1100" dirty="0">
                <a:solidFill>
                  <a:srgbClr val="EFE7D6"/>
                </a:solidFill>
              </a:rPr>
              <a:t>Inman, J. J.; Nikolova, H. (2017): Shopper-Facing Retail Technology. Journal of Retailing, 93(1), S. 7–28. ◐</a:t>
            </a:r>
            <a:endParaRPr lang="en-US" sz="1100" dirty="0"/>
          </a:p>
        </p:txBody>
      </p:sp>
      <p:sp>
        <p:nvSpPr>
          <p:cNvPr id="5" name="quellen-252"/>
          <p:cNvSpPr txBox="1"/>
          <p:nvPr/>
        </p:nvSpPr>
        <p:spPr>
          <a:xfrm>
            <a:off x="6278728" y="1463040"/>
            <a:ext cx="5410048" cy="3840480"/>
          </a:xfrm>
          <a:prstGeom prst="rect">
            <a:avLst/>
          </a:prstGeom>
          <a:noFill/>
          <a:ln/>
        </p:spPr>
        <p:txBody>
          <a:bodyPr wrap="square" lIns="0" tIns="0" rIns="0" bIns="0" rtlCol="0" anchor="t"/>
          <a:lstStyle/>
          <a:p>
            <a:pPr indent="0" marL="0">
              <a:spcAft>
                <a:spcPts val="500"/>
              </a:spcAft>
              <a:buNone/>
            </a:pPr>
            <a:r>
              <a:rPr lang="en-US" sz="1100" dirty="0">
                <a:solidFill>
                  <a:srgbClr val="EFE7D6"/>
                </a:solidFill>
              </a:rPr>
              <a:t>Larson, J. S.; Bradlow, E. T.; Fader, P. S. (2005): An exploratory look at supermarket shopping paths. International Journal of Research in Marketing, 22(4), S. 395–414. ✓ (Abstract) / ◐ (Fundstelle)</a:t>
            </a:r>
            <a:endParaRPr lang="en-US" sz="1100" dirty="0"/>
          </a:p>
          <a:p>
            <a:pPr indent="0" marL="0">
              <a:spcAft>
                <a:spcPts val="500"/>
              </a:spcAft>
              <a:buNone/>
            </a:pPr>
            <a:r>
              <a:rPr lang="en-US" sz="1100" dirty="0">
                <a:solidFill>
                  <a:srgbClr val="EFE7D6"/>
                </a:solidFill>
              </a:rPr>
              <a:t>Luhmann, N. (1984): Soziale Systeme. Suhrkamp, S. 63 (über das Seminarskript HD25A23). ✓</a:t>
            </a:r>
            <a:endParaRPr lang="en-US" sz="1100" dirty="0"/>
          </a:p>
          <a:p>
            <a:pPr indent="0" marL="0">
              <a:spcAft>
                <a:spcPts val="500"/>
              </a:spcAft>
              <a:buNone/>
            </a:pPr>
            <a:r>
              <a:rPr lang="en-US" sz="1100" dirty="0">
                <a:solidFill>
                  <a:srgbClr val="EFE7D6"/>
                </a:solidFill>
              </a:rPr>
              <a:t>Meyer, L. (2019): Kochhaus meldet Insolvenz an. Der Tagesspiegel, 28.03.2019. ✓</a:t>
            </a:r>
            <a:endParaRPr lang="en-US" sz="1100" dirty="0"/>
          </a:p>
          <a:p>
            <a:pPr indent="0" marL="0">
              <a:spcAft>
                <a:spcPts val="500"/>
              </a:spcAft>
              <a:buNone/>
            </a:pPr>
            <a:r>
              <a:rPr lang="en-US" sz="1100" dirty="0">
                <a:solidFill>
                  <a:srgbClr val="EFE7D6"/>
                </a:solidFill>
              </a:rPr>
              <a:t>Scheuch, M. (2001): Orientierungsfreundlichkeit im Verkaufsraum. der markt, 40(2–3), S. 88–97 (zit. S. 90, 92). ◐</a:t>
            </a:r>
            <a:endParaRPr lang="en-US" sz="1100" dirty="0"/>
          </a:p>
          <a:p>
            <a:pPr indent="0" marL="0">
              <a:spcAft>
                <a:spcPts val="500"/>
              </a:spcAft>
              <a:buNone/>
            </a:pPr>
            <a:r>
              <a:rPr lang="en-US" sz="1100" dirty="0">
                <a:solidFill>
                  <a:srgbClr val="EFE7D6"/>
                </a:solidFill>
              </a:rPr>
              <a:t>Spence, C.; Puccinelli, N. M.; Grewal, D.; Roggeveen, A. L. (2014): Store Atmospherics: A Multisensory Perspective. Psychology &amp; Marketing, 31(7), S. 472–488. ◐</a:t>
            </a:r>
            <a:endParaRPr lang="en-US" sz="1100" dirty="0"/>
          </a:p>
          <a:p>
            <a:pPr indent="0" marL="0">
              <a:spcAft>
                <a:spcPts val="500"/>
              </a:spcAft>
              <a:buNone/>
            </a:pPr>
            <a:r>
              <a:rPr lang="en-US" sz="1100" dirty="0">
                <a:solidFill>
                  <a:srgbClr val="EFE7D6"/>
                </a:solidFill>
              </a:rPr>
              <a:t>Summers, T. A.; Hebert, P. R. (2001): Shedding some light on store atmospherics. Journal of Business Research, 54(2), S. 145–150. ◐</a:t>
            </a:r>
            <a:endParaRPr lang="en-US" sz="1100" dirty="0"/>
          </a:p>
          <a:p>
            <a:pPr indent="0" marL="0">
              <a:spcAft>
                <a:spcPts val="500"/>
              </a:spcAft>
              <a:buNone/>
            </a:pPr>
            <a:r>
              <a:rPr lang="en-US" sz="1100" dirty="0">
                <a:solidFill>
                  <a:srgbClr val="EFE7D6"/>
                </a:solidFill>
              </a:rPr>
              <a:t>Seminarunterlagen HD25A23 (Bender 2026): Skript Store Layout; Checkliste Lernsicherung Tag 2. ✓</a:t>
            </a:r>
            <a:endParaRPr lang="en-US" sz="1100" dirty="0"/>
          </a:p>
        </p:txBody>
      </p:sp>
      <p:sp>
        <p:nvSpPr>
          <p:cNvPr id="6" name="Text 4"/>
          <p:cNvSpPr txBox="1"/>
          <p:nvPr/>
        </p:nvSpPr>
        <p:spPr>
          <a:xfrm>
            <a:off x="502920" y="5440680"/>
            <a:ext cx="11185855" cy="594360"/>
          </a:xfrm>
          <a:prstGeom prst="rect">
            <a:avLst/>
          </a:prstGeom>
          <a:noFill/>
          <a:ln/>
        </p:spPr>
        <p:txBody>
          <a:bodyPr wrap="square" lIns="0" tIns="0" rIns="0" bIns="0" rtlCol="0" anchor="ctr"/>
          <a:lstStyle/>
          <a:p>
            <a:pPr indent="0" marL="0">
              <a:buNone/>
            </a:pPr>
            <a:r>
              <a:rPr lang="en-US" sz="1000" dirty="0">
                <a:solidFill>
                  <a:srgbClr val="A9A296"/>
                </a:solidFill>
              </a:rPr>
              <a:t>✓ = Inhalt an Seminarskript bzw. Abstract/Volltext geprüft · ◐ = Fundstelle vor der Prüfung im Volltext prüfen</a:t>
            </a:r>
            <a:endParaRPr lang="en-US" sz="1000" dirty="0"/>
          </a:p>
          <a:p>
            <a:pPr indent="0" marL="0">
              <a:buNone/>
            </a:pPr>
            <a:r>
              <a:rPr lang="en-US" sz="1000" dirty="0">
                <a:solidFill>
                  <a:srgbClr val="A9A296"/>
                </a:solidFill>
              </a:rPr>
              <a:t>Annahme = gekennzeichnete Fallannahme der Gruppe</a:t>
            </a:r>
            <a:endParaRPr lang="en-US" sz="1000" dirty="0"/>
          </a:p>
          <a:p>
            <a:pPr indent="0" marL="0">
              <a:buNone/>
            </a:pPr>
            <a:r>
              <a:rPr lang="en-US" sz="1000" dirty="0">
                <a:solidFill>
                  <a:srgbClr val="A9A296"/>
                </a:solidFill>
              </a:rPr>
              <a:t>Alle Marken- und Produktnamen im 3D-Modell sind fiktiv. 3D-Prototyp: eigene Darstellung (Three.js).</a:t>
            </a:r>
            <a:endParaRPr lang="en-US" sz="10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kicker-253"/>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FAZIT</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Orientieren, entdecken, verführen – in einem Store</a:t>
            </a:r>
            <a:endParaRPr lang="en-US" sz="2800" dirty="0"/>
          </a:p>
        </p:txBody>
      </p:sp>
      <p:sp>
        <p:nvSpPr>
          <p:cNvPr id="4" name="karte-254"/>
          <p:cNvSpPr/>
          <p:nvPr/>
        </p:nvSpPr>
        <p:spPr>
          <a:xfrm>
            <a:off x="502920" y="1463040"/>
            <a:ext cx="3576218" cy="1517904"/>
          </a:xfrm>
          <a:prstGeom prst="roundRect">
            <a:avLst>
              <a:gd name="adj" fmla="val 4819"/>
            </a:avLst>
          </a:prstGeom>
          <a:solidFill>
            <a:srgbClr val="2D2F31"/>
          </a:solidFill>
          <a:ln w="9525">
            <a:solidFill>
              <a:srgbClr val="3A3C3E"/>
            </a:solidFill>
            <a:prstDash val="solid"/>
          </a:ln>
        </p:spPr>
      </p:sp>
      <p:sp>
        <p:nvSpPr>
          <p:cNvPr id="5" name="Text 3"/>
          <p:cNvSpPr txBox="1"/>
          <p:nvPr/>
        </p:nvSpPr>
        <p:spPr>
          <a:xfrm>
            <a:off x="685800" y="162763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Orientieren</a:t>
            </a:r>
            <a:endParaRPr lang="en-US" sz="1500" dirty="0"/>
          </a:p>
        </p:txBody>
      </p:sp>
      <p:sp>
        <p:nvSpPr>
          <p:cNvPr id="6" name="Text 4"/>
          <p:cNvSpPr txBox="1"/>
          <p:nvPr/>
        </p:nvSpPr>
        <p:spPr>
          <a:xfrm>
            <a:off x="685800" y="2011680"/>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Dashboard mit QR, eine Gondel je Kochwelt, Fachcodes, Basis längs</a:t>
            </a:r>
            <a:endParaRPr lang="en-US" sz="1400" dirty="0"/>
          </a:p>
        </p:txBody>
      </p:sp>
      <p:sp>
        <p:nvSpPr>
          <p:cNvPr id="7" name="karte-255"/>
          <p:cNvSpPr/>
          <p:nvPr/>
        </p:nvSpPr>
        <p:spPr>
          <a:xfrm>
            <a:off x="4307738" y="1463040"/>
            <a:ext cx="3576218" cy="1517904"/>
          </a:xfrm>
          <a:prstGeom prst="roundRect">
            <a:avLst>
              <a:gd name="adj" fmla="val 4819"/>
            </a:avLst>
          </a:prstGeom>
          <a:solidFill>
            <a:srgbClr val="2D2F31"/>
          </a:solidFill>
          <a:ln w="9525">
            <a:solidFill>
              <a:srgbClr val="3A3C3E"/>
            </a:solidFill>
            <a:prstDash val="solid"/>
          </a:ln>
        </p:spPr>
      </p:sp>
      <p:sp>
        <p:nvSpPr>
          <p:cNvPr id="8" name="Text 6"/>
          <p:cNvSpPr txBox="1"/>
          <p:nvPr/>
        </p:nvSpPr>
        <p:spPr>
          <a:xfrm>
            <a:off x="4490618" y="162763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Entdecken</a:t>
            </a:r>
            <a:endParaRPr lang="en-US" sz="1500" dirty="0"/>
          </a:p>
        </p:txBody>
      </p:sp>
      <p:sp>
        <p:nvSpPr>
          <p:cNvPr id="9" name="Text 7"/>
          <p:cNvSpPr txBox="1"/>
          <p:nvPr/>
        </p:nvSpPr>
        <p:spPr>
          <a:xfrm>
            <a:off x="4490618" y="2011680"/>
            <a:ext cx="3210458" cy="59131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Vorspeisen am Eingang, Kreuzblock im Gang, Küchenhelfer am Regalkopf</a:t>
            </a:r>
            <a:endParaRPr lang="en-US" sz="1400" dirty="0"/>
          </a:p>
        </p:txBody>
      </p:sp>
      <p:sp>
        <p:nvSpPr>
          <p:cNvPr id="10" name="karte-256"/>
          <p:cNvSpPr/>
          <p:nvPr/>
        </p:nvSpPr>
        <p:spPr>
          <a:xfrm>
            <a:off x="8112557" y="1463040"/>
            <a:ext cx="3576218" cy="1517904"/>
          </a:xfrm>
          <a:prstGeom prst="roundRect">
            <a:avLst>
              <a:gd name="adj" fmla="val 4819"/>
            </a:avLst>
          </a:prstGeom>
          <a:solidFill>
            <a:srgbClr val="2D2F31"/>
          </a:solidFill>
          <a:ln w="9525">
            <a:solidFill>
              <a:srgbClr val="3A3C3E"/>
            </a:solidFill>
            <a:prstDash val="solid"/>
          </a:ln>
        </p:spPr>
      </p:sp>
      <p:sp>
        <p:nvSpPr>
          <p:cNvPr id="11" name="Text 9"/>
          <p:cNvSpPr txBox="1"/>
          <p:nvPr/>
        </p:nvSpPr>
        <p:spPr>
          <a:xfrm>
            <a:off x="8295437" y="1627632"/>
            <a:ext cx="3210458" cy="329184"/>
          </a:xfrm>
          <a:prstGeom prst="rect">
            <a:avLst/>
          </a:prstGeom>
          <a:noFill/>
          <a:ln/>
        </p:spPr>
        <p:txBody>
          <a:bodyPr wrap="square" lIns="0" tIns="0" rIns="0" bIns="0" rtlCol="0" anchor="t"/>
          <a:lstStyle/>
          <a:p>
            <a:pPr indent="0" marL="0">
              <a:buNone/>
            </a:pPr>
            <a:r>
              <a:rPr lang="en-US" sz="1500" b="1" dirty="0">
                <a:solidFill>
                  <a:srgbClr val="EFE7D6"/>
                </a:solidFill>
              </a:rPr>
              <a:t>Verführen</a:t>
            </a:r>
            <a:endParaRPr lang="en-US" sz="1500" dirty="0"/>
          </a:p>
        </p:txBody>
      </p:sp>
      <p:sp>
        <p:nvSpPr>
          <p:cNvPr id="12" name="Text 10"/>
          <p:cNvSpPr txBox="1"/>
          <p:nvPr/>
        </p:nvSpPr>
        <p:spPr>
          <a:xfrm>
            <a:off x="8295437" y="2011680"/>
            <a:ext cx="3210458" cy="804672"/>
          </a:xfrm>
          <a:prstGeom prst="rect">
            <a:avLst/>
          </a:prstGeom>
          <a:noFill/>
          <a:ln/>
        </p:spPr>
        <p:txBody>
          <a:bodyPr wrap="square" lIns="0" tIns="0" rIns="0" bIns="0" rtlCol="0" anchor="t"/>
          <a:lstStyle/>
          <a:p>
            <a:pPr indent="0" marL="0">
              <a:spcAft>
                <a:spcPts val="300"/>
              </a:spcAft>
              <a:buNone/>
            </a:pPr>
            <a:r>
              <a:rPr lang="en-US" sz="1400" dirty="0">
                <a:solidFill>
                  <a:srgbClr val="EFE7D6"/>
                </a:solidFill>
              </a:rPr>
              <a:t>Showküche mit Live-Cooking und Sitzplätzen, Dessert &amp; Wein nach der Frische</a:t>
            </a:r>
            <a:endParaRPr lang="en-US" sz="1400" dirty="0"/>
          </a:p>
        </p:txBody>
      </p:sp>
      <p:sp>
        <p:nvSpPr>
          <p:cNvPr id="13" name="zitat-257"/>
          <p:cNvSpPr txBox="1"/>
          <p:nvPr/>
        </p:nvSpPr>
        <p:spPr>
          <a:xfrm>
            <a:off x="502920" y="3300984"/>
            <a:ext cx="11185855" cy="774192"/>
          </a:xfrm>
          <a:prstGeom prst="rect">
            <a:avLst/>
          </a:prstGeom>
          <a:noFill/>
          <a:ln/>
        </p:spPr>
        <p:txBody>
          <a:bodyPr wrap="square" lIns="0" tIns="0" rIns="0" bIns="0" rtlCol="0" anchor="ctr"/>
          <a:lstStyle/>
          <a:p>
            <a:pPr indent="0" marL="0">
              <a:buNone/>
            </a:pPr>
            <a:r>
              <a:rPr lang="en-US" sz="2000" i="1" dirty="0">
                <a:solidFill>
                  <a:srgbClr val="B39B6B"/>
                </a:solidFill>
                <a:latin typeface="Cambria" pitchFamily="34" charset="0"/>
                <a:ea typeface="Cambria" pitchFamily="34" charset="-122"/>
                <a:cs typeface="Cambria" pitchFamily="34" charset="-120"/>
              </a:rPr>
              <a:t>„Zwei Entscheidungen am Eingang, ein Rezept für heute Abend. Der Händler erzeugt keinen Kauf, aber er macht die Entscheidung leichter.“</a:t>
            </a:r>
            <a:endParaRPr lang="en-US" sz="2000" dirty="0"/>
          </a:p>
        </p:txBody>
      </p:sp>
      <p:sp>
        <p:nvSpPr>
          <p:cNvPr id="14" name="Text 12"/>
          <p:cNvSpPr txBox="1"/>
          <p:nvPr/>
        </p:nvSpPr>
        <p:spPr>
          <a:xfrm>
            <a:off x="502920" y="4303776"/>
            <a:ext cx="11185855" cy="457200"/>
          </a:xfrm>
          <a:prstGeom prst="rect">
            <a:avLst/>
          </a:prstGeom>
          <a:noFill/>
          <a:ln/>
        </p:spPr>
        <p:txBody>
          <a:bodyPr wrap="square" lIns="0" tIns="0" rIns="0" bIns="0" rtlCol="0" anchor="ctr"/>
          <a:lstStyle/>
          <a:p>
            <a:pPr indent="0" marL="0">
              <a:buNone/>
            </a:pPr>
            <a:r>
              <a:rPr lang="en-US" sz="2000" b="1" dirty="0">
                <a:solidFill>
                  <a:srgbClr val="D64527"/>
                </a:solidFill>
              </a:rPr>
              <a:t>Vielen Dank. Wir freuen uns auf eure Fragen.</a:t>
            </a:r>
            <a:endParaRPr lang="en-US" sz="2000" dirty="0"/>
          </a:p>
        </p:txBody>
      </p:sp>
      <p:pic>
        <p:nvPicPr>
          <p:cNvPr id="15" name="modellbild-258" descr="/tmp/claude-0/-home-claude/bc97363c-87c0-54f2-9d3b-d4b9a8318a8f/scratchpad/ppt/shots/s33.png">    </p:cNvPr>
          <p:cNvPicPr>
            <a:picLocks noChangeAspect="1"/>
          </p:cNvPicPr>
          <p:nvPr/>
        </p:nvPicPr>
        <p:blipFill>
          <a:blip r:embed="rId1"/>
          <a:srcRect l="0" r="0" t="0" b="0"/>
          <a:stretch/>
        </p:blipFill>
        <p:spPr>
          <a:xfrm>
            <a:off x="502920" y="4943856"/>
            <a:ext cx="11185855" cy="1365504"/>
          </a:xfrm>
          <a:prstGeom prst="rect">
            <a:avLst/>
          </a:prstGeom>
        </p:spPr>
      </p:pic>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259"/>
          <p:cNvSpPr txBox="1"/>
          <p:nvPr/>
        </p:nvSpPr>
        <p:spPr>
          <a:xfrm>
            <a:off x="502920" y="384048"/>
            <a:ext cx="11185855" cy="256032"/>
          </a:xfrm>
          <a:prstGeom prst="rect">
            <a:avLst/>
          </a:prstGeom>
          <a:noFill/>
          <a:ln/>
        </p:spPr>
        <p:txBody>
          <a:bodyPr wrap="square" lIns="0" tIns="0" rIns="0" bIns="0" rtlCol="0" anchor="ctr"/>
          <a:lstStyle/>
          <a:p>
            <a:pPr indent="0" marL="0">
              <a:buNone/>
            </a:pPr>
            <a:r>
              <a:rPr lang="en-US" sz="1100" b="1" spc="150" kern="0" dirty="0">
                <a:solidFill>
                  <a:srgbClr val="B39B6B"/>
                </a:solidFill>
              </a:rPr>
              <a:t>ANHANG · FRAGERUNDE</a:t>
            </a:r>
            <a:endParaRPr lang="en-US" sz="1100" dirty="0"/>
          </a:p>
        </p:txBody>
      </p:sp>
      <p:sp>
        <p:nvSpPr>
          <p:cNvPr id="3" name="Text 1"/>
          <p:cNvSpPr/>
          <p:nvPr>
            <p:ph idx="101" type="title" hasCustomPrompt="1"/>
          </p:nvPr>
        </p:nvSpPr>
        <p:spPr>
          <a:xfrm>
            <a:off x="502920" y="658368"/>
            <a:ext cx="11185855" cy="731520"/>
          </a:xfrm>
          <a:prstGeom prst="rect">
            <a:avLst/>
          </a:prstGeom>
          <a:noFill/>
          <a:ln/>
        </p:spPr>
        <p:txBody>
          <a:bodyPr wrap="square" lIns="0" tIns="0" rIns="0" bIns="0" rtlCol="0" anchor="t"/>
          <a:lstStyle/>
          <a:p>
            <a:pPr algn="l" indent="0" marL="0">
              <a:buNone/>
            </a:pPr>
            <a:r>
              <a:rPr lang="en-US" sz="2800" dirty="0">
                <a:solidFill>
                  <a:srgbClr val="EFE7D6"/>
                </a:solidFill>
                <a:latin typeface="Cambria" pitchFamily="34" charset="0"/>
                <a:ea typeface="Cambria" pitchFamily="34" charset="-122"/>
                <a:cs typeface="Cambria" pitchFamily="34" charset="-120"/>
              </a:rPr>
              <a:t>Vorbereitete Antworten</a:t>
            </a:r>
            <a:endParaRPr lang="en-US" sz="2800" dirty="0"/>
          </a:p>
        </p:txBody>
      </p:sp>
      <p:graphicFrame>
        <p:nvGraphicFramePr>
          <p:cNvPr id="36" name="tabelle-26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3355757"/>
                <a:gridCol w="5816645"/>
                <a:gridCol w="2013454"/>
              </a:tblGrid>
              <a:tr h="0">
                <a:tc>
                  <a:txBody>
                    <a:bodyPr/>
                    <a:lstStyle/>
                    <a:p>
                      <a:pPr indent="0" marL="0">
                        <a:buNone/>
                      </a:pPr>
                      <a:r>
                        <a:rPr lang="en-US" sz="1100" b="1" dirty="0">
                          <a:solidFill>
                            <a:srgbClr val="B39B6B"/>
                          </a:solidFill>
                        </a:rPr>
                        <a:t>Frage</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Antwort</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c>
                  <a:txBody>
                    <a:bodyPr/>
                    <a:lstStyle/>
                    <a:p>
                      <a:pPr indent="0" marL="0">
                        <a:buNone/>
                      </a:pPr>
                      <a:r>
                        <a:rPr lang="en-US" sz="1100" b="1" dirty="0">
                          <a:solidFill>
                            <a:srgbClr val="B39B6B"/>
                          </a:solidFill>
                        </a:rPr>
                        <a:t>Folie</a:t>
                      </a:r>
                      <a:endParaRPr lang="en-US" sz="11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1F2120"/>
                    </a:solidFill>
                  </a:tcPr>
                </a:tc>
              </a:tr>
              <a:tr h="0">
                <a:tc>
                  <a:txBody>
                    <a:bodyPr/>
                    <a:lstStyle/>
                    <a:p>
                      <a:pPr indent="0" marL="0">
                        <a:buNone/>
                      </a:pPr>
                      <a:r>
                        <a:rPr lang="en-US" sz="1200" b="1" dirty="0">
                          <a:solidFill>
                            <a:srgbClr val="EFE7D6"/>
                          </a:solidFill>
                        </a:rPr>
                        <a:t>Gab es das nicht schon?</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Ja, das Kochhaus – nach Rezepten sortiert. Wir haben nur 3 Kochwelten, innen klassisch nach Warengruppen.</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Wettbewerb</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Warum nicht HelloFresh?</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Die Box löst nächste Woche, wir lösen heute Abend.</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Abgrenzung</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Was heißt schnell, günstig, besonders?</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Höchstens 20 Minuten, höchstens 4 € pro Portion, Menü mit Dessert.</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Matrix</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Warum Kreuzblock?</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Karte nennt Produkte, nicht Marken: Warengruppen senkrecht, Preislagen waagerecht.</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Blockbildung</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Warum keine Einkaufswagen?</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Kein Platz auf 190 m²; Rollkörbe reichen für ein Rezept und rollen durch die Gänge.</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Station Rollkörbe</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Warum Pfannen am Regalkopf?</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Non-Food aus der Showküche: höhere Marge, verbindet Küche und Regal.</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Station Gondeln</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Parmesan in zwei Rezepten?</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Ein Platz bei Käse (K2), beide Karten verweisen darauf.</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Parmesan-Regel</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Warum keine Kochkurse?</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Fokus auf den Einkauf; Live-Cooking zeigt die Rezepte ohne Kursbetrieb und Raumbedarf.</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Wirtschaftlichkeit</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Ich will nur Milch.</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Schnellweg rechts durch die Basis, Kühlung hinten, ca. 25 m.</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Grundriss</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Rechnet sich die Showküche?</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Ab ca. +4 € Ø-Bon oder ca. 23 Kunden mehr pro Tag.</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Wirtschaftlichkeit</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r h="0">
                <a:tc>
                  <a:txBody>
                    <a:bodyPr/>
                    <a:lstStyle/>
                    <a:p>
                      <a:pPr indent="0" marL="0">
                        <a:buNone/>
                      </a:pPr>
                      <a:r>
                        <a:rPr lang="en-US" sz="1200" b="1" dirty="0">
                          <a:solidFill>
                            <a:srgbClr val="EFE7D6"/>
                          </a:solidFill>
                        </a:rPr>
                        <a:t>Was ist belegt, was Annahme?</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Q- und A-Marken auf jeder Folie, ✓/◐ je Quelle.</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c>
                  <a:txBody>
                    <a:bodyPr/>
                    <a:lstStyle/>
                    <a:p>
                      <a:pPr indent="0" marL="0">
                        <a:buNone/>
                      </a:pPr>
                      <a:r>
                        <a:rPr lang="en-US" sz="1200" dirty="0">
                          <a:solidFill>
                            <a:srgbClr val="EFE7D6"/>
                          </a:solidFill>
                        </a:rPr>
                        <a:t>Quellen</a:t>
                      </a:r>
                      <a:endParaRPr lang="en-US" sz="1200" dirty="0"/>
                    </a:p>
                  </a:txBody>
                  <a:tcPr marL="91440" marR="91440" marT="54864" marB="54864" anchor="ctr">
                    <a:lnL w="9525" cap="flat" cmpd="sng" algn="ctr">
                      <a:solidFill>
                        <a:srgbClr val="1F2120"/>
                      </a:solidFill>
                      <a:prstDash val="solid"/>
                      <a:round/>
                      <a:headEnd type="none" w="med" len="med"/>
                      <a:tailEnd type="none" w="med" len="med"/>
                    </a:lnL>
                    <a:lnR w="9525" cap="flat" cmpd="sng" algn="ctr">
                      <a:solidFill>
                        <a:srgbClr val="1F2120"/>
                      </a:solidFill>
                      <a:prstDash val="solid"/>
                      <a:round/>
                      <a:headEnd type="none" w="med" len="med"/>
                      <a:tailEnd type="none" w="med" len="med"/>
                    </a:lnR>
                    <a:lnT w="9525" cap="flat" cmpd="sng" algn="ctr">
                      <a:solidFill>
                        <a:srgbClr val="1F2120"/>
                      </a:solidFill>
                      <a:prstDash val="solid"/>
                      <a:round/>
                      <a:headEnd type="none" w="med" len="med"/>
                      <a:tailEnd type="none" w="med" len="med"/>
                    </a:lnT>
                    <a:lnB w="9525" cap="flat" cmpd="sng" algn="ctr">
                      <a:solidFill>
                        <a:srgbClr val="1F2120"/>
                      </a:solidFill>
                      <a:prstDash val="solid"/>
                      <a:round/>
                      <a:headEnd type="none" w="med" len="med"/>
                      <a:tailEnd type="none" w="med" len="med"/>
                    </a:lnB>
                    <a:solidFill>
                      <a:srgbClr val="2D2F31"/>
                    </a:solidFill>
                  </a:tcPr>
                </a:tc>
              </a:tr>
            </a:tbl>
          </a:graphicData>
        </a:graphic>
      </p:graphicFrame>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9A296"/>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One Hour Kitchen">
  <a:themeElements>
    <a:clrScheme name="One Hour Kitchen">
      <a:dk1>
        <a:srgbClr val="1F2120"/>
      </a:dk1>
      <a:lt1>
        <a:srgbClr val="FFFFFF"/>
      </a:lt1>
      <a:dk2>
        <a:srgbClr val="2B2D2F"/>
      </a:dk2>
      <a:lt2>
        <a:srgbClr val="EFE7D6"/>
      </a:lt2>
      <a:accent1>
        <a:srgbClr val="D64527"/>
      </a:accent1>
      <a:accent2>
        <a:srgbClr val="B39B6B"/>
      </a:accent2>
      <a:accent3>
        <a:srgbClr val="4F7F5A"/>
      </a:accent3>
      <a:accent4>
        <a:srgbClr val="46708F"/>
      </a:accent4>
      <a:accent5>
        <a:srgbClr val="A8843A"/>
      </a:accent5>
      <a:accent6>
        <a:srgbClr val="6D4A63"/>
      </a:accent6>
      <a:hlink>
        <a:srgbClr val="D64527"/>
      </a:hlink>
      <a:folHlink>
        <a:srgbClr val="B39B6B"/>
      </a:folHlink>
    </a:clrScheme>
    <a:fontScheme name="One Hour Kitch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Hour Kitchen – Store-Konzept</dc:title>
  <dc:subject>PptxGenJS Presentation</dc:subject>
  <dc:creator>Gruppe HD25A23</dc:creator>
  <cp:lastModifiedBy>Gruppe HD25A23</cp:lastModifiedBy>
  <cp:revision>1</cp:revision>
  <dcterms:created xsi:type="dcterms:W3CDTF">2026-10-14T13:05:43Z</dcterms:created>
  <dcterms:modified xsi:type="dcterms:W3CDTF">2026-10-14T13:05:43Z</dcterms:modified>
</cp:coreProperties>
</file>