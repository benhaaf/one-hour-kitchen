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png"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1"/>
  <c:style val="2"/>
  <c:chart>
    <c:title>
      <c:tx>
        <c:rich>
          <a:bodyPr/>
          <a:lstStyle/>
          <a:p>
            <a:pPr>
              <a:defRPr sz="1200" b="0" i="0" u="none" strike="noStrike">
                <a:solidFill>
                  <a:srgbClr val="2B2724"/>
                </a:solidFill>
                <a:latin typeface="Calibri"/>
              </a:defRPr>
            </a:pPr>
            <a:r>
              <a:rPr sz="1200" b="0" i="0" u="none" strike="noStrike">
                <a:solidFill>
                  <a:srgbClr val="2B2724"/>
                </a:solidFill>
                <a:latin typeface="Calibri"/>
              </a:rPr>
              <a:t>Gleiche 18 m², zwei Nutzungen (Tsd. €/Jahr)</a:t>
            </a:r>
          </a:p>
        </c:rich>
      </c:tx>
      <c:overlay val="0"/>
    </c:title>
    <c:autoTitleDeleted val="0"/>
    <c:plotArea>
      <c:layout/>
      <c:barChart>
        <c:barDir val="col"/>
        <c:grouping val="clustered"/>
        <c:varyColors val="0"/>
        <c:ser>
          <c:idx val="0"/>
          <c:order val="0"/>
          <c:tx>
            <c:strRef>
              <c:f>Sheet1!$B$1</c:f>
              <c:strCache>
                <c:ptCount val="1"/>
                <c:pt idx="0">
                  <c:v>Tsd. € pro Jahr</c:v>
                </c:pt>
              </c:strCache>
            </c:strRef>
          </c:tx>
          <c:spPr>
            <a:solidFill>
              <a:srgbClr val="B5452F"/>
            </a:solidFill>
            <a:effectLst/>
          </c:spPr>
          <c:invertIfNegative val="0"/>
          <c:dLbls>
            <c:numFmt formatCode="0.0&quot; T€&quot;" sourceLinked="0"/>
            <c:spPr>
              <a:noFill/>
              <a:ln>
                <a:noFill/>
              </a:ln>
              <a:effectLst/>
            </c:spPr>
            <c:txPr>
              <a:bodyPr/>
              <a:lstStyle/>
              <a:p>
                <a:pPr>
                  <a:defRPr sz="1300" b="0" i="0" u="none" strike="noStrike">
                    <a:solidFill>
                      <a:srgbClr val="2B2724"/>
                    </a:solidFill>
                    <a:latin typeface="Arial"/>
                  </a:defRPr>
                </a:pPr>
                <a:endParaRPr lang="de-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Rohertrag, wenn Regalfläche</c:v>
                </c:pt>
                <c:pt idx="1">
                  <c:v>DB Showküche (6 Belegungen)</c:v>
                </c:pt>
              </c:strCache>
            </c:strRef>
          </c:cat>
          <c:val>
            <c:numRef>
              <c:f>Sheet1!$B$2:$B$3</c:f>
              <c:numCache>
                <c:formatCode>General</c:formatCode>
                <c:ptCount val="2"/>
                <c:pt idx="0">
                  <c:v>31.6</c:v>
                </c:pt>
                <c:pt idx="1">
                  <c:v>71.4</c:v>
                </c:pt>
              </c:numCache>
            </c:numRef>
          </c:val>
          <c:extLst>
            <c:ext xmlns:c16="http://schemas.microsoft.com/office/drawing/2014/chart" uri="{C3380CC4-5D6E-409C-BE32-E72D297353CC}">
              <c16:uniqueId val="{00000000-88DA-4DEB-8F19-EE283BF50CB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B2724"/>
                </a:solidFill>
                <a:latin typeface="Arial"/>
              </a:defRPr>
            </a:pPr>
            <a:endParaRPr lang="en-US"/>
          </a:p>
        </c:txPr>
        <c:crossAx val="2094734552"/>
        <c:crosses val="autoZero"/>
        <c:auto val="1"/>
        <c:lblAlgn val="ctr"/>
        <c:lblOffset val="100"/>
        <c:noMultiLvlLbl val="1"/>
      </c:catAx>
      <c:valAx>
        <c:axId val="2094734552"/>
        <c:scaling>
          <c:orientation val="minMax"/>
          <c:max val="85"/>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1"/>
  <c:style val="2"/>
  <c:chart>
    <c:autoTitleDeleted val="1"/>
    <c:plotArea>
      <c:layout/>
      <c:doughnutChart>
        <c:varyColors val="1"/>
        <c:ser>
          <c:idx val="0"/>
          <c:order val="0"/>
          <c:tx>
            <c:strRef>
              <c:f>Sheet1!$B$1</c:f>
              <c:strCache>
                <c:ptCount val="1"/>
                <c:pt idx="0">
                  <c:v>Fläche</c:v>
                </c:pt>
              </c:strCache>
            </c:strRef>
          </c:tx>
          <c:spPr>
            <a:solidFill>
              <a:schemeClr val="accent1"/>
            </a:solidFill>
            <a:ln w="9525" cap="flat">
              <a:solidFill>
                <a:srgbClr val="F9F9F9"/>
              </a:solidFill>
              <a:prstDash val="solid"/>
              <a:round/>
            </a:ln>
            <a:effectLst/>
          </c:spPr>
          <c:dPt>
            <c:idx val="0"/>
            <c:bubble3D val="0"/>
            <c:spPr>
              <a:solidFill>
                <a:srgbClr val="D9CBB5"/>
              </a:solidFill>
              <a:effectLst/>
            </c:spPr>
            <c:extLst>
              <c:ext xmlns:c16="http://schemas.microsoft.com/office/drawing/2014/chart" uri="{C3380CC4-5D6E-409C-BE32-E72D297353CC}">
                <c16:uniqueId val="{00000001-76F3-46F2-B38F-64A61180D667}"/>
              </c:ext>
            </c:extLst>
          </c:dPt>
          <c:dPt>
            <c:idx val="1"/>
            <c:bubble3D val="0"/>
            <c:spPr>
              <a:solidFill>
                <a:srgbClr val="B5452F"/>
              </a:solidFill>
              <a:effectLst/>
            </c:spPr>
            <c:extLst>
              <c:ext xmlns:c16="http://schemas.microsoft.com/office/drawing/2014/chart" uri="{C3380CC4-5D6E-409C-BE32-E72D297353CC}">
                <c16:uniqueId val="{00000003-76F3-46F2-B38F-64A61180D667}"/>
              </c:ext>
            </c:extLst>
          </c:dPt>
          <c:dPt>
            <c:idx val="2"/>
            <c:bubble3D val="0"/>
            <c:spPr>
              <a:solidFill>
                <a:srgbClr val="4F6B3A"/>
              </a:solidFill>
              <a:effectLst/>
            </c:spPr>
            <c:extLst>
              <c:ext xmlns:c16="http://schemas.microsoft.com/office/drawing/2014/chart" uri="{C3380CC4-5D6E-409C-BE32-E72D297353CC}">
                <c16:uniqueId val="{00000005-76F3-46F2-B38F-64A61180D667}"/>
              </c:ext>
            </c:extLst>
          </c:dPt>
          <c:dPt>
            <c:idx val="3"/>
            <c:bubble3D val="0"/>
            <c:spPr>
              <a:solidFill>
                <a:srgbClr val="9A9086"/>
              </a:solidFill>
              <a:effectLst/>
            </c:spPr>
            <c:extLst>
              <c:ext xmlns:c16="http://schemas.microsoft.com/office/drawing/2014/chart" uri="{C3380CC4-5D6E-409C-BE32-E72D297353CC}">
                <c16:uniqueId val="{00000007-76F3-46F2-B38F-64A61180D667}"/>
              </c:ext>
            </c:extLst>
          </c:dPt>
          <c:dPt>
            <c:idx val="4"/>
            <c:bubble3D val="0"/>
            <c:spPr>
              <a:solidFill>
                <a:srgbClr val="2B2724"/>
              </a:solidFill>
              <a:effectLst/>
            </c:spPr>
            <c:extLst>
              <c:ext xmlns:c16="http://schemas.microsoft.com/office/drawing/2014/chart" uri="{C3380CC4-5D6E-409C-BE32-E72D297353CC}">
                <c16:uniqueId val="{00000009-76F3-46F2-B38F-64A61180D667}"/>
              </c:ext>
            </c:extLst>
          </c:dPt>
          <c:dLbls>
            <c:dLbl>
              <c:idx val="0"/>
              <c:numFmt formatCode="0&quot; m²&quot;" sourceLinked="0"/>
              <c:spPr/>
              <c:txPr>
                <a:bodyPr/>
                <a:lstStyle/>
                <a:p>
                  <a:pPr>
                    <a:defRPr sz="1100" b="0" i="0" u="none" strike="noStrike">
                      <a:solidFill>
                        <a:srgbClr val="FFFFFF"/>
                      </a:solidFill>
                      <a:latin typeface="Arial"/>
                    </a:defRPr>
                  </a:pPr>
                  <a:endParaRPr lang="de-DE"/>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6F3-46F2-B38F-64A61180D667}"/>
                </c:ext>
              </c:extLst>
            </c:dLbl>
            <c:dLbl>
              <c:idx val="1"/>
              <c:numFmt formatCode="0&quot; m²&quot;" sourceLinked="0"/>
              <c:spPr/>
              <c:txPr>
                <a:bodyPr/>
                <a:lstStyle/>
                <a:p>
                  <a:pPr>
                    <a:defRPr sz="1100" b="0" i="0" u="none" strike="noStrike">
                      <a:solidFill>
                        <a:srgbClr val="FFFFFF"/>
                      </a:solidFill>
                      <a:latin typeface="Arial"/>
                    </a:defRPr>
                  </a:pPr>
                  <a:endParaRPr lang="de-DE"/>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6F3-46F2-B38F-64A61180D667}"/>
                </c:ext>
              </c:extLst>
            </c:dLbl>
            <c:dLbl>
              <c:idx val="2"/>
              <c:numFmt formatCode="0&quot; m²&quot;" sourceLinked="0"/>
              <c:spPr/>
              <c:txPr>
                <a:bodyPr/>
                <a:lstStyle/>
                <a:p>
                  <a:pPr>
                    <a:defRPr sz="1100" b="0" i="0" u="none" strike="noStrike">
                      <a:solidFill>
                        <a:srgbClr val="FFFFFF"/>
                      </a:solidFill>
                      <a:latin typeface="Arial"/>
                    </a:defRPr>
                  </a:pPr>
                  <a:endParaRPr lang="de-DE"/>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6F3-46F2-B38F-64A61180D667}"/>
                </c:ext>
              </c:extLst>
            </c:dLbl>
            <c:dLbl>
              <c:idx val="3"/>
              <c:numFmt formatCode="0&quot; m²&quot;" sourceLinked="0"/>
              <c:spPr/>
              <c:txPr>
                <a:bodyPr/>
                <a:lstStyle/>
                <a:p>
                  <a:pPr>
                    <a:defRPr sz="1100" b="0" i="0" u="none" strike="noStrike">
                      <a:solidFill>
                        <a:srgbClr val="FFFFFF"/>
                      </a:solidFill>
                      <a:latin typeface="Arial"/>
                    </a:defRPr>
                  </a:pPr>
                  <a:endParaRPr lang="de-DE"/>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6F3-46F2-B38F-64A61180D667}"/>
                </c:ext>
              </c:extLst>
            </c:dLbl>
            <c:dLbl>
              <c:idx val="4"/>
              <c:numFmt formatCode="0&quot; m²&quot;" sourceLinked="0"/>
              <c:spPr/>
              <c:txPr>
                <a:bodyPr/>
                <a:lstStyle/>
                <a:p>
                  <a:pPr>
                    <a:defRPr sz="1100" b="0" i="0" u="none" strike="noStrike">
                      <a:solidFill>
                        <a:srgbClr val="FFFFFF"/>
                      </a:solidFill>
                      <a:latin typeface="Arial"/>
                    </a:defRPr>
                  </a:pPr>
                  <a:endParaRPr lang="de-DE"/>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76F3-46F2-B38F-64A61180D667}"/>
                </c:ext>
              </c:extLst>
            </c:dLbl>
            <c:numFmt formatCode="0&quot; m²&quot;" sourceLinked="0"/>
            <c:spPr>
              <a:noFill/>
              <a:ln>
                <a:noFill/>
              </a:ln>
              <a:effectLst/>
            </c:spPr>
            <c:txPr>
              <a:bodyPr/>
              <a:lstStyle/>
              <a:p>
                <a:pPr>
                  <a:defRPr sz="1800" b="0" i="0" u="none" strike="noStrike">
                    <a:solidFill>
                      <a:srgbClr val="000000"/>
                    </a:solidFill>
                    <a:latin typeface="Arial"/>
                  </a:defRPr>
                </a:pPr>
                <a:endParaRPr lang="de-DE"/>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Sheet1!$A$2:$A$6</c:f>
              <c:strCache>
                <c:ptCount val="5"/>
                <c:pt idx="0">
                  <c:v>Kundenfläche</c:v>
                </c:pt>
                <c:pt idx="1">
                  <c:v>Warenträger</c:v>
                </c:pt>
                <c:pt idx="2">
                  <c:v>Showküche</c:v>
                </c:pt>
                <c:pt idx="3">
                  <c:v>Dashboard</c:v>
                </c:pt>
                <c:pt idx="4">
                  <c:v>Kassen</c:v>
                </c:pt>
              </c:strCache>
            </c:strRef>
          </c:cat>
          <c:val>
            <c:numRef>
              <c:f>Sheet1!$B$2:$B$6</c:f>
              <c:numCache>
                <c:formatCode>General</c:formatCode>
                <c:ptCount val="5"/>
                <c:pt idx="0">
                  <c:v>133</c:v>
                </c:pt>
                <c:pt idx="1">
                  <c:v>32</c:v>
                </c:pt>
                <c:pt idx="2">
                  <c:v>18</c:v>
                </c:pt>
                <c:pt idx="3">
                  <c:v>1</c:v>
                </c:pt>
                <c:pt idx="4">
                  <c:v>6</c:v>
                </c:pt>
              </c:numCache>
            </c:numRef>
          </c:val>
          <c:extLst>
            <c:ext xmlns:c16="http://schemas.microsoft.com/office/drawing/2014/chart" uri="{C3380CC4-5D6E-409C-BE32-E72D297353CC}">
              <c16:uniqueId val="{0000000A-76F3-46F2-B38F-64A61180D667}"/>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100">
              <a:solidFill>
                <a:srgbClr val="2B2724"/>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1"/>
  <c:style val="2"/>
  <c:chart>
    <c:title>
      <c:tx>
        <c:rich>
          <a:bodyPr/>
          <a:lstStyle/>
          <a:p>
            <a:pPr>
              <a:defRPr sz="1200" b="0" i="0" u="none" strike="noStrike">
                <a:solidFill>
                  <a:srgbClr val="2B2724"/>
                </a:solidFill>
                <a:latin typeface="Calibri"/>
              </a:defRPr>
            </a:pPr>
            <a:r>
              <a:rPr sz="1200" b="0" i="0" u="none" strike="noStrike">
                <a:solidFill>
                  <a:srgbClr val="2B2724"/>
                </a:solidFill>
                <a:latin typeface="Calibri"/>
              </a:rPr>
              <a:t>Stellfläche der Warenträger je Bereich</a:t>
            </a:r>
          </a:p>
        </c:rich>
      </c:tx>
      <c:overlay val="0"/>
    </c:title>
    <c:autoTitleDeleted val="0"/>
    <c:plotArea>
      <c:layout/>
      <c:barChart>
        <c:barDir val="bar"/>
        <c:grouping val="clustered"/>
        <c:varyColors val="0"/>
        <c:ser>
          <c:idx val="0"/>
          <c:order val="0"/>
          <c:tx>
            <c:strRef>
              <c:f>Sheet1!$B$1</c:f>
              <c:strCache>
                <c:ptCount val="1"/>
                <c:pt idx="0">
                  <c:v>m² Stellfläche</c:v>
                </c:pt>
              </c:strCache>
            </c:strRef>
          </c:tx>
          <c:spPr>
            <a:solidFill>
              <a:srgbClr val="B5452F"/>
            </a:solidFill>
            <a:effectLst/>
          </c:spPr>
          <c:invertIfNegative val="0"/>
          <c:dLbls>
            <c:numFmt formatCode="0.0&quot; m²&quot;" sourceLinked="0"/>
            <c:spPr>
              <a:noFill/>
              <a:ln>
                <a:noFill/>
              </a:ln>
              <a:effectLst/>
            </c:spPr>
            <c:txPr>
              <a:bodyPr/>
              <a:lstStyle/>
              <a:p>
                <a:pPr>
                  <a:defRPr sz="1100" b="0" i="0" u="none" strike="noStrike">
                    <a:solidFill>
                      <a:srgbClr val="2B2724"/>
                    </a:solidFill>
                    <a:latin typeface="Arial"/>
                  </a:defRPr>
                </a:pPr>
                <a:endParaRPr lang="de-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Kochwelten (3 Gondeln)</c:v>
                </c:pt>
                <c:pt idx="1">
                  <c:v>Basissortiment</c:v>
                </c:pt>
                <c:pt idx="2">
                  <c:v>Kühlung Frische</c:v>
                </c:pt>
                <c:pt idx="3">
                  <c:v>Obst &amp; Gemüse</c:v>
                </c:pt>
                <c:pt idx="4">
                  <c:v>Wein &amp; Getränke</c:v>
                </c:pt>
                <c:pt idx="5">
                  <c:v>Dessert / TK</c:v>
                </c:pt>
              </c:strCache>
            </c:strRef>
          </c:cat>
          <c:val>
            <c:numRef>
              <c:f>Sheet1!$B$2:$B$7</c:f>
              <c:numCache>
                <c:formatCode>General</c:formatCode>
                <c:ptCount val="6"/>
                <c:pt idx="0">
                  <c:v>8.3</c:v>
                </c:pt>
                <c:pt idx="1">
                  <c:v>7.5</c:v>
                </c:pt>
                <c:pt idx="2">
                  <c:v>5.8</c:v>
                </c:pt>
                <c:pt idx="3">
                  <c:v>3.1</c:v>
                </c:pt>
                <c:pt idx="4">
                  <c:v>2.9</c:v>
                </c:pt>
                <c:pt idx="5">
                  <c:v>2.1</c:v>
                </c:pt>
              </c:numCache>
            </c:numRef>
          </c:val>
          <c:extLst>
            <c:ext xmlns:c16="http://schemas.microsoft.com/office/drawing/2014/chart" uri="{C3380CC4-5D6E-409C-BE32-E72D297353CC}">
              <c16:uniqueId val="{00000000-1083-4E41-8270-981D92800653}"/>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B2724"/>
                </a:solidFill>
                <a:latin typeface="Arial"/>
              </a:defRPr>
            </a:pPr>
            <a:endParaRPr lang="en-US"/>
          </a:p>
        </c:txPr>
        <c:crossAx val="2094734552"/>
        <c:crosses val="autoZero"/>
        <c:auto val="1"/>
        <c:lblAlgn val="ctr"/>
        <c:lblOffset val="100"/>
        <c:noMultiLvlLbl val="1"/>
      </c:catAx>
      <c:valAx>
        <c:axId val="2094734552"/>
        <c:scaling>
          <c:orientation val="minMax"/>
          <c:max val="9.5"/>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16331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Einstieg: Wir stellen ein Store-Konzept vor, das Einkauf und Kochen über Kochanlässe verbindet. Hinweis auf die Kennzeichnung: Q steht für Quellenwissen mit Fundstelle, A für unsere eigenen Fallannahmen. So ist jederzeit prüfbar, was belegt ist und was wir setzen.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Unsere Kundin kommt mit einem klaren Vorhaben: Heute Abend wird gekocht, und es soll schnell gehen. Offen ist nur das Gericht. Deshalb steht am Eingang der Matrix-Präsenter: Sie entscheidet erst die Küche, dann den Anlass, und hat damit ihr Rezept. One Hour heißt: maximal 15 Minuten Einkauf und maximal 45 Minuten Kochzeit.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Zwei naheliegende Fragen nehmen wir vorweg. Erstens: Gab es das nicht schon? Ja, das Kochhaus hat ab 2010 nach Rezepten sortiert und ist 2019 insolvent gegangen; laut Tagesspiegel war es zuletzt nicht profitabel und stand unter Druck durch Online-Kochboxen. Daraus lernen wir: Grundfrequenz durch das Basissortiment, neun Rezepte statt achtzehn bis zwanzig, sichtbare Küche. Zweitens: Warum nicht HelloFresh? Die Box verlangt eine Entscheidung Tage im Voraus. Unsere Kundin entscheidet heute auf dem Heimweg. Wo die Box besser ist, sagen wir offen: Man muss nicht in den Laden. Planer sind deshalb nicht unsere Zielgruppe. Wie groß die spontane Zielgruppe ist, bleibt eine Annahme.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Standort begründet Zielgruppe und Öffnungszeiten: Studierende und Berufstätige kommen mittags und nach Feierabend vorbei. Daraus folgen Live-Cooking in der Mittagspause und Kurse am Abend. Der Verkaufsraum hat rund 190 m²; dazu kommt ein L-förmiges Lager hinten und rechts, aus dem die Kühlung von hinten befüllt wird.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 wirtschaftliche Größe wählen wir die Kapazität der Showküche, weil sie unseren größten Zielkonflikt beantwortet: Fläche für Erlebnis statt für Ware. Wir vergleichen nicht Umsatz mit Umsatz, sondern Rohertrag der Ware mit dem Deckungsbeitrag der Kurse. Die Showküche belegt rund 18 von 190 m², also knapp ein Zehntel. Aussagegrenze: Investition und weitere Kosten sind nicht enthalten, alle Werte sind Annahmen.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 Plan von unten nach oben lesen. Wir betreten den Laden links durch den Eingang; nach etwa drei Metern steht das Matrix-Dashboard, leicht links, damit die Blickachse zur Showküche frei bleibt. Der Rezeptweg (rot) führt am schrägen Obst-und-Gemüse-Stand vorbei in den Rundlauf links, entlang der Kojen zur Kühlung an der Rückwand, weiter zu Dessert und Wein, durch das Basissortiment und zur Kasse direkt vor dem Ausgang. Der Schnellweg (grün gestrichelt) geht direkt ins Basissortiment. Das L-Lager liegt hinten und rechts: Anlieferung per Rolltor, die Kühlung wird von hinten befüllt. Der Notausgang liegt links und bleibt frei von Waren.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Jede Entscheidung aus dem Grundriss hat einen Grund. Grüne Marken zeigen, wo Kapitel 10 die Gestaltungslogik liefert, rote Marken, wo wir eine eigene Annahme treffen. Aussagegrenze: Kapitel 10 belegt die Logik, nicht die Wirkung in unserem Store.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Links die Flächenbilanz des Verkaufsraums nach den Flächenarten aus Modul 3: Kundenfläche rund 133 m², Stellfläche der Warenträger rund 32 m², Showküche rund 18 m², Kassen und Dashboard rund 7 m². Rechts die Raumzuteilung innerhalb der Warenfläche. Vorbereitete Antwort: Die Kundenfläche ist bewusst groß, weil Übergangszone, Zuschauerbereich und breite Gänge zum Konzept gehören.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verbinden wir die Seminarunterscheidung mit unserem Konzept. Kundenperspektive: kaufrelevant oder nicht; Händlerperspektive: kaufwahrscheinlich oder nicht. Die Kochwelten sollen neue Kaufrelevanz schaffen, das Basissortiment bestehende bedienen. Genau deshalb gibt es zwei Wege.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Regal der Pasta Night zeigt, wie das Dashboard im Laden weiterlebt. Jede Koje ist eine Spalte der Matrix, geteilt in günstig, besonders und schnell. Der Abschnitt schnell liegt am Regalkopf direkt am Gang. Waagerecht bleiben die Regalzonen: oben die Anlass-Schilder, in der Sichtzone Rezeptkarten und ein Bild des Gerichts, darunter die Zutaten. Es gibt keine fertigen Pakete: Die Kundin sammelt die Zutaten selbst anhand ihrer Karte. Kühlpflichtige Zutaten stehen nicht hier, dazu die nächste Folie.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Frage wird oft gestellt: Wo steht ein Produkt, das in mehreren Rezepten vorkommt? Unsere Antwort ist eine feste Regel. Hauptplatzierung im Produktblock, Zweitplatzierung nur für ungekühlte Ware. So bleibt die Kühlkette gesichert, und die Bestände sind an einem Ort gebündelt.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das Herzstück unseres Konzepts. Die Kundin trifft zwei Entscheidungen: Welche Küche, welcher Anlass. Am Schnittpunkt steht genau ein Rezept mit Kartenspender. Die Kriterien der Zeilen sind prüfbar festgelegt: schnell heißt höchstens 20 Minuten Kochzeit, günstig höchstens 4 Euro pro Portion, besonders heißt Menü mit Dessert. Das Ordnungsprinzip lehnt sich an den Kreuzblock aus Kapitel 10 an: zwei Ordnungen, waagerecht und senkrecht, miteinander verbunden. Aussagegrenze: Dass die Wahl dadurch schneller fällt, ist unsere Annahme.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Rezeptkarte nimmt die Entscheidung vom Präsenter mit in den Laden: Nummer und Anlass-Symbol finden sich im Regal wieder. Fachcodes zeigen den Fundort jeder Zutat, auch in der Kühlung. Damit setzen wir die Parmesan-Regel um und machen den Kundenweg planbar. Die Karte verbindet außerdem Einkauf und Showküche über den QR-Code.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Jedes Element folgt der Kette aus Modul 5: sichtbares Merkmal, beabsichtigte Funktion, Aussagegrenze. Das Fantasiefenster ist eine der Fensterarten aus Kapitel 10. Wir behaupten keine Wirkung, die wir nicht belegen können.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Atmosphäre unterstützt die Zweiteilung des Konzepts: Stimmung dort, wo irritiert und inspiriert werden soll; Klarheit dort, wo schnell eingekauft wird. Der Kochgeruch ist unser stärkstes Element, deshalb steuern wir ihn über Zeiten und Dunstabzug.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nehmen wir die typischen Rückfragen vorweg. Wer nur Milch kauft: Eingang, rechts ins Basissortiment, Kühlung hinten, Kasse. Das sind rund 25 Meter Weg. Was passiert am Dienstagvormittag: Kursvorbereitung und ab 12 Uhr Live-Cooking für die Mittagspause.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Kette zeigt, wie jede Gestaltung aus dem Kundenproblem folgt. Die ersten beiden Glieder sind unsere Setzungen, die folgenden stützen sich auf Kapitel 10. Wir benennen ausdrücklich die Aussagegrenze, wie in Modul 7 geübt.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Alle Fundstellen stammen aus dem verbindlichen Kapitel 10. Larson et al. stützt den Gedanken, Kundenwege zu beobachten; wir haben keine eigene Messung durchgeführt, das ist eine Aussagegrenze.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Rückgriff auf das Seminarfazit: Ein Store muss orientieren, ohne zu langweilen, und irritieren, ohne zu verwirren. Bei uns orientiert zuerst der Präsenter, dann irritieren die Kojen mit Ergänzungen, und die Showküche verführt.
Vorbereitete Antworten für die Fragerunde:
– Gab es das nicht schon? Ja, das Kochhaus; wir haben neun Rezepte statt zwanzig, Basissortiment und sichtbare Küche (Folie 3).
– Warum nicht HelloFresh? Die Box löst nächste Woche, wir lösen heute Abend (Folie 3).
– Was heißt schnell, günstig, besonders? Höchstens 20 Minuten, höchstens 4 Euro pro Portion, Menü mit Dessert (Folie 12).
– Parmesan in zwei Rezepten? Hauptplatzierung K3, Karten verweisen darauf (Folie 11).
– Dienstagvormittag? Kursvorbereitung, ab 12 Uhr Live-Cooking (Folie 16).
– Nur Milch? Schnellweg rechts, ca. 25 m (Folie 6).
– Warum 150 m²? Kleiner würde die Showküche die Verkaufsfläche zu stark belasten (Folie 5).
– Was ist belegt, was Annahme? Q- und A-Marken auf jeder Folie (Folie 18).</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 Id="rIdPlan" Type="http://schemas.openxmlformats.org/officeDocument/2006/relationships/image" Target="../media/grundriss-3d.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724"/>
        </a:solidFill>
        <a:effectLst/>
      </p:bgPr>
    </p:bg>
    <p:spTree>
      <p:nvGrpSpPr>
        <p:cNvPr id="1" name=""/>
        <p:cNvGrpSpPr/>
        <p:nvPr/>
      </p:nvGrpSpPr>
      <p:grpSpPr>
        <a:xfrm>
          <a:off x="0" y="0"/>
          <a:ext cx="0" cy="0"/>
          <a:chOff x="0" y="0"/>
          <a:chExt cx="0" cy="0"/>
        </a:xfrm>
      </p:grpSpPr>
      <p:sp>
        <p:nvSpPr>
          <p:cNvPr id="2" name="Text 0"/>
          <p:cNvSpPr txBox="1"/>
          <p:nvPr/>
        </p:nvSpPr>
        <p:spPr>
          <a:xfrm>
            <a:off x="731520" y="731520"/>
            <a:ext cx="10058400" cy="320040"/>
          </a:xfrm>
          <a:prstGeom prst="rect">
            <a:avLst/>
          </a:prstGeom>
          <a:noFill/>
          <a:ln/>
        </p:spPr>
        <p:txBody>
          <a:bodyPr wrap="square" lIns="0" tIns="0" rIns="0" bIns="0" rtlCol="0" anchor="ctr"/>
          <a:lstStyle/>
          <a:p>
            <a:pPr marL="0" indent="0">
              <a:buNone/>
            </a:pPr>
            <a:r>
              <a:rPr lang="en-US" sz="1300" b="1" kern="0" spc="200" dirty="0">
                <a:solidFill>
                  <a:srgbClr val="E0A08F"/>
                </a:solidFill>
                <a:latin typeface="Calibri" pitchFamily="34" charset="0"/>
                <a:ea typeface="Calibri" pitchFamily="34" charset="-122"/>
                <a:cs typeface="Calibri" pitchFamily="34" charset="-120"/>
              </a:rPr>
              <a:t>STORE-KONZEPT · KURS HD25A23 · PRÜFUNG 19.10.2026</a:t>
            </a:r>
            <a:endParaRPr lang="en-US" sz="1300" dirty="0"/>
          </a:p>
        </p:txBody>
      </p:sp>
      <p:sp>
        <p:nvSpPr>
          <p:cNvPr id="3" name="Text 1"/>
          <p:cNvSpPr txBox="1"/>
          <p:nvPr/>
        </p:nvSpPr>
        <p:spPr>
          <a:xfrm>
            <a:off x="731520" y="1828800"/>
            <a:ext cx="10515600" cy="1097280"/>
          </a:xfrm>
          <a:prstGeom prst="rect">
            <a:avLst/>
          </a:prstGeom>
          <a:noFill/>
          <a:ln/>
        </p:spPr>
        <p:txBody>
          <a:bodyPr wrap="square" lIns="0" tIns="0" rIns="0" bIns="0"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ONE HOUR KITCHEN</a:t>
            </a:r>
            <a:endParaRPr lang="en-US" sz="6000" dirty="0"/>
          </a:p>
        </p:txBody>
      </p:sp>
      <p:sp>
        <p:nvSpPr>
          <p:cNvPr id="4" name="Text 2"/>
          <p:cNvSpPr txBox="1"/>
          <p:nvPr/>
        </p:nvSpPr>
        <p:spPr>
          <a:xfrm>
            <a:off x="731520" y="2926080"/>
            <a:ext cx="10058400" cy="548640"/>
          </a:xfrm>
          <a:prstGeom prst="rect">
            <a:avLst/>
          </a:prstGeom>
          <a:noFill/>
          <a:ln/>
        </p:spPr>
        <p:txBody>
          <a:bodyPr wrap="square" lIns="0" tIns="0" rIns="0" bIns="0" rtlCol="0" anchor="ctr"/>
          <a:lstStyle/>
          <a:p>
            <a:pPr marL="0" indent="0">
              <a:buNone/>
            </a:pPr>
            <a:r>
              <a:rPr lang="en-US" sz="2600" i="1" dirty="0">
                <a:solidFill>
                  <a:srgbClr val="E0A08F"/>
                </a:solidFill>
                <a:latin typeface="Cambria" pitchFamily="34" charset="0"/>
                <a:ea typeface="Cambria" pitchFamily="34" charset="-122"/>
                <a:cs typeface="Cambria" pitchFamily="34" charset="-120"/>
              </a:rPr>
              <a:t>Shop. Cook. Enjoy.</a:t>
            </a:r>
            <a:endParaRPr lang="en-US" sz="2600" dirty="0"/>
          </a:p>
        </p:txBody>
      </p:sp>
      <p:sp>
        <p:nvSpPr>
          <p:cNvPr id="5" name="Text 3"/>
          <p:cNvSpPr txBox="1"/>
          <p:nvPr/>
        </p:nvSpPr>
        <p:spPr>
          <a:xfrm>
            <a:off x="731520" y="3611880"/>
            <a:ext cx="10058400" cy="411480"/>
          </a:xfrm>
          <a:prstGeom prst="rect">
            <a:avLst/>
          </a:prstGeom>
          <a:noFill/>
          <a:ln/>
        </p:spPr>
        <p:txBody>
          <a:bodyPr wrap="square" lIns="0" tIns="0" rIns="0" bIns="0" rtlCol="0" anchor="ctr"/>
          <a:lstStyle/>
          <a:p>
            <a:pPr marL="0" indent="0">
              <a:buNone/>
            </a:pPr>
            <a:r>
              <a:rPr lang="en-US" sz="1800" dirty="0">
                <a:solidFill>
                  <a:srgbClr val="D8D2CA"/>
                </a:solidFill>
                <a:latin typeface="Calibri" pitchFamily="34" charset="0"/>
                <a:ea typeface="Calibri" pitchFamily="34" charset="-122"/>
                <a:cs typeface="Calibri" pitchFamily="34" charset="-120"/>
              </a:rPr>
              <a:t>Food-Store mit wechselnden Kochwelten, Rezeptkarten und Showküche</a:t>
            </a:r>
            <a:endParaRPr lang="en-US" sz="1800" dirty="0"/>
          </a:p>
        </p:txBody>
      </p:sp>
      <p:sp>
        <p:nvSpPr>
          <p:cNvPr id="6" name="Text 4"/>
          <p:cNvSpPr txBox="1"/>
          <p:nvPr/>
        </p:nvSpPr>
        <p:spPr>
          <a:xfrm>
            <a:off x="731520" y="4846320"/>
            <a:ext cx="6400800" cy="320040"/>
          </a:xfrm>
          <a:prstGeom prst="rect">
            <a:avLst/>
          </a:prstGeom>
          <a:noFill/>
          <a:ln/>
        </p:spPr>
        <p:txBody>
          <a:bodyPr wrap="square" lIns="0" tIns="0" rIns="0" bIns="0" rtlCol="0" anchor="ctr"/>
          <a:lstStyle/>
          <a:p>
            <a:pPr marL="0" indent="0">
              <a:buNone/>
            </a:pPr>
            <a:r>
              <a:rPr lang="en-US" sz="1400" dirty="0">
                <a:solidFill>
                  <a:srgbClr val="D8D2CA"/>
                </a:solidFill>
                <a:latin typeface="Calibri" pitchFamily="34" charset="0"/>
                <a:ea typeface="Calibri" pitchFamily="34" charset="-122"/>
                <a:cs typeface="Calibri" pitchFamily="34" charset="-120"/>
              </a:rPr>
              <a:t>Gruppe: Name 1 · Name 2 · Name 3</a:t>
            </a:r>
            <a:endParaRPr lang="en-US" sz="1400" dirty="0"/>
          </a:p>
        </p:txBody>
      </p:sp>
      <p:sp>
        <p:nvSpPr>
          <p:cNvPr id="7" name="Shape 5"/>
          <p:cNvSpPr/>
          <p:nvPr/>
        </p:nvSpPr>
        <p:spPr>
          <a:xfrm>
            <a:off x="731520" y="5760720"/>
            <a:ext cx="256032" cy="256032"/>
          </a:xfrm>
          <a:prstGeom prst="ellipse">
            <a:avLst/>
          </a:prstGeom>
          <a:solidFill>
            <a:srgbClr val="4F6B3A"/>
          </a:solidFill>
          <a:ln w="12700">
            <a:solidFill>
              <a:srgbClr val="4F6B3A"/>
            </a:solidFill>
            <a:prstDash val="solid"/>
          </a:ln>
        </p:spPr>
        <p:txBody>
          <a:bodyPr/>
          <a:lstStyle/>
          <a:p>
            <a:endParaRPr lang="de-DE"/>
          </a:p>
        </p:txBody>
      </p:sp>
      <p:sp>
        <p:nvSpPr>
          <p:cNvPr id="8" name="Text 6"/>
          <p:cNvSpPr txBox="1"/>
          <p:nvPr/>
        </p:nvSpPr>
        <p:spPr>
          <a:xfrm>
            <a:off x="731520" y="5760720"/>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Q</a:t>
            </a:r>
            <a:endParaRPr lang="en-US" sz="1000" dirty="0"/>
          </a:p>
        </p:txBody>
      </p:sp>
      <p:sp>
        <p:nvSpPr>
          <p:cNvPr id="9" name="Text 7"/>
          <p:cNvSpPr txBox="1"/>
          <p:nvPr/>
        </p:nvSpPr>
        <p:spPr>
          <a:xfrm>
            <a:off x="1078992" y="5742432"/>
            <a:ext cx="2926080" cy="292608"/>
          </a:xfrm>
          <a:prstGeom prst="rect">
            <a:avLst/>
          </a:prstGeom>
          <a:noFill/>
          <a:ln/>
        </p:spPr>
        <p:txBody>
          <a:bodyPr wrap="square" lIns="0" tIns="0" rIns="0" bIns="0" rtlCol="0" anchor="ctr"/>
          <a:lstStyle/>
          <a:p>
            <a:pPr marL="0" indent="0">
              <a:buNone/>
            </a:pPr>
            <a:r>
              <a:rPr lang="en-US" sz="1200" dirty="0">
                <a:solidFill>
                  <a:srgbClr val="D8D2CA"/>
                </a:solidFill>
                <a:latin typeface="Calibri" pitchFamily="34" charset="0"/>
                <a:ea typeface="Calibri" pitchFamily="34" charset="-122"/>
                <a:cs typeface="Calibri" pitchFamily="34" charset="-120"/>
              </a:rPr>
              <a:t>Quellenwissen mit Fundstelle</a:t>
            </a:r>
            <a:endParaRPr lang="en-US" sz="1200" dirty="0"/>
          </a:p>
        </p:txBody>
      </p:sp>
      <p:sp>
        <p:nvSpPr>
          <p:cNvPr id="10" name="Shape 8"/>
          <p:cNvSpPr/>
          <p:nvPr/>
        </p:nvSpPr>
        <p:spPr>
          <a:xfrm>
            <a:off x="3931920" y="5760720"/>
            <a:ext cx="256032" cy="256032"/>
          </a:xfrm>
          <a:prstGeom prst="ellipse">
            <a:avLst/>
          </a:prstGeom>
          <a:solidFill>
            <a:srgbClr val="B5452F"/>
          </a:solidFill>
          <a:ln w="12700">
            <a:solidFill>
              <a:srgbClr val="B5452F"/>
            </a:solidFill>
            <a:prstDash val="solid"/>
          </a:ln>
        </p:spPr>
        <p:txBody>
          <a:bodyPr/>
          <a:lstStyle/>
          <a:p>
            <a:endParaRPr lang="de-DE"/>
          </a:p>
        </p:txBody>
      </p:sp>
      <p:sp>
        <p:nvSpPr>
          <p:cNvPr id="11" name="Text 9"/>
          <p:cNvSpPr txBox="1"/>
          <p:nvPr/>
        </p:nvSpPr>
        <p:spPr>
          <a:xfrm>
            <a:off x="3931920" y="5760720"/>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12" name="Text 10"/>
          <p:cNvSpPr txBox="1"/>
          <p:nvPr/>
        </p:nvSpPr>
        <p:spPr>
          <a:xfrm>
            <a:off x="4279392" y="5742432"/>
            <a:ext cx="3200400" cy="292608"/>
          </a:xfrm>
          <a:prstGeom prst="rect">
            <a:avLst/>
          </a:prstGeom>
          <a:noFill/>
          <a:ln/>
        </p:spPr>
        <p:txBody>
          <a:bodyPr wrap="square" lIns="0" tIns="0" rIns="0" bIns="0" rtlCol="0" anchor="ctr"/>
          <a:lstStyle/>
          <a:p>
            <a:pPr marL="0" indent="0">
              <a:buNone/>
            </a:pPr>
            <a:r>
              <a:rPr lang="en-US" sz="1200" dirty="0">
                <a:solidFill>
                  <a:srgbClr val="D8D2CA"/>
                </a:solidFill>
                <a:latin typeface="Calibri" pitchFamily="34" charset="0"/>
                <a:ea typeface="Calibri" pitchFamily="34" charset="-122"/>
                <a:cs typeface="Calibri" pitchFamily="34" charset="-120"/>
              </a:rPr>
              <a:t>gekennzeichnete Fallannahme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0972800" cy="274320"/>
          </a:xfrm>
          <a:prstGeom prst="rect">
            <a:avLst/>
          </a:prstGeom>
          <a:noFill/>
          <a:ln/>
        </p:spPr>
        <p:txBody>
          <a:bodyPr wrap="square" lIns="0" tIns="0" rIns="0" bIns="0" rtlCol="0" anchor="ctr"/>
          <a:lstStyle/>
          <a:p>
            <a:pPr marL="0" indent="0">
              <a:buNone/>
            </a:pPr>
            <a:r>
              <a:rPr lang="en-US" sz="1200" b="1" dirty="0">
                <a:solidFill>
                  <a:srgbClr val="B5452F"/>
                </a:solidFill>
                <a:latin typeface="Calibri" pitchFamily="34" charset="0"/>
                <a:ea typeface="Calibri" pitchFamily="34" charset="-122"/>
                <a:cs typeface="Calibri" pitchFamily="34" charset="-120"/>
              </a:rPr>
              <a:t>1 · KUNDENPROBLEM UND IDEE</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2B2724"/>
                </a:solidFill>
                <a:latin typeface="Cambria" pitchFamily="34" charset="0"/>
                <a:ea typeface="Cambria" pitchFamily="34" charset="-122"/>
                <a:cs typeface="Cambria" pitchFamily="34" charset="-120"/>
              </a:rPr>
              <a:t>Zwei Entscheidungen am Eingang, ein Rezept für heute Abend.</a:t>
            </a:r>
            <a:endParaRPr lang="en-US" sz="2800" dirty="0"/>
          </a:p>
        </p:txBody>
      </p:sp>
      <p:sp>
        <p:nvSpPr>
          <p:cNvPr id="4" name="Shape 2"/>
          <p:cNvSpPr/>
          <p:nvPr/>
        </p:nvSpPr>
        <p:spPr>
          <a:xfrm>
            <a:off x="548640" y="6419088"/>
            <a:ext cx="11091672" cy="0"/>
          </a:xfrm>
          <a:prstGeom prst="line">
            <a:avLst/>
          </a:prstGeom>
          <a:noFill/>
          <a:ln w="9525">
            <a:solidFill>
              <a:srgbClr val="D9D1C5"/>
            </a:solidFill>
            <a:prstDash val="solid"/>
          </a:ln>
        </p:spPr>
        <p:txBody>
          <a:bodyPr/>
          <a:lstStyle/>
          <a:p>
            <a:endParaRPr lang="de-DE"/>
          </a:p>
        </p:txBody>
      </p:sp>
      <p:sp>
        <p:nvSpPr>
          <p:cNvPr id="5" name="Text 3"/>
          <p:cNvSpPr txBox="1"/>
          <p:nvPr/>
        </p:nvSpPr>
        <p:spPr>
          <a:xfrm>
            <a:off x="548640" y="6473952"/>
            <a:ext cx="7315200" cy="228600"/>
          </a:xfrm>
          <a:prstGeom prst="rect">
            <a:avLst/>
          </a:prstGeom>
          <a:noFill/>
          <a:ln/>
        </p:spPr>
        <p:txBody>
          <a:bodyPr wrap="square" lIns="0" tIns="0" rIns="0" bIns="0" rtlCol="0" anchor="ctr"/>
          <a:lstStyle/>
          <a:p>
            <a:pPr marL="0" indent="0">
              <a:buNone/>
            </a:pPr>
            <a:r>
              <a:rPr lang="en-US" sz="900" dirty="0">
                <a:solidFill>
                  <a:srgbClr val="6F6862"/>
                </a:solidFill>
                <a:latin typeface="Calibri" pitchFamily="34" charset="0"/>
                <a:ea typeface="Calibri" pitchFamily="34" charset="-122"/>
                <a:cs typeface="Calibri" pitchFamily="34" charset="-120"/>
              </a:rPr>
              <a:t>One Hour Kitchen · Store-Konzept · Kurs HD25A23</a:t>
            </a:r>
            <a:endParaRPr lang="en-US" sz="900" dirty="0"/>
          </a:p>
        </p:txBody>
      </p:sp>
      <p:sp>
        <p:nvSpPr>
          <p:cNvPr id="6" name="Text 4"/>
          <p:cNvSpPr txBox="1"/>
          <p:nvPr/>
        </p:nvSpPr>
        <p:spPr>
          <a:xfrm>
            <a:off x="10725912" y="6473952"/>
            <a:ext cx="914400" cy="228600"/>
          </a:xfrm>
          <a:prstGeom prst="rect">
            <a:avLst/>
          </a:prstGeom>
          <a:noFill/>
          <a:ln/>
        </p:spPr>
        <p:txBody>
          <a:bodyPr wrap="square" lIns="0" tIns="0" rIns="0" bIns="0" rtlCol="0" anchor="ctr"/>
          <a:lstStyle/>
          <a:p>
            <a:pPr marL="0" indent="0" algn="r">
              <a:buNone/>
            </a:pPr>
            <a:r>
              <a:rPr lang="en-US" sz="900" dirty="0">
                <a:solidFill>
                  <a:srgbClr val="6F6862"/>
                </a:solidFill>
                <a:latin typeface="Calibri" pitchFamily="34" charset="0"/>
                <a:ea typeface="Calibri" pitchFamily="34" charset="-122"/>
                <a:cs typeface="Calibri" pitchFamily="34" charset="-120"/>
              </a:rPr>
              <a:t>2</a:t>
            </a:r>
            <a:endParaRPr lang="en-US" sz="900" dirty="0"/>
          </a:p>
        </p:txBody>
      </p:sp>
      <p:sp>
        <p:nvSpPr>
          <p:cNvPr id="7" name="Shape 5"/>
          <p:cNvSpPr/>
          <p:nvPr/>
        </p:nvSpPr>
        <p:spPr>
          <a:xfrm>
            <a:off x="548640" y="1463040"/>
            <a:ext cx="4937760" cy="4480560"/>
          </a:xfrm>
          <a:prstGeom prst="rect">
            <a:avLst/>
          </a:prstGeom>
          <a:solidFill>
            <a:srgbClr val="2B2724"/>
          </a:solidFill>
          <a:ln w="12700">
            <a:solidFill>
              <a:srgbClr val="2B2724"/>
            </a:solidFill>
            <a:prstDash val="solid"/>
          </a:ln>
        </p:spPr>
        <p:txBody>
          <a:bodyPr/>
          <a:lstStyle/>
          <a:p>
            <a:endParaRPr lang="de-DE"/>
          </a:p>
        </p:txBody>
      </p:sp>
      <p:sp>
        <p:nvSpPr>
          <p:cNvPr id="8" name="Text 6"/>
          <p:cNvSpPr txBox="1"/>
          <p:nvPr/>
        </p:nvSpPr>
        <p:spPr>
          <a:xfrm>
            <a:off x="868680" y="1783080"/>
            <a:ext cx="4389120" cy="1463040"/>
          </a:xfrm>
          <a:prstGeom prst="rect">
            <a:avLst/>
          </a:prstGeom>
          <a:noFill/>
          <a:ln/>
        </p:spPr>
        <p:txBody>
          <a:bodyPr wrap="square" lIns="0" tIns="0" rIns="0" bIns="0" rtlCol="0" anchor="t"/>
          <a:lstStyle/>
          <a:p>
            <a:pPr marL="0" indent="0">
              <a:buNone/>
            </a:pPr>
            <a:r>
              <a:rPr lang="en-US" sz="3000" i="1" dirty="0">
                <a:solidFill>
                  <a:srgbClr val="FFFFFF"/>
                </a:solidFill>
                <a:latin typeface="Cambria" pitchFamily="34" charset="0"/>
                <a:ea typeface="Cambria" pitchFamily="34" charset="-122"/>
                <a:cs typeface="Cambria" pitchFamily="34" charset="-120"/>
              </a:rPr>
              <a:t>„Was kochen wir heute Abend?“</a:t>
            </a:r>
            <a:endParaRPr lang="en-US" sz="3000" dirty="0"/>
          </a:p>
        </p:txBody>
      </p:sp>
      <p:sp>
        <p:nvSpPr>
          <p:cNvPr id="9" name="Text 7"/>
          <p:cNvSpPr txBox="1"/>
          <p:nvPr/>
        </p:nvSpPr>
        <p:spPr>
          <a:xfrm>
            <a:off x="868680" y="3429000"/>
            <a:ext cx="4297680" cy="1097280"/>
          </a:xfrm>
          <a:prstGeom prst="rect">
            <a:avLst/>
          </a:prstGeom>
          <a:noFill/>
          <a:ln/>
        </p:spPr>
        <p:txBody>
          <a:bodyPr wrap="square" lIns="0" tIns="0" rIns="0" bIns="0" rtlCol="0" anchor="ctr"/>
          <a:lstStyle/>
          <a:p>
            <a:pPr marL="0" indent="0">
              <a:buNone/>
            </a:pPr>
            <a:r>
              <a:rPr lang="en-US" sz="1500" dirty="0">
                <a:solidFill>
                  <a:srgbClr val="D8D2CA"/>
                </a:solidFill>
                <a:latin typeface="Calibri" pitchFamily="34" charset="0"/>
                <a:ea typeface="Calibri" pitchFamily="34" charset="-122"/>
                <a:cs typeface="Calibri" pitchFamily="34" charset="-120"/>
              </a:rPr>
              <a:t>Die Kundin weiß, dass sie heute kocht, und will schnell entscheiden. Offen ist nur, was es gibt.</a:t>
            </a:r>
            <a:endParaRPr lang="en-US" sz="1500" dirty="0"/>
          </a:p>
        </p:txBody>
      </p:sp>
      <p:sp>
        <p:nvSpPr>
          <p:cNvPr id="10" name="Shape 8"/>
          <p:cNvSpPr/>
          <p:nvPr/>
        </p:nvSpPr>
        <p:spPr>
          <a:xfrm>
            <a:off x="868680" y="5303520"/>
            <a:ext cx="237744" cy="237744"/>
          </a:xfrm>
          <a:prstGeom prst="ellipse">
            <a:avLst/>
          </a:prstGeom>
          <a:solidFill>
            <a:srgbClr val="B5452F"/>
          </a:solidFill>
          <a:ln w="12700">
            <a:solidFill>
              <a:srgbClr val="B5452F"/>
            </a:solidFill>
            <a:prstDash val="solid"/>
          </a:ln>
        </p:spPr>
        <p:txBody>
          <a:bodyPr/>
          <a:lstStyle/>
          <a:p>
            <a:endParaRPr lang="de-DE"/>
          </a:p>
        </p:txBody>
      </p:sp>
      <p:sp>
        <p:nvSpPr>
          <p:cNvPr id="11" name="Text 9"/>
          <p:cNvSpPr txBox="1"/>
          <p:nvPr/>
        </p:nvSpPr>
        <p:spPr>
          <a:xfrm>
            <a:off x="868680" y="5303520"/>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12" name="Text 10"/>
          <p:cNvSpPr txBox="1"/>
          <p:nvPr/>
        </p:nvSpPr>
        <p:spPr>
          <a:xfrm>
            <a:off x="1179576" y="5276088"/>
            <a:ext cx="4023360" cy="292608"/>
          </a:xfrm>
          <a:prstGeom prst="rect">
            <a:avLst/>
          </a:prstGeom>
          <a:noFill/>
          <a:ln/>
        </p:spPr>
        <p:txBody>
          <a:bodyPr wrap="square" lIns="0" tIns="0" rIns="0" bIns="0" rtlCol="0" anchor="ctr"/>
          <a:lstStyle/>
          <a:p>
            <a:pPr marL="0" indent="0">
              <a:buNone/>
            </a:pPr>
            <a:r>
              <a:rPr lang="en-US" sz="1100" dirty="0">
                <a:solidFill>
                  <a:srgbClr val="D8D2CA"/>
                </a:solidFill>
                <a:latin typeface="Calibri" pitchFamily="34" charset="0"/>
                <a:ea typeface="Calibri" pitchFamily="34" charset="-122"/>
                <a:cs typeface="Calibri" pitchFamily="34" charset="-120"/>
              </a:rPr>
              <a:t>Kundenproblem aus eigener Zielgruppenannahme</a:t>
            </a:r>
            <a:endParaRPr lang="en-US" sz="1100" dirty="0"/>
          </a:p>
        </p:txBody>
      </p:sp>
      <p:sp>
        <p:nvSpPr>
          <p:cNvPr id="13" name="Shape 11"/>
          <p:cNvSpPr/>
          <p:nvPr/>
        </p:nvSpPr>
        <p:spPr>
          <a:xfrm>
            <a:off x="5943600" y="1508760"/>
            <a:ext cx="329184" cy="329184"/>
          </a:xfrm>
          <a:prstGeom prst="ellipse">
            <a:avLst/>
          </a:prstGeom>
          <a:solidFill>
            <a:srgbClr val="B5452F"/>
          </a:solidFill>
          <a:ln w="12700">
            <a:solidFill>
              <a:srgbClr val="FFFFFF"/>
            </a:solidFill>
            <a:prstDash val="solid"/>
          </a:ln>
        </p:spPr>
        <p:txBody>
          <a:bodyPr/>
          <a:lstStyle/>
          <a:p>
            <a:endParaRPr lang="de-DE"/>
          </a:p>
        </p:txBody>
      </p:sp>
      <p:sp>
        <p:nvSpPr>
          <p:cNvPr id="14" name="Text 12"/>
          <p:cNvSpPr txBox="1"/>
          <p:nvPr/>
        </p:nvSpPr>
        <p:spPr>
          <a:xfrm>
            <a:off x="5943600" y="150876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5" name="Text 13"/>
          <p:cNvSpPr txBox="1"/>
          <p:nvPr/>
        </p:nvSpPr>
        <p:spPr>
          <a:xfrm>
            <a:off x="6446520" y="1463040"/>
            <a:ext cx="5120640" cy="320040"/>
          </a:xfrm>
          <a:prstGeom prst="rect">
            <a:avLst/>
          </a:prstGeom>
          <a:noFill/>
          <a:ln/>
        </p:spPr>
        <p:txBody>
          <a:bodyPr wrap="square" lIns="0" tIns="0" rIns="0" bIns="0" rtlCol="0" anchor="ctr"/>
          <a:lstStyle/>
          <a:p>
            <a:pPr marL="0" indent="0">
              <a:buNone/>
            </a:pPr>
            <a:r>
              <a:rPr lang="en-US" sz="1600" b="1" dirty="0">
                <a:solidFill>
                  <a:srgbClr val="2B2724"/>
                </a:solidFill>
                <a:latin typeface="Calibri" pitchFamily="34" charset="0"/>
                <a:ea typeface="Calibri" pitchFamily="34" charset="-122"/>
                <a:cs typeface="Calibri" pitchFamily="34" charset="-120"/>
              </a:rPr>
              <a:t>Matrix-Dashboard am Eingang</a:t>
            </a:r>
            <a:endParaRPr lang="en-US" sz="1600" dirty="0"/>
          </a:p>
        </p:txBody>
      </p:sp>
      <p:sp>
        <p:nvSpPr>
          <p:cNvPr id="16" name="Text 14"/>
          <p:cNvSpPr txBox="1"/>
          <p:nvPr/>
        </p:nvSpPr>
        <p:spPr>
          <a:xfrm>
            <a:off x="6446520" y="1792224"/>
            <a:ext cx="5120640" cy="548640"/>
          </a:xfrm>
          <a:prstGeom prst="rect">
            <a:avLst/>
          </a:prstGeom>
          <a:noFill/>
          <a:ln/>
        </p:spPr>
        <p:txBody>
          <a:bodyPr wrap="square" lIns="0" tIns="0" rIns="0" bIns="0" rtlCol="0" anchor="ctr"/>
          <a:lstStyle/>
          <a:p>
            <a:pPr marL="0" indent="0">
              <a:buNone/>
            </a:pPr>
            <a:r>
              <a:rPr lang="en-US" sz="1300" dirty="0">
                <a:solidFill>
                  <a:srgbClr val="6F6862"/>
                </a:solidFill>
                <a:latin typeface="Calibri" pitchFamily="34" charset="0"/>
                <a:ea typeface="Calibri" pitchFamily="34" charset="-122"/>
                <a:cs typeface="Calibri" pitchFamily="34" charset="-120"/>
              </a:rPr>
              <a:t>Spalten: Küche (Pasta, Asian, Mexican). Zeilen: Anlass (schnell, besonders, günstig). Am Schnittpunkt steht genau ein Rezept.</a:t>
            </a:r>
            <a:endParaRPr lang="en-US" sz="1300" dirty="0"/>
          </a:p>
        </p:txBody>
      </p:sp>
      <p:sp>
        <p:nvSpPr>
          <p:cNvPr id="17" name="Shape 15"/>
          <p:cNvSpPr/>
          <p:nvPr/>
        </p:nvSpPr>
        <p:spPr>
          <a:xfrm>
            <a:off x="5943600" y="2468880"/>
            <a:ext cx="329184" cy="329184"/>
          </a:xfrm>
          <a:prstGeom prst="ellipse">
            <a:avLst/>
          </a:prstGeom>
          <a:solidFill>
            <a:srgbClr val="B5452F"/>
          </a:solidFill>
          <a:ln w="12700">
            <a:solidFill>
              <a:srgbClr val="FFFFFF"/>
            </a:solidFill>
            <a:prstDash val="solid"/>
          </a:ln>
        </p:spPr>
        <p:txBody>
          <a:bodyPr/>
          <a:lstStyle/>
          <a:p>
            <a:endParaRPr lang="de-DE"/>
          </a:p>
        </p:txBody>
      </p:sp>
      <p:sp>
        <p:nvSpPr>
          <p:cNvPr id="18" name="Text 16"/>
          <p:cNvSpPr txBox="1"/>
          <p:nvPr/>
        </p:nvSpPr>
        <p:spPr>
          <a:xfrm>
            <a:off x="5943600" y="246888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9" name="Text 17"/>
          <p:cNvSpPr txBox="1"/>
          <p:nvPr/>
        </p:nvSpPr>
        <p:spPr>
          <a:xfrm>
            <a:off x="6446520" y="2423160"/>
            <a:ext cx="5120640" cy="320040"/>
          </a:xfrm>
          <a:prstGeom prst="rect">
            <a:avLst/>
          </a:prstGeom>
          <a:noFill/>
          <a:ln/>
        </p:spPr>
        <p:txBody>
          <a:bodyPr wrap="square" lIns="0" tIns="0" rIns="0" bIns="0" rtlCol="0" anchor="ctr"/>
          <a:lstStyle/>
          <a:p>
            <a:pPr marL="0" indent="0">
              <a:buNone/>
            </a:pPr>
            <a:r>
              <a:rPr lang="en-US" sz="1600" b="1" dirty="0">
                <a:solidFill>
                  <a:srgbClr val="2B2724"/>
                </a:solidFill>
                <a:latin typeface="Calibri" pitchFamily="34" charset="0"/>
                <a:ea typeface="Calibri" pitchFamily="34" charset="-122"/>
                <a:cs typeface="Calibri" pitchFamily="34" charset="-120"/>
              </a:rPr>
              <a:t>Rezeptkarte als Wegweiser</a:t>
            </a:r>
            <a:endParaRPr lang="en-US" sz="1600" dirty="0"/>
          </a:p>
        </p:txBody>
      </p:sp>
      <p:sp>
        <p:nvSpPr>
          <p:cNvPr id="20" name="Text 18"/>
          <p:cNvSpPr txBox="1"/>
          <p:nvPr/>
        </p:nvSpPr>
        <p:spPr>
          <a:xfrm>
            <a:off x="6446520" y="2752344"/>
            <a:ext cx="5120640" cy="548640"/>
          </a:xfrm>
          <a:prstGeom prst="rect">
            <a:avLst/>
          </a:prstGeom>
          <a:noFill/>
          <a:ln/>
        </p:spPr>
        <p:txBody>
          <a:bodyPr wrap="square" lIns="0" tIns="0" rIns="0" bIns="0" rtlCol="0" anchor="ctr"/>
          <a:lstStyle/>
          <a:p>
            <a:pPr marL="0" indent="0">
              <a:buNone/>
            </a:pPr>
            <a:r>
              <a:rPr lang="en-US" sz="1300" dirty="0">
                <a:solidFill>
                  <a:srgbClr val="6F6862"/>
                </a:solidFill>
                <a:latin typeface="Calibri" pitchFamily="34" charset="0"/>
                <a:ea typeface="Calibri" pitchFamily="34" charset="-122"/>
                <a:cs typeface="Calibri" pitchFamily="34" charset="-120"/>
              </a:rPr>
              <a:t>Die Karte führt in die passende Koje. Dort wiederholt sich die Matrix im Regal.</a:t>
            </a:r>
            <a:endParaRPr lang="en-US" sz="1300" dirty="0"/>
          </a:p>
        </p:txBody>
      </p:sp>
      <p:sp>
        <p:nvSpPr>
          <p:cNvPr id="21" name="Shape 19"/>
          <p:cNvSpPr/>
          <p:nvPr/>
        </p:nvSpPr>
        <p:spPr>
          <a:xfrm>
            <a:off x="5943600" y="3429000"/>
            <a:ext cx="329184" cy="329184"/>
          </a:xfrm>
          <a:prstGeom prst="ellipse">
            <a:avLst/>
          </a:prstGeom>
          <a:solidFill>
            <a:srgbClr val="B5452F"/>
          </a:solidFill>
          <a:ln w="12700">
            <a:solidFill>
              <a:srgbClr val="FFFFFF"/>
            </a:solidFill>
            <a:prstDash val="solid"/>
          </a:ln>
        </p:spPr>
        <p:txBody>
          <a:bodyPr/>
          <a:lstStyle/>
          <a:p>
            <a:endParaRPr lang="de-DE"/>
          </a:p>
        </p:txBody>
      </p:sp>
      <p:sp>
        <p:nvSpPr>
          <p:cNvPr id="22" name="Text 20"/>
          <p:cNvSpPr txBox="1"/>
          <p:nvPr/>
        </p:nvSpPr>
        <p:spPr>
          <a:xfrm>
            <a:off x="5943600" y="342900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txBox="1"/>
          <p:nvPr/>
        </p:nvSpPr>
        <p:spPr>
          <a:xfrm>
            <a:off x="6446520" y="3383280"/>
            <a:ext cx="5120640" cy="320040"/>
          </a:xfrm>
          <a:prstGeom prst="rect">
            <a:avLst/>
          </a:prstGeom>
          <a:noFill/>
          <a:ln/>
        </p:spPr>
        <p:txBody>
          <a:bodyPr wrap="square" lIns="0" tIns="0" rIns="0" bIns="0" rtlCol="0" anchor="ctr"/>
          <a:lstStyle/>
          <a:p>
            <a:pPr marL="0" indent="0">
              <a:buNone/>
            </a:pPr>
            <a:r>
              <a:rPr lang="en-US" sz="1600" b="1" dirty="0">
                <a:solidFill>
                  <a:srgbClr val="2B2724"/>
                </a:solidFill>
                <a:latin typeface="Calibri" pitchFamily="34" charset="0"/>
                <a:ea typeface="Calibri" pitchFamily="34" charset="-122"/>
                <a:cs typeface="Calibri" pitchFamily="34" charset="-120"/>
              </a:rPr>
              <a:t>Showküche als Zusatz</a:t>
            </a:r>
            <a:endParaRPr lang="en-US" sz="1600" dirty="0"/>
          </a:p>
        </p:txBody>
      </p:sp>
      <p:sp>
        <p:nvSpPr>
          <p:cNvPr id="24" name="Text 22"/>
          <p:cNvSpPr txBox="1"/>
          <p:nvPr/>
        </p:nvSpPr>
        <p:spPr>
          <a:xfrm>
            <a:off x="6446520" y="3712464"/>
            <a:ext cx="5120640" cy="548640"/>
          </a:xfrm>
          <a:prstGeom prst="rect">
            <a:avLst/>
          </a:prstGeom>
          <a:noFill/>
          <a:ln/>
        </p:spPr>
        <p:txBody>
          <a:bodyPr wrap="square" lIns="0" tIns="0" rIns="0" bIns="0" rtlCol="0" anchor="ctr"/>
          <a:lstStyle/>
          <a:p>
            <a:pPr marL="0" indent="0">
              <a:buNone/>
            </a:pPr>
            <a:r>
              <a:rPr lang="en-US" sz="1300" dirty="0">
                <a:solidFill>
                  <a:srgbClr val="6F6862"/>
                </a:solidFill>
                <a:latin typeface="Calibri" pitchFamily="34" charset="0"/>
                <a:ea typeface="Calibri" pitchFamily="34" charset="-122"/>
                <a:cs typeface="Calibri" pitchFamily="34" charset="-120"/>
              </a:rPr>
              <a:t>Live-Cooking und Kurse für alle, die den Abend zum Erlebnis machen wollen.</a:t>
            </a:r>
            <a:endParaRPr lang="en-US" sz="1300" dirty="0"/>
          </a:p>
        </p:txBody>
      </p:sp>
      <p:sp>
        <p:nvSpPr>
          <p:cNvPr id="25" name="Text 23"/>
          <p:cNvSpPr txBox="1"/>
          <p:nvPr/>
        </p:nvSpPr>
        <p:spPr>
          <a:xfrm>
            <a:off x="5943600" y="4434840"/>
            <a:ext cx="5486400" cy="320040"/>
          </a:xfrm>
          <a:prstGeom prst="rect">
            <a:avLst/>
          </a:prstGeom>
          <a:noFill/>
          <a:ln/>
        </p:spPr>
        <p:txBody>
          <a:bodyPr wrap="square" lIns="0" tIns="0" rIns="0" bIns="0" rtlCol="0" anchor="ctr"/>
          <a:lstStyle/>
          <a:p>
            <a:pPr marL="0" indent="0">
              <a:buNone/>
            </a:pPr>
            <a:r>
              <a:rPr lang="en-US" sz="1500" b="1" dirty="0">
                <a:solidFill>
                  <a:srgbClr val="2B2724"/>
                </a:solidFill>
                <a:latin typeface="Calibri" pitchFamily="34" charset="0"/>
                <a:ea typeface="Calibri" pitchFamily="34" charset="-122"/>
                <a:cs typeface="Calibri" pitchFamily="34" charset="-120"/>
              </a:rPr>
              <a:t>Das „One Hour“-Versprechen</a:t>
            </a:r>
            <a:endParaRPr lang="en-US" sz="1500" dirty="0"/>
          </a:p>
        </p:txBody>
      </p:sp>
      <p:sp>
        <p:nvSpPr>
          <p:cNvPr id="26" name="Shape 24"/>
          <p:cNvSpPr/>
          <p:nvPr/>
        </p:nvSpPr>
        <p:spPr>
          <a:xfrm>
            <a:off x="5943600" y="4846320"/>
            <a:ext cx="1417320" cy="502920"/>
          </a:xfrm>
          <a:prstGeom prst="rect">
            <a:avLst/>
          </a:prstGeom>
          <a:solidFill>
            <a:srgbClr val="4F6B3A"/>
          </a:solidFill>
          <a:ln w="12700">
            <a:solidFill>
              <a:srgbClr val="4F6B3A"/>
            </a:solidFill>
            <a:prstDash val="solid"/>
          </a:ln>
        </p:spPr>
        <p:txBody>
          <a:bodyPr/>
          <a:lstStyle/>
          <a:p>
            <a:endParaRPr lang="de-DE"/>
          </a:p>
        </p:txBody>
      </p:sp>
      <p:sp>
        <p:nvSpPr>
          <p:cNvPr id="27" name="Shape 25"/>
          <p:cNvSpPr/>
          <p:nvPr/>
        </p:nvSpPr>
        <p:spPr>
          <a:xfrm>
            <a:off x="7360920" y="4846320"/>
            <a:ext cx="4251960" cy="502920"/>
          </a:xfrm>
          <a:prstGeom prst="rect">
            <a:avLst/>
          </a:prstGeom>
          <a:solidFill>
            <a:srgbClr val="B5452F"/>
          </a:solidFill>
          <a:ln w="12700">
            <a:solidFill>
              <a:srgbClr val="B5452F"/>
            </a:solidFill>
            <a:prstDash val="solid"/>
          </a:ln>
        </p:spPr>
        <p:txBody>
          <a:bodyPr/>
          <a:lstStyle/>
          <a:p>
            <a:endParaRPr lang="de-DE"/>
          </a:p>
        </p:txBody>
      </p:sp>
      <p:sp>
        <p:nvSpPr>
          <p:cNvPr id="28" name="Text 26"/>
          <p:cNvSpPr txBox="1"/>
          <p:nvPr/>
        </p:nvSpPr>
        <p:spPr>
          <a:xfrm>
            <a:off x="5943600" y="4846320"/>
            <a:ext cx="141732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15 Min. Einkauf</a:t>
            </a:r>
            <a:endParaRPr lang="en-US" sz="1100" dirty="0"/>
          </a:p>
        </p:txBody>
      </p:sp>
      <p:sp>
        <p:nvSpPr>
          <p:cNvPr id="29" name="Text 27"/>
          <p:cNvSpPr txBox="1"/>
          <p:nvPr/>
        </p:nvSpPr>
        <p:spPr>
          <a:xfrm>
            <a:off x="7360920" y="4846320"/>
            <a:ext cx="425196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45 Min. Kochzeit laut Rezeptkarte</a:t>
            </a:r>
            <a:endParaRPr lang="en-US" sz="1200" dirty="0"/>
          </a:p>
        </p:txBody>
      </p:sp>
      <p:sp>
        <p:nvSpPr>
          <p:cNvPr id="30" name="Shape 28"/>
          <p:cNvSpPr/>
          <p:nvPr/>
        </p:nvSpPr>
        <p:spPr>
          <a:xfrm>
            <a:off x="5943600" y="5532120"/>
            <a:ext cx="237744" cy="237744"/>
          </a:xfrm>
          <a:prstGeom prst="ellipse">
            <a:avLst/>
          </a:prstGeom>
          <a:solidFill>
            <a:srgbClr val="B5452F"/>
          </a:solidFill>
          <a:ln w="12700">
            <a:solidFill>
              <a:srgbClr val="B5452F"/>
            </a:solidFill>
            <a:prstDash val="solid"/>
          </a:ln>
        </p:spPr>
        <p:txBody>
          <a:bodyPr/>
          <a:lstStyle/>
          <a:p>
            <a:endParaRPr lang="de-DE"/>
          </a:p>
        </p:txBody>
      </p:sp>
      <p:sp>
        <p:nvSpPr>
          <p:cNvPr id="31" name="Text 29"/>
          <p:cNvSpPr txBox="1"/>
          <p:nvPr/>
        </p:nvSpPr>
        <p:spPr>
          <a:xfrm>
            <a:off x="5943600" y="5532120"/>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2" name="Text 30"/>
          <p:cNvSpPr txBox="1"/>
          <p:nvPr/>
        </p:nvSpPr>
        <p:spPr>
          <a:xfrm>
            <a:off x="6254496" y="5504688"/>
            <a:ext cx="5486400" cy="292608"/>
          </a:xfrm>
          <a:prstGeom prst="rect">
            <a:avLst/>
          </a:prstGeom>
          <a:noFill/>
          <a:ln/>
        </p:spPr>
        <p:txBody>
          <a:bodyPr wrap="square" lIns="0" tIns="0" rIns="0" bIns="0" rtlCol="0" anchor="ctr"/>
          <a:lstStyle/>
          <a:p>
            <a:pPr marL="0" indent="0">
              <a:buNone/>
            </a:pPr>
            <a:r>
              <a:rPr lang="en-US" sz="1100" dirty="0">
                <a:solidFill>
                  <a:srgbClr val="6F6862"/>
                </a:solidFill>
                <a:latin typeface="Calibri" pitchFamily="34" charset="0"/>
                <a:ea typeface="Calibri" pitchFamily="34" charset="-122"/>
                <a:cs typeface="Calibri" pitchFamily="34" charset="-120"/>
              </a:rPr>
              <a:t>Eigene Definition des Markenversprechens; Zeiten sind Zielwerte, nicht gemessen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0972800" cy="274320"/>
          </a:xfrm>
          <a:prstGeom prst="rect">
            <a:avLst/>
          </a:prstGeom>
          <a:noFill/>
          <a:ln/>
        </p:spPr>
        <p:txBody>
          <a:bodyPr wrap="square" lIns="0" tIns="0" rIns="0" bIns="0" rtlCol="0" anchor="ctr"/>
          <a:lstStyle/>
          <a:p>
            <a:pPr marL="0" indent="0">
              <a:buNone/>
            </a:pPr>
            <a:r>
              <a:rPr lang="en-US" sz="1200" b="1" dirty="0">
                <a:solidFill>
                  <a:srgbClr val="B5452F"/>
                </a:solidFill>
                <a:latin typeface="Calibri" pitchFamily="34" charset="0"/>
                <a:ea typeface="Calibri" pitchFamily="34" charset="-122"/>
                <a:cs typeface="Calibri" pitchFamily="34" charset="-120"/>
              </a:rPr>
              <a:t>1 · WETTBEWERB UND USP</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2B2724"/>
                </a:solidFill>
                <a:latin typeface="Cambria" pitchFamily="34" charset="0"/>
                <a:ea typeface="Cambria" pitchFamily="34" charset="-122"/>
                <a:cs typeface="Cambria" pitchFamily="34" charset="-120"/>
              </a:rPr>
              <a:t>Wir lösen die Frage für heute Abend, nicht für nächste Woche.</a:t>
            </a:r>
            <a:endParaRPr lang="en-US" sz="2800" dirty="0"/>
          </a:p>
        </p:txBody>
      </p:sp>
      <p:sp>
        <p:nvSpPr>
          <p:cNvPr id="4" name="Text 2"/>
          <p:cNvSpPr txBox="1"/>
          <p:nvPr/>
        </p:nvSpPr>
        <p:spPr>
          <a:xfrm>
            <a:off x="548640" y="6144768"/>
            <a:ext cx="11064240" cy="228600"/>
          </a:xfrm>
          <a:prstGeom prst="rect">
            <a:avLst/>
          </a:prstGeom>
          <a:noFill/>
          <a:ln/>
        </p:spPr>
        <p:txBody>
          <a:bodyPr wrap="square" lIns="0" tIns="0" rIns="0" bIns="0" rtlCol="0" anchor="ctr"/>
          <a:lstStyle/>
          <a:p>
            <a:pPr marL="0" indent="0">
              <a:buNone/>
            </a:pPr>
            <a:r>
              <a:rPr lang="en-US" sz="950" dirty="0">
                <a:solidFill>
                  <a:srgbClr val="6F6862"/>
                </a:solidFill>
                <a:latin typeface="Calibri" pitchFamily="34" charset="0"/>
                <a:ea typeface="Calibri" pitchFamily="34" charset="-122"/>
                <a:cs typeface="Calibri" pitchFamily="34" charset="-120"/>
              </a:rPr>
              <a:t>Quellen Kochhaus: Lebensmittelpraxis, 16.12.2010 („Das begehbare Rezeptbuch“); Tagesspiegel, 28.03.2019 („Kochhaus meldet Insolvenz an“). Einordnung der Anbieter: eigene Einschätzung.</a:t>
            </a:r>
            <a:endParaRPr lang="en-US" sz="950" dirty="0"/>
          </a:p>
        </p:txBody>
      </p:sp>
      <p:sp>
        <p:nvSpPr>
          <p:cNvPr id="5" name="Shape 3"/>
          <p:cNvSpPr/>
          <p:nvPr/>
        </p:nvSpPr>
        <p:spPr>
          <a:xfrm>
            <a:off x="548640" y="6419088"/>
            <a:ext cx="11091672" cy="0"/>
          </a:xfrm>
          <a:prstGeom prst="line">
            <a:avLst/>
          </a:prstGeom>
          <a:noFill/>
          <a:ln w="9525">
            <a:solidFill>
              <a:srgbClr val="D9D1C5"/>
            </a:solidFill>
            <a:prstDash val="solid"/>
          </a:ln>
        </p:spPr>
        <p:txBody>
          <a:bodyPr/>
          <a:lstStyle/>
          <a:p>
            <a:endParaRPr lang="de-DE"/>
          </a:p>
        </p:txBody>
      </p:sp>
      <p:sp>
        <p:nvSpPr>
          <p:cNvPr id="6" name="Text 4"/>
          <p:cNvSpPr txBox="1"/>
          <p:nvPr/>
        </p:nvSpPr>
        <p:spPr>
          <a:xfrm>
            <a:off x="548640" y="6473952"/>
            <a:ext cx="7315200" cy="228600"/>
          </a:xfrm>
          <a:prstGeom prst="rect">
            <a:avLst/>
          </a:prstGeom>
          <a:noFill/>
          <a:ln/>
        </p:spPr>
        <p:txBody>
          <a:bodyPr wrap="square" lIns="0" tIns="0" rIns="0" bIns="0" rtlCol="0" anchor="ctr"/>
          <a:lstStyle/>
          <a:p>
            <a:pPr marL="0" indent="0">
              <a:buNone/>
            </a:pPr>
            <a:r>
              <a:rPr lang="en-US" sz="900" dirty="0">
                <a:solidFill>
                  <a:srgbClr val="6F6862"/>
                </a:solidFill>
                <a:latin typeface="Calibri" pitchFamily="34" charset="0"/>
                <a:ea typeface="Calibri" pitchFamily="34" charset="-122"/>
                <a:cs typeface="Calibri" pitchFamily="34" charset="-120"/>
              </a:rPr>
              <a:t>One Hour Kitchen · Store-Konzept · Kurs HD25A23</a:t>
            </a:r>
            <a:endParaRPr lang="en-US" sz="900" dirty="0"/>
          </a:p>
        </p:txBody>
      </p:sp>
      <p:sp>
        <p:nvSpPr>
          <p:cNvPr id="7" name="Text 5"/>
          <p:cNvSpPr txBox="1"/>
          <p:nvPr/>
        </p:nvSpPr>
        <p:spPr>
          <a:xfrm>
            <a:off x="10725912" y="6473952"/>
            <a:ext cx="914400" cy="228600"/>
          </a:xfrm>
          <a:prstGeom prst="rect">
            <a:avLst/>
          </a:prstGeom>
          <a:noFill/>
          <a:ln/>
        </p:spPr>
        <p:txBody>
          <a:bodyPr wrap="square" lIns="0" tIns="0" rIns="0" bIns="0" rtlCol="0" anchor="ctr"/>
          <a:lstStyle/>
          <a:p>
            <a:pPr marL="0" indent="0" algn="r">
              <a:buNone/>
            </a:pPr>
            <a:r>
              <a:rPr lang="en-US" sz="900" dirty="0">
                <a:solidFill>
                  <a:srgbClr val="6F6862"/>
                </a:solidFill>
                <a:latin typeface="Calibri" pitchFamily="34" charset="0"/>
                <a:ea typeface="Calibri" pitchFamily="34" charset="-122"/>
                <a:cs typeface="Calibri" pitchFamily="34" charset="-120"/>
              </a:rPr>
              <a:t>3</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766560" cy="914400"/>
        </p:xfrm>
        <a:graphic>
          <a:graphicData uri="http://schemas.openxmlformats.org/drawingml/2006/table">
            <a:tbl>
              <a:tblPr/>
              <a:tblGrid>
                <a:gridCol w="21031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tblGrid>
              <a:tr h="502920">
                <a:tc>
                  <a:txBody>
                    <a:bodyPr/>
                    <a:lstStyle/>
                    <a:p>
                      <a:pPr marL="0" indent="0" algn="ctr">
                        <a:buNone/>
                      </a:pPr>
                      <a:endParaRPr lang="en-US" sz="1150" dirty="0">
                        <a:latin typeface="Calibri" charset="0"/>
                        <a:ea typeface="Calibri" charset="0"/>
                        <a:cs typeface="Calibri" charset="0"/>
                      </a:endParaRPr>
                    </a:p>
                  </a:txBody>
                  <a:tcPr anchor="ctr">
                    <a:lnL w="9525" cap="flat" cmpd="sng" algn="ctr">
                      <a:solidFill>
                        <a:srgbClr val="D9D1C5"/>
                      </a:solidFill>
                      <a:prstDash val="solid"/>
                      <a:round/>
                      <a:headEnd type="none" w="med" len="med"/>
                      <a:tailEnd type="none" w="med" len="med"/>
                    </a:lnL>
                    <a:lnR w="9525" cap="flat" cmpd="sng" algn="ctr">
                      <a:solidFill>
                        <a:srgbClr val="D9D1C5"/>
                      </a:solidFill>
                      <a:prstDash val="solid"/>
                      <a:round/>
                      <a:headEnd type="none" w="med" len="med"/>
                      <a:tailEnd type="none" w="med" len="med"/>
                    </a:lnR>
                    <a:lnT w="9525" cap="flat" cmpd="sng" algn="ctr">
                      <a:solidFill>
                        <a:srgbClr val="D9D1C5"/>
                      </a:solidFill>
                      <a:prstDash val="solid"/>
                      <a:round/>
                      <a:headEnd type="none" w="med" len="med"/>
                      <a:tailEnd type="none" w="med" len="med"/>
                    </a:lnT>
                    <a:lnB w="9525" cap="flat" cmpd="sng" algn="ctr">
                      <a:solidFill>
                        <a:srgbClr val="D9D1C5"/>
                      </a:solidFill>
                      <a:prstDash val="solid"/>
                      <a:round/>
                      <a:headEnd type="none" w="med" len="med"/>
                      <a:tailEnd type="none" w="med" len="med"/>
                    </a:lnB>
                    <a:solidFill>
                      <a:srgbClr val="2B2724"/>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heute spontan entscheiden</a:t>
                      </a:r>
                      <a:endParaRPr lang="en-US" sz="1150" dirty="0">
                        <a:latin typeface="Calibri" charset="0"/>
                        <a:ea typeface="Calibri" charset="0"/>
                        <a:cs typeface="Calibri" charset="0"/>
                      </a:endParaRPr>
                    </a:p>
                  </a:txBody>
                  <a:tcPr anchor="ctr">
                    <a:lnL w="9525" cap="flat" cmpd="sng" algn="ctr">
                      <a:solidFill>
                        <a:srgbClr val="D9D1C5"/>
                      </a:solidFill>
                      <a:prstDash val="solid"/>
                      <a:round/>
                      <a:headEnd type="none" w="med" len="med"/>
                      <a:tailEnd type="none" w="med" len="med"/>
                    </a:lnL>
                    <a:lnR w="9525" cap="flat" cmpd="sng" algn="ctr">
                      <a:solidFill>
                        <a:srgbClr val="D9D1C5"/>
                      </a:solidFill>
                      <a:prstDash val="solid"/>
                      <a:round/>
                      <a:headEnd type="none" w="med" len="med"/>
                      <a:tailEnd type="none" w="med" len="med"/>
                    </a:lnR>
                    <a:lnT w="9525" cap="flat" cmpd="sng" algn="ctr">
                      <a:solidFill>
                        <a:srgbClr val="D9D1C5"/>
                      </a:solidFill>
                      <a:prstDash val="solid"/>
                      <a:round/>
                      <a:headEnd type="none" w="med" len="med"/>
                      <a:tailEnd type="none" w="med" len="med"/>
                    </a:lnT>
                    <a:lnB w="9525" cap="flat" cmpd="sng" algn="ctr">
                      <a:solidFill>
                        <a:srgbClr val="D9D1C5"/>
                      </a:solidFill>
                      <a:prstDash val="solid"/>
                      <a:round/>
                      <a:headEnd type="none" w="med" len="med"/>
                      <a:tailEnd type="none" w="med" len="med"/>
                    </a:lnB>
                    <a:solidFill>
                      <a:srgbClr val="2B2724"/>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Rezept + Zutaten an einem Ort</a:t>
                      </a:r>
                      <a:endParaRPr lang="en-US" sz="1150" dirty="0">
                        <a:latin typeface="Calibri" charset="0"/>
                        <a:ea typeface="Calibri" charset="0"/>
                        <a:cs typeface="Calibri" charset="0"/>
                      </a:endParaRPr>
                    </a:p>
                  </a:txBody>
                  <a:tcPr anchor="ctr">
                    <a:lnL w="9525" cap="flat" cmpd="sng" algn="ctr">
                      <a:solidFill>
                        <a:srgbClr val="D9D1C5"/>
                      </a:solidFill>
                      <a:prstDash val="solid"/>
                      <a:round/>
                      <a:headEnd type="none" w="med" len="med"/>
                      <a:tailEnd type="none" w="med" len="med"/>
                    </a:lnL>
                    <a:lnR w="9525" cap="flat" cmpd="sng" algn="ctr">
                      <a:solidFill>
                        <a:srgbClr val="D9D1C5"/>
                      </a:solidFill>
                      <a:prstDash val="solid"/>
                      <a:round/>
                      <a:headEnd type="none" w="med" len="med"/>
                      <a:tailEnd type="none" w="med" len="med"/>
                    </a:lnR>
                    <a:lnT w="9525" cap="flat" cmpd="sng" algn="ctr">
                      <a:solidFill>
                        <a:srgbClr val="D9D1C5"/>
                      </a:solidFill>
                      <a:prstDash val="solid"/>
                      <a:round/>
                      <a:headEnd type="none" w="med" len="med"/>
                      <a:tailEnd type="none" w="med" len="med"/>
                    </a:lnT>
                    <a:lnB w="9525" cap="flat" cmpd="sng" algn="ctr">
                      <a:solidFill>
                        <a:srgbClr val="D9D1C5"/>
                      </a:solidFill>
                      <a:prstDash val="solid"/>
                      <a:round/>
                      <a:headEnd type="none" w="med" len="med"/>
                      <a:tailEnd type="none" w="med" len="med"/>
                    </a:lnB>
                    <a:solidFill>
                      <a:srgbClr val="2B2724"/>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live probieren</a:t>
                      </a:r>
                      <a:endParaRPr lang="en-US" sz="1150" dirty="0">
                        <a:latin typeface="Calibri" charset="0"/>
                        <a:ea typeface="Calibri" charset="0"/>
                        <a:cs typeface="Calibri" charset="0"/>
                      </a:endParaRPr>
                    </a:p>
                  </a:txBody>
                  <a:tcPr anchor="ctr">
                    <a:lnL w="9525" cap="flat" cmpd="sng" algn="ctr">
                      <a:solidFill>
                        <a:srgbClr val="D9D1C5"/>
                      </a:solidFill>
                      <a:prstDash val="solid"/>
                      <a:round/>
                      <a:headEnd type="none" w="med" len="med"/>
                      <a:tailEnd type="none" w="med" len="med"/>
                    </a:lnL>
                    <a:lnR w="9525" cap="flat" cmpd="sng" algn="ctr">
                      <a:solidFill>
                        <a:srgbClr val="D9D1C5"/>
                      </a:solidFill>
                      <a:prstDash val="solid"/>
                      <a:round/>
                      <a:headEnd type="none" w="med" len="med"/>
                      <a:tailEnd type="none" w="med" len="med"/>
                    </a:lnR>
                    <a:lnT w="9525" cap="flat" cmpd="sng" algn="ctr">
                      <a:solidFill>
                        <a:srgbClr val="D9D1C5"/>
                      </a:solidFill>
                      <a:prstDash val="solid"/>
                      <a:round/>
                      <a:headEnd type="none" w="med" len="med"/>
                      <a:tailEnd type="none" w="med" len="med"/>
                    </a:lnT>
                    <a:lnB w="9525" cap="flat" cmpd="sng" algn="ctr">
                      <a:solidFill>
                        <a:srgbClr val="D9D1C5"/>
                      </a:solidFill>
                      <a:prstDash val="solid"/>
                      <a:round/>
                      <a:headEnd type="none" w="med" len="med"/>
                      <a:tailEnd type="none" w="med" len="med"/>
                    </a:lnB>
                    <a:solidFill>
                      <a:srgbClr val="2B2724"/>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gemeinsam kochen</a:t>
                      </a:r>
                      <a:endParaRPr lang="en-US" sz="1150" dirty="0">
                        <a:latin typeface="Calibri" charset="0"/>
                        <a:ea typeface="Calibri" charset="0"/>
                        <a:cs typeface="Calibri" charset="0"/>
                      </a:endParaRPr>
                    </a:p>
                  </a:txBody>
                  <a:tcPr anchor="ctr">
                    <a:lnL w="9525" cap="flat" cmpd="sng" algn="ctr">
                      <a:solidFill>
                        <a:srgbClr val="D9D1C5"/>
                      </a:solidFill>
                      <a:prstDash val="solid"/>
                      <a:round/>
                      <a:headEnd type="none" w="med" len="med"/>
                      <a:tailEnd type="none" w="med" len="med"/>
                    </a:lnL>
                    <a:lnR w="9525" cap="flat" cmpd="sng" algn="ctr">
                      <a:solidFill>
                        <a:srgbClr val="D9D1C5"/>
                      </a:solidFill>
                      <a:prstDash val="solid"/>
                      <a:round/>
                      <a:headEnd type="none" w="med" len="med"/>
                      <a:tailEnd type="none" w="med" len="med"/>
                    </a:lnR>
                    <a:lnT w="9525" cap="flat" cmpd="sng" algn="ctr">
                      <a:solidFill>
                        <a:srgbClr val="D9D1C5"/>
                      </a:solidFill>
                      <a:prstDash val="solid"/>
                      <a:round/>
                      <a:headEnd type="none" w="med" len="med"/>
                      <a:tailEnd type="none" w="med" len="med"/>
                    </a:lnT>
                    <a:lnB w="9525" cap="flat" cmpd="sng" algn="ctr">
                      <a:solidFill>
                        <a:srgbClr val="D9D1C5"/>
                      </a:solidFill>
                      <a:prstDash val="solid"/>
                      <a:round/>
                      <a:headEnd type="none" w="med" len="med"/>
                      <a:tailEnd type="none" w="med" len="med"/>
                    </a:lnB>
                    <a:solidFill>
                      <a:srgbClr val="2B2724"/>
                    </a:solidFill>
                  </a:tcPr>
                </a:tc>
                <a:extLst>
                  <a:ext uri="{0D108BD9-81ED-4DB2-BD59-A6C34878D82A}">
                    <a16:rowId xmlns:a16="http://schemas.microsoft.com/office/drawing/2014/main" val="10000"/>
                  </a:ext>
                </a:extLst>
              </a:tr>
              <a:tr h="393192">
                <a:tc>
                  <a:txBody>
                    <a:bodyPr/>
                    <a:lstStyle/>
                    <a:p>
                      <a:pPr marL="0" indent="0">
                        <a:buNone/>
                      </a:pPr>
                      <a:r>
                        <a:rPr lang="en-US" sz="1250" b="1" dirty="0">
                          <a:solidFill>
                            <a:srgbClr val="2B2724"/>
                          </a:solidFill>
                          <a:latin typeface="Calibri" pitchFamily="34" charset="0"/>
                          <a:ea typeface="Calibri" pitchFamily="34" charset="-122"/>
                          <a:cs typeface="Calibri" pitchFamily="34" charset="-120"/>
                        </a:rPr>
                        <a:t>Supermarkt</a:t>
                      </a:r>
                      <a:endParaRPr lang="en-US" sz="1250" dirty="0">
                        <a:latin typeface="Calibri" charset="0"/>
                        <a:ea typeface="Calibri" charset="0"/>
                        <a:cs typeface="Calibri" charset="0"/>
                      </a:endParaRPr>
                    </a:p>
                  </a:txBody>
                  <a:tcPr anchor="ctr">
                    <a:lnL w="9525" cap="flat" cmpd="sng" algn="ctr">
                      <a:solidFill>
                        <a:srgbClr val="D9D1C5"/>
                      </a:solidFill>
                      <a:prstDash val="solid"/>
                      <a:round/>
                      <a:headEnd type="none" w="med" len="med"/>
                      <a:tailEnd type="none" w="med" len="med"/>
                    </a:lnL>
                    <a:lnR w="9525" cap="flat" cmpd="sng" algn="ctr">
                      <a:solidFill>
                        <a:srgbClr val="D9D1C5"/>
                      </a:solidFill>
                      <a:prstDash val="solid"/>
                      <a:round/>
                      <a:headEnd type="none" w="med" len="med"/>
                      <a:tailEnd type="none" w="med" len="med"/>
                    </a:lnR>
                    <a:lnT w="9525" cap="flat" cmpd="sng" algn="ctr">
                      <a:solidFill>
                        <a:srgbClr val="D9D1C5"/>
                      </a:solidFill>
                      <a:prstDash val="solid"/>
                      <a:round/>
                      <a:headEnd type="none" w="med" len="med"/>
                      <a:tailEnd type="none" w="med" len="med"/>
                    </a:lnT>
                    <a:lnB w="9525" cap="flat" cmpd="sng" algn="ctr">
                      <a:solidFill>
                        <a:srgbClr val="D9D1C5"/>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4F6B3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anchor="ctr">
                    <a:lnL w="9525" cap="flat" cmpd="sng" algn="ctr">
                      <a:solidFill>
                        <a:srgbClr val="D9D1C5"/>
                      </a:solidFill>
                      <a:prstDash val="solid"/>
                      <a:round/>
                      <a:headEnd type="none" w="med" len="med"/>
                      <a:tailEnd type="none" w="med" len="med"/>
                    </a:lnL>
                    <a:lnR w="9525" cap="flat" cmpd="sng" algn="ctr">
                      <a:solidFill>
                        <a:srgbClr val="D9D1C5"/>
                      </a:solidFill>
                      <a:prstDash val="solid"/>
                      <a:round/>
                      <a:headEnd type="none" w="med" len="med"/>
                      <a:tailEnd type="none" w="med" len="med"/>
                    </a:lnR>
                    <a:lnT w="9525" cap="flat" cmpd="sng" algn="ctr">
                      <a:solidFill>
                        <a:srgbClr val="D9D1C5"/>
                      </a:solidFill>
                      <a:prstDash val="solid"/>
                      <a:round/>
                      <a:headEnd type="none" w="med" len="med"/>
                      <a:tailEnd type="none" w="med" len="med"/>
                    </a:lnT>
                    <a:lnB w="9525" cap="flat" cmpd="sng" algn="ctr">
                      <a:solidFill>
                        <a:srgbClr val="D9D1C5"/>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9A9086"/>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9525" cap="flat" cmpd="sng" algn="ctr">
                      <a:solidFill>
                        <a:srgbClr val="D9D1C5"/>
                      </a:solidFill>
                      <a:prstDash val="solid"/>
                      <a:round/>
                      <a:headEnd type="none" w="med" len="med"/>
                      <a:tailEnd type="none" w="med" len="med"/>
                    </a:lnL>
                    <a:lnR w="9525" cap="flat" cmpd="sng" algn="ctr">
                      <a:solidFill>
                        <a:srgbClr val="D9D1C5"/>
                      </a:solidFill>
                      <a:prstDash val="solid"/>
                      <a:round/>
                      <a:headEnd type="none" w="med" len="med"/>
                      <a:tailEnd type="none" w="med" len="med"/>
                    </a:lnR>
                    <a:lnT w="9525" cap="flat" cmpd="sng" algn="ctr">
                      <a:solidFill>
                        <a:srgbClr val="D9D1C5"/>
                      </a:solidFill>
                      <a:prstDash val="solid"/>
                      <a:round/>
                      <a:headEnd type="none" w="med" len="med"/>
                      <a:tailEnd type="none" w="med" len="med"/>
                    </a:lnT>
                    <a:lnB w="9525" cap="flat" cmpd="sng" algn="ctr">
                      <a:solidFill>
                        <a:srgbClr val="D9D1C5"/>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9A9086"/>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9525" cap="flat" cmpd="sng" algn="ctr">
                      <a:solidFill>
                        <a:srgbClr val="D9D1C5"/>
                      </a:solidFill>
                      <a:prstDash val="solid"/>
                      <a:round/>
                      <a:headEnd type="none" w="med" len="med"/>
                      <a:tailEnd type="none" w="med" len="med"/>
                    </a:lnL>
                    <a:lnR w="9525" cap="flat" cmpd="sng" algn="ctr">
                      <a:solidFill>
                        <a:srgbClr val="D9D1C5"/>
                      </a:solidFill>
                      <a:prstDash val="solid"/>
                      <a:round/>
                      <a:headEnd type="none" w="med" len="med"/>
                      <a:tailEnd type="none" w="med" len="med"/>
                    </a:lnR>
                    <a:lnT w="9525" cap="flat" cmpd="sng" algn="ctr">
                      <a:solidFill>
                        <a:srgbClr val="D9D1C5"/>
                      </a:solidFill>
                      <a:prstDash val="solid"/>
                      <a:round/>
                      <a:headEnd type="none" w="med" len="med"/>
                      <a:tailEnd type="none" w="med" len="med"/>
                    </a:lnT>
                    <a:lnB w="9525" cap="flat" cmpd="sng" algn="ctr">
                      <a:solidFill>
                        <a:srgbClr val="D9D1C5"/>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9A9086"/>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9525" cap="flat" cmpd="sng" algn="ctr">
                      <a:solidFill>
                        <a:srgbClr val="D9D1C5"/>
                      </a:solidFill>
                      <a:prstDash val="solid"/>
                      <a:round/>
                      <a:headEnd type="none" w="med" len="med"/>
                      <a:tailEnd type="none" w="med" len="med"/>
                    </a:lnL>
                    <a:lnR w="9525" cap="flat" cmpd="sng" algn="ctr">
                      <a:solidFill>
                        <a:srgbClr val="D9D1C5"/>
                      </a:solidFill>
                      <a:prstDash val="solid"/>
                      <a:round/>
                      <a:headEnd type="none" w="med" len="med"/>
                      <a:tailEnd type="none" w="med" len="med"/>
                    </a:lnR>
                    <a:lnT w="9525" cap="flat" cmpd="sng" algn="ctr">
                      <a:solidFill>
                        <a:srgbClr val="D9D1C5"/>
                      </a:solidFill>
                      <a:prstDash val="solid"/>
                      <a:round/>
                      <a:headEnd type="none" w="med" len="med"/>
                      <a:tailEnd type="none" w="med" len="med"/>
                    </a:lnT>
                    <a:lnB w="9525" cap="flat" cmpd="sng" algn="ctr">
                      <a:solidFill>
                        <a:srgbClr val="D9D1C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3192">
                <a:tc>
                  <a:txBody>
                    <a:bodyPr/>
                    <a:lstStyle/>
                    <a:p>
                      <a:pPr marL="0" indent="0">
                        <a:buNone/>
                      </a:pPr>
                      <a:r>
                        <a:rPr lang="en-US" sz="1250" b="1" dirty="0">
                          <a:solidFill>
                            <a:srgbClr val="2B2724"/>
                          </a:solidFill>
                          <a:latin typeface="Calibri" pitchFamily="34" charset="0"/>
                          <a:ea typeface="Calibri" pitchFamily="34" charset="-122"/>
                          <a:cs typeface="Calibri" pitchFamily="34" charset="-120"/>
                        </a:rPr>
                        <a:t>Kochbox (z. B. HelloFresh)</a:t>
                      </a:r>
                      <a:endParaRPr lang="en-US" sz="1250" dirty="0">
                        <a:latin typeface="Calibri" charset="0"/>
                        <a:ea typeface="Calibri" charset="0"/>
                        <a:cs typeface="Calibri" charset="0"/>
                      </a:endParaRPr>
                    </a:p>
                  </a:txBody>
                  <a:tcPr anchor="ctr">
                    <a:lnL w="9525" cap="flat" cmpd="sng" algn="ctr">
                      <a:solidFill>
                        <a:srgbClr val="D9D1C5"/>
                      </a:solidFill>
                      <a:prstDash val="solid"/>
                      <a:round/>
                      <a:headEnd type="none" w="med" len="med"/>
                      <a:tailEnd type="none" w="med" len="med"/>
                    </a:lnL>
                    <a:lnR w="9525" cap="flat" cmpd="sng" algn="ctr">
                      <a:solidFill>
                        <a:srgbClr val="D9D1C5"/>
                      </a:solidFill>
                      <a:prstDash val="solid"/>
                      <a:round/>
                      <a:headEnd type="none" w="med" len="med"/>
                      <a:tailEnd type="none" w="med" len="med"/>
                    </a:lnR>
                    <a:lnT w="9525" cap="flat" cmpd="sng" algn="ctr">
                      <a:solidFill>
                        <a:srgbClr val="D9D1C5"/>
                      </a:solidFill>
                      <a:prstDash val="solid"/>
                      <a:round/>
                      <a:headEnd type="none" w="med" len="med"/>
                      <a:tailEnd type="none" w="med" len="med"/>
                    </a:lnT>
                    <a:lnB w="9525" cap="flat" cmpd="sng" algn="ctr">
                      <a:solidFill>
                        <a:srgbClr val="D9D1C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9A9086"/>
                          </a:solidFill>
                          <a:latin typeface="Calibri" pitchFamily="34" charset="0"/>
                          <a:ea typeface="Calibri" pitchFamily="34" charset="-122"/>
                          <a:cs typeface="Calibri" pitchFamily="34" charset="-120"/>
                        </a:rPr>
                        <a:t>– Tage vorher</a:t>
                      </a:r>
                      <a:endParaRPr lang="en-US" sz="1100" dirty="0">
                        <a:latin typeface="Calibri" charset="0"/>
                        <a:ea typeface="Calibri" charset="0"/>
                        <a:cs typeface="Calibri" charset="0"/>
                      </a:endParaRPr>
                    </a:p>
                  </a:txBody>
                  <a:tcPr anchor="ctr">
                    <a:lnL w="9525" cap="flat" cmpd="sng" algn="ctr">
                      <a:solidFill>
                        <a:srgbClr val="D9D1C5"/>
                      </a:solidFill>
                      <a:prstDash val="solid"/>
                      <a:round/>
                      <a:headEnd type="none" w="med" len="med"/>
                      <a:tailEnd type="none" w="med" len="med"/>
                    </a:lnL>
                    <a:lnR w="9525" cap="flat" cmpd="sng" algn="ctr">
                      <a:solidFill>
                        <a:srgbClr val="D9D1C5"/>
                      </a:solidFill>
                      <a:prstDash val="solid"/>
                      <a:round/>
                      <a:headEnd type="none" w="med" len="med"/>
                      <a:tailEnd type="none" w="med" len="med"/>
                    </a:lnR>
                    <a:lnT w="9525" cap="flat" cmpd="sng" algn="ctr">
                      <a:solidFill>
                        <a:srgbClr val="D9D1C5"/>
                      </a:solidFill>
                      <a:prstDash val="solid"/>
                      <a:round/>
                      <a:headEnd type="none" w="med" len="med"/>
                      <a:tailEnd type="none" w="med" len="med"/>
                    </a:lnT>
                    <a:lnB w="9525" cap="flat" cmpd="sng" algn="ctr">
                      <a:solidFill>
                        <a:srgbClr val="D9D1C5"/>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4F6B3A"/>
                          </a:solidFill>
                          <a:latin typeface="Calibri" pitchFamily="34" charset="0"/>
                          <a:ea typeface="Calibri" pitchFamily="34" charset="-122"/>
                          <a:cs typeface="Calibri" pitchFamily="34" charset="-120"/>
                        </a:rPr>
                        <a:t>✓ per Lieferung</a:t>
                      </a:r>
                      <a:endParaRPr lang="en-US" sz="1100" dirty="0">
                        <a:latin typeface="Calibri" charset="0"/>
                        <a:ea typeface="Calibri" charset="0"/>
                        <a:cs typeface="Calibri" charset="0"/>
                      </a:endParaRPr>
                    </a:p>
                  </a:txBody>
                  <a:tcPr anchor="ctr">
                    <a:lnL w="9525" cap="flat" cmpd="sng" algn="ctr">
                      <a:solidFill>
                        <a:srgbClr val="D9D1C5"/>
                      </a:solidFill>
                      <a:prstDash val="solid"/>
                      <a:round/>
                      <a:headEnd type="none" w="med" len="med"/>
                      <a:tailEnd type="none" w="med" len="med"/>
                    </a:lnL>
                    <a:lnR w="9525" cap="flat" cmpd="sng" algn="ctr">
                      <a:solidFill>
                        <a:srgbClr val="D9D1C5"/>
                      </a:solidFill>
                      <a:prstDash val="solid"/>
                      <a:round/>
                      <a:headEnd type="none" w="med" len="med"/>
                      <a:tailEnd type="none" w="med" len="med"/>
                    </a:lnR>
                    <a:lnT w="9525" cap="flat" cmpd="sng" algn="ctr">
                      <a:solidFill>
                        <a:srgbClr val="D9D1C5"/>
                      </a:solidFill>
                      <a:prstDash val="solid"/>
                      <a:round/>
                      <a:headEnd type="none" w="med" len="med"/>
                      <a:tailEnd type="none" w="med" len="med"/>
                    </a:lnT>
                    <a:lnB w="9525" cap="flat" cmpd="sng" algn="ctr">
                      <a:solidFill>
                        <a:srgbClr val="D9D1C5"/>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9A9086"/>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9525" cap="flat" cmpd="sng" algn="ctr">
                      <a:solidFill>
                        <a:srgbClr val="D9D1C5"/>
                      </a:solidFill>
                      <a:prstDash val="solid"/>
                      <a:round/>
                      <a:headEnd type="none" w="med" len="med"/>
                      <a:tailEnd type="none" w="med" len="med"/>
                    </a:lnL>
                    <a:lnR w="9525" cap="flat" cmpd="sng" algn="ctr">
                      <a:solidFill>
                        <a:srgbClr val="D9D1C5"/>
                      </a:solidFill>
                      <a:prstDash val="solid"/>
                      <a:round/>
                      <a:headEnd type="none" w="med" len="med"/>
                      <a:tailEnd type="none" w="med" len="med"/>
                    </a:lnR>
                    <a:lnT w="9525" cap="flat" cmpd="sng" algn="ctr">
                      <a:solidFill>
                        <a:srgbClr val="D9D1C5"/>
                      </a:solidFill>
                      <a:prstDash val="solid"/>
                      <a:round/>
                      <a:headEnd type="none" w="med" len="med"/>
                      <a:tailEnd type="none" w="med" len="med"/>
                    </a:lnT>
                    <a:lnB w="9525" cap="flat" cmpd="sng" algn="ctr">
                      <a:solidFill>
                        <a:srgbClr val="D9D1C5"/>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9A9086"/>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9525" cap="flat" cmpd="sng" algn="ctr">
                      <a:solidFill>
                        <a:srgbClr val="D9D1C5"/>
                      </a:solidFill>
                      <a:prstDash val="solid"/>
                      <a:round/>
                      <a:headEnd type="none" w="med" len="med"/>
                      <a:tailEnd type="none" w="med" len="med"/>
                    </a:lnL>
                    <a:lnR w="9525" cap="flat" cmpd="sng" algn="ctr">
                      <a:solidFill>
                        <a:srgbClr val="D9D1C5"/>
                      </a:solidFill>
                      <a:prstDash val="solid"/>
                      <a:round/>
                      <a:headEnd type="none" w="med" len="med"/>
                      <a:tailEnd type="none" w="med" len="med"/>
                    </a:lnR>
                    <a:lnT w="9525" cap="flat" cmpd="sng" algn="ctr">
                      <a:solidFill>
                        <a:srgbClr val="D9D1C5"/>
                      </a:solidFill>
                      <a:prstDash val="solid"/>
                      <a:round/>
                      <a:headEnd type="none" w="med" len="med"/>
                      <a:tailEnd type="none" w="med" len="med"/>
                    </a:lnT>
                    <a:lnB w="9525" cap="flat" cmpd="sng" algn="ctr">
                      <a:solidFill>
                        <a:srgbClr val="D9D1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93192">
                <a:tc>
                  <a:txBody>
                    <a:bodyPr/>
                    <a:lstStyle/>
                    <a:p>
                      <a:pPr marL="0" indent="0">
                        <a:buNone/>
                      </a:pPr>
                      <a:r>
                        <a:rPr lang="en-US" sz="1250" b="1" dirty="0">
                          <a:solidFill>
                            <a:srgbClr val="2B2724"/>
                          </a:solidFill>
                          <a:latin typeface="Calibri" pitchFamily="34" charset="0"/>
                          <a:ea typeface="Calibri" pitchFamily="34" charset="-122"/>
                          <a:cs typeface="Calibri" pitchFamily="34" charset="-120"/>
                        </a:rPr>
                        <a:t>Kochschule</a:t>
                      </a:r>
                      <a:endParaRPr lang="en-US" sz="1250" dirty="0">
                        <a:latin typeface="Calibri" charset="0"/>
                        <a:ea typeface="Calibri" charset="0"/>
                        <a:cs typeface="Calibri" charset="0"/>
                      </a:endParaRPr>
                    </a:p>
                  </a:txBody>
                  <a:tcPr anchor="ctr">
                    <a:lnL w="9525" cap="flat" cmpd="sng" algn="ctr">
                      <a:solidFill>
                        <a:srgbClr val="D9D1C5"/>
                      </a:solidFill>
                      <a:prstDash val="solid"/>
                      <a:round/>
                      <a:headEnd type="none" w="med" len="med"/>
                      <a:tailEnd type="none" w="med" len="med"/>
                    </a:lnL>
                    <a:lnR w="9525" cap="flat" cmpd="sng" algn="ctr">
                      <a:solidFill>
                        <a:srgbClr val="D9D1C5"/>
                      </a:solidFill>
                      <a:prstDash val="solid"/>
                      <a:round/>
                      <a:headEnd type="none" w="med" len="med"/>
                      <a:tailEnd type="none" w="med" len="med"/>
                    </a:lnR>
                    <a:lnT w="9525" cap="flat" cmpd="sng" algn="ctr">
                      <a:solidFill>
                        <a:srgbClr val="D9D1C5"/>
                      </a:solidFill>
                      <a:prstDash val="solid"/>
                      <a:round/>
                      <a:headEnd type="none" w="med" len="med"/>
                      <a:tailEnd type="none" w="med" len="med"/>
                    </a:lnT>
                    <a:lnB w="9525" cap="flat" cmpd="sng" algn="ctr">
                      <a:solidFill>
                        <a:srgbClr val="D9D1C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9A9086"/>
                          </a:solidFill>
                          <a:latin typeface="Calibri" pitchFamily="34" charset="0"/>
                          <a:ea typeface="Calibri" pitchFamily="34" charset="-122"/>
                          <a:cs typeface="Calibri" pitchFamily="34" charset="-120"/>
                        </a:rPr>
                        <a:t>– fester Termin</a:t>
                      </a:r>
                      <a:endParaRPr lang="en-US" sz="1100" dirty="0">
                        <a:latin typeface="Calibri" charset="0"/>
                        <a:ea typeface="Calibri" charset="0"/>
                        <a:cs typeface="Calibri" charset="0"/>
                      </a:endParaRPr>
                    </a:p>
                  </a:txBody>
                  <a:tcPr anchor="ctr">
                    <a:lnL w="9525" cap="flat" cmpd="sng" algn="ctr">
                      <a:solidFill>
                        <a:srgbClr val="D9D1C5"/>
                      </a:solidFill>
                      <a:prstDash val="solid"/>
                      <a:round/>
                      <a:headEnd type="none" w="med" len="med"/>
                      <a:tailEnd type="none" w="med" len="med"/>
                    </a:lnL>
                    <a:lnR w="9525" cap="flat" cmpd="sng" algn="ctr">
                      <a:solidFill>
                        <a:srgbClr val="D9D1C5"/>
                      </a:solidFill>
                      <a:prstDash val="solid"/>
                      <a:round/>
                      <a:headEnd type="none" w="med" len="med"/>
                      <a:tailEnd type="none" w="med" len="med"/>
                    </a:lnR>
                    <a:lnT w="9525" cap="flat" cmpd="sng" algn="ctr">
                      <a:solidFill>
                        <a:srgbClr val="D9D1C5"/>
                      </a:solidFill>
                      <a:prstDash val="solid"/>
                      <a:round/>
                      <a:headEnd type="none" w="med" len="med"/>
                      <a:tailEnd type="none" w="med" len="med"/>
                    </a:lnT>
                    <a:lnB w="9525" cap="flat" cmpd="sng" algn="ctr">
                      <a:solidFill>
                        <a:srgbClr val="D9D1C5"/>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9A9086"/>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9525" cap="flat" cmpd="sng" algn="ctr">
                      <a:solidFill>
                        <a:srgbClr val="D9D1C5"/>
                      </a:solidFill>
                      <a:prstDash val="solid"/>
                      <a:round/>
                      <a:headEnd type="none" w="med" len="med"/>
                      <a:tailEnd type="none" w="med" len="med"/>
                    </a:lnL>
                    <a:lnR w="9525" cap="flat" cmpd="sng" algn="ctr">
                      <a:solidFill>
                        <a:srgbClr val="D9D1C5"/>
                      </a:solidFill>
                      <a:prstDash val="solid"/>
                      <a:round/>
                      <a:headEnd type="none" w="med" len="med"/>
                      <a:tailEnd type="none" w="med" len="med"/>
                    </a:lnR>
                    <a:lnT w="9525" cap="flat" cmpd="sng" algn="ctr">
                      <a:solidFill>
                        <a:srgbClr val="D9D1C5"/>
                      </a:solidFill>
                      <a:prstDash val="solid"/>
                      <a:round/>
                      <a:headEnd type="none" w="med" len="med"/>
                      <a:tailEnd type="none" w="med" len="med"/>
                    </a:lnT>
                    <a:lnB w="9525" cap="flat" cmpd="sng" algn="ctr">
                      <a:solidFill>
                        <a:srgbClr val="D9D1C5"/>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4F6B3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anchor="ctr">
                    <a:lnL w="9525" cap="flat" cmpd="sng" algn="ctr">
                      <a:solidFill>
                        <a:srgbClr val="D9D1C5"/>
                      </a:solidFill>
                      <a:prstDash val="solid"/>
                      <a:round/>
                      <a:headEnd type="none" w="med" len="med"/>
                      <a:tailEnd type="none" w="med" len="med"/>
                    </a:lnL>
                    <a:lnR w="9525" cap="flat" cmpd="sng" algn="ctr">
                      <a:solidFill>
                        <a:srgbClr val="D9D1C5"/>
                      </a:solidFill>
                      <a:prstDash val="solid"/>
                      <a:round/>
                      <a:headEnd type="none" w="med" len="med"/>
                      <a:tailEnd type="none" w="med" len="med"/>
                    </a:lnR>
                    <a:lnT w="9525" cap="flat" cmpd="sng" algn="ctr">
                      <a:solidFill>
                        <a:srgbClr val="D9D1C5"/>
                      </a:solidFill>
                      <a:prstDash val="solid"/>
                      <a:round/>
                      <a:headEnd type="none" w="med" len="med"/>
                      <a:tailEnd type="none" w="med" len="med"/>
                    </a:lnT>
                    <a:lnB w="9525" cap="flat" cmpd="sng" algn="ctr">
                      <a:solidFill>
                        <a:srgbClr val="D9D1C5"/>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4F6B3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anchor="ctr">
                    <a:lnL w="9525" cap="flat" cmpd="sng" algn="ctr">
                      <a:solidFill>
                        <a:srgbClr val="D9D1C5"/>
                      </a:solidFill>
                      <a:prstDash val="solid"/>
                      <a:round/>
                      <a:headEnd type="none" w="med" len="med"/>
                      <a:tailEnd type="none" w="med" len="med"/>
                    </a:lnL>
                    <a:lnR w="9525" cap="flat" cmpd="sng" algn="ctr">
                      <a:solidFill>
                        <a:srgbClr val="D9D1C5"/>
                      </a:solidFill>
                      <a:prstDash val="solid"/>
                      <a:round/>
                      <a:headEnd type="none" w="med" len="med"/>
                      <a:tailEnd type="none" w="med" len="med"/>
                    </a:lnR>
                    <a:lnT w="9525" cap="flat" cmpd="sng" algn="ctr">
                      <a:solidFill>
                        <a:srgbClr val="D9D1C5"/>
                      </a:solidFill>
                      <a:prstDash val="solid"/>
                      <a:round/>
                      <a:headEnd type="none" w="med" len="med"/>
                      <a:tailEnd type="none" w="med" len="med"/>
                    </a:lnT>
                    <a:lnB w="9525" cap="flat" cmpd="sng" algn="ctr">
                      <a:solidFill>
                        <a:srgbClr val="D9D1C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93192">
                <a:tc>
                  <a:txBody>
                    <a:bodyPr/>
                    <a:lstStyle/>
                    <a:p>
                      <a:pPr marL="0" indent="0">
                        <a:buNone/>
                      </a:pPr>
                      <a:r>
                        <a:rPr lang="en-US" sz="1250" b="1" dirty="0">
                          <a:solidFill>
                            <a:srgbClr val="2B2724"/>
                          </a:solidFill>
                          <a:latin typeface="Calibri" pitchFamily="34" charset="0"/>
                          <a:ea typeface="Calibri" pitchFamily="34" charset="-122"/>
                          <a:cs typeface="Calibri" pitchFamily="34" charset="-120"/>
                        </a:rPr>
                        <a:t>Kochhaus (2010–2019)</a:t>
                      </a:r>
                      <a:endParaRPr lang="en-US" sz="1250" dirty="0">
                        <a:latin typeface="Calibri" charset="0"/>
                        <a:ea typeface="Calibri" charset="0"/>
                        <a:cs typeface="Calibri" charset="0"/>
                      </a:endParaRPr>
                    </a:p>
                  </a:txBody>
                  <a:tcPr anchor="ctr">
                    <a:lnL w="9525" cap="flat" cmpd="sng" algn="ctr">
                      <a:solidFill>
                        <a:srgbClr val="D9D1C5"/>
                      </a:solidFill>
                      <a:prstDash val="solid"/>
                      <a:round/>
                      <a:headEnd type="none" w="med" len="med"/>
                      <a:tailEnd type="none" w="med" len="med"/>
                    </a:lnL>
                    <a:lnR w="9525" cap="flat" cmpd="sng" algn="ctr">
                      <a:solidFill>
                        <a:srgbClr val="D9D1C5"/>
                      </a:solidFill>
                      <a:prstDash val="solid"/>
                      <a:round/>
                      <a:headEnd type="none" w="med" len="med"/>
                      <a:tailEnd type="none" w="med" len="med"/>
                    </a:lnR>
                    <a:lnT w="9525" cap="flat" cmpd="sng" algn="ctr">
                      <a:solidFill>
                        <a:srgbClr val="D9D1C5"/>
                      </a:solidFill>
                      <a:prstDash val="solid"/>
                      <a:round/>
                      <a:headEnd type="none" w="med" len="med"/>
                      <a:tailEnd type="none" w="med" len="med"/>
                    </a:lnT>
                    <a:lnB w="9525" cap="flat" cmpd="sng" algn="ctr">
                      <a:solidFill>
                        <a:srgbClr val="D9D1C5"/>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4F6B3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anchor="ctr">
                    <a:lnL w="9525" cap="flat" cmpd="sng" algn="ctr">
                      <a:solidFill>
                        <a:srgbClr val="D9D1C5"/>
                      </a:solidFill>
                      <a:prstDash val="solid"/>
                      <a:round/>
                      <a:headEnd type="none" w="med" len="med"/>
                      <a:tailEnd type="none" w="med" len="med"/>
                    </a:lnL>
                    <a:lnR w="9525" cap="flat" cmpd="sng" algn="ctr">
                      <a:solidFill>
                        <a:srgbClr val="D9D1C5"/>
                      </a:solidFill>
                      <a:prstDash val="solid"/>
                      <a:round/>
                      <a:headEnd type="none" w="med" len="med"/>
                      <a:tailEnd type="none" w="med" len="med"/>
                    </a:lnR>
                    <a:lnT w="9525" cap="flat" cmpd="sng" algn="ctr">
                      <a:solidFill>
                        <a:srgbClr val="D9D1C5"/>
                      </a:solidFill>
                      <a:prstDash val="solid"/>
                      <a:round/>
                      <a:headEnd type="none" w="med" len="med"/>
                      <a:tailEnd type="none" w="med" len="med"/>
                    </a:lnT>
                    <a:lnB w="9525" cap="flat" cmpd="sng" algn="ctr">
                      <a:solidFill>
                        <a:srgbClr val="D9D1C5"/>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4F6B3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anchor="ctr">
                    <a:lnL w="9525" cap="flat" cmpd="sng" algn="ctr">
                      <a:solidFill>
                        <a:srgbClr val="D9D1C5"/>
                      </a:solidFill>
                      <a:prstDash val="solid"/>
                      <a:round/>
                      <a:headEnd type="none" w="med" len="med"/>
                      <a:tailEnd type="none" w="med" len="med"/>
                    </a:lnL>
                    <a:lnR w="9525" cap="flat" cmpd="sng" algn="ctr">
                      <a:solidFill>
                        <a:srgbClr val="D9D1C5"/>
                      </a:solidFill>
                      <a:prstDash val="solid"/>
                      <a:round/>
                      <a:headEnd type="none" w="med" len="med"/>
                      <a:tailEnd type="none" w="med" len="med"/>
                    </a:lnR>
                    <a:lnT w="9525" cap="flat" cmpd="sng" algn="ctr">
                      <a:solidFill>
                        <a:srgbClr val="D9D1C5"/>
                      </a:solidFill>
                      <a:prstDash val="solid"/>
                      <a:round/>
                      <a:headEnd type="none" w="med" len="med"/>
                      <a:tailEnd type="none" w="med" len="med"/>
                    </a:lnT>
                    <a:lnB w="9525" cap="flat" cmpd="sng" algn="ctr">
                      <a:solidFill>
                        <a:srgbClr val="D9D1C5"/>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9A9086"/>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9525" cap="flat" cmpd="sng" algn="ctr">
                      <a:solidFill>
                        <a:srgbClr val="D9D1C5"/>
                      </a:solidFill>
                      <a:prstDash val="solid"/>
                      <a:round/>
                      <a:headEnd type="none" w="med" len="med"/>
                      <a:tailEnd type="none" w="med" len="med"/>
                    </a:lnL>
                    <a:lnR w="9525" cap="flat" cmpd="sng" algn="ctr">
                      <a:solidFill>
                        <a:srgbClr val="D9D1C5"/>
                      </a:solidFill>
                      <a:prstDash val="solid"/>
                      <a:round/>
                      <a:headEnd type="none" w="med" len="med"/>
                      <a:tailEnd type="none" w="med" len="med"/>
                    </a:lnR>
                    <a:lnT w="9525" cap="flat" cmpd="sng" algn="ctr">
                      <a:solidFill>
                        <a:srgbClr val="D9D1C5"/>
                      </a:solidFill>
                      <a:prstDash val="solid"/>
                      <a:round/>
                      <a:headEnd type="none" w="med" len="med"/>
                      <a:tailEnd type="none" w="med" len="med"/>
                    </a:lnT>
                    <a:lnB w="9525" cap="flat" cmpd="sng" algn="ctr">
                      <a:solidFill>
                        <a:srgbClr val="D9D1C5"/>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4F6B3A"/>
                          </a:solidFill>
                          <a:latin typeface="Calibri" pitchFamily="34" charset="0"/>
                          <a:ea typeface="Calibri" pitchFamily="34" charset="-122"/>
                          <a:cs typeface="Calibri" pitchFamily="34" charset="-120"/>
                        </a:rPr>
                        <a:t>✓ Kurse</a:t>
                      </a:r>
                      <a:endParaRPr lang="en-US" sz="1100" dirty="0">
                        <a:latin typeface="Calibri" charset="0"/>
                        <a:ea typeface="Calibri" charset="0"/>
                        <a:cs typeface="Calibri" charset="0"/>
                      </a:endParaRPr>
                    </a:p>
                  </a:txBody>
                  <a:tcPr anchor="ctr">
                    <a:lnL w="9525" cap="flat" cmpd="sng" algn="ctr">
                      <a:solidFill>
                        <a:srgbClr val="D9D1C5"/>
                      </a:solidFill>
                      <a:prstDash val="solid"/>
                      <a:round/>
                      <a:headEnd type="none" w="med" len="med"/>
                      <a:tailEnd type="none" w="med" len="med"/>
                    </a:lnL>
                    <a:lnR w="9525" cap="flat" cmpd="sng" algn="ctr">
                      <a:solidFill>
                        <a:srgbClr val="D9D1C5"/>
                      </a:solidFill>
                      <a:prstDash val="solid"/>
                      <a:round/>
                      <a:headEnd type="none" w="med" len="med"/>
                      <a:tailEnd type="none" w="med" len="med"/>
                    </a:lnR>
                    <a:lnT w="9525" cap="flat" cmpd="sng" algn="ctr">
                      <a:solidFill>
                        <a:srgbClr val="D9D1C5"/>
                      </a:solidFill>
                      <a:prstDash val="solid"/>
                      <a:round/>
                      <a:headEnd type="none" w="med" len="med"/>
                      <a:tailEnd type="none" w="med" len="med"/>
                    </a:lnT>
                    <a:lnB w="9525" cap="flat" cmpd="sng" algn="ctr">
                      <a:solidFill>
                        <a:srgbClr val="D9D1C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1148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One Hour Kitchen</a:t>
                      </a:r>
                      <a:endParaRPr lang="en-US" sz="1250" dirty="0">
                        <a:latin typeface="Calibri" charset="0"/>
                        <a:ea typeface="Calibri" charset="0"/>
                        <a:cs typeface="Calibri" charset="0"/>
                      </a:endParaRPr>
                    </a:p>
                  </a:txBody>
                  <a:tcPr anchor="ctr">
                    <a:lnL w="9525" cap="flat" cmpd="sng" algn="ctr">
                      <a:solidFill>
                        <a:srgbClr val="D9D1C5"/>
                      </a:solidFill>
                      <a:prstDash val="solid"/>
                      <a:round/>
                      <a:headEnd type="none" w="med" len="med"/>
                      <a:tailEnd type="none" w="med" len="med"/>
                    </a:lnL>
                    <a:lnR w="9525" cap="flat" cmpd="sng" algn="ctr">
                      <a:solidFill>
                        <a:srgbClr val="D9D1C5"/>
                      </a:solidFill>
                      <a:prstDash val="solid"/>
                      <a:round/>
                      <a:headEnd type="none" w="med" len="med"/>
                      <a:tailEnd type="none" w="med" len="med"/>
                    </a:lnR>
                    <a:lnT w="9525" cap="flat" cmpd="sng" algn="ctr">
                      <a:solidFill>
                        <a:srgbClr val="D9D1C5"/>
                      </a:solidFill>
                      <a:prstDash val="solid"/>
                      <a:round/>
                      <a:headEnd type="none" w="med" len="med"/>
                      <a:tailEnd type="none" w="med" len="med"/>
                    </a:lnT>
                    <a:lnB w="9525" cap="flat" cmpd="sng" algn="ctr">
                      <a:solidFill>
                        <a:srgbClr val="D9D1C5"/>
                      </a:solidFill>
                      <a:prstDash val="solid"/>
                      <a:round/>
                      <a:headEnd type="none" w="med" len="med"/>
                      <a:tailEnd type="none" w="med" len="med"/>
                    </a:lnB>
                    <a:solidFill>
                      <a:srgbClr val="B5452F"/>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anchor="ctr">
                    <a:lnL w="9525" cap="flat" cmpd="sng" algn="ctr">
                      <a:solidFill>
                        <a:srgbClr val="D9D1C5"/>
                      </a:solidFill>
                      <a:prstDash val="solid"/>
                      <a:round/>
                      <a:headEnd type="none" w="med" len="med"/>
                      <a:tailEnd type="none" w="med" len="med"/>
                    </a:lnL>
                    <a:lnR w="9525" cap="flat" cmpd="sng" algn="ctr">
                      <a:solidFill>
                        <a:srgbClr val="D9D1C5"/>
                      </a:solidFill>
                      <a:prstDash val="solid"/>
                      <a:round/>
                      <a:headEnd type="none" w="med" len="med"/>
                      <a:tailEnd type="none" w="med" len="med"/>
                    </a:lnR>
                    <a:lnT w="9525" cap="flat" cmpd="sng" algn="ctr">
                      <a:solidFill>
                        <a:srgbClr val="D9D1C5"/>
                      </a:solidFill>
                      <a:prstDash val="solid"/>
                      <a:round/>
                      <a:headEnd type="none" w="med" len="med"/>
                      <a:tailEnd type="none" w="med" len="med"/>
                    </a:lnT>
                    <a:lnB w="9525" cap="flat" cmpd="sng" algn="ctr">
                      <a:solidFill>
                        <a:srgbClr val="D9D1C5"/>
                      </a:solidFill>
                      <a:prstDash val="solid"/>
                      <a:round/>
                      <a:headEnd type="none" w="med" len="med"/>
                      <a:tailEnd type="none" w="med" len="med"/>
                    </a:lnB>
                    <a:solidFill>
                      <a:srgbClr val="B5452F"/>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anchor="ctr">
                    <a:lnL w="9525" cap="flat" cmpd="sng" algn="ctr">
                      <a:solidFill>
                        <a:srgbClr val="D9D1C5"/>
                      </a:solidFill>
                      <a:prstDash val="solid"/>
                      <a:round/>
                      <a:headEnd type="none" w="med" len="med"/>
                      <a:tailEnd type="none" w="med" len="med"/>
                    </a:lnL>
                    <a:lnR w="9525" cap="flat" cmpd="sng" algn="ctr">
                      <a:solidFill>
                        <a:srgbClr val="D9D1C5"/>
                      </a:solidFill>
                      <a:prstDash val="solid"/>
                      <a:round/>
                      <a:headEnd type="none" w="med" len="med"/>
                      <a:tailEnd type="none" w="med" len="med"/>
                    </a:lnR>
                    <a:lnT w="9525" cap="flat" cmpd="sng" algn="ctr">
                      <a:solidFill>
                        <a:srgbClr val="D9D1C5"/>
                      </a:solidFill>
                      <a:prstDash val="solid"/>
                      <a:round/>
                      <a:headEnd type="none" w="med" len="med"/>
                      <a:tailEnd type="none" w="med" len="med"/>
                    </a:lnT>
                    <a:lnB w="9525" cap="flat" cmpd="sng" algn="ctr">
                      <a:solidFill>
                        <a:srgbClr val="D9D1C5"/>
                      </a:solidFill>
                      <a:prstDash val="solid"/>
                      <a:round/>
                      <a:headEnd type="none" w="med" len="med"/>
                      <a:tailEnd type="none" w="med" len="med"/>
                    </a:lnB>
                    <a:solidFill>
                      <a:srgbClr val="B5452F"/>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anchor="ctr">
                    <a:lnL w="9525" cap="flat" cmpd="sng" algn="ctr">
                      <a:solidFill>
                        <a:srgbClr val="D9D1C5"/>
                      </a:solidFill>
                      <a:prstDash val="solid"/>
                      <a:round/>
                      <a:headEnd type="none" w="med" len="med"/>
                      <a:tailEnd type="none" w="med" len="med"/>
                    </a:lnL>
                    <a:lnR w="9525" cap="flat" cmpd="sng" algn="ctr">
                      <a:solidFill>
                        <a:srgbClr val="D9D1C5"/>
                      </a:solidFill>
                      <a:prstDash val="solid"/>
                      <a:round/>
                      <a:headEnd type="none" w="med" len="med"/>
                      <a:tailEnd type="none" w="med" len="med"/>
                    </a:lnR>
                    <a:lnT w="9525" cap="flat" cmpd="sng" algn="ctr">
                      <a:solidFill>
                        <a:srgbClr val="D9D1C5"/>
                      </a:solidFill>
                      <a:prstDash val="solid"/>
                      <a:round/>
                      <a:headEnd type="none" w="med" len="med"/>
                      <a:tailEnd type="none" w="med" len="med"/>
                    </a:lnT>
                    <a:lnB w="9525" cap="flat" cmpd="sng" algn="ctr">
                      <a:solidFill>
                        <a:srgbClr val="D9D1C5"/>
                      </a:solidFill>
                      <a:prstDash val="solid"/>
                      <a:round/>
                      <a:headEnd type="none" w="med" len="med"/>
                      <a:tailEnd type="none" w="med" len="med"/>
                    </a:lnB>
                    <a:solidFill>
                      <a:srgbClr val="B5452F"/>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anchor="ctr">
                    <a:lnL w="9525" cap="flat" cmpd="sng" algn="ctr">
                      <a:solidFill>
                        <a:srgbClr val="D9D1C5"/>
                      </a:solidFill>
                      <a:prstDash val="solid"/>
                      <a:round/>
                      <a:headEnd type="none" w="med" len="med"/>
                      <a:tailEnd type="none" w="med" len="med"/>
                    </a:lnL>
                    <a:lnR w="9525" cap="flat" cmpd="sng" algn="ctr">
                      <a:solidFill>
                        <a:srgbClr val="D9D1C5"/>
                      </a:solidFill>
                      <a:prstDash val="solid"/>
                      <a:round/>
                      <a:headEnd type="none" w="med" len="med"/>
                      <a:tailEnd type="none" w="med" len="med"/>
                    </a:lnR>
                    <a:lnT w="9525" cap="flat" cmpd="sng" algn="ctr">
                      <a:solidFill>
                        <a:srgbClr val="D9D1C5"/>
                      </a:solidFill>
                      <a:prstDash val="solid"/>
                      <a:round/>
                      <a:headEnd type="none" w="med" len="med"/>
                      <a:tailEnd type="none" w="med" len="med"/>
                    </a:lnT>
                    <a:lnB w="9525" cap="flat" cmpd="sng" algn="ctr">
                      <a:solidFill>
                        <a:srgbClr val="D9D1C5"/>
                      </a:solidFill>
                      <a:prstDash val="solid"/>
                      <a:round/>
                      <a:headEnd type="none" w="med" len="med"/>
                      <a:tailEnd type="none" w="med" len="med"/>
                    </a:lnB>
                    <a:solidFill>
                      <a:srgbClr val="B5452F"/>
                    </a:solidFill>
                  </a:tcPr>
                </a:tc>
                <a:extLst>
                  <a:ext uri="{0D108BD9-81ED-4DB2-BD59-A6C34878D82A}">
                    <a16:rowId xmlns:a16="http://schemas.microsoft.com/office/drawing/2014/main" val="10005"/>
                  </a:ext>
                </a:extLst>
              </a:tr>
            </a:tbl>
          </a:graphicData>
        </a:graphic>
      </p:graphicFrame>
      <p:sp>
        <p:nvSpPr>
          <p:cNvPr id="9" name="Shape 6"/>
          <p:cNvSpPr/>
          <p:nvPr/>
        </p:nvSpPr>
        <p:spPr>
          <a:xfrm>
            <a:off x="548640" y="4041648"/>
            <a:ext cx="237744" cy="237744"/>
          </a:xfrm>
          <a:prstGeom prst="ellipse">
            <a:avLst/>
          </a:prstGeom>
          <a:solidFill>
            <a:srgbClr val="B5452F"/>
          </a:solidFill>
          <a:ln w="12700">
            <a:solidFill>
              <a:srgbClr val="B5452F"/>
            </a:solidFill>
            <a:prstDash val="solid"/>
          </a:ln>
        </p:spPr>
        <p:txBody>
          <a:bodyPr/>
          <a:lstStyle/>
          <a:p>
            <a:endParaRPr lang="de-DE"/>
          </a:p>
        </p:txBody>
      </p:sp>
      <p:sp>
        <p:nvSpPr>
          <p:cNvPr id="10" name="Text 7"/>
          <p:cNvSpPr txBox="1"/>
          <p:nvPr/>
        </p:nvSpPr>
        <p:spPr>
          <a:xfrm>
            <a:off x="548640" y="4041648"/>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11" name="Text 8"/>
          <p:cNvSpPr txBox="1"/>
          <p:nvPr/>
        </p:nvSpPr>
        <p:spPr>
          <a:xfrm>
            <a:off x="859536" y="4014216"/>
            <a:ext cx="5943600" cy="292608"/>
          </a:xfrm>
          <a:prstGeom prst="rect">
            <a:avLst/>
          </a:prstGeom>
          <a:noFill/>
          <a:ln/>
        </p:spPr>
        <p:txBody>
          <a:bodyPr wrap="square" lIns="0" tIns="0" rIns="0" bIns="0" rtlCol="0" anchor="ctr"/>
          <a:lstStyle/>
          <a:p>
            <a:pPr marL="0" indent="0">
              <a:buNone/>
            </a:pPr>
            <a:r>
              <a:rPr lang="en-US" sz="1050" dirty="0">
                <a:solidFill>
                  <a:srgbClr val="6F6862"/>
                </a:solidFill>
                <a:latin typeface="Calibri" pitchFamily="34" charset="0"/>
                <a:ea typeface="Calibri" pitchFamily="34" charset="-122"/>
                <a:cs typeface="Calibri" pitchFamily="34" charset="-120"/>
              </a:rPr>
              <a:t>Einordnung der Wettbewerber ist eigene Einschätzung</a:t>
            </a:r>
            <a:endParaRPr lang="en-US" sz="1050" dirty="0"/>
          </a:p>
        </p:txBody>
      </p:sp>
      <p:sp>
        <p:nvSpPr>
          <p:cNvPr id="12" name="Shape 9"/>
          <p:cNvSpPr/>
          <p:nvPr/>
        </p:nvSpPr>
        <p:spPr>
          <a:xfrm>
            <a:off x="7589520" y="1417320"/>
            <a:ext cx="4050792" cy="2926080"/>
          </a:xfrm>
          <a:prstGeom prst="rect">
            <a:avLst/>
          </a:prstGeom>
          <a:solidFill>
            <a:srgbClr val="F3EEE6"/>
          </a:solidFill>
          <a:ln w="12700">
            <a:solidFill>
              <a:srgbClr val="F3EEE6"/>
            </a:solidFill>
            <a:prstDash val="solid"/>
          </a:ln>
        </p:spPr>
        <p:txBody>
          <a:bodyPr/>
          <a:lstStyle/>
          <a:p>
            <a:endParaRPr lang="de-DE"/>
          </a:p>
        </p:txBody>
      </p:sp>
      <p:sp>
        <p:nvSpPr>
          <p:cNvPr id="13" name="Text 10"/>
          <p:cNvSpPr txBox="1"/>
          <p:nvPr/>
        </p:nvSpPr>
        <p:spPr>
          <a:xfrm>
            <a:off x="7818120" y="1536192"/>
            <a:ext cx="3566160" cy="329184"/>
          </a:xfrm>
          <a:prstGeom prst="rect">
            <a:avLst/>
          </a:prstGeom>
          <a:noFill/>
          <a:ln/>
        </p:spPr>
        <p:txBody>
          <a:bodyPr wrap="square" lIns="0" tIns="0" rIns="0" bIns="0" rtlCol="0" anchor="ctr"/>
          <a:lstStyle/>
          <a:p>
            <a:pPr marL="0" indent="0">
              <a:buNone/>
            </a:pPr>
            <a:r>
              <a:rPr lang="en-US" sz="1700" b="1" dirty="0">
                <a:solidFill>
                  <a:srgbClr val="2B2724"/>
                </a:solidFill>
                <a:latin typeface="Cambria" pitchFamily="34" charset="0"/>
                <a:ea typeface="Cambria" pitchFamily="34" charset="-122"/>
                <a:cs typeface="Cambria" pitchFamily="34" charset="-120"/>
              </a:rPr>
              <a:t>Referenz: Kochhaus</a:t>
            </a:r>
            <a:endParaRPr lang="en-US" sz="1700" dirty="0"/>
          </a:p>
        </p:txBody>
      </p:sp>
      <p:sp>
        <p:nvSpPr>
          <p:cNvPr id="14" name="Text 11"/>
          <p:cNvSpPr txBox="1"/>
          <p:nvPr/>
        </p:nvSpPr>
        <p:spPr>
          <a:xfrm>
            <a:off x="7818120" y="1920240"/>
            <a:ext cx="3611880" cy="201168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B2724"/>
                </a:solidFill>
                <a:latin typeface="Calibri" pitchFamily="34" charset="0"/>
                <a:ea typeface="Calibri" pitchFamily="34" charset="-122"/>
                <a:cs typeface="Calibri" pitchFamily="34" charset="-120"/>
              </a:rPr>
              <a:t>Berlin 2010: 150 m², 600 Artikel, 250 Kunden/Tag, Ø-Bon 20 €, 18–20 Rezepte nebeneinander.</a:t>
            </a:r>
            <a:endParaRPr lang="en-US" sz="1150" dirty="0"/>
          </a:p>
          <a:p>
            <a:pPr marL="342900" indent="-342900">
              <a:spcAft>
                <a:spcPts val="500"/>
              </a:spcAft>
              <a:buSzPct val="100000"/>
              <a:buChar char="•"/>
            </a:pPr>
            <a:r>
              <a:rPr lang="en-US" sz="1150" dirty="0">
                <a:solidFill>
                  <a:srgbClr val="2B2724"/>
                </a:solidFill>
                <a:latin typeface="Calibri" pitchFamily="34" charset="0"/>
                <a:ea typeface="Calibri" pitchFamily="34" charset="-122"/>
                <a:cs typeface="Calibri" pitchFamily="34" charset="-120"/>
              </a:rPr>
              <a:t>Bis zu 12 Läden, zuletzt über 8 Mio. € Umsatz, aber nicht profitabel; 2019 Insolvenz, unter Druck durch Online-Kochboxen.</a:t>
            </a:r>
            <a:endParaRPr lang="en-US" sz="1150" dirty="0"/>
          </a:p>
          <a:p>
            <a:pPr marL="342900" indent="-342900">
              <a:spcAft>
                <a:spcPts val="500"/>
              </a:spcAft>
              <a:buSzPct val="100000"/>
              <a:buChar char="•"/>
            </a:pPr>
            <a:r>
              <a:rPr lang="en-US" sz="1150" b="1" dirty="0">
                <a:solidFill>
                  <a:srgbClr val="2B2724"/>
                </a:solidFill>
                <a:latin typeface="Calibri" pitchFamily="34" charset="0"/>
                <a:ea typeface="Calibri" pitchFamily="34" charset="-122"/>
                <a:cs typeface="Calibri" pitchFamily="34" charset="-120"/>
              </a:rPr>
              <a:t>Unsere Lehre: Basissortiment für Grundfrequenz, 9 Rezepte statt 18–20, Küche sichtbar im Laden.</a:t>
            </a:r>
            <a:endParaRPr lang="en-US" sz="1150" dirty="0"/>
          </a:p>
        </p:txBody>
      </p:sp>
      <p:sp>
        <p:nvSpPr>
          <p:cNvPr id="15" name="Shape 12"/>
          <p:cNvSpPr/>
          <p:nvPr/>
        </p:nvSpPr>
        <p:spPr>
          <a:xfrm>
            <a:off x="7818120" y="3986784"/>
            <a:ext cx="237744" cy="237744"/>
          </a:xfrm>
          <a:prstGeom prst="ellipse">
            <a:avLst/>
          </a:prstGeom>
          <a:solidFill>
            <a:srgbClr val="4F6B3A"/>
          </a:solidFill>
          <a:ln w="12700">
            <a:solidFill>
              <a:srgbClr val="4F6B3A"/>
            </a:solidFill>
            <a:prstDash val="solid"/>
          </a:ln>
        </p:spPr>
        <p:txBody>
          <a:bodyPr/>
          <a:lstStyle/>
          <a:p>
            <a:endParaRPr lang="de-DE"/>
          </a:p>
        </p:txBody>
      </p:sp>
      <p:sp>
        <p:nvSpPr>
          <p:cNvPr id="16" name="Text 13"/>
          <p:cNvSpPr txBox="1"/>
          <p:nvPr/>
        </p:nvSpPr>
        <p:spPr>
          <a:xfrm>
            <a:off x="7818120" y="3986784"/>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Q</a:t>
            </a:r>
            <a:endParaRPr lang="en-US" sz="900" dirty="0"/>
          </a:p>
        </p:txBody>
      </p:sp>
      <p:sp>
        <p:nvSpPr>
          <p:cNvPr id="17" name="Text 14"/>
          <p:cNvSpPr txBox="1"/>
          <p:nvPr/>
        </p:nvSpPr>
        <p:spPr>
          <a:xfrm>
            <a:off x="8129016" y="3959352"/>
            <a:ext cx="3291840" cy="292608"/>
          </a:xfrm>
          <a:prstGeom prst="rect">
            <a:avLst/>
          </a:prstGeom>
          <a:noFill/>
          <a:ln/>
        </p:spPr>
        <p:txBody>
          <a:bodyPr wrap="square" lIns="0" tIns="0" rIns="0" bIns="0" rtlCol="0" anchor="ctr"/>
          <a:lstStyle/>
          <a:p>
            <a:pPr marL="0" indent="0">
              <a:buNone/>
            </a:pPr>
            <a:r>
              <a:rPr lang="en-US" sz="1000" dirty="0">
                <a:solidFill>
                  <a:srgbClr val="6F6862"/>
                </a:solidFill>
                <a:latin typeface="Calibri" pitchFamily="34" charset="0"/>
                <a:ea typeface="Calibri" pitchFamily="34" charset="-122"/>
                <a:cs typeface="Calibri" pitchFamily="34" charset="-120"/>
              </a:rPr>
              <a:t>Lebensmittelpraxis 2010 ◐; Tagesspiegel 2019 ✓</a:t>
            </a:r>
            <a:endParaRPr lang="en-US" sz="1000" dirty="0"/>
          </a:p>
        </p:txBody>
      </p:sp>
      <p:sp>
        <p:nvSpPr>
          <p:cNvPr id="18" name="Text 15"/>
          <p:cNvSpPr txBox="1"/>
          <p:nvPr/>
        </p:nvSpPr>
        <p:spPr>
          <a:xfrm>
            <a:off x="548640" y="4434840"/>
            <a:ext cx="6766560" cy="292608"/>
          </a:xfrm>
          <a:prstGeom prst="rect">
            <a:avLst/>
          </a:prstGeom>
          <a:noFill/>
          <a:ln/>
        </p:spPr>
        <p:txBody>
          <a:bodyPr wrap="square" lIns="0" tIns="0" rIns="0" bIns="0" rtlCol="0" anchor="ctr"/>
          <a:lstStyle/>
          <a:p>
            <a:pPr marL="0" indent="0">
              <a:buNone/>
            </a:pPr>
            <a:r>
              <a:rPr lang="en-US" sz="1350" b="1" dirty="0">
                <a:solidFill>
                  <a:srgbClr val="2B2724"/>
                </a:solidFill>
                <a:latin typeface="Calibri" pitchFamily="34" charset="0"/>
                <a:ea typeface="Calibri" pitchFamily="34" charset="-122"/>
                <a:cs typeface="Calibri" pitchFamily="34" charset="-120"/>
              </a:rPr>
              <a:t>Abgrenzung zur Kochbox</a:t>
            </a:r>
            <a:endParaRPr lang="en-US" sz="1350" dirty="0"/>
          </a:p>
        </p:txBody>
      </p:sp>
      <p:sp>
        <p:nvSpPr>
          <p:cNvPr id="19" name="Text 16"/>
          <p:cNvSpPr txBox="1"/>
          <p:nvPr/>
        </p:nvSpPr>
        <p:spPr>
          <a:xfrm>
            <a:off x="548640" y="4754880"/>
            <a:ext cx="2148840" cy="868680"/>
          </a:xfrm>
          <a:prstGeom prst="rect">
            <a:avLst/>
          </a:prstGeom>
          <a:noFill/>
          <a:ln/>
        </p:spPr>
        <p:txBody>
          <a:bodyPr wrap="square" lIns="0" tIns="0" rIns="0" bIns="0" rtlCol="0" anchor="t"/>
          <a:lstStyle/>
          <a:p>
            <a:pPr marL="0" indent="0">
              <a:buNone/>
            </a:pPr>
            <a:r>
              <a:rPr lang="en-US" sz="1150" b="1" dirty="0">
                <a:solidFill>
                  <a:srgbClr val="B5452F"/>
                </a:solidFill>
                <a:latin typeface="Calibri" pitchFamily="34" charset="0"/>
                <a:ea typeface="Calibri" pitchFamily="34" charset="-122"/>
                <a:cs typeface="Calibri" pitchFamily="34" charset="-120"/>
              </a:rPr>
              <a:t>Entscheidung</a:t>
            </a:r>
            <a:endParaRPr lang="en-US" sz="1150" dirty="0"/>
          </a:p>
          <a:p>
            <a:pPr marL="0" indent="0">
              <a:buNone/>
            </a:pPr>
            <a:r>
              <a:rPr lang="en-US" sz="1150" dirty="0">
                <a:solidFill>
                  <a:srgbClr val="6F6862"/>
                </a:solidFill>
                <a:latin typeface="Calibri" pitchFamily="34" charset="0"/>
                <a:ea typeface="Calibri" pitchFamily="34" charset="-122"/>
                <a:cs typeface="Calibri" pitchFamily="34" charset="-120"/>
              </a:rPr>
              <a:t>Box: Tage vorher</a:t>
            </a:r>
            <a:endParaRPr lang="en-US" sz="1150" dirty="0"/>
          </a:p>
          <a:p>
            <a:pPr marL="0" indent="0">
              <a:buNone/>
            </a:pPr>
            <a:r>
              <a:rPr lang="en-US" sz="1150" b="1" dirty="0">
                <a:solidFill>
                  <a:srgbClr val="2B2724"/>
                </a:solidFill>
                <a:latin typeface="Calibri" pitchFamily="34" charset="0"/>
                <a:ea typeface="Calibri" pitchFamily="34" charset="-122"/>
                <a:cs typeface="Calibri" pitchFamily="34" charset="-120"/>
              </a:rPr>
              <a:t>Wir: heute, auf dem Heimweg</a:t>
            </a:r>
            <a:endParaRPr lang="en-US" sz="1150" dirty="0"/>
          </a:p>
        </p:txBody>
      </p:sp>
      <p:sp>
        <p:nvSpPr>
          <p:cNvPr id="20" name="Text 17"/>
          <p:cNvSpPr txBox="1"/>
          <p:nvPr/>
        </p:nvSpPr>
        <p:spPr>
          <a:xfrm>
            <a:off x="2834640" y="4754880"/>
            <a:ext cx="2148840" cy="868680"/>
          </a:xfrm>
          <a:prstGeom prst="rect">
            <a:avLst/>
          </a:prstGeom>
          <a:noFill/>
          <a:ln/>
        </p:spPr>
        <p:txBody>
          <a:bodyPr wrap="square" lIns="0" tIns="0" rIns="0" bIns="0" rtlCol="0" anchor="t"/>
          <a:lstStyle/>
          <a:p>
            <a:pPr marL="0" indent="0">
              <a:buNone/>
            </a:pPr>
            <a:r>
              <a:rPr lang="en-US" sz="1150" b="1" dirty="0">
                <a:solidFill>
                  <a:srgbClr val="B5452F"/>
                </a:solidFill>
                <a:latin typeface="Calibri" pitchFamily="34" charset="0"/>
                <a:ea typeface="Calibri" pitchFamily="34" charset="-122"/>
                <a:cs typeface="Calibri" pitchFamily="34" charset="-120"/>
              </a:rPr>
              <a:t>Bindung</a:t>
            </a:r>
            <a:endParaRPr lang="en-US" sz="1150" dirty="0"/>
          </a:p>
          <a:p>
            <a:pPr marL="0" indent="0">
              <a:buNone/>
            </a:pPr>
            <a:r>
              <a:rPr lang="en-US" sz="1150" dirty="0">
                <a:solidFill>
                  <a:srgbClr val="6F6862"/>
                </a:solidFill>
                <a:latin typeface="Calibri" pitchFamily="34" charset="0"/>
                <a:ea typeface="Calibri" pitchFamily="34" charset="-122"/>
                <a:cs typeface="Calibri" pitchFamily="34" charset="-120"/>
              </a:rPr>
              <a:t>Box: Abo-Modell</a:t>
            </a:r>
            <a:endParaRPr lang="en-US" sz="1150" dirty="0"/>
          </a:p>
          <a:p>
            <a:pPr marL="0" indent="0">
              <a:buNone/>
            </a:pPr>
            <a:r>
              <a:rPr lang="en-US" sz="1150" b="1" dirty="0">
                <a:solidFill>
                  <a:srgbClr val="2B2724"/>
                </a:solidFill>
                <a:latin typeface="Calibri" pitchFamily="34" charset="0"/>
                <a:ea typeface="Calibri" pitchFamily="34" charset="-122"/>
                <a:cs typeface="Calibri" pitchFamily="34" charset="-120"/>
              </a:rPr>
              <a:t>Wir: jeder Einkauf einzeln</a:t>
            </a:r>
            <a:endParaRPr lang="en-US" sz="1150" dirty="0"/>
          </a:p>
        </p:txBody>
      </p:sp>
      <p:sp>
        <p:nvSpPr>
          <p:cNvPr id="21" name="Text 18"/>
          <p:cNvSpPr txBox="1"/>
          <p:nvPr/>
        </p:nvSpPr>
        <p:spPr>
          <a:xfrm>
            <a:off x="5120640" y="4754880"/>
            <a:ext cx="2148840" cy="868680"/>
          </a:xfrm>
          <a:prstGeom prst="rect">
            <a:avLst/>
          </a:prstGeom>
          <a:noFill/>
          <a:ln/>
        </p:spPr>
        <p:txBody>
          <a:bodyPr wrap="square" lIns="0" tIns="0" rIns="0" bIns="0" rtlCol="0" anchor="t"/>
          <a:lstStyle/>
          <a:p>
            <a:pPr marL="0" indent="0">
              <a:buNone/>
            </a:pPr>
            <a:r>
              <a:rPr lang="en-US" sz="1150" b="1" dirty="0">
                <a:solidFill>
                  <a:srgbClr val="B5452F"/>
                </a:solidFill>
                <a:latin typeface="Calibri" pitchFamily="34" charset="0"/>
                <a:ea typeface="Calibri" pitchFamily="34" charset="-122"/>
                <a:cs typeface="Calibri" pitchFamily="34" charset="-120"/>
              </a:rPr>
              <a:t>Auswahl</a:t>
            </a:r>
            <a:endParaRPr lang="en-US" sz="1150" dirty="0"/>
          </a:p>
          <a:p>
            <a:pPr marL="0" indent="0">
              <a:buNone/>
            </a:pPr>
            <a:r>
              <a:rPr lang="en-US" sz="1150" dirty="0">
                <a:solidFill>
                  <a:srgbClr val="6F6862"/>
                </a:solidFill>
                <a:latin typeface="Calibri" pitchFamily="34" charset="0"/>
                <a:ea typeface="Calibri" pitchFamily="34" charset="-122"/>
                <a:cs typeface="Calibri" pitchFamily="34" charset="-120"/>
              </a:rPr>
              <a:t>Box: Wochenmenü am Bildschirm</a:t>
            </a:r>
            <a:endParaRPr lang="en-US" sz="1150" dirty="0"/>
          </a:p>
          <a:p>
            <a:pPr marL="0" indent="0">
              <a:buNone/>
            </a:pPr>
            <a:r>
              <a:rPr lang="en-US" sz="1150" b="1" dirty="0">
                <a:solidFill>
                  <a:srgbClr val="2B2724"/>
                </a:solidFill>
                <a:latin typeface="Calibri" pitchFamily="34" charset="0"/>
                <a:ea typeface="Calibri" pitchFamily="34" charset="-122"/>
                <a:cs typeface="Calibri" pitchFamily="34" charset="-120"/>
              </a:rPr>
              <a:t>Wir: Küche × Anlass, Ware sehen und probieren</a:t>
            </a:r>
            <a:endParaRPr lang="en-US" sz="1150" dirty="0"/>
          </a:p>
        </p:txBody>
      </p:sp>
      <p:sp>
        <p:nvSpPr>
          <p:cNvPr id="22" name="Text 19"/>
          <p:cNvSpPr txBox="1"/>
          <p:nvPr/>
        </p:nvSpPr>
        <p:spPr>
          <a:xfrm>
            <a:off x="548640" y="5687568"/>
            <a:ext cx="6766560" cy="274320"/>
          </a:xfrm>
          <a:prstGeom prst="rect">
            <a:avLst/>
          </a:prstGeom>
          <a:noFill/>
          <a:ln/>
        </p:spPr>
        <p:txBody>
          <a:bodyPr wrap="square" lIns="0" tIns="0" rIns="0" bIns="0" rtlCol="0" anchor="ctr"/>
          <a:lstStyle/>
          <a:p>
            <a:pPr marL="0" indent="0">
              <a:buNone/>
            </a:pPr>
            <a:r>
              <a:rPr lang="en-US" sz="1100" i="1" dirty="0">
                <a:solidFill>
                  <a:srgbClr val="6F6862"/>
                </a:solidFill>
                <a:latin typeface="Calibri" pitchFamily="34" charset="0"/>
                <a:ea typeface="Calibri" pitchFamily="34" charset="-122"/>
                <a:cs typeface="Calibri" pitchFamily="34" charset="-120"/>
              </a:rPr>
              <a:t>Wo die Box besser ist: kein Weg in den Laden. Wer seine Woche plant, ist nicht unsere Zielgruppe.</a:t>
            </a:r>
            <a:endParaRPr lang="en-US" sz="1100" dirty="0"/>
          </a:p>
        </p:txBody>
      </p:sp>
      <p:sp>
        <p:nvSpPr>
          <p:cNvPr id="23" name="Shape 20"/>
          <p:cNvSpPr/>
          <p:nvPr/>
        </p:nvSpPr>
        <p:spPr>
          <a:xfrm>
            <a:off x="7589520" y="4526280"/>
            <a:ext cx="4050792" cy="1463040"/>
          </a:xfrm>
          <a:prstGeom prst="rect">
            <a:avLst/>
          </a:prstGeom>
          <a:solidFill>
            <a:srgbClr val="2B2724"/>
          </a:solidFill>
          <a:ln w="12700">
            <a:solidFill>
              <a:srgbClr val="2B2724"/>
            </a:solidFill>
            <a:prstDash val="solid"/>
          </a:ln>
        </p:spPr>
        <p:txBody>
          <a:bodyPr/>
          <a:lstStyle/>
          <a:p>
            <a:endParaRPr lang="de-DE"/>
          </a:p>
        </p:txBody>
      </p:sp>
      <p:sp>
        <p:nvSpPr>
          <p:cNvPr id="24" name="Text 21"/>
          <p:cNvSpPr txBox="1"/>
          <p:nvPr/>
        </p:nvSpPr>
        <p:spPr>
          <a:xfrm>
            <a:off x="7772400" y="4572000"/>
            <a:ext cx="3703320" cy="1051560"/>
          </a:xfrm>
          <a:prstGeom prst="rect">
            <a:avLst/>
          </a:prstGeom>
          <a:noFill/>
          <a:ln/>
        </p:spPr>
        <p:txBody>
          <a:bodyPr wrap="square" lIns="0" tIns="0" rIns="0" bIns="0" rtlCol="0" anchor="ctr"/>
          <a:lstStyle/>
          <a:p>
            <a:pPr marL="0" indent="0">
              <a:buNone/>
            </a:pPr>
            <a:r>
              <a:rPr lang="en-US" sz="1350" i="1" dirty="0">
                <a:solidFill>
                  <a:srgbClr val="FFFFFF"/>
                </a:solidFill>
                <a:latin typeface="Cambria" pitchFamily="34" charset="0"/>
                <a:ea typeface="Cambria" pitchFamily="34" charset="-122"/>
                <a:cs typeface="Cambria" pitchFamily="34" charset="-120"/>
              </a:rPr>
              <a:t>„HelloFresh löst die Frage, was ich nächste Woche koche. Wir lösen die Frage, was ich heute Abend koche.“</a:t>
            </a:r>
            <a:endParaRPr lang="en-US" sz="1350" dirty="0"/>
          </a:p>
        </p:txBody>
      </p:sp>
      <p:sp>
        <p:nvSpPr>
          <p:cNvPr id="25" name="Shape 22"/>
          <p:cNvSpPr/>
          <p:nvPr/>
        </p:nvSpPr>
        <p:spPr>
          <a:xfrm>
            <a:off x="7772400" y="5669280"/>
            <a:ext cx="201168" cy="201168"/>
          </a:xfrm>
          <a:prstGeom prst="ellipse">
            <a:avLst/>
          </a:prstGeom>
          <a:solidFill>
            <a:srgbClr val="B5452F"/>
          </a:solidFill>
          <a:ln w="12700">
            <a:solidFill>
              <a:srgbClr val="B5452F"/>
            </a:solidFill>
            <a:prstDash val="solid"/>
          </a:ln>
        </p:spPr>
        <p:txBody>
          <a:bodyPr/>
          <a:lstStyle/>
          <a:p>
            <a:endParaRPr lang="de-DE"/>
          </a:p>
        </p:txBody>
      </p:sp>
      <p:sp>
        <p:nvSpPr>
          <p:cNvPr id="26" name="Text 23"/>
          <p:cNvSpPr txBox="1"/>
          <p:nvPr/>
        </p:nvSpPr>
        <p:spPr>
          <a:xfrm>
            <a:off x="7772400" y="5669280"/>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a:t>
            </a:r>
            <a:endParaRPr lang="en-US" sz="800" dirty="0"/>
          </a:p>
        </p:txBody>
      </p:sp>
      <p:sp>
        <p:nvSpPr>
          <p:cNvPr id="27" name="Text 24"/>
          <p:cNvSpPr txBox="1"/>
          <p:nvPr/>
        </p:nvSpPr>
        <p:spPr>
          <a:xfrm>
            <a:off x="8046720" y="5632704"/>
            <a:ext cx="3474720" cy="274320"/>
          </a:xfrm>
          <a:prstGeom prst="rect">
            <a:avLst/>
          </a:prstGeom>
          <a:noFill/>
          <a:ln/>
        </p:spPr>
        <p:txBody>
          <a:bodyPr wrap="square" lIns="0" tIns="0" rIns="0" bIns="0" rtlCol="0" anchor="ctr"/>
          <a:lstStyle/>
          <a:p>
            <a:pPr marL="0" indent="0">
              <a:buNone/>
            </a:pPr>
            <a:r>
              <a:rPr lang="en-US" sz="1000" dirty="0">
                <a:solidFill>
                  <a:srgbClr val="D8D2CA"/>
                </a:solidFill>
                <a:latin typeface="Calibri" pitchFamily="34" charset="0"/>
                <a:ea typeface="Calibri" pitchFamily="34" charset="-122"/>
                <a:cs typeface="Calibri" pitchFamily="34" charset="-120"/>
              </a:rPr>
              <a:t>Größe der spontanen Zielgruppe ist Annahme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0972800" cy="274320"/>
          </a:xfrm>
          <a:prstGeom prst="rect">
            <a:avLst/>
          </a:prstGeom>
          <a:noFill/>
          <a:ln/>
        </p:spPr>
        <p:txBody>
          <a:bodyPr wrap="square" lIns="0" tIns="0" rIns="0" bIns="0" rtlCol="0" anchor="ctr"/>
          <a:lstStyle/>
          <a:p>
            <a:pPr marL="0" indent="0">
              <a:buNone/>
            </a:pPr>
            <a:r>
              <a:rPr lang="en-US" sz="1200" b="1" dirty="0">
                <a:solidFill>
                  <a:srgbClr val="B5452F"/>
                </a:solidFill>
                <a:latin typeface="Calibri" pitchFamily="34" charset="0"/>
                <a:ea typeface="Calibri" pitchFamily="34" charset="-122"/>
                <a:cs typeface="Calibri" pitchFamily="34" charset="-120"/>
              </a:rPr>
              <a:t>2 · RAHMEN</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2B2724"/>
                </a:solidFill>
                <a:latin typeface="Cambria" pitchFamily="34" charset="0"/>
                <a:ea typeface="Cambria" pitchFamily="34" charset="-122"/>
                <a:cs typeface="Cambria" pitchFamily="34" charset="-120"/>
              </a:rPr>
              <a:t>Rahmendaten: wer, wo, was und auf welcher Fläche.</a:t>
            </a:r>
            <a:endParaRPr lang="en-US" sz="2800" dirty="0"/>
          </a:p>
        </p:txBody>
      </p:sp>
      <p:sp>
        <p:nvSpPr>
          <p:cNvPr id="4" name="Text 2"/>
          <p:cNvSpPr txBox="1"/>
          <p:nvPr/>
        </p:nvSpPr>
        <p:spPr>
          <a:xfrm>
            <a:off x="548640" y="6144768"/>
            <a:ext cx="11064240" cy="228600"/>
          </a:xfrm>
          <a:prstGeom prst="rect">
            <a:avLst/>
          </a:prstGeom>
          <a:noFill/>
          <a:ln/>
        </p:spPr>
        <p:txBody>
          <a:bodyPr wrap="square" lIns="0" tIns="0" rIns="0" bIns="0" rtlCol="0" anchor="ctr"/>
          <a:lstStyle/>
          <a:p>
            <a:pPr marL="0" indent="0">
              <a:buNone/>
            </a:pPr>
            <a:r>
              <a:rPr lang="en-US" sz="950" dirty="0">
                <a:solidFill>
                  <a:srgbClr val="6F6862"/>
                </a:solidFill>
                <a:latin typeface="Calibri" pitchFamily="34" charset="0"/>
                <a:ea typeface="Calibri" pitchFamily="34" charset="-122"/>
                <a:cs typeface="Calibri" pitchFamily="34" charset="-120"/>
              </a:rPr>
              <a:t>Alle Rahmendaten sind gekennzeichnete Fallannahmen der Gruppe. Vergleichswert Kochhaus Berlin: 150 m², 600 Artikel (Lebensmittelpraxis, 16.12.2010 ◐).</a:t>
            </a:r>
            <a:endParaRPr lang="en-US" sz="950" dirty="0"/>
          </a:p>
        </p:txBody>
      </p:sp>
      <p:sp>
        <p:nvSpPr>
          <p:cNvPr id="5" name="Shape 3"/>
          <p:cNvSpPr/>
          <p:nvPr/>
        </p:nvSpPr>
        <p:spPr>
          <a:xfrm>
            <a:off x="548640" y="6419088"/>
            <a:ext cx="11091672" cy="0"/>
          </a:xfrm>
          <a:prstGeom prst="line">
            <a:avLst/>
          </a:prstGeom>
          <a:noFill/>
          <a:ln w="9525">
            <a:solidFill>
              <a:srgbClr val="D9D1C5"/>
            </a:solidFill>
            <a:prstDash val="solid"/>
          </a:ln>
        </p:spPr>
        <p:txBody>
          <a:bodyPr/>
          <a:lstStyle/>
          <a:p>
            <a:endParaRPr lang="de-DE"/>
          </a:p>
        </p:txBody>
      </p:sp>
      <p:sp>
        <p:nvSpPr>
          <p:cNvPr id="6" name="Text 4"/>
          <p:cNvSpPr txBox="1"/>
          <p:nvPr/>
        </p:nvSpPr>
        <p:spPr>
          <a:xfrm>
            <a:off x="548640" y="6473952"/>
            <a:ext cx="7315200" cy="228600"/>
          </a:xfrm>
          <a:prstGeom prst="rect">
            <a:avLst/>
          </a:prstGeom>
          <a:noFill/>
          <a:ln/>
        </p:spPr>
        <p:txBody>
          <a:bodyPr wrap="square" lIns="0" tIns="0" rIns="0" bIns="0" rtlCol="0" anchor="ctr"/>
          <a:lstStyle/>
          <a:p>
            <a:pPr marL="0" indent="0">
              <a:buNone/>
            </a:pPr>
            <a:r>
              <a:rPr lang="en-US" sz="900" dirty="0">
                <a:solidFill>
                  <a:srgbClr val="6F6862"/>
                </a:solidFill>
                <a:latin typeface="Calibri" pitchFamily="34" charset="0"/>
                <a:ea typeface="Calibri" pitchFamily="34" charset="-122"/>
                <a:cs typeface="Calibri" pitchFamily="34" charset="-120"/>
              </a:rPr>
              <a:t>One Hour Kitchen · Store-Konzept · Kurs HD25A23</a:t>
            </a:r>
            <a:endParaRPr lang="en-US" sz="900" dirty="0"/>
          </a:p>
        </p:txBody>
      </p:sp>
      <p:sp>
        <p:nvSpPr>
          <p:cNvPr id="7" name="Text 5"/>
          <p:cNvSpPr txBox="1"/>
          <p:nvPr/>
        </p:nvSpPr>
        <p:spPr>
          <a:xfrm>
            <a:off x="10725912" y="6473952"/>
            <a:ext cx="914400" cy="228600"/>
          </a:xfrm>
          <a:prstGeom prst="rect">
            <a:avLst/>
          </a:prstGeom>
          <a:noFill/>
          <a:ln/>
        </p:spPr>
        <p:txBody>
          <a:bodyPr wrap="square" lIns="0" tIns="0" rIns="0" bIns="0" rtlCol="0" anchor="ctr"/>
          <a:lstStyle/>
          <a:p>
            <a:pPr marL="0" indent="0" algn="r">
              <a:buNone/>
            </a:pPr>
            <a:r>
              <a:rPr lang="en-US" sz="900" dirty="0">
                <a:solidFill>
                  <a:srgbClr val="6F6862"/>
                </a:solidFill>
                <a:latin typeface="Calibri" pitchFamily="34" charset="0"/>
                <a:ea typeface="Calibri" pitchFamily="34" charset="-122"/>
                <a:cs typeface="Calibri" pitchFamily="34" charset="-120"/>
              </a:rPr>
              <a:t>4</a:t>
            </a:r>
            <a:endParaRPr lang="en-US" sz="900" dirty="0"/>
          </a:p>
        </p:txBody>
      </p:sp>
      <p:sp>
        <p:nvSpPr>
          <p:cNvPr id="8" name="Shape 6"/>
          <p:cNvSpPr/>
          <p:nvPr/>
        </p:nvSpPr>
        <p:spPr>
          <a:xfrm>
            <a:off x="548640" y="1463040"/>
            <a:ext cx="3520440" cy="1965960"/>
          </a:xfrm>
          <a:prstGeom prst="rect">
            <a:avLst/>
          </a:prstGeom>
          <a:solidFill>
            <a:srgbClr val="F3EEE6"/>
          </a:solidFill>
          <a:ln w="12700">
            <a:solidFill>
              <a:srgbClr val="F3EEE6"/>
            </a:solidFill>
            <a:prstDash val="solid"/>
          </a:ln>
        </p:spPr>
        <p:txBody>
          <a:bodyPr/>
          <a:lstStyle/>
          <a:p>
            <a:endParaRPr lang="de-DE"/>
          </a:p>
        </p:txBody>
      </p:sp>
      <p:sp>
        <p:nvSpPr>
          <p:cNvPr id="9" name="Text 7"/>
          <p:cNvSpPr txBox="1"/>
          <p:nvPr/>
        </p:nvSpPr>
        <p:spPr>
          <a:xfrm>
            <a:off x="777240" y="1645920"/>
            <a:ext cx="2743200" cy="320040"/>
          </a:xfrm>
          <a:prstGeom prst="rect">
            <a:avLst/>
          </a:prstGeom>
          <a:noFill/>
          <a:ln/>
        </p:spPr>
        <p:txBody>
          <a:bodyPr wrap="square" lIns="0" tIns="0" rIns="0" bIns="0" rtlCol="0" anchor="ctr"/>
          <a:lstStyle/>
          <a:p>
            <a:pPr marL="0" indent="0">
              <a:buNone/>
            </a:pPr>
            <a:r>
              <a:rPr lang="en-US" sz="1700" b="1" dirty="0">
                <a:solidFill>
                  <a:srgbClr val="B5452F"/>
                </a:solidFill>
                <a:latin typeface="Cambria" pitchFamily="34" charset="0"/>
                <a:ea typeface="Cambria" pitchFamily="34" charset="-122"/>
                <a:cs typeface="Cambria" pitchFamily="34" charset="-120"/>
              </a:rPr>
              <a:t>Store</a:t>
            </a:r>
            <a:endParaRPr lang="en-US" sz="1700" dirty="0"/>
          </a:p>
        </p:txBody>
      </p:sp>
      <p:sp>
        <p:nvSpPr>
          <p:cNvPr id="10" name="Text 8"/>
          <p:cNvSpPr txBox="1"/>
          <p:nvPr/>
        </p:nvSpPr>
        <p:spPr>
          <a:xfrm>
            <a:off x="777240" y="2029968"/>
            <a:ext cx="3108960" cy="1234440"/>
          </a:xfrm>
          <a:prstGeom prst="rect">
            <a:avLst/>
          </a:prstGeom>
          <a:noFill/>
          <a:ln/>
        </p:spPr>
        <p:txBody>
          <a:bodyPr wrap="square" lIns="0" tIns="0" rIns="0" bIns="0" rtlCol="0" anchor="t"/>
          <a:lstStyle/>
          <a:p>
            <a:pPr marL="0" indent="0">
              <a:buNone/>
            </a:pPr>
            <a:r>
              <a:rPr lang="en-US" sz="1350" dirty="0">
                <a:solidFill>
                  <a:srgbClr val="2B2724"/>
                </a:solidFill>
                <a:latin typeface="Calibri" pitchFamily="34" charset="0"/>
                <a:ea typeface="Calibri" pitchFamily="34" charset="-122"/>
                <a:cs typeface="Calibri" pitchFamily="34" charset="-120"/>
              </a:rPr>
              <a:t>Food-Store mit drei Kochwelten, Rezept-Matrix und mietbarer Showküche (8 Plätze)</a:t>
            </a:r>
            <a:endParaRPr lang="en-US" sz="1350" dirty="0"/>
          </a:p>
        </p:txBody>
      </p:sp>
      <p:sp>
        <p:nvSpPr>
          <p:cNvPr id="11" name="Shape 9"/>
          <p:cNvSpPr/>
          <p:nvPr/>
        </p:nvSpPr>
        <p:spPr>
          <a:xfrm>
            <a:off x="3675888" y="1664208"/>
            <a:ext cx="237744" cy="237744"/>
          </a:xfrm>
          <a:prstGeom prst="ellipse">
            <a:avLst/>
          </a:prstGeom>
          <a:solidFill>
            <a:srgbClr val="B5452F"/>
          </a:solidFill>
          <a:ln w="12700">
            <a:solidFill>
              <a:srgbClr val="B5452F"/>
            </a:solidFill>
            <a:prstDash val="solid"/>
          </a:ln>
        </p:spPr>
        <p:txBody>
          <a:bodyPr/>
          <a:lstStyle/>
          <a:p>
            <a:endParaRPr lang="de-DE"/>
          </a:p>
        </p:txBody>
      </p:sp>
      <p:sp>
        <p:nvSpPr>
          <p:cNvPr id="12" name="Text 10"/>
          <p:cNvSpPr txBox="1"/>
          <p:nvPr/>
        </p:nvSpPr>
        <p:spPr>
          <a:xfrm>
            <a:off x="3675888" y="1664208"/>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13" name="Shape 11"/>
          <p:cNvSpPr/>
          <p:nvPr/>
        </p:nvSpPr>
        <p:spPr>
          <a:xfrm>
            <a:off x="4297680" y="1463040"/>
            <a:ext cx="3520440" cy="1965960"/>
          </a:xfrm>
          <a:prstGeom prst="rect">
            <a:avLst/>
          </a:prstGeom>
          <a:solidFill>
            <a:srgbClr val="F3EEE6"/>
          </a:solidFill>
          <a:ln w="12700">
            <a:solidFill>
              <a:srgbClr val="F3EEE6"/>
            </a:solidFill>
            <a:prstDash val="solid"/>
          </a:ln>
        </p:spPr>
        <p:txBody>
          <a:bodyPr/>
          <a:lstStyle/>
          <a:p>
            <a:endParaRPr lang="de-DE"/>
          </a:p>
        </p:txBody>
      </p:sp>
      <p:sp>
        <p:nvSpPr>
          <p:cNvPr id="14" name="Text 12"/>
          <p:cNvSpPr txBox="1"/>
          <p:nvPr/>
        </p:nvSpPr>
        <p:spPr>
          <a:xfrm>
            <a:off x="4526280" y="1645920"/>
            <a:ext cx="2743200" cy="320040"/>
          </a:xfrm>
          <a:prstGeom prst="rect">
            <a:avLst/>
          </a:prstGeom>
          <a:noFill/>
          <a:ln/>
        </p:spPr>
        <p:txBody>
          <a:bodyPr wrap="square" lIns="0" tIns="0" rIns="0" bIns="0" rtlCol="0" anchor="ctr"/>
          <a:lstStyle/>
          <a:p>
            <a:pPr marL="0" indent="0">
              <a:buNone/>
            </a:pPr>
            <a:r>
              <a:rPr lang="en-US" sz="1700" b="1" dirty="0">
                <a:solidFill>
                  <a:srgbClr val="B5452F"/>
                </a:solidFill>
                <a:latin typeface="Cambria" pitchFamily="34" charset="0"/>
                <a:ea typeface="Cambria" pitchFamily="34" charset="-122"/>
                <a:cs typeface="Cambria" pitchFamily="34" charset="-120"/>
              </a:rPr>
              <a:t>Kundengruppe</a:t>
            </a:r>
            <a:endParaRPr lang="en-US" sz="1700" dirty="0"/>
          </a:p>
        </p:txBody>
      </p:sp>
      <p:sp>
        <p:nvSpPr>
          <p:cNvPr id="15" name="Text 13"/>
          <p:cNvSpPr txBox="1"/>
          <p:nvPr/>
        </p:nvSpPr>
        <p:spPr>
          <a:xfrm>
            <a:off x="4526280" y="2029968"/>
            <a:ext cx="3108960" cy="1234440"/>
          </a:xfrm>
          <a:prstGeom prst="rect">
            <a:avLst/>
          </a:prstGeom>
          <a:noFill/>
          <a:ln/>
        </p:spPr>
        <p:txBody>
          <a:bodyPr wrap="square" lIns="0" tIns="0" rIns="0" bIns="0" rtlCol="0" anchor="t"/>
          <a:lstStyle/>
          <a:p>
            <a:pPr marL="0" indent="0">
              <a:buNone/>
            </a:pPr>
            <a:r>
              <a:rPr lang="en-US" sz="1350" dirty="0">
                <a:solidFill>
                  <a:srgbClr val="2B2724"/>
                </a:solidFill>
                <a:latin typeface="Calibri" pitchFamily="34" charset="0"/>
                <a:ea typeface="Calibri" pitchFamily="34" charset="-122"/>
                <a:cs typeface="Calibri" pitchFamily="34" charset="-120"/>
              </a:rPr>
              <a:t>18–35-jährige Studierende und Berufstätige: wenig Zeit, kochaffin, entscheiden spontan auf dem Heimweg, was sie abends kochen</a:t>
            </a:r>
            <a:endParaRPr lang="en-US" sz="1350" dirty="0"/>
          </a:p>
        </p:txBody>
      </p:sp>
      <p:sp>
        <p:nvSpPr>
          <p:cNvPr id="16" name="Shape 14"/>
          <p:cNvSpPr/>
          <p:nvPr/>
        </p:nvSpPr>
        <p:spPr>
          <a:xfrm>
            <a:off x="7424928" y="1664208"/>
            <a:ext cx="237744" cy="237744"/>
          </a:xfrm>
          <a:prstGeom prst="ellipse">
            <a:avLst/>
          </a:prstGeom>
          <a:solidFill>
            <a:srgbClr val="B5452F"/>
          </a:solidFill>
          <a:ln w="12700">
            <a:solidFill>
              <a:srgbClr val="B5452F"/>
            </a:solidFill>
            <a:prstDash val="solid"/>
          </a:ln>
        </p:spPr>
        <p:txBody>
          <a:bodyPr/>
          <a:lstStyle/>
          <a:p>
            <a:endParaRPr lang="de-DE"/>
          </a:p>
        </p:txBody>
      </p:sp>
      <p:sp>
        <p:nvSpPr>
          <p:cNvPr id="17" name="Text 15"/>
          <p:cNvSpPr txBox="1"/>
          <p:nvPr/>
        </p:nvSpPr>
        <p:spPr>
          <a:xfrm>
            <a:off x="7424928" y="1664208"/>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18" name="Shape 16"/>
          <p:cNvSpPr/>
          <p:nvPr/>
        </p:nvSpPr>
        <p:spPr>
          <a:xfrm>
            <a:off x="8046720" y="1463040"/>
            <a:ext cx="3520440" cy="1965960"/>
          </a:xfrm>
          <a:prstGeom prst="rect">
            <a:avLst/>
          </a:prstGeom>
          <a:solidFill>
            <a:srgbClr val="F3EEE6"/>
          </a:solidFill>
          <a:ln w="12700">
            <a:solidFill>
              <a:srgbClr val="F3EEE6"/>
            </a:solidFill>
            <a:prstDash val="solid"/>
          </a:ln>
        </p:spPr>
        <p:txBody>
          <a:bodyPr/>
          <a:lstStyle/>
          <a:p>
            <a:endParaRPr lang="de-DE"/>
          </a:p>
        </p:txBody>
      </p:sp>
      <p:sp>
        <p:nvSpPr>
          <p:cNvPr id="19" name="Text 17"/>
          <p:cNvSpPr txBox="1"/>
          <p:nvPr/>
        </p:nvSpPr>
        <p:spPr>
          <a:xfrm>
            <a:off x="8275320" y="1645920"/>
            <a:ext cx="2743200" cy="320040"/>
          </a:xfrm>
          <a:prstGeom prst="rect">
            <a:avLst/>
          </a:prstGeom>
          <a:noFill/>
          <a:ln/>
        </p:spPr>
        <p:txBody>
          <a:bodyPr wrap="square" lIns="0" tIns="0" rIns="0" bIns="0" rtlCol="0" anchor="ctr"/>
          <a:lstStyle/>
          <a:p>
            <a:pPr marL="0" indent="0">
              <a:buNone/>
            </a:pPr>
            <a:r>
              <a:rPr lang="en-US" sz="1700" b="1" dirty="0">
                <a:solidFill>
                  <a:srgbClr val="B5452F"/>
                </a:solidFill>
                <a:latin typeface="Cambria" pitchFamily="34" charset="0"/>
                <a:ea typeface="Cambria" pitchFamily="34" charset="-122"/>
                <a:cs typeface="Cambria" pitchFamily="34" charset="-120"/>
              </a:rPr>
              <a:t>Standort</a:t>
            </a:r>
            <a:endParaRPr lang="en-US" sz="1700" dirty="0"/>
          </a:p>
        </p:txBody>
      </p:sp>
      <p:sp>
        <p:nvSpPr>
          <p:cNvPr id="20" name="Text 18"/>
          <p:cNvSpPr txBox="1"/>
          <p:nvPr/>
        </p:nvSpPr>
        <p:spPr>
          <a:xfrm>
            <a:off x="8275320" y="2029968"/>
            <a:ext cx="3108960" cy="1234440"/>
          </a:xfrm>
          <a:prstGeom prst="rect">
            <a:avLst/>
          </a:prstGeom>
          <a:noFill/>
          <a:ln/>
        </p:spPr>
        <p:txBody>
          <a:bodyPr wrap="square" lIns="0" tIns="0" rIns="0" bIns="0" rtlCol="0" anchor="t"/>
          <a:lstStyle/>
          <a:p>
            <a:pPr marL="0" indent="0">
              <a:buNone/>
            </a:pPr>
            <a:r>
              <a:rPr lang="en-US" sz="1350" dirty="0">
                <a:solidFill>
                  <a:srgbClr val="2B2724"/>
                </a:solidFill>
                <a:latin typeface="Calibri" pitchFamily="34" charset="0"/>
                <a:ea typeface="Calibri" pitchFamily="34" charset="-122"/>
                <a:cs typeface="Calibri" pitchFamily="34" charset="-120"/>
              </a:rPr>
              <a:t>Heilbronn, Nähe Bildungscampus, auf dem Heimweg zu ÖPNV-Haltestellen; Laufkundschaft nach Vorlesung und Feierabend</a:t>
            </a:r>
            <a:endParaRPr lang="en-US" sz="1350" dirty="0"/>
          </a:p>
        </p:txBody>
      </p:sp>
      <p:sp>
        <p:nvSpPr>
          <p:cNvPr id="21" name="Shape 19"/>
          <p:cNvSpPr/>
          <p:nvPr/>
        </p:nvSpPr>
        <p:spPr>
          <a:xfrm>
            <a:off x="11173968" y="1664208"/>
            <a:ext cx="237744" cy="237744"/>
          </a:xfrm>
          <a:prstGeom prst="ellipse">
            <a:avLst/>
          </a:prstGeom>
          <a:solidFill>
            <a:srgbClr val="B5452F"/>
          </a:solidFill>
          <a:ln w="12700">
            <a:solidFill>
              <a:srgbClr val="B5452F"/>
            </a:solidFill>
            <a:prstDash val="solid"/>
          </a:ln>
        </p:spPr>
        <p:txBody>
          <a:bodyPr/>
          <a:lstStyle/>
          <a:p>
            <a:endParaRPr lang="de-DE"/>
          </a:p>
        </p:txBody>
      </p:sp>
      <p:sp>
        <p:nvSpPr>
          <p:cNvPr id="22" name="Text 20"/>
          <p:cNvSpPr txBox="1"/>
          <p:nvPr/>
        </p:nvSpPr>
        <p:spPr>
          <a:xfrm>
            <a:off x="11173968" y="1664208"/>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3" name="Shape 21"/>
          <p:cNvSpPr/>
          <p:nvPr/>
        </p:nvSpPr>
        <p:spPr>
          <a:xfrm>
            <a:off x="548640" y="3657600"/>
            <a:ext cx="3520440" cy="1965960"/>
          </a:xfrm>
          <a:prstGeom prst="rect">
            <a:avLst/>
          </a:prstGeom>
          <a:solidFill>
            <a:srgbClr val="F3EEE6"/>
          </a:solidFill>
          <a:ln w="12700">
            <a:solidFill>
              <a:srgbClr val="F3EEE6"/>
            </a:solidFill>
            <a:prstDash val="solid"/>
          </a:ln>
        </p:spPr>
        <p:txBody>
          <a:bodyPr/>
          <a:lstStyle/>
          <a:p>
            <a:endParaRPr lang="de-DE"/>
          </a:p>
        </p:txBody>
      </p:sp>
      <p:sp>
        <p:nvSpPr>
          <p:cNvPr id="24" name="Text 22"/>
          <p:cNvSpPr txBox="1"/>
          <p:nvPr/>
        </p:nvSpPr>
        <p:spPr>
          <a:xfrm>
            <a:off x="777240" y="3840480"/>
            <a:ext cx="2743200" cy="320040"/>
          </a:xfrm>
          <a:prstGeom prst="rect">
            <a:avLst/>
          </a:prstGeom>
          <a:noFill/>
          <a:ln/>
        </p:spPr>
        <p:txBody>
          <a:bodyPr wrap="square" lIns="0" tIns="0" rIns="0" bIns="0" rtlCol="0" anchor="ctr"/>
          <a:lstStyle/>
          <a:p>
            <a:pPr marL="0" indent="0">
              <a:buNone/>
            </a:pPr>
            <a:r>
              <a:rPr lang="en-US" sz="1700" b="1" dirty="0">
                <a:solidFill>
                  <a:srgbClr val="B5452F"/>
                </a:solidFill>
                <a:latin typeface="Cambria" pitchFamily="34" charset="0"/>
                <a:ea typeface="Cambria" pitchFamily="34" charset="-122"/>
                <a:cs typeface="Cambria" pitchFamily="34" charset="-120"/>
              </a:rPr>
              <a:t>Sortiment</a:t>
            </a:r>
            <a:endParaRPr lang="en-US" sz="1700" dirty="0"/>
          </a:p>
        </p:txBody>
      </p:sp>
      <p:sp>
        <p:nvSpPr>
          <p:cNvPr id="25" name="Text 23"/>
          <p:cNvSpPr txBox="1"/>
          <p:nvPr/>
        </p:nvSpPr>
        <p:spPr>
          <a:xfrm>
            <a:off x="777240" y="4224528"/>
            <a:ext cx="3108960" cy="1234440"/>
          </a:xfrm>
          <a:prstGeom prst="rect">
            <a:avLst/>
          </a:prstGeom>
          <a:noFill/>
          <a:ln/>
        </p:spPr>
        <p:txBody>
          <a:bodyPr wrap="square" lIns="0" tIns="0" rIns="0" bIns="0" rtlCol="0" anchor="t"/>
          <a:lstStyle/>
          <a:p>
            <a:pPr marL="0" indent="0">
              <a:buNone/>
            </a:pPr>
            <a:r>
              <a:rPr lang="en-US" sz="1350" dirty="0">
                <a:solidFill>
                  <a:srgbClr val="2B2724"/>
                </a:solidFill>
                <a:latin typeface="Calibri" pitchFamily="34" charset="0"/>
                <a:ea typeface="Calibri" pitchFamily="34" charset="-122"/>
                <a:cs typeface="Calibri" pitchFamily="34" charset="-120"/>
              </a:rPr>
              <a:t>ca. 800 Artikel: 9 Matrix-Rezepte in 3 Kochwelten, Obst &amp; Gemüse, Kühlung, Basissortiment, Dessert, Wein &amp; Getränke</a:t>
            </a:r>
            <a:endParaRPr lang="en-US" sz="1350" dirty="0"/>
          </a:p>
        </p:txBody>
      </p:sp>
      <p:sp>
        <p:nvSpPr>
          <p:cNvPr id="26" name="Shape 24"/>
          <p:cNvSpPr/>
          <p:nvPr/>
        </p:nvSpPr>
        <p:spPr>
          <a:xfrm>
            <a:off x="3675888" y="3858768"/>
            <a:ext cx="237744" cy="237744"/>
          </a:xfrm>
          <a:prstGeom prst="ellipse">
            <a:avLst/>
          </a:prstGeom>
          <a:solidFill>
            <a:srgbClr val="B5452F"/>
          </a:solidFill>
          <a:ln w="12700">
            <a:solidFill>
              <a:srgbClr val="B5452F"/>
            </a:solidFill>
            <a:prstDash val="solid"/>
          </a:ln>
        </p:spPr>
        <p:txBody>
          <a:bodyPr/>
          <a:lstStyle/>
          <a:p>
            <a:endParaRPr lang="de-DE"/>
          </a:p>
        </p:txBody>
      </p:sp>
      <p:sp>
        <p:nvSpPr>
          <p:cNvPr id="27" name="Text 25"/>
          <p:cNvSpPr txBox="1"/>
          <p:nvPr/>
        </p:nvSpPr>
        <p:spPr>
          <a:xfrm>
            <a:off x="3675888" y="3858768"/>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8" name="Shape 26"/>
          <p:cNvSpPr/>
          <p:nvPr/>
        </p:nvSpPr>
        <p:spPr>
          <a:xfrm>
            <a:off x="4297680" y="3657600"/>
            <a:ext cx="3520440" cy="1965960"/>
          </a:xfrm>
          <a:prstGeom prst="rect">
            <a:avLst/>
          </a:prstGeom>
          <a:solidFill>
            <a:srgbClr val="F3EEE6"/>
          </a:solidFill>
          <a:ln w="12700">
            <a:solidFill>
              <a:srgbClr val="F3EEE6"/>
            </a:solidFill>
            <a:prstDash val="solid"/>
          </a:ln>
        </p:spPr>
        <p:txBody>
          <a:bodyPr/>
          <a:lstStyle/>
          <a:p>
            <a:endParaRPr lang="de-DE"/>
          </a:p>
        </p:txBody>
      </p:sp>
      <p:sp>
        <p:nvSpPr>
          <p:cNvPr id="29" name="Text 27"/>
          <p:cNvSpPr txBox="1"/>
          <p:nvPr/>
        </p:nvSpPr>
        <p:spPr>
          <a:xfrm>
            <a:off x="4526280" y="3840480"/>
            <a:ext cx="2743200" cy="320040"/>
          </a:xfrm>
          <a:prstGeom prst="rect">
            <a:avLst/>
          </a:prstGeom>
          <a:noFill/>
          <a:ln/>
        </p:spPr>
        <p:txBody>
          <a:bodyPr wrap="square" lIns="0" tIns="0" rIns="0" bIns="0" rtlCol="0" anchor="ctr"/>
          <a:lstStyle/>
          <a:p>
            <a:pPr marL="0" indent="0">
              <a:buNone/>
            </a:pPr>
            <a:r>
              <a:rPr lang="en-US" sz="1700" b="1" dirty="0">
                <a:solidFill>
                  <a:srgbClr val="B5452F"/>
                </a:solidFill>
                <a:latin typeface="Cambria" pitchFamily="34" charset="0"/>
                <a:ea typeface="Cambria" pitchFamily="34" charset="-122"/>
                <a:cs typeface="Cambria" pitchFamily="34" charset="-120"/>
              </a:rPr>
              <a:t>Fläche</a:t>
            </a:r>
            <a:endParaRPr lang="en-US" sz="1700" dirty="0"/>
          </a:p>
        </p:txBody>
      </p:sp>
      <p:sp>
        <p:nvSpPr>
          <p:cNvPr id="30" name="Text 28"/>
          <p:cNvSpPr txBox="1"/>
          <p:nvPr/>
        </p:nvSpPr>
        <p:spPr>
          <a:xfrm>
            <a:off x="4526280" y="4224528"/>
            <a:ext cx="3108960" cy="1234440"/>
          </a:xfrm>
          <a:prstGeom prst="rect">
            <a:avLst/>
          </a:prstGeom>
          <a:noFill/>
          <a:ln/>
        </p:spPr>
        <p:txBody>
          <a:bodyPr wrap="square" lIns="0" tIns="0" rIns="0" bIns="0" rtlCol="0" anchor="t"/>
          <a:lstStyle/>
          <a:p>
            <a:pPr marL="0" indent="0">
              <a:buNone/>
            </a:pPr>
            <a:r>
              <a:rPr lang="en-US" sz="1350" dirty="0">
                <a:solidFill>
                  <a:srgbClr val="2B2724"/>
                </a:solidFill>
                <a:latin typeface="Calibri" pitchFamily="34" charset="0"/>
                <a:ea typeface="Calibri" pitchFamily="34" charset="-122"/>
                <a:cs typeface="Calibri" pitchFamily="34" charset="-120"/>
              </a:rPr>
              <a:t>Verkaufsraum 15,8 × 12 m ≈ 190 m² (davon Showküche ca. 18 m²) + L-Lager ca. 49 m² + Personal/WC ca. 7 m²</a:t>
            </a:r>
            <a:endParaRPr lang="en-US" sz="1350" dirty="0"/>
          </a:p>
        </p:txBody>
      </p:sp>
      <p:sp>
        <p:nvSpPr>
          <p:cNvPr id="31" name="Shape 29"/>
          <p:cNvSpPr/>
          <p:nvPr/>
        </p:nvSpPr>
        <p:spPr>
          <a:xfrm>
            <a:off x="7424928" y="3858768"/>
            <a:ext cx="237744" cy="237744"/>
          </a:xfrm>
          <a:prstGeom prst="ellipse">
            <a:avLst/>
          </a:prstGeom>
          <a:solidFill>
            <a:srgbClr val="B5452F"/>
          </a:solidFill>
          <a:ln w="12700">
            <a:solidFill>
              <a:srgbClr val="B5452F"/>
            </a:solidFill>
            <a:prstDash val="solid"/>
          </a:ln>
        </p:spPr>
        <p:txBody>
          <a:bodyPr/>
          <a:lstStyle/>
          <a:p>
            <a:endParaRPr lang="de-DE"/>
          </a:p>
        </p:txBody>
      </p:sp>
      <p:sp>
        <p:nvSpPr>
          <p:cNvPr id="32" name="Text 30"/>
          <p:cNvSpPr txBox="1"/>
          <p:nvPr/>
        </p:nvSpPr>
        <p:spPr>
          <a:xfrm>
            <a:off x="7424928" y="3858768"/>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3" name="Shape 31"/>
          <p:cNvSpPr/>
          <p:nvPr/>
        </p:nvSpPr>
        <p:spPr>
          <a:xfrm>
            <a:off x="8046720" y="3657600"/>
            <a:ext cx="3520440" cy="1965960"/>
          </a:xfrm>
          <a:prstGeom prst="rect">
            <a:avLst/>
          </a:prstGeom>
          <a:solidFill>
            <a:srgbClr val="F3EEE6"/>
          </a:solidFill>
          <a:ln w="12700">
            <a:solidFill>
              <a:srgbClr val="F3EEE6"/>
            </a:solidFill>
            <a:prstDash val="solid"/>
          </a:ln>
        </p:spPr>
        <p:txBody>
          <a:bodyPr/>
          <a:lstStyle/>
          <a:p>
            <a:endParaRPr lang="de-DE"/>
          </a:p>
        </p:txBody>
      </p:sp>
      <p:sp>
        <p:nvSpPr>
          <p:cNvPr id="34" name="Text 32"/>
          <p:cNvSpPr txBox="1"/>
          <p:nvPr/>
        </p:nvSpPr>
        <p:spPr>
          <a:xfrm>
            <a:off x="8275320" y="3840480"/>
            <a:ext cx="2743200" cy="320040"/>
          </a:xfrm>
          <a:prstGeom prst="rect">
            <a:avLst/>
          </a:prstGeom>
          <a:noFill/>
          <a:ln/>
        </p:spPr>
        <p:txBody>
          <a:bodyPr wrap="square" lIns="0" tIns="0" rIns="0" bIns="0" rtlCol="0" anchor="ctr"/>
          <a:lstStyle/>
          <a:p>
            <a:pPr marL="0" indent="0">
              <a:buNone/>
            </a:pPr>
            <a:r>
              <a:rPr lang="en-US" sz="1700" b="1" dirty="0">
                <a:solidFill>
                  <a:srgbClr val="B5452F"/>
                </a:solidFill>
                <a:latin typeface="Cambria" pitchFamily="34" charset="0"/>
                <a:ea typeface="Cambria" pitchFamily="34" charset="-122"/>
                <a:cs typeface="Cambria" pitchFamily="34" charset="-120"/>
              </a:rPr>
              <a:t>Öffnungszeiten</a:t>
            </a:r>
            <a:endParaRPr lang="en-US" sz="1700" dirty="0"/>
          </a:p>
        </p:txBody>
      </p:sp>
      <p:sp>
        <p:nvSpPr>
          <p:cNvPr id="35" name="Text 33"/>
          <p:cNvSpPr txBox="1"/>
          <p:nvPr/>
        </p:nvSpPr>
        <p:spPr>
          <a:xfrm>
            <a:off x="8275320" y="4224528"/>
            <a:ext cx="3108960" cy="1234440"/>
          </a:xfrm>
          <a:prstGeom prst="rect">
            <a:avLst/>
          </a:prstGeom>
          <a:noFill/>
          <a:ln/>
        </p:spPr>
        <p:txBody>
          <a:bodyPr wrap="square" lIns="0" tIns="0" rIns="0" bIns="0" rtlCol="0" anchor="t"/>
          <a:lstStyle/>
          <a:p>
            <a:pPr marL="0" indent="0">
              <a:buNone/>
            </a:pPr>
            <a:r>
              <a:rPr lang="en-US" sz="1350" dirty="0">
                <a:solidFill>
                  <a:srgbClr val="2B2724"/>
                </a:solidFill>
                <a:latin typeface="Calibri" pitchFamily="34" charset="0"/>
                <a:ea typeface="Calibri" pitchFamily="34" charset="-122"/>
                <a:cs typeface="Calibri" pitchFamily="34" charset="-120"/>
              </a:rPr>
              <a:t>Mo–Sa 10–21 Uhr; Live-Cooking mittags 12–13:30 Uhr, Kurse abends 18:30–21 Uhr</a:t>
            </a:r>
            <a:endParaRPr lang="en-US" sz="1350" dirty="0"/>
          </a:p>
        </p:txBody>
      </p:sp>
      <p:sp>
        <p:nvSpPr>
          <p:cNvPr id="36" name="Shape 34"/>
          <p:cNvSpPr/>
          <p:nvPr/>
        </p:nvSpPr>
        <p:spPr>
          <a:xfrm>
            <a:off x="11173968" y="3858768"/>
            <a:ext cx="237744" cy="237744"/>
          </a:xfrm>
          <a:prstGeom prst="ellipse">
            <a:avLst/>
          </a:prstGeom>
          <a:solidFill>
            <a:srgbClr val="B5452F"/>
          </a:solidFill>
          <a:ln w="12700">
            <a:solidFill>
              <a:srgbClr val="B5452F"/>
            </a:solidFill>
            <a:prstDash val="solid"/>
          </a:ln>
        </p:spPr>
        <p:txBody>
          <a:bodyPr/>
          <a:lstStyle/>
          <a:p>
            <a:endParaRPr lang="de-DE"/>
          </a:p>
        </p:txBody>
      </p:sp>
      <p:sp>
        <p:nvSpPr>
          <p:cNvPr id="37" name="Text 35"/>
          <p:cNvSpPr txBox="1"/>
          <p:nvPr/>
        </p:nvSpPr>
        <p:spPr>
          <a:xfrm>
            <a:off x="11173968" y="3858768"/>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0972800" cy="274320"/>
          </a:xfrm>
          <a:prstGeom prst="rect">
            <a:avLst/>
          </a:prstGeom>
          <a:noFill/>
          <a:ln/>
        </p:spPr>
        <p:txBody>
          <a:bodyPr wrap="square" lIns="0" tIns="0" rIns="0" bIns="0" rtlCol="0" anchor="ctr"/>
          <a:lstStyle/>
          <a:p>
            <a:pPr marL="0" indent="0">
              <a:buNone/>
            </a:pPr>
            <a:r>
              <a:rPr lang="en-US" sz="1200" b="1" dirty="0">
                <a:solidFill>
                  <a:srgbClr val="B5452F"/>
                </a:solidFill>
                <a:latin typeface="Calibri" pitchFamily="34" charset="0"/>
                <a:ea typeface="Calibri" pitchFamily="34" charset="-122"/>
                <a:cs typeface="Calibri" pitchFamily="34" charset="-120"/>
              </a:rPr>
              <a:t>2 · RAHMEN · WIRTSCHAFTLICHE GRÖSSE</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2B2724"/>
                </a:solidFill>
                <a:latin typeface="Cambria" pitchFamily="34" charset="0"/>
                <a:ea typeface="Cambria" pitchFamily="34" charset="-122"/>
                <a:cs typeface="Cambria" pitchFamily="34" charset="-120"/>
              </a:rPr>
              <a:t>Showküche: ab rund 3 Belegungen pro Woche trägt sie sich.</a:t>
            </a:r>
            <a:endParaRPr lang="en-US" sz="2800" dirty="0"/>
          </a:p>
        </p:txBody>
      </p:sp>
      <p:sp>
        <p:nvSpPr>
          <p:cNvPr id="4" name="Text 2"/>
          <p:cNvSpPr txBox="1"/>
          <p:nvPr/>
        </p:nvSpPr>
        <p:spPr>
          <a:xfrm>
            <a:off x="548640" y="6144768"/>
            <a:ext cx="11064240" cy="228600"/>
          </a:xfrm>
          <a:prstGeom prst="rect">
            <a:avLst/>
          </a:prstGeom>
          <a:noFill/>
          <a:ln/>
        </p:spPr>
        <p:txBody>
          <a:bodyPr wrap="square" lIns="0" tIns="0" rIns="0" bIns="0" rtlCol="0" anchor="ctr"/>
          <a:lstStyle/>
          <a:p>
            <a:pPr marL="0" indent="0">
              <a:buNone/>
            </a:pPr>
            <a:r>
              <a:rPr lang="en-US" sz="950" dirty="0">
                <a:solidFill>
                  <a:srgbClr val="6F6862"/>
                </a:solidFill>
                <a:latin typeface="Calibri" pitchFamily="34" charset="0"/>
                <a:ea typeface="Calibri" pitchFamily="34" charset="-122"/>
                <a:cs typeface="Calibri" pitchFamily="34" charset="-120"/>
              </a:rPr>
              <a:t>Alle Werte sind Fallannahmen. Vergleich Kochhaus Berlin 2010: 250 Kunden/Tag, Ø-Bon 20 € (Lebensmittelpraxis, 16.12.2010 ◐) – unsere Frequenz ist bewusst vorsichtiger. Nicht enthalten: Investition Küche, Personal, Energie.</a:t>
            </a:r>
            <a:endParaRPr lang="en-US" sz="950" dirty="0"/>
          </a:p>
        </p:txBody>
      </p:sp>
      <p:sp>
        <p:nvSpPr>
          <p:cNvPr id="5" name="Shape 3"/>
          <p:cNvSpPr/>
          <p:nvPr/>
        </p:nvSpPr>
        <p:spPr>
          <a:xfrm>
            <a:off x="548640" y="6419088"/>
            <a:ext cx="11091672" cy="0"/>
          </a:xfrm>
          <a:prstGeom prst="line">
            <a:avLst/>
          </a:prstGeom>
          <a:noFill/>
          <a:ln w="9525">
            <a:solidFill>
              <a:srgbClr val="D9D1C5"/>
            </a:solidFill>
            <a:prstDash val="solid"/>
          </a:ln>
        </p:spPr>
        <p:txBody>
          <a:bodyPr/>
          <a:lstStyle/>
          <a:p>
            <a:endParaRPr lang="de-DE"/>
          </a:p>
        </p:txBody>
      </p:sp>
      <p:sp>
        <p:nvSpPr>
          <p:cNvPr id="6" name="Text 4"/>
          <p:cNvSpPr txBox="1"/>
          <p:nvPr/>
        </p:nvSpPr>
        <p:spPr>
          <a:xfrm>
            <a:off x="548640" y="6473952"/>
            <a:ext cx="7315200" cy="228600"/>
          </a:xfrm>
          <a:prstGeom prst="rect">
            <a:avLst/>
          </a:prstGeom>
          <a:noFill/>
          <a:ln/>
        </p:spPr>
        <p:txBody>
          <a:bodyPr wrap="square" lIns="0" tIns="0" rIns="0" bIns="0" rtlCol="0" anchor="ctr"/>
          <a:lstStyle/>
          <a:p>
            <a:pPr marL="0" indent="0">
              <a:buNone/>
            </a:pPr>
            <a:r>
              <a:rPr lang="en-US" sz="900" dirty="0">
                <a:solidFill>
                  <a:srgbClr val="6F6862"/>
                </a:solidFill>
                <a:latin typeface="Calibri" pitchFamily="34" charset="0"/>
                <a:ea typeface="Calibri" pitchFamily="34" charset="-122"/>
                <a:cs typeface="Calibri" pitchFamily="34" charset="-120"/>
              </a:rPr>
              <a:t>One Hour Kitchen · Store-Konzept · Kurs HD25A23</a:t>
            </a:r>
            <a:endParaRPr lang="en-US" sz="900" dirty="0"/>
          </a:p>
        </p:txBody>
      </p:sp>
      <p:sp>
        <p:nvSpPr>
          <p:cNvPr id="7" name="Text 5"/>
          <p:cNvSpPr txBox="1"/>
          <p:nvPr/>
        </p:nvSpPr>
        <p:spPr>
          <a:xfrm>
            <a:off x="10725912" y="6473952"/>
            <a:ext cx="914400" cy="228600"/>
          </a:xfrm>
          <a:prstGeom prst="rect">
            <a:avLst/>
          </a:prstGeom>
          <a:noFill/>
          <a:ln/>
        </p:spPr>
        <p:txBody>
          <a:bodyPr wrap="square" lIns="0" tIns="0" rIns="0" bIns="0" rtlCol="0" anchor="ctr"/>
          <a:lstStyle/>
          <a:p>
            <a:pPr marL="0" indent="0" algn="r">
              <a:buNone/>
            </a:pPr>
            <a:r>
              <a:rPr lang="en-US" sz="900" dirty="0">
                <a:solidFill>
                  <a:srgbClr val="6F6862"/>
                </a:solidFill>
                <a:latin typeface="Calibri" pitchFamily="34" charset="0"/>
                <a:ea typeface="Calibri" pitchFamily="34" charset="-122"/>
                <a:cs typeface="Calibri" pitchFamily="34" charset="-120"/>
              </a:rPr>
              <a:t>5</a:t>
            </a:r>
            <a:endParaRPr lang="en-US" sz="900" dirty="0"/>
          </a:p>
        </p:txBody>
      </p:sp>
      <p:sp>
        <p:nvSpPr>
          <p:cNvPr id="8" name="Text 6"/>
          <p:cNvSpPr txBox="1"/>
          <p:nvPr/>
        </p:nvSpPr>
        <p:spPr>
          <a:xfrm>
            <a:off x="548640" y="1417320"/>
            <a:ext cx="5486400" cy="320040"/>
          </a:xfrm>
          <a:prstGeom prst="rect">
            <a:avLst/>
          </a:prstGeom>
          <a:noFill/>
          <a:ln/>
        </p:spPr>
        <p:txBody>
          <a:bodyPr wrap="square" lIns="0" tIns="0" rIns="0" bIns="0" rtlCol="0" anchor="ctr"/>
          <a:lstStyle/>
          <a:p>
            <a:pPr marL="0" indent="0">
              <a:buNone/>
            </a:pPr>
            <a:r>
              <a:rPr lang="en-US" sz="1800" b="1" dirty="0">
                <a:solidFill>
                  <a:srgbClr val="2B2724"/>
                </a:solidFill>
                <a:latin typeface="Cambria" pitchFamily="34" charset="0"/>
                <a:ea typeface="Cambria" pitchFamily="34" charset="-122"/>
                <a:cs typeface="Cambria" pitchFamily="34" charset="-120"/>
              </a:rPr>
              <a:t>Herleitung</a:t>
            </a:r>
            <a:endParaRPr lang="en-US" sz="1800" dirty="0"/>
          </a:p>
        </p:txBody>
      </p:sp>
      <p:sp>
        <p:nvSpPr>
          <p:cNvPr id="9" name="Text 7"/>
          <p:cNvSpPr txBox="1"/>
          <p:nvPr/>
        </p:nvSpPr>
        <p:spPr>
          <a:xfrm>
            <a:off x="548640" y="1847088"/>
            <a:ext cx="2194560" cy="457200"/>
          </a:xfrm>
          <a:prstGeom prst="rect">
            <a:avLst/>
          </a:prstGeom>
          <a:noFill/>
          <a:ln/>
        </p:spPr>
        <p:txBody>
          <a:bodyPr wrap="square" lIns="0" tIns="0" rIns="0" bIns="0" rtlCol="0" anchor="ctr"/>
          <a:lstStyle/>
          <a:p>
            <a:pPr marL="0" indent="0">
              <a:buNone/>
            </a:pPr>
            <a:r>
              <a:rPr lang="en-US" sz="1300" b="1" dirty="0">
                <a:solidFill>
                  <a:srgbClr val="2B2724"/>
                </a:solidFill>
                <a:latin typeface="Calibri" pitchFamily="34" charset="0"/>
                <a:ea typeface="Calibri" pitchFamily="34" charset="-122"/>
                <a:cs typeface="Calibri" pitchFamily="34" charset="-120"/>
              </a:rPr>
              <a:t>Zielumsatz Verkauf</a:t>
            </a:r>
            <a:endParaRPr lang="en-US" sz="1300" dirty="0"/>
          </a:p>
        </p:txBody>
      </p:sp>
      <p:sp>
        <p:nvSpPr>
          <p:cNvPr id="10" name="Text 8"/>
          <p:cNvSpPr txBox="1"/>
          <p:nvPr/>
        </p:nvSpPr>
        <p:spPr>
          <a:xfrm>
            <a:off x="2743200" y="1847088"/>
            <a:ext cx="3749040" cy="457200"/>
          </a:xfrm>
          <a:prstGeom prst="rect">
            <a:avLst/>
          </a:prstGeom>
          <a:noFill/>
          <a:ln/>
        </p:spPr>
        <p:txBody>
          <a:bodyPr wrap="square" lIns="0" tIns="0" rIns="0" bIns="0" rtlCol="0" anchor="ctr"/>
          <a:lstStyle/>
          <a:p>
            <a:pPr marL="0" indent="0">
              <a:buNone/>
            </a:pPr>
            <a:r>
              <a:rPr lang="en-US" sz="1300" dirty="0">
                <a:solidFill>
                  <a:srgbClr val="2B2724"/>
                </a:solidFill>
                <a:latin typeface="Calibri" pitchFamily="34" charset="0"/>
                <a:ea typeface="Calibri" pitchFamily="34" charset="-122"/>
                <a:cs typeface="Calibri" pitchFamily="34" charset="-120"/>
              </a:rPr>
              <a:t>140 Kunden/Tag × 24 € × 300 Tage = 1.008.000 €</a:t>
            </a:r>
            <a:endParaRPr lang="en-US" sz="1300" dirty="0"/>
          </a:p>
        </p:txBody>
      </p:sp>
      <p:sp>
        <p:nvSpPr>
          <p:cNvPr id="11" name="Shape 9"/>
          <p:cNvSpPr/>
          <p:nvPr/>
        </p:nvSpPr>
        <p:spPr>
          <a:xfrm>
            <a:off x="548640" y="2350008"/>
            <a:ext cx="5943600" cy="0"/>
          </a:xfrm>
          <a:prstGeom prst="line">
            <a:avLst/>
          </a:prstGeom>
          <a:noFill/>
          <a:ln w="6350">
            <a:solidFill>
              <a:srgbClr val="D9D1C5"/>
            </a:solidFill>
            <a:prstDash val="solid"/>
          </a:ln>
        </p:spPr>
        <p:txBody>
          <a:bodyPr/>
          <a:lstStyle/>
          <a:p>
            <a:endParaRPr lang="de-DE"/>
          </a:p>
        </p:txBody>
      </p:sp>
      <p:sp>
        <p:nvSpPr>
          <p:cNvPr id="12" name="Text 10"/>
          <p:cNvSpPr txBox="1"/>
          <p:nvPr/>
        </p:nvSpPr>
        <p:spPr>
          <a:xfrm>
            <a:off x="548640" y="2395728"/>
            <a:ext cx="2194560" cy="457200"/>
          </a:xfrm>
          <a:prstGeom prst="rect">
            <a:avLst/>
          </a:prstGeom>
          <a:noFill/>
          <a:ln/>
        </p:spPr>
        <p:txBody>
          <a:bodyPr wrap="square" lIns="0" tIns="0" rIns="0" bIns="0" rtlCol="0" anchor="ctr"/>
          <a:lstStyle/>
          <a:p>
            <a:pPr marL="0" indent="0">
              <a:buNone/>
            </a:pPr>
            <a:r>
              <a:rPr lang="en-US" sz="1300" b="1" dirty="0">
                <a:solidFill>
                  <a:srgbClr val="2B2724"/>
                </a:solidFill>
                <a:latin typeface="Calibri" pitchFamily="34" charset="0"/>
                <a:ea typeface="Calibri" pitchFamily="34" charset="-122"/>
                <a:cs typeface="Calibri" pitchFamily="34" charset="-120"/>
              </a:rPr>
              <a:t>Flächenleistung</a:t>
            </a:r>
            <a:endParaRPr lang="en-US" sz="1300" dirty="0"/>
          </a:p>
        </p:txBody>
      </p:sp>
      <p:sp>
        <p:nvSpPr>
          <p:cNvPr id="13" name="Text 11"/>
          <p:cNvSpPr txBox="1"/>
          <p:nvPr/>
        </p:nvSpPr>
        <p:spPr>
          <a:xfrm>
            <a:off x="2743200" y="2395728"/>
            <a:ext cx="3749040" cy="457200"/>
          </a:xfrm>
          <a:prstGeom prst="rect">
            <a:avLst/>
          </a:prstGeom>
          <a:noFill/>
          <a:ln/>
        </p:spPr>
        <p:txBody>
          <a:bodyPr wrap="square" lIns="0" tIns="0" rIns="0" bIns="0" rtlCol="0" anchor="ctr"/>
          <a:lstStyle/>
          <a:p>
            <a:pPr marL="0" indent="0">
              <a:buNone/>
            </a:pPr>
            <a:r>
              <a:rPr lang="en-US" sz="1300" dirty="0">
                <a:solidFill>
                  <a:srgbClr val="2B2724"/>
                </a:solidFill>
                <a:latin typeface="Calibri" pitchFamily="34" charset="0"/>
                <a:ea typeface="Calibri" pitchFamily="34" charset="-122"/>
                <a:cs typeface="Calibri" pitchFamily="34" charset="-120"/>
              </a:rPr>
              <a:t>1.008.000 € ÷ 172 m² ≈ 5.860 € je m² (190 m² ohne Showküche)</a:t>
            </a:r>
            <a:endParaRPr lang="en-US" sz="1300" dirty="0"/>
          </a:p>
        </p:txBody>
      </p:sp>
      <p:sp>
        <p:nvSpPr>
          <p:cNvPr id="14" name="Shape 12"/>
          <p:cNvSpPr/>
          <p:nvPr/>
        </p:nvSpPr>
        <p:spPr>
          <a:xfrm>
            <a:off x="548640" y="2898648"/>
            <a:ext cx="5943600" cy="0"/>
          </a:xfrm>
          <a:prstGeom prst="line">
            <a:avLst/>
          </a:prstGeom>
          <a:noFill/>
          <a:ln w="6350">
            <a:solidFill>
              <a:srgbClr val="D9D1C5"/>
            </a:solidFill>
            <a:prstDash val="solid"/>
          </a:ln>
        </p:spPr>
        <p:txBody>
          <a:bodyPr/>
          <a:lstStyle/>
          <a:p>
            <a:endParaRPr lang="de-DE"/>
          </a:p>
        </p:txBody>
      </p:sp>
      <p:sp>
        <p:nvSpPr>
          <p:cNvPr id="15" name="Text 13"/>
          <p:cNvSpPr txBox="1"/>
          <p:nvPr/>
        </p:nvSpPr>
        <p:spPr>
          <a:xfrm>
            <a:off x="548640" y="2944368"/>
            <a:ext cx="2194560" cy="457200"/>
          </a:xfrm>
          <a:prstGeom prst="rect">
            <a:avLst/>
          </a:prstGeom>
          <a:noFill/>
          <a:ln/>
        </p:spPr>
        <p:txBody>
          <a:bodyPr wrap="square" lIns="0" tIns="0" rIns="0" bIns="0" rtlCol="0" anchor="ctr"/>
          <a:lstStyle/>
          <a:p>
            <a:pPr marL="0" indent="0">
              <a:buNone/>
            </a:pPr>
            <a:r>
              <a:rPr lang="en-US" sz="1300" b="1" dirty="0">
                <a:solidFill>
                  <a:srgbClr val="2B2724"/>
                </a:solidFill>
                <a:latin typeface="Calibri" pitchFamily="34" charset="0"/>
                <a:ea typeface="Calibri" pitchFamily="34" charset="-122"/>
                <a:cs typeface="Calibri" pitchFamily="34" charset="-120"/>
              </a:rPr>
              <a:t>Entgangener Umsatz</a:t>
            </a:r>
            <a:endParaRPr lang="en-US" sz="1300" dirty="0"/>
          </a:p>
        </p:txBody>
      </p:sp>
      <p:sp>
        <p:nvSpPr>
          <p:cNvPr id="16" name="Text 14"/>
          <p:cNvSpPr txBox="1"/>
          <p:nvPr/>
        </p:nvSpPr>
        <p:spPr>
          <a:xfrm>
            <a:off x="2743200" y="2944368"/>
            <a:ext cx="3749040" cy="457200"/>
          </a:xfrm>
          <a:prstGeom prst="rect">
            <a:avLst/>
          </a:prstGeom>
          <a:noFill/>
          <a:ln/>
        </p:spPr>
        <p:txBody>
          <a:bodyPr wrap="square" lIns="0" tIns="0" rIns="0" bIns="0" rtlCol="0" anchor="ctr"/>
          <a:lstStyle/>
          <a:p>
            <a:pPr marL="0" indent="0">
              <a:buNone/>
            </a:pPr>
            <a:r>
              <a:rPr lang="en-US" sz="1300" dirty="0">
                <a:solidFill>
                  <a:srgbClr val="2B2724"/>
                </a:solidFill>
                <a:latin typeface="Calibri" pitchFamily="34" charset="0"/>
                <a:ea typeface="Calibri" pitchFamily="34" charset="-122"/>
                <a:cs typeface="Calibri" pitchFamily="34" charset="-120"/>
              </a:rPr>
              <a:t>18 m² Showküche × 5.860 € ≈ 105.500 €</a:t>
            </a:r>
            <a:endParaRPr lang="en-US" sz="1300" dirty="0"/>
          </a:p>
        </p:txBody>
      </p:sp>
      <p:sp>
        <p:nvSpPr>
          <p:cNvPr id="17" name="Shape 15"/>
          <p:cNvSpPr/>
          <p:nvPr/>
        </p:nvSpPr>
        <p:spPr>
          <a:xfrm>
            <a:off x="548640" y="3447288"/>
            <a:ext cx="5943600" cy="0"/>
          </a:xfrm>
          <a:prstGeom prst="line">
            <a:avLst/>
          </a:prstGeom>
          <a:noFill/>
          <a:ln w="6350">
            <a:solidFill>
              <a:srgbClr val="D9D1C5"/>
            </a:solidFill>
            <a:prstDash val="solid"/>
          </a:ln>
        </p:spPr>
        <p:txBody>
          <a:bodyPr/>
          <a:lstStyle/>
          <a:p>
            <a:endParaRPr lang="de-DE"/>
          </a:p>
        </p:txBody>
      </p:sp>
      <p:sp>
        <p:nvSpPr>
          <p:cNvPr id="18" name="Text 16"/>
          <p:cNvSpPr txBox="1"/>
          <p:nvPr/>
        </p:nvSpPr>
        <p:spPr>
          <a:xfrm>
            <a:off x="548640" y="3493008"/>
            <a:ext cx="2194560" cy="457200"/>
          </a:xfrm>
          <a:prstGeom prst="rect">
            <a:avLst/>
          </a:prstGeom>
          <a:noFill/>
          <a:ln/>
        </p:spPr>
        <p:txBody>
          <a:bodyPr wrap="square" lIns="0" tIns="0" rIns="0" bIns="0" rtlCol="0" anchor="ctr"/>
          <a:lstStyle/>
          <a:p>
            <a:pPr marL="0" indent="0">
              <a:buNone/>
            </a:pPr>
            <a:r>
              <a:rPr lang="en-US" sz="1300" b="1" dirty="0">
                <a:solidFill>
                  <a:srgbClr val="2B2724"/>
                </a:solidFill>
                <a:latin typeface="Calibri" pitchFamily="34" charset="0"/>
                <a:ea typeface="Calibri" pitchFamily="34" charset="-122"/>
                <a:cs typeface="Calibri" pitchFamily="34" charset="-120"/>
              </a:rPr>
              <a:t>davon Rohertrag (30 %)</a:t>
            </a:r>
            <a:endParaRPr lang="en-US" sz="1300" dirty="0"/>
          </a:p>
        </p:txBody>
      </p:sp>
      <p:sp>
        <p:nvSpPr>
          <p:cNvPr id="19" name="Text 17"/>
          <p:cNvSpPr txBox="1"/>
          <p:nvPr/>
        </p:nvSpPr>
        <p:spPr>
          <a:xfrm>
            <a:off x="2743200" y="3493008"/>
            <a:ext cx="3749040" cy="457200"/>
          </a:xfrm>
          <a:prstGeom prst="rect">
            <a:avLst/>
          </a:prstGeom>
          <a:noFill/>
          <a:ln/>
        </p:spPr>
        <p:txBody>
          <a:bodyPr wrap="square" lIns="0" tIns="0" rIns="0" bIns="0" rtlCol="0" anchor="ctr"/>
          <a:lstStyle/>
          <a:p>
            <a:pPr marL="0" indent="0">
              <a:buNone/>
            </a:pPr>
            <a:r>
              <a:rPr lang="en-US" sz="1300" dirty="0">
                <a:solidFill>
                  <a:srgbClr val="2B2724"/>
                </a:solidFill>
                <a:latin typeface="Calibri" pitchFamily="34" charset="0"/>
                <a:ea typeface="Calibri" pitchFamily="34" charset="-122"/>
                <a:cs typeface="Calibri" pitchFamily="34" charset="-120"/>
              </a:rPr>
              <a:t>≈ 31.600 € pro Jahr</a:t>
            </a:r>
            <a:endParaRPr lang="en-US" sz="1300" dirty="0"/>
          </a:p>
        </p:txBody>
      </p:sp>
      <p:sp>
        <p:nvSpPr>
          <p:cNvPr id="20" name="Shape 18"/>
          <p:cNvSpPr/>
          <p:nvPr/>
        </p:nvSpPr>
        <p:spPr>
          <a:xfrm>
            <a:off x="548640" y="3995928"/>
            <a:ext cx="5943600" cy="0"/>
          </a:xfrm>
          <a:prstGeom prst="line">
            <a:avLst/>
          </a:prstGeom>
          <a:noFill/>
          <a:ln w="6350">
            <a:solidFill>
              <a:srgbClr val="D9D1C5"/>
            </a:solidFill>
            <a:prstDash val="solid"/>
          </a:ln>
        </p:spPr>
        <p:txBody>
          <a:bodyPr/>
          <a:lstStyle/>
          <a:p>
            <a:endParaRPr lang="de-DE"/>
          </a:p>
        </p:txBody>
      </p:sp>
      <p:sp>
        <p:nvSpPr>
          <p:cNvPr id="21" name="Text 19"/>
          <p:cNvSpPr txBox="1"/>
          <p:nvPr/>
        </p:nvSpPr>
        <p:spPr>
          <a:xfrm>
            <a:off x="548640" y="4041648"/>
            <a:ext cx="2194560" cy="457200"/>
          </a:xfrm>
          <a:prstGeom prst="rect">
            <a:avLst/>
          </a:prstGeom>
          <a:noFill/>
          <a:ln/>
        </p:spPr>
        <p:txBody>
          <a:bodyPr wrap="square" lIns="0" tIns="0" rIns="0" bIns="0" rtlCol="0" anchor="ctr"/>
          <a:lstStyle/>
          <a:p>
            <a:pPr marL="0" indent="0">
              <a:buNone/>
            </a:pPr>
            <a:r>
              <a:rPr lang="en-US" sz="1300" b="1" dirty="0">
                <a:solidFill>
                  <a:srgbClr val="2B2724"/>
                </a:solidFill>
                <a:latin typeface="Calibri" pitchFamily="34" charset="0"/>
                <a:ea typeface="Calibri" pitchFamily="34" charset="-122"/>
                <a:cs typeface="Calibri" pitchFamily="34" charset="-120"/>
              </a:rPr>
              <a:t>Kursumsatz</a:t>
            </a:r>
            <a:endParaRPr lang="en-US" sz="1300" dirty="0"/>
          </a:p>
        </p:txBody>
      </p:sp>
      <p:sp>
        <p:nvSpPr>
          <p:cNvPr id="22" name="Text 20"/>
          <p:cNvSpPr txBox="1"/>
          <p:nvPr/>
        </p:nvSpPr>
        <p:spPr>
          <a:xfrm>
            <a:off x="2743200" y="4041648"/>
            <a:ext cx="3749040" cy="457200"/>
          </a:xfrm>
          <a:prstGeom prst="rect">
            <a:avLst/>
          </a:prstGeom>
          <a:noFill/>
          <a:ln/>
        </p:spPr>
        <p:txBody>
          <a:bodyPr wrap="square" lIns="0" tIns="0" rIns="0" bIns="0" rtlCol="0" anchor="ctr"/>
          <a:lstStyle/>
          <a:p>
            <a:pPr marL="0" indent="0">
              <a:buNone/>
            </a:pPr>
            <a:r>
              <a:rPr lang="en-US" sz="1300" dirty="0">
                <a:solidFill>
                  <a:srgbClr val="2B2724"/>
                </a:solidFill>
                <a:latin typeface="Calibri" pitchFamily="34" charset="0"/>
                <a:ea typeface="Calibri" pitchFamily="34" charset="-122"/>
                <a:cs typeface="Calibri" pitchFamily="34" charset="-120"/>
              </a:rPr>
              <a:t>6 Belegungen/Woche × 7 Pers. × 59 € × 48 Wochen ≈ 118.900 €</a:t>
            </a:r>
            <a:endParaRPr lang="en-US" sz="1300" dirty="0"/>
          </a:p>
        </p:txBody>
      </p:sp>
      <p:sp>
        <p:nvSpPr>
          <p:cNvPr id="23" name="Shape 21"/>
          <p:cNvSpPr/>
          <p:nvPr/>
        </p:nvSpPr>
        <p:spPr>
          <a:xfrm>
            <a:off x="548640" y="4544568"/>
            <a:ext cx="5943600" cy="0"/>
          </a:xfrm>
          <a:prstGeom prst="line">
            <a:avLst/>
          </a:prstGeom>
          <a:noFill/>
          <a:ln w="6350">
            <a:solidFill>
              <a:srgbClr val="D9D1C5"/>
            </a:solidFill>
            <a:prstDash val="solid"/>
          </a:ln>
        </p:spPr>
        <p:txBody>
          <a:bodyPr/>
          <a:lstStyle/>
          <a:p>
            <a:endParaRPr lang="de-DE"/>
          </a:p>
        </p:txBody>
      </p:sp>
      <p:sp>
        <p:nvSpPr>
          <p:cNvPr id="24" name="Text 22"/>
          <p:cNvSpPr txBox="1"/>
          <p:nvPr/>
        </p:nvSpPr>
        <p:spPr>
          <a:xfrm>
            <a:off x="548640" y="4590288"/>
            <a:ext cx="2194560" cy="457200"/>
          </a:xfrm>
          <a:prstGeom prst="rect">
            <a:avLst/>
          </a:prstGeom>
          <a:noFill/>
          <a:ln/>
        </p:spPr>
        <p:txBody>
          <a:bodyPr wrap="square" lIns="0" tIns="0" rIns="0" bIns="0" rtlCol="0" anchor="ctr"/>
          <a:lstStyle/>
          <a:p>
            <a:pPr marL="0" indent="0">
              <a:buNone/>
            </a:pPr>
            <a:r>
              <a:rPr lang="en-US" sz="1300" b="1" dirty="0">
                <a:solidFill>
                  <a:srgbClr val="2B2724"/>
                </a:solidFill>
                <a:latin typeface="Calibri" pitchFamily="34" charset="0"/>
                <a:ea typeface="Calibri" pitchFamily="34" charset="-122"/>
                <a:cs typeface="Calibri" pitchFamily="34" charset="-120"/>
              </a:rPr>
              <a:t>Deckungsbeitrag (60 %)</a:t>
            </a:r>
            <a:endParaRPr lang="en-US" sz="1300" dirty="0"/>
          </a:p>
        </p:txBody>
      </p:sp>
      <p:sp>
        <p:nvSpPr>
          <p:cNvPr id="25" name="Text 23"/>
          <p:cNvSpPr txBox="1"/>
          <p:nvPr/>
        </p:nvSpPr>
        <p:spPr>
          <a:xfrm>
            <a:off x="2743200" y="4590288"/>
            <a:ext cx="3749040" cy="457200"/>
          </a:xfrm>
          <a:prstGeom prst="rect">
            <a:avLst/>
          </a:prstGeom>
          <a:noFill/>
          <a:ln/>
        </p:spPr>
        <p:txBody>
          <a:bodyPr wrap="square" lIns="0" tIns="0" rIns="0" bIns="0" rtlCol="0" anchor="ctr"/>
          <a:lstStyle/>
          <a:p>
            <a:pPr marL="0" indent="0">
              <a:buNone/>
            </a:pPr>
            <a:r>
              <a:rPr lang="en-US" sz="1300" dirty="0">
                <a:solidFill>
                  <a:srgbClr val="2B2724"/>
                </a:solidFill>
                <a:latin typeface="Calibri" pitchFamily="34" charset="0"/>
                <a:ea typeface="Calibri" pitchFamily="34" charset="-122"/>
                <a:cs typeface="Calibri" pitchFamily="34" charset="-120"/>
              </a:rPr>
              <a:t>≈ 71.400 € pro Jahr</a:t>
            </a:r>
            <a:endParaRPr lang="en-US" sz="1300" dirty="0"/>
          </a:p>
        </p:txBody>
      </p:sp>
      <p:sp>
        <p:nvSpPr>
          <p:cNvPr id="26" name="Shape 24"/>
          <p:cNvSpPr/>
          <p:nvPr/>
        </p:nvSpPr>
        <p:spPr>
          <a:xfrm>
            <a:off x="548640" y="5093208"/>
            <a:ext cx="5943600" cy="0"/>
          </a:xfrm>
          <a:prstGeom prst="line">
            <a:avLst/>
          </a:prstGeom>
          <a:noFill/>
          <a:ln w="6350">
            <a:solidFill>
              <a:srgbClr val="D9D1C5"/>
            </a:solidFill>
            <a:prstDash val="solid"/>
          </a:ln>
        </p:spPr>
        <p:txBody>
          <a:bodyPr/>
          <a:lstStyle/>
          <a:p>
            <a:endParaRPr lang="de-DE"/>
          </a:p>
        </p:txBody>
      </p:sp>
      <p:sp>
        <p:nvSpPr>
          <p:cNvPr id="27" name="Shape 25"/>
          <p:cNvSpPr/>
          <p:nvPr/>
        </p:nvSpPr>
        <p:spPr>
          <a:xfrm>
            <a:off x="548640" y="5230368"/>
            <a:ext cx="237744" cy="237744"/>
          </a:xfrm>
          <a:prstGeom prst="ellipse">
            <a:avLst/>
          </a:prstGeom>
          <a:solidFill>
            <a:srgbClr val="B5452F"/>
          </a:solidFill>
          <a:ln w="12700">
            <a:solidFill>
              <a:srgbClr val="B5452F"/>
            </a:solidFill>
            <a:prstDash val="solid"/>
          </a:ln>
        </p:spPr>
        <p:txBody>
          <a:bodyPr/>
          <a:lstStyle/>
          <a:p>
            <a:endParaRPr lang="de-DE"/>
          </a:p>
        </p:txBody>
      </p:sp>
      <p:sp>
        <p:nvSpPr>
          <p:cNvPr id="28" name="Text 26"/>
          <p:cNvSpPr txBox="1"/>
          <p:nvPr/>
        </p:nvSpPr>
        <p:spPr>
          <a:xfrm>
            <a:off x="548640" y="5230368"/>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9" name="Text 27"/>
          <p:cNvSpPr txBox="1"/>
          <p:nvPr/>
        </p:nvSpPr>
        <p:spPr>
          <a:xfrm>
            <a:off x="859536" y="5202936"/>
            <a:ext cx="5669280" cy="292608"/>
          </a:xfrm>
          <a:prstGeom prst="rect">
            <a:avLst/>
          </a:prstGeom>
          <a:noFill/>
          <a:ln/>
        </p:spPr>
        <p:txBody>
          <a:bodyPr wrap="square" lIns="0" tIns="0" rIns="0" bIns="0" rtlCol="0" anchor="ctr"/>
          <a:lstStyle/>
          <a:p>
            <a:pPr marL="0" indent="0">
              <a:buNone/>
            </a:pPr>
            <a:r>
              <a:rPr lang="en-US" sz="1100" dirty="0">
                <a:solidFill>
                  <a:srgbClr val="6F6862"/>
                </a:solidFill>
                <a:latin typeface="Calibri" pitchFamily="34" charset="0"/>
                <a:ea typeface="Calibri" pitchFamily="34" charset="-122"/>
                <a:cs typeface="Calibri" pitchFamily="34" charset="-120"/>
              </a:rPr>
              <a:t>Kundenfrequenz, Warenkorb, Kurspreis, Rohertrags- und DB-Quote angenommen</a:t>
            </a:r>
            <a:endParaRPr lang="en-US" sz="1100" dirty="0"/>
          </a:p>
        </p:txBody>
      </p:sp>
      <p:graphicFrame>
        <p:nvGraphicFramePr>
          <p:cNvPr id="30" name="Chart 0"/>
          <p:cNvGraphicFramePr/>
          <p:nvPr/>
        </p:nvGraphicFramePr>
        <p:xfrm>
          <a:off x="6858000" y="1371600"/>
          <a:ext cx="475488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31" name="Shape 28"/>
          <p:cNvSpPr/>
          <p:nvPr/>
        </p:nvSpPr>
        <p:spPr>
          <a:xfrm>
            <a:off x="6858000" y="4663440"/>
            <a:ext cx="4754880" cy="1325880"/>
          </a:xfrm>
          <a:prstGeom prst="rect">
            <a:avLst/>
          </a:prstGeom>
          <a:solidFill>
            <a:srgbClr val="2B2724"/>
          </a:solidFill>
          <a:ln w="12700">
            <a:solidFill>
              <a:srgbClr val="2B2724"/>
            </a:solidFill>
            <a:prstDash val="solid"/>
          </a:ln>
        </p:spPr>
        <p:txBody>
          <a:bodyPr/>
          <a:lstStyle/>
          <a:p>
            <a:endParaRPr lang="de-DE"/>
          </a:p>
        </p:txBody>
      </p:sp>
      <p:sp>
        <p:nvSpPr>
          <p:cNvPr id="32" name="Text 29"/>
          <p:cNvSpPr txBox="1"/>
          <p:nvPr/>
        </p:nvSpPr>
        <p:spPr>
          <a:xfrm>
            <a:off x="7086600" y="4754880"/>
            <a:ext cx="4389120" cy="11430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Mindestauslastung ≈ 2,7 Belegungen</a:t>
            </a:r>
            <a:endParaRPr lang="en-US" sz="1500" dirty="0"/>
          </a:p>
          <a:p>
            <a:pPr marL="0" indent="0">
              <a:buNone/>
            </a:pPr>
            <a:r>
              <a:rPr lang="en-US" sz="1250" dirty="0">
                <a:solidFill>
                  <a:srgbClr val="D8D2CA"/>
                </a:solidFill>
                <a:latin typeface="Calibri" pitchFamily="34" charset="0"/>
                <a:ea typeface="Calibri" pitchFamily="34" charset="-122"/>
                <a:cs typeface="Calibri" pitchFamily="34" charset="-120"/>
              </a:rPr>
              <a:t>31.600 € ÷ (7 × 59 € × 60 % × 48 Wochen). Wir planen daher mit mindestens 4 Belegungen pro Woche.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0972800" cy="274320"/>
          </a:xfrm>
          <a:prstGeom prst="rect">
            <a:avLst/>
          </a:prstGeom>
          <a:noFill/>
          <a:ln/>
        </p:spPr>
        <p:txBody>
          <a:bodyPr wrap="square" lIns="0" tIns="0" rIns="0" bIns="0" rtlCol="0" anchor="ctr"/>
          <a:lstStyle/>
          <a:p>
            <a:pPr marL="0" indent="0">
              <a:buNone/>
            </a:pPr>
            <a:r>
              <a:rPr lang="en-US" sz="1200" b="1" dirty="0">
                <a:solidFill>
                  <a:srgbClr val="B5452F"/>
                </a:solidFill>
                <a:latin typeface="Calibri" pitchFamily="34" charset="0"/>
                <a:ea typeface="Calibri" pitchFamily="34" charset="-122"/>
                <a:cs typeface="Calibri" pitchFamily="34" charset="-120"/>
              </a:rPr>
              <a:t>3 · GRUNDRISS</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2B2724"/>
                </a:solidFill>
                <a:latin typeface="Cambria" pitchFamily="34" charset="0"/>
                <a:ea typeface="Cambria" pitchFamily="34" charset="-122"/>
                <a:cs typeface="Cambria" pitchFamily="34" charset="-120"/>
              </a:rPr>
              <a:t>Grundriss: erst entscheiden, dann im Rundlauf einkaufen.</a:t>
            </a:r>
            <a:endParaRPr lang="en-US" sz="2800" dirty="0"/>
          </a:p>
        </p:txBody>
      </p:sp>
      <p:sp>
        <p:nvSpPr>
          <p:cNvPr id="4" name="Text 2"/>
          <p:cNvSpPr txBox="1"/>
          <p:nvPr/>
        </p:nvSpPr>
        <p:spPr>
          <a:xfrm>
            <a:off x="548640" y="6144768"/>
            <a:ext cx="11064240" cy="228600"/>
          </a:xfrm>
          <a:prstGeom prst="rect">
            <a:avLst/>
          </a:prstGeom>
          <a:noFill/>
          <a:ln/>
        </p:spPr>
        <p:txBody>
          <a:bodyPr wrap="square" lIns="0" tIns="0" rIns="0" bIns="0" rtlCol="0" anchor="ctr"/>
          <a:lstStyle/>
          <a:p>
            <a:pPr marL="0" indent="0">
              <a:buNone/>
            </a:pPr>
            <a:r>
              <a:rPr lang="en-US" sz="950" dirty="0">
                <a:solidFill>
                  <a:srgbClr val="6F6862"/>
                </a:solidFill>
                <a:latin typeface="Calibri" pitchFamily="34" charset="0"/>
                <a:ea typeface="Calibri" pitchFamily="34" charset="-122"/>
                <a:cs typeface="Calibri" pitchFamily="34" charset="-120"/>
              </a:rPr>
              <a:t>Maßstäblicher Grundriss aus dem 3D-Modell: Verkaufsraum 15,8 × 12 m ≈ 190 m² + L-Lager. Positionen und Maße sind Fallannahmen. Layoutlogik vgl. Ahlert, Kenning und Brock, 2020, S. 297–302; Laufwege vgl. Larson et al. 2005.</a:t>
            </a:r>
            <a:endParaRPr lang="en-US" sz="950" dirty="0"/>
          </a:p>
        </p:txBody>
      </p:sp>
      <p:sp>
        <p:nvSpPr>
          <p:cNvPr id="5" name="Shape 3"/>
          <p:cNvSpPr/>
          <p:nvPr/>
        </p:nvSpPr>
        <p:spPr>
          <a:xfrm>
            <a:off x="548640" y="6419088"/>
            <a:ext cx="11091672" cy="0"/>
          </a:xfrm>
          <a:prstGeom prst="line">
            <a:avLst/>
          </a:prstGeom>
          <a:noFill/>
          <a:ln w="9525">
            <a:solidFill>
              <a:srgbClr val="D9D1C5"/>
            </a:solidFill>
            <a:prstDash val="solid"/>
          </a:ln>
        </p:spPr>
        <p:txBody>
          <a:bodyPr/>
          <a:lstStyle/>
          <a:p>
            <a:endParaRPr lang="de-DE"/>
          </a:p>
        </p:txBody>
      </p:sp>
      <p:sp>
        <p:nvSpPr>
          <p:cNvPr id="6" name="Text 4"/>
          <p:cNvSpPr txBox="1"/>
          <p:nvPr/>
        </p:nvSpPr>
        <p:spPr>
          <a:xfrm>
            <a:off x="548640" y="6473952"/>
            <a:ext cx="7315200" cy="228600"/>
          </a:xfrm>
          <a:prstGeom prst="rect">
            <a:avLst/>
          </a:prstGeom>
          <a:noFill/>
          <a:ln/>
        </p:spPr>
        <p:txBody>
          <a:bodyPr wrap="square" lIns="0" tIns="0" rIns="0" bIns="0" rtlCol="0" anchor="ctr"/>
          <a:lstStyle/>
          <a:p>
            <a:pPr marL="0" indent="0">
              <a:buNone/>
            </a:pPr>
            <a:r>
              <a:rPr lang="en-US" sz="900" dirty="0">
                <a:solidFill>
                  <a:srgbClr val="6F6862"/>
                </a:solidFill>
                <a:latin typeface="Calibri" pitchFamily="34" charset="0"/>
                <a:ea typeface="Calibri" pitchFamily="34" charset="-122"/>
                <a:cs typeface="Calibri" pitchFamily="34" charset="-120"/>
              </a:rPr>
              <a:t>One Hour Kitchen · Store-Konzept · Kurs HD25A23</a:t>
            </a:r>
            <a:endParaRPr lang="en-US" sz="900" dirty="0"/>
          </a:p>
        </p:txBody>
      </p:sp>
      <p:sp>
        <p:nvSpPr>
          <p:cNvPr id="7" name="Text 5"/>
          <p:cNvSpPr txBox="1"/>
          <p:nvPr/>
        </p:nvSpPr>
        <p:spPr>
          <a:xfrm>
            <a:off x="10725912" y="6473952"/>
            <a:ext cx="914400" cy="228600"/>
          </a:xfrm>
          <a:prstGeom prst="rect">
            <a:avLst/>
          </a:prstGeom>
          <a:noFill/>
          <a:ln/>
        </p:spPr>
        <p:txBody>
          <a:bodyPr wrap="square" lIns="0" tIns="0" rIns="0" bIns="0" rtlCol="0" anchor="ctr"/>
          <a:lstStyle/>
          <a:p>
            <a:pPr marL="0" indent="0" algn="r">
              <a:buNone/>
            </a:pPr>
            <a:r>
              <a:rPr lang="en-US" sz="900" dirty="0">
                <a:solidFill>
                  <a:srgbClr val="6F6862"/>
                </a:solidFill>
                <a:latin typeface="Calibri" pitchFamily="34" charset="0"/>
                <a:ea typeface="Calibri" pitchFamily="34" charset="-122"/>
                <a:cs typeface="Calibri" pitchFamily="34" charset="-120"/>
              </a:rPr>
              <a:t>6</a:t>
            </a:r>
            <a:endParaRPr lang="en-US" sz="900" dirty="0"/>
          </a:p>
        </p:txBody>
      </p:sp>
      <p:sp>
        <p:nvSpPr>
          <p:cNvPr id="82" name="Text 80"/>
          <p:cNvSpPr txBox="1"/>
          <p:nvPr/>
        </p:nvSpPr>
        <p:spPr>
          <a:xfrm>
            <a:off x="7680960" y="1371600"/>
            <a:ext cx="3931920" cy="320040"/>
          </a:xfrm>
          <a:prstGeom prst="rect">
            <a:avLst/>
          </a:prstGeom>
          <a:noFill/>
          <a:ln/>
        </p:spPr>
        <p:txBody>
          <a:bodyPr wrap="square" lIns="0" tIns="0" rIns="0" bIns="0" rtlCol="0" anchor="ctr"/>
          <a:lstStyle/>
          <a:p>
            <a:pPr marL="0" indent="0">
              <a:buNone/>
            </a:pPr>
            <a:r>
              <a:rPr lang="en-US" sz="1600" b="1" dirty="0">
                <a:solidFill>
                  <a:srgbClr val="2B2724"/>
                </a:solidFill>
                <a:latin typeface="Cambria" pitchFamily="34" charset="0"/>
                <a:ea typeface="Cambria" pitchFamily="34" charset="-122"/>
                <a:cs typeface="Cambria" pitchFamily="34" charset="-120"/>
              </a:rPr>
              <a:t>Legende</a:t>
            </a:r>
            <a:endParaRPr lang="en-US" sz="1600" dirty="0"/>
          </a:p>
        </p:txBody>
      </p:sp>
      <p:sp>
        <p:nvSpPr>
          <p:cNvPr id="83" name="Shape 81"/>
          <p:cNvSpPr/>
          <p:nvPr/>
        </p:nvSpPr>
        <p:spPr>
          <a:xfrm>
            <a:off x="7680960" y="2011680"/>
            <a:ext cx="548640" cy="0"/>
          </a:xfrm>
          <a:prstGeom prst="line">
            <a:avLst/>
          </a:prstGeom>
          <a:noFill/>
          <a:ln w="31750">
            <a:solidFill>
              <a:srgbClr val="B5452F"/>
            </a:solidFill>
            <a:prstDash val="solid"/>
          </a:ln>
        </p:spPr>
        <p:txBody>
          <a:bodyPr/>
          <a:lstStyle/>
          <a:p>
            <a:endParaRPr lang="de-DE"/>
          </a:p>
        </p:txBody>
      </p:sp>
      <p:sp>
        <p:nvSpPr>
          <p:cNvPr id="84" name="Text 82"/>
          <p:cNvSpPr txBox="1"/>
          <p:nvPr/>
        </p:nvSpPr>
        <p:spPr>
          <a:xfrm>
            <a:off x="8366760" y="1819656"/>
            <a:ext cx="3291840" cy="502920"/>
          </a:xfrm>
          <a:prstGeom prst="rect">
            <a:avLst/>
          </a:prstGeom>
          <a:noFill/>
          <a:ln/>
        </p:spPr>
        <p:txBody>
          <a:bodyPr wrap="square" lIns="0" tIns="0" rIns="0" bIns="0" rtlCol="0" anchor="ctr"/>
          <a:lstStyle/>
          <a:p>
            <a:pPr marL="0" indent="0">
              <a:buNone/>
            </a:pPr>
            <a:r>
              <a:rPr lang="en-US" sz="1150" dirty="0">
                <a:solidFill>
                  <a:srgbClr val="2B2724"/>
                </a:solidFill>
                <a:latin typeface="Calibri" pitchFamily="34" charset="0"/>
                <a:ea typeface="Calibri" pitchFamily="34" charset="-122"/>
                <a:cs typeface="Calibri" pitchFamily="34" charset="-120"/>
              </a:rPr>
              <a:t>Rezeptweg: Eingang → Dashboard → Obst &amp; Gemüse → Rundlauf links → Kühlung → Dessert &amp; Wein → Basis → Kasse</a:t>
            </a:r>
            <a:endParaRPr lang="en-US" sz="1150" dirty="0"/>
          </a:p>
        </p:txBody>
      </p:sp>
      <p:sp>
        <p:nvSpPr>
          <p:cNvPr id="85" name="Shape 83"/>
          <p:cNvSpPr/>
          <p:nvPr/>
        </p:nvSpPr>
        <p:spPr>
          <a:xfrm>
            <a:off x="7680960" y="2578608"/>
            <a:ext cx="548640" cy="0"/>
          </a:xfrm>
          <a:prstGeom prst="line">
            <a:avLst/>
          </a:prstGeom>
          <a:noFill/>
          <a:ln w="31750">
            <a:solidFill>
              <a:srgbClr val="4F6B3A"/>
            </a:solidFill>
            <a:prstDash val="dash"/>
          </a:ln>
        </p:spPr>
        <p:txBody>
          <a:bodyPr/>
          <a:lstStyle/>
          <a:p>
            <a:endParaRPr lang="de-DE"/>
          </a:p>
        </p:txBody>
      </p:sp>
      <p:sp>
        <p:nvSpPr>
          <p:cNvPr id="86" name="Text 84"/>
          <p:cNvSpPr txBox="1"/>
          <p:nvPr/>
        </p:nvSpPr>
        <p:spPr>
          <a:xfrm>
            <a:off x="8366760" y="2386584"/>
            <a:ext cx="3291840" cy="502920"/>
          </a:xfrm>
          <a:prstGeom prst="rect">
            <a:avLst/>
          </a:prstGeom>
          <a:noFill/>
          <a:ln/>
        </p:spPr>
        <p:txBody>
          <a:bodyPr wrap="square" lIns="0" tIns="0" rIns="0" bIns="0" rtlCol="0" anchor="ctr"/>
          <a:lstStyle/>
          <a:p>
            <a:pPr marL="0" indent="0">
              <a:buNone/>
            </a:pPr>
            <a:r>
              <a:rPr lang="en-US" sz="1150" dirty="0">
                <a:solidFill>
                  <a:srgbClr val="2B2724"/>
                </a:solidFill>
                <a:latin typeface="Calibri" pitchFamily="34" charset="0"/>
                <a:ea typeface="Calibri" pitchFamily="34" charset="-122"/>
                <a:cs typeface="Calibri" pitchFamily="34" charset="-120"/>
              </a:rPr>
              <a:t>Schnellweg: Eingang → Basissortiment längs → Kasse (Ziel ≤ 15 Min.)</a:t>
            </a:r>
            <a:endParaRPr lang="en-US" sz="1150" dirty="0"/>
          </a:p>
        </p:txBody>
      </p:sp>
      <p:sp>
        <p:nvSpPr>
          <p:cNvPr id="87" name="Shape 85"/>
          <p:cNvSpPr/>
          <p:nvPr/>
        </p:nvSpPr>
        <p:spPr>
          <a:xfrm>
            <a:off x="7680960" y="3145536"/>
            <a:ext cx="548640" cy="0"/>
          </a:xfrm>
          <a:prstGeom prst="line">
            <a:avLst/>
          </a:prstGeom>
          <a:noFill/>
          <a:ln w="31750">
            <a:solidFill>
              <a:srgbClr val="2B2724"/>
            </a:solidFill>
            <a:prstDash val="sysDot"/>
          </a:ln>
        </p:spPr>
        <p:txBody>
          <a:bodyPr/>
          <a:lstStyle/>
          <a:p>
            <a:endParaRPr lang="de-DE"/>
          </a:p>
        </p:txBody>
      </p:sp>
      <p:sp>
        <p:nvSpPr>
          <p:cNvPr id="88" name="Text 86"/>
          <p:cNvSpPr txBox="1"/>
          <p:nvPr/>
        </p:nvSpPr>
        <p:spPr>
          <a:xfrm>
            <a:off x="8366760" y="2953512"/>
            <a:ext cx="3291840" cy="502920"/>
          </a:xfrm>
          <a:prstGeom prst="rect">
            <a:avLst/>
          </a:prstGeom>
          <a:noFill/>
          <a:ln/>
        </p:spPr>
        <p:txBody>
          <a:bodyPr wrap="square" lIns="0" tIns="0" rIns="0" bIns="0" rtlCol="0" anchor="ctr"/>
          <a:lstStyle/>
          <a:p>
            <a:pPr marL="0" indent="0">
              <a:buNone/>
            </a:pPr>
            <a:r>
              <a:rPr lang="en-US" sz="1150" dirty="0">
                <a:solidFill>
                  <a:srgbClr val="2B2724"/>
                </a:solidFill>
                <a:latin typeface="Calibri" pitchFamily="34" charset="0"/>
                <a:ea typeface="Calibri" pitchFamily="34" charset="-122"/>
                <a:cs typeface="Calibri" pitchFamily="34" charset="-120"/>
              </a:rPr>
              <a:t>Blickachse: Eingang → Show-Kochtresen</a:t>
            </a:r>
            <a:endParaRPr lang="en-US" sz="1150" dirty="0"/>
          </a:p>
        </p:txBody>
      </p:sp>
      <p:sp>
        <p:nvSpPr>
          <p:cNvPr id="89" name="Text 87"/>
          <p:cNvSpPr txBox="1"/>
          <p:nvPr/>
        </p:nvSpPr>
        <p:spPr>
          <a:xfrm>
            <a:off x="7680960" y="3657600"/>
            <a:ext cx="3931920" cy="274320"/>
          </a:xfrm>
          <a:prstGeom prst="rect">
            <a:avLst/>
          </a:prstGeom>
          <a:noFill/>
          <a:ln/>
        </p:spPr>
        <p:txBody>
          <a:bodyPr wrap="square" lIns="0" tIns="0" rIns="0" bIns="0" rtlCol="0" anchor="ctr"/>
          <a:lstStyle/>
          <a:p>
            <a:pPr marL="0" indent="0">
              <a:buNone/>
            </a:pPr>
            <a:r>
              <a:rPr lang="en-US" sz="1250" b="1" dirty="0">
                <a:solidFill>
                  <a:srgbClr val="2B2724"/>
                </a:solidFill>
                <a:latin typeface="Calibri" pitchFamily="34" charset="0"/>
                <a:ea typeface="Calibri" pitchFamily="34" charset="-122"/>
                <a:cs typeface="Calibri" pitchFamily="34" charset="-120"/>
              </a:rPr>
              <a:t>Gegenüber der Skizze optimiert</a:t>
            </a:r>
            <a:endParaRPr lang="en-US" sz="1250" dirty="0"/>
          </a:p>
        </p:txBody>
      </p:sp>
      <p:sp>
        <p:nvSpPr>
          <p:cNvPr id="90" name="Shape 88"/>
          <p:cNvSpPr/>
          <p:nvPr/>
        </p:nvSpPr>
        <p:spPr>
          <a:xfrm>
            <a:off x="7680960" y="4023360"/>
            <a:ext cx="237744" cy="237744"/>
          </a:xfrm>
          <a:prstGeom prst="ellipse">
            <a:avLst/>
          </a:prstGeom>
          <a:solidFill>
            <a:srgbClr val="2B2724"/>
          </a:solidFill>
          <a:ln w="12700">
            <a:solidFill>
              <a:srgbClr val="FFFFFF"/>
            </a:solidFill>
            <a:prstDash val="solid"/>
          </a:ln>
        </p:spPr>
        <p:txBody>
          <a:bodyPr/>
          <a:lstStyle/>
          <a:p>
            <a:endParaRPr lang="de-DE"/>
          </a:p>
        </p:txBody>
      </p:sp>
      <p:sp>
        <p:nvSpPr>
          <p:cNvPr id="91" name="Text 89"/>
          <p:cNvSpPr txBox="1"/>
          <p:nvPr/>
        </p:nvSpPr>
        <p:spPr>
          <a:xfrm>
            <a:off x="7680960" y="4023360"/>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2" name="Text 90"/>
          <p:cNvSpPr txBox="1"/>
          <p:nvPr/>
        </p:nvSpPr>
        <p:spPr>
          <a:xfrm>
            <a:off x="8028432" y="3995928"/>
            <a:ext cx="3566160" cy="292608"/>
          </a:xfrm>
          <a:prstGeom prst="rect">
            <a:avLst/>
          </a:prstGeom>
          <a:noFill/>
          <a:ln/>
        </p:spPr>
        <p:txBody>
          <a:bodyPr wrap="square" lIns="0" tIns="0" rIns="0" bIns="0" rtlCol="0" anchor="ctr"/>
          <a:lstStyle/>
          <a:p>
            <a:pPr marL="0" indent="0">
              <a:buNone/>
            </a:pPr>
            <a:r>
              <a:rPr lang="en-US" sz="1150" dirty="0">
                <a:solidFill>
                  <a:srgbClr val="2B2724"/>
                </a:solidFill>
                <a:latin typeface="Calibri" pitchFamily="34" charset="0"/>
                <a:ea typeface="Calibri" pitchFamily="34" charset="-122"/>
                <a:cs typeface="Calibri" pitchFamily="34" charset="-120"/>
              </a:rPr>
              <a:t>Eingang links, Ausgang rechts an der Kasse</a:t>
            </a:r>
            <a:endParaRPr lang="en-US" sz="1150" dirty="0"/>
          </a:p>
        </p:txBody>
      </p:sp>
      <p:sp>
        <p:nvSpPr>
          <p:cNvPr id="93" name="Shape 91"/>
          <p:cNvSpPr/>
          <p:nvPr/>
        </p:nvSpPr>
        <p:spPr>
          <a:xfrm>
            <a:off x="7680960" y="4352544"/>
            <a:ext cx="237744" cy="237744"/>
          </a:xfrm>
          <a:prstGeom prst="ellipse">
            <a:avLst/>
          </a:prstGeom>
          <a:solidFill>
            <a:srgbClr val="2B2724"/>
          </a:solidFill>
          <a:ln w="12700">
            <a:solidFill>
              <a:srgbClr val="FFFFFF"/>
            </a:solidFill>
            <a:prstDash val="solid"/>
          </a:ln>
        </p:spPr>
        <p:txBody>
          <a:bodyPr/>
          <a:lstStyle/>
          <a:p>
            <a:endParaRPr lang="de-DE"/>
          </a:p>
        </p:txBody>
      </p:sp>
      <p:sp>
        <p:nvSpPr>
          <p:cNvPr id="94" name="Text 92"/>
          <p:cNvSpPr txBox="1"/>
          <p:nvPr/>
        </p:nvSpPr>
        <p:spPr>
          <a:xfrm>
            <a:off x="7680960" y="4352544"/>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95" name="Text 93"/>
          <p:cNvSpPr txBox="1"/>
          <p:nvPr/>
        </p:nvSpPr>
        <p:spPr>
          <a:xfrm>
            <a:off x="8028432" y="4325112"/>
            <a:ext cx="3566160" cy="292608"/>
          </a:xfrm>
          <a:prstGeom prst="rect">
            <a:avLst/>
          </a:prstGeom>
          <a:noFill/>
          <a:ln/>
        </p:spPr>
        <p:txBody>
          <a:bodyPr wrap="square" lIns="0" tIns="0" rIns="0" bIns="0" rtlCol="0" anchor="ctr"/>
          <a:lstStyle/>
          <a:p>
            <a:pPr marL="0" indent="0">
              <a:buNone/>
            </a:pPr>
            <a:r>
              <a:rPr lang="en-US" sz="1150" dirty="0">
                <a:solidFill>
                  <a:srgbClr val="2B2724"/>
                </a:solidFill>
                <a:latin typeface="Calibri" pitchFamily="34" charset="0"/>
                <a:ea typeface="Calibri" pitchFamily="34" charset="-122"/>
                <a:cs typeface="Calibri" pitchFamily="34" charset="-120"/>
              </a:rPr>
              <a:t>Dashboard leicht links, Blickachse frei</a:t>
            </a:r>
            <a:endParaRPr lang="en-US" sz="1150" dirty="0"/>
          </a:p>
        </p:txBody>
      </p:sp>
      <p:sp>
        <p:nvSpPr>
          <p:cNvPr id="96" name="Shape 94"/>
          <p:cNvSpPr/>
          <p:nvPr/>
        </p:nvSpPr>
        <p:spPr>
          <a:xfrm>
            <a:off x="7680960" y="4681728"/>
            <a:ext cx="237744" cy="237744"/>
          </a:xfrm>
          <a:prstGeom prst="ellipse">
            <a:avLst/>
          </a:prstGeom>
          <a:solidFill>
            <a:srgbClr val="2B2724"/>
          </a:solidFill>
          <a:ln w="12700">
            <a:solidFill>
              <a:srgbClr val="FFFFFF"/>
            </a:solidFill>
            <a:prstDash val="solid"/>
          </a:ln>
        </p:spPr>
        <p:txBody>
          <a:bodyPr/>
          <a:lstStyle/>
          <a:p>
            <a:endParaRPr lang="de-DE"/>
          </a:p>
        </p:txBody>
      </p:sp>
      <p:sp>
        <p:nvSpPr>
          <p:cNvPr id="97" name="Text 95"/>
          <p:cNvSpPr txBox="1"/>
          <p:nvPr/>
        </p:nvSpPr>
        <p:spPr>
          <a:xfrm>
            <a:off x="7680960" y="4681728"/>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98" name="Text 96"/>
          <p:cNvSpPr txBox="1"/>
          <p:nvPr/>
        </p:nvSpPr>
        <p:spPr>
          <a:xfrm>
            <a:off x="8028432" y="4654296"/>
            <a:ext cx="3566160" cy="292608"/>
          </a:xfrm>
          <a:prstGeom prst="rect">
            <a:avLst/>
          </a:prstGeom>
          <a:noFill/>
          <a:ln/>
        </p:spPr>
        <p:txBody>
          <a:bodyPr wrap="square" lIns="0" tIns="0" rIns="0" bIns="0" rtlCol="0" anchor="ctr"/>
          <a:lstStyle/>
          <a:p>
            <a:pPr marL="0" indent="0">
              <a:buNone/>
            </a:pPr>
            <a:r>
              <a:rPr lang="en-US" sz="1150" dirty="0">
                <a:solidFill>
                  <a:srgbClr val="2B2724"/>
                </a:solidFill>
                <a:latin typeface="Calibri" pitchFamily="34" charset="0"/>
                <a:ea typeface="Calibri" pitchFamily="34" charset="-122"/>
                <a:cs typeface="Calibri" pitchFamily="34" charset="-120"/>
              </a:rPr>
              <a:t>Kojen mit 1,4–1,5 m Gängen, Rundlauf links</a:t>
            </a:r>
            <a:endParaRPr lang="en-US" sz="1150" dirty="0"/>
          </a:p>
        </p:txBody>
      </p:sp>
      <p:sp>
        <p:nvSpPr>
          <p:cNvPr id="99" name="Shape 97"/>
          <p:cNvSpPr/>
          <p:nvPr/>
        </p:nvSpPr>
        <p:spPr>
          <a:xfrm>
            <a:off x="7680960" y="5010912"/>
            <a:ext cx="237744" cy="237744"/>
          </a:xfrm>
          <a:prstGeom prst="ellipse">
            <a:avLst/>
          </a:prstGeom>
          <a:solidFill>
            <a:srgbClr val="2B2724"/>
          </a:solidFill>
          <a:ln w="12700">
            <a:solidFill>
              <a:srgbClr val="FFFFFF"/>
            </a:solidFill>
            <a:prstDash val="solid"/>
          </a:ln>
        </p:spPr>
        <p:txBody>
          <a:bodyPr/>
          <a:lstStyle/>
          <a:p>
            <a:endParaRPr lang="de-DE"/>
          </a:p>
        </p:txBody>
      </p:sp>
      <p:sp>
        <p:nvSpPr>
          <p:cNvPr id="100" name="Text 98"/>
          <p:cNvSpPr txBox="1"/>
          <p:nvPr/>
        </p:nvSpPr>
        <p:spPr>
          <a:xfrm>
            <a:off x="7680960" y="5010912"/>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01" name="Text 99"/>
          <p:cNvSpPr txBox="1"/>
          <p:nvPr/>
        </p:nvSpPr>
        <p:spPr>
          <a:xfrm>
            <a:off x="8028432" y="4983480"/>
            <a:ext cx="3566160" cy="292608"/>
          </a:xfrm>
          <a:prstGeom prst="rect">
            <a:avLst/>
          </a:prstGeom>
          <a:noFill/>
          <a:ln/>
        </p:spPr>
        <p:txBody>
          <a:bodyPr wrap="square" lIns="0" tIns="0" rIns="0" bIns="0" rtlCol="0" anchor="ctr"/>
          <a:lstStyle/>
          <a:p>
            <a:pPr marL="0" indent="0">
              <a:buNone/>
            </a:pPr>
            <a:r>
              <a:rPr lang="en-US" sz="1150" dirty="0">
                <a:solidFill>
                  <a:srgbClr val="2B2724"/>
                </a:solidFill>
                <a:latin typeface="Calibri" pitchFamily="34" charset="0"/>
                <a:ea typeface="Calibri" pitchFamily="34" charset="-122"/>
                <a:cs typeface="Calibri" pitchFamily="34" charset="-120"/>
              </a:rPr>
              <a:t>Zuschauer vorn statt im hinteren Gang</a:t>
            </a:r>
            <a:endParaRPr lang="en-US" sz="1150" dirty="0"/>
          </a:p>
        </p:txBody>
      </p:sp>
      <p:sp>
        <p:nvSpPr>
          <p:cNvPr id="102" name="Shape 100"/>
          <p:cNvSpPr/>
          <p:nvPr/>
        </p:nvSpPr>
        <p:spPr>
          <a:xfrm>
            <a:off x="7680960" y="5340096"/>
            <a:ext cx="237744" cy="237744"/>
          </a:xfrm>
          <a:prstGeom prst="ellipse">
            <a:avLst/>
          </a:prstGeom>
          <a:solidFill>
            <a:srgbClr val="2B2724"/>
          </a:solidFill>
          <a:ln w="12700">
            <a:solidFill>
              <a:srgbClr val="FFFFFF"/>
            </a:solidFill>
            <a:prstDash val="solid"/>
          </a:ln>
        </p:spPr>
        <p:txBody>
          <a:bodyPr/>
          <a:lstStyle/>
          <a:p>
            <a:endParaRPr lang="de-DE"/>
          </a:p>
        </p:txBody>
      </p:sp>
      <p:sp>
        <p:nvSpPr>
          <p:cNvPr id="103" name="Text 101"/>
          <p:cNvSpPr txBox="1"/>
          <p:nvPr/>
        </p:nvSpPr>
        <p:spPr>
          <a:xfrm>
            <a:off x="7680960" y="5340096"/>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104" name="Text 102"/>
          <p:cNvSpPr txBox="1"/>
          <p:nvPr/>
        </p:nvSpPr>
        <p:spPr>
          <a:xfrm>
            <a:off x="8028432" y="5312664"/>
            <a:ext cx="3566160" cy="292608"/>
          </a:xfrm>
          <a:prstGeom prst="rect">
            <a:avLst/>
          </a:prstGeom>
          <a:noFill/>
          <a:ln/>
        </p:spPr>
        <p:txBody>
          <a:bodyPr wrap="square" lIns="0" tIns="0" rIns="0" bIns="0" rtlCol="0" anchor="ctr"/>
          <a:lstStyle/>
          <a:p>
            <a:pPr marL="0" indent="0">
              <a:buNone/>
            </a:pPr>
            <a:r>
              <a:rPr lang="en-US" sz="1150" dirty="0">
                <a:solidFill>
                  <a:srgbClr val="2B2724"/>
                </a:solidFill>
                <a:latin typeface="Calibri" pitchFamily="34" charset="0"/>
                <a:ea typeface="Calibri" pitchFamily="34" charset="-122"/>
                <a:cs typeface="Calibri" pitchFamily="34" charset="-120"/>
              </a:rPr>
              <a:t>Basis: Wandregal + Gondel, Gang 1,75 m</a:t>
            </a:r>
            <a:endParaRPr lang="en-US" sz="1150" dirty="0"/>
          </a:p>
        </p:txBody>
      </p:sp>
      <p:sp>
        <p:nvSpPr>
          <p:cNvPr id="105" name="Shape 103"/>
          <p:cNvSpPr/>
          <p:nvPr/>
        </p:nvSpPr>
        <p:spPr>
          <a:xfrm>
            <a:off x="7680960" y="5669280"/>
            <a:ext cx="237744" cy="237744"/>
          </a:xfrm>
          <a:prstGeom prst="ellipse">
            <a:avLst/>
          </a:prstGeom>
          <a:solidFill>
            <a:srgbClr val="2B2724"/>
          </a:solidFill>
          <a:ln w="12700">
            <a:solidFill>
              <a:srgbClr val="FFFFFF"/>
            </a:solidFill>
            <a:prstDash val="solid"/>
          </a:ln>
        </p:spPr>
        <p:txBody>
          <a:bodyPr/>
          <a:lstStyle/>
          <a:p>
            <a:endParaRPr lang="de-DE"/>
          </a:p>
        </p:txBody>
      </p:sp>
      <p:sp>
        <p:nvSpPr>
          <p:cNvPr id="106" name="Text 104"/>
          <p:cNvSpPr txBox="1"/>
          <p:nvPr/>
        </p:nvSpPr>
        <p:spPr>
          <a:xfrm>
            <a:off x="7680960" y="5669280"/>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107" name="Text 105"/>
          <p:cNvSpPr txBox="1"/>
          <p:nvPr/>
        </p:nvSpPr>
        <p:spPr>
          <a:xfrm>
            <a:off x="8028432" y="5641848"/>
            <a:ext cx="3566160" cy="292608"/>
          </a:xfrm>
          <a:prstGeom prst="rect">
            <a:avLst/>
          </a:prstGeom>
          <a:noFill/>
          <a:ln/>
        </p:spPr>
        <p:txBody>
          <a:bodyPr wrap="square" lIns="0" tIns="0" rIns="0" bIns="0" rtlCol="0" anchor="ctr"/>
          <a:lstStyle/>
          <a:p>
            <a:pPr marL="0" indent="0">
              <a:buNone/>
            </a:pPr>
            <a:r>
              <a:rPr lang="en-US" sz="1150" dirty="0">
                <a:solidFill>
                  <a:srgbClr val="2B2724"/>
                </a:solidFill>
                <a:latin typeface="Calibri" pitchFamily="34" charset="0"/>
                <a:ea typeface="Calibri" pitchFamily="34" charset="-122"/>
                <a:cs typeface="Calibri" pitchFamily="34" charset="-120"/>
              </a:rPr>
              <a:t>L-Lager: Kühlung wird von hinten befüllt</a:t>
            </a:r>
            <a:endParaRPr lang="en-US" sz="1150" dirty="0"/>
          </a:p>
        </p:txBody>
      </p:sp>
      <p:pic xmlns:p="http://schemas.openxmlformats.org/presentationml/2006/main" xmlns:a="http://schemas.openxmlformats.org/drawingml/2006/main" xmlns:r="http://schemas.openxmlformats.org/officeDocument/2006/relationships">
        <p:nvPicPr>
          <p:cNvPr id="900" name="Grundriss 3D-Modell" descr="Draufsicht des optimierten Grundrisses mit Zonen, Rezeptweg, Schnellweg und Blickachse"/>
          <p:cNvPicPr>
            <a:picLocks noChangeAspect="1"/>
          </p:cNvPicPr>
          <p:nvPr/>
        </p:nvPicPr>
        <p:blipFill>
          <a:blip r:embed="rIdPlan"/>
          <a:stretch>
            <a:fillRect/>
          </a:stretch>
        </p:blipFill>
        <p:spPr>
          <a:xfrm>
            <a:off x="1275430" y="1261872"/>
            <a:ext cx="5495859" cy="4800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0972800" cy="274320"/>
          </a:xfrm>
          <a:prstGeom prst="rect">
            <a:avLst/>
          </a:prstGeom>
          <a:noFill/>
          <a:ln/>
        </p:spPr>
        <p:txBody>
          <a:bodyPr wrap="square" lIns="0" tIns="0" rIns="0" bIns="0" rtlCol="0" anchor="ctr"/>
          <a:lstStyle/>
          <a:p>
            <a:pPr marL="0" indent="0">
              <a:buNone/>
            </a:pPr>
            <a:r>
              <a:rPr lang="en-US" sz="1200" b="1" dirty="0">
                <a:solidFill>
                  <a:srgbClr val="B5452F"/>
                </a:solidFill>
                <a:latin typeface="Calibri" pitchFamily="34" charset="0"/>
                <a:ea typeface="Calibri" pitchFamily="34" charset="-122"/>
                <a:cs typeface="Calibri" pitchFamily="34" charset="-120"/>
              </a:rPr>
              <a:t>3 · GRUNDRISS · BEGRÜNDUNG</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2B2724"/>
                </a:solidFill>
                <a:latin typeface="Cambria" pitchFamily="34" charset="0"/>
                <a:ea typeface="Cambria" pitchFamily="34" charset="-122"/>
                <a:cs typeface="Cambria" pitchFamily="34" charset="-120"/>
              </a:rPr>
              <a:t>Sechs Layoutentscheidungen, jede einzeln begründet.</a:t>
            </a:r>
            <a:endParaRPr lang="en-US" sz="2800" dirty="0"/>
          </a:p>
        </p:txBody>
      </p:sp>
      <p:sp>
        <p:nvSpPr>
          <p:cNvPr id="4" name="Shape 2"/>
          <p:cNvSpPr/>
          <p:nvPr/>
        </p:nvSpPr>
        <p:spPr>
          <a:xfrm>
            <a:off x="548640" y="6419088"/>
            <a:ext cx="11091672" cy="0"/>
          </a:xfrm>
          <a:prstGeom prst="line">
            <a:avLst/>
          </a:prstGeom>
          <a:noFill/>
          <a:ln w="9525">
            <a:solidFill>
              <a:srgbClr val="D9D1C5"/>
            </a:solidFill>
            <a:prstDash val="solid"/>
          </a:ln>
        </p:spPr>
        <p:txBody>
          <a:bodyPr/>
          <a:lstStyle/>
          <a:p>
            <a:endParaRPr lang="de-DE"/>
          </a:p>
        </p:txBody>
      </p:sp>
      <p:sp>
        <p:nvSpPr>
          <p:cNvPr id="5" name="Text 3"/>
          <p:cNvSpPr txBox="1"/>
          <p:nvPr/>
        </p:nvSpPr>
        <p:spPr>
          <a:xfrm>
            <a:off x="548640" y="6473952"/>
            <a:ext cx="7315200" cy="228600"/>
          </a:xfrm>
          <a:prstGeom prst="rect">
            <a:avLst/>
          </a:prstGeom>
          <a:noFill/>
          <a:ln/>
        </p:spPr>
        <p:txBody>
          <a:bodyPr wrap="square" lIns="0" tIns="0" rIns="0" bIns="0" rtlCol="0" anchor="ctr"/>
          <a:lstStyle/>
          <a:p>
            <a:pPr marL="0" indent="0">
              <a:buNone/>
            </a:pPr>
            <a:r>
              <a:rPr lang="en-US" sz="900" dirty="0">
                <a:solidFill>
                  <a:srgbClr val="6F6862"/>
                </a:solidFill>
                <a:latin typeface="Calibri" pitchFamily="34" charset="0"/>
                <a:ea typeface="Calibri" pitchFamily="34" charset="-122"/>
                <a:cs typeface="Calibri" pitchFamily="34" charset="-120"/>
              </a:rPr>
              <a:t>One Hour Kitchen · Store-Konzept · Kurs HD25A23</a:t>
            </a:r>
            <a:endParaRPr lang="en-US" sz="900" dirty="0"/>
          </a:p>
        </p:txBody>
      </p:sp>
      <p:sp>
        <p:nvSpPr>
          <p:cNvPr id="6" name="Text 4"/>
          <p:cNvSpPr txBox="1"/>
          <p:nvPr/>
        </p:nvSpPr>
        <p:spPr>
          <a:xfrm>
            <a:off x="10725912" y="6473952"/>
            <a:ext cx="914400" cy="228600"/>
          </a:xfrm>
          <a:prstGeom prst="rect">
            <a:avLst/>
          </a:prstGeom>
          <a:noFill/>
          <a:ln/>
        </p:spPr>
        <p:txBody>
          <a:bodyPr wrap="square" lIns="0" tIns="0" rIns="0" bIns="0" rtlCol="0" anchor="ctr"/>
          <a:lstStyle/>
          <a:p>
            <a:pPr marL="0" indent="0" algn="r">
              <a:buNone/>
            </a:pPr>
            <a:r>
              <a:rPr lang="en-US" sz="900" dirty="0">
                <a:solidFill>
                  <a:srgbClr val="6F6862"/>
                </a:solidFill>
                <a:latin typeface="Calibri" pitchFamily="34" charset="0"/>
                <a:ea typeface="Calibri" pitchFamily="34" charset="-122"/>
                <a:cs typeface="Calibri" pitchFamily="34" charset="-120"/>
              </a:rPr>
              <a:t>7</a:t>
            </a:r>
            <a:endParaRPr lang="en-US" sz="900" dirty="0"/>
          </a:p>
        </p:txBody>
      </p:sp>
      <p:sp>
        <p:nvSpPr>
          <p:cNvPr id="7" name="Shape 5"/>
          <p:cNvSpPr/>
          <p:nvPr/>
        </p:nvSpPr>
        <p:spPr>
          <a:xfrm>
            <a:off x="548640" y="1417320"/>
            <a:ext cx="3520440" cy="2148840"/>
          </a:xfrm>
          <a:prstGeom prst="rect">
            <a:avLst/>
          </a:prstGeom>
          <a:solidFill>
            <a:srgbClr val="F3EEE6"/>
          </a:solidFill>
          <a:ln w="12700">
            <a:solidFill>
              <a:srgbClr val="F3EEE6"/>
            </a:solidFill>
            <a:prstDash val="solid"/>
          </a:ln>
        </p:spPr>
        <p:txBody>
          <a:bodyPr/>
          <a:lstStyle/>
          <a:p>
            <a:endParaRPr lang="de-DE"/>
          </a:p>
        </p:txBody>
      </p:sp>
      <p:sp>
        <p:nvSpPr>
          <p:cNvPr id="8" name="Shape 6"/>
          <p:cNvSpPr/>
          <p:nvPr/>
        </p:nvSpPr>
        <p:spPr>
          <a:xfrm>
            <a:off x="749808" y="1618488"/>
            <a:ext cx="329184" cy="329184"/>
          </a:xfrm>
          <a:prstGeom prst="ellipse">
            <a:avLst/>
          </a:prstGeom>
          <a:solidFill>
            <a:srgbClr val="B5452F"/>
          </a:solidFill>
          <a:ln w="12700">
            <a:solidFill>
              <a:srgbClr val="FFFFFF"/>
            </a:solidFill>
            <a:prstDash val="solid"/>
          </a:ln>
        </p:spPr>
        <p:txBody>
          <a:bodyPr/>
          <a:lstStyle/>
          <a:p>
            <a:endParaRPr lang="de-DE"/>
          </a:p>
        </p:txBody>
      </p:sp>
      <p:sp>
        <p:nvSpPr>
          <p:cNvPr id="9" name="Text 7"/>
          <p:cNvSpPr txBox="1"/>
          <p:nvPr/>
        </p:nvSpPr>
        <p:spPr>
          <a:xfrm>
            <a:off x="749808" y="161848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207008" y="1600200"/>
            <a:ext cx="2743200" cy="384048"/>
          </a:xfrm>
          <a:prstGeom prst="rect">
            <a:avLst/>
          </a:prstGeom>
          <a:noFill/>
          <a:ln/>
        </p:spPr>
        <p:txBody>
          <a:bodyPr wrap="square" lIns="0" tIns="0" rIns="0" bIns="0" rtlCol="0" anchor="ctr"/>
          <a:lstStyle/>
          <a:p>
            <a:pPr marL="0" indent="0">
              <a:buNone/>
            </a:pPr>
            <a:r>
              <a:rPr lang="en-US" sz="1500" b="1" dirty="0">
                <a:solidFill>
                  <a:srgbClr val="2B2724"/>
                </a:solidFill>
                <a:latin typeface="Calibri" pitchFamily="34" charset="0"/>
                <a:ea typeface="Calibri" pitchFamily="34" charset="-122"/>
                <a:cs typeface="Calibri" pitchFamily="34" charset="-120"/>
              </a:rPr>
              <a:t>Matrix-Dashboard am Eingang</a:t>
            </a:r>
            <a:endParaRPr lang="en-US" sz="1500" dirty="0"/>
          </a:p>
        </p:txBody>
      </p:sp>
      <p:sp>
        <p:nvSpPr>
          <p:cNvPr id="11" name="Text 9"/>
          <p:cNvSpPr txBox="1"/>
          <p:nvPr/>
        </p:nvSpPr>
        <p:spPr>
          <a:xfrm>
            <a:off x="777240" y="2103120"/>
            <a:ext cx="3108960" cy="960120"/>
          </a:xfrm>
          <a:prstGeom prst="rect">
            <a:avLst/>
          </a:prstGeom>
          <a:noFill/>
          <a:ln/>
        </p:spPr>
        <p:txBody>
          <a:bodyPr wrap="square" lIns="0" tIns="0" rIns="0" bIns="0" rtlCol="0" anchor="t"/>
          <a:lstStyle/>
          <a:p>
            <a:pPr marL="0" indent="0">
              <a:buNone/>
            </a:pPr>
            <a:r>
              <a:rPr lang="en-US" sz="1250" dirty="0">
                <a:solidFill>
                  <a:srgbClr val="2B2724"/>
                </a:solidFill>
                <a:latin typeface="Calibri" pitchFamily="34" charset="0"/>
                <a:ea typeface="Calibri" pitchFamily="34" charset="-122"/>
                <a:cs typeface="Calibri" pitchFamily="34" charset="-120"/>
              </a:rPr>
              <a:t>Ca. 3 m nach dem Eingang: erst entscheiden, dann einkaufen. Je länger Kunden im Laden sind, desto zielgerichteter werden sie.</a:t>
            </a:r>
            <a:endParaRPr lang="en-US" sz="1250" dirty="0"/>
          </a:p>
        </p:txBody>
      </p:sp>
      <p:sp>
        <p:nvSpPr>
          <p:cNvPr id="12" name="Shape 10"/>
          <p:cNvSpPr/>
          <p:nvPr/>
        </p:nvSpPr>
        <p:spPr>
          <a:xfrm>
            <a:off x="777240" y="3136392"/>
            <a:ext cx="237744" cy="237744"/>
          </a:xfrm>
          <a:prstGeom prst="ellipse">
            <a:avLst/>
          </a:prstGeom>
          <a:solidFill>
            <a:srgbClr val="4F6B3A"/>
          </a:solidFill>
          <a:ln w="12700">
            <a:solidFill>
              <a:srgbClr val="4F6B3A"/>
            </a:solidFill>
            <a:prstDash val="solid"/>
          </a:ln>
        </p:spPr>
        <p:txBody>
          <a:bodyPr/>
          <a:lstStyle/>
          <a:p>
            <a:endParaRPr lang="de-DE"/>
          </a:p>
        </p:txBody>
      </p:sp>
      <p:sp>
        <p:nvSpPr>
          <p:cNvPr id="13" name="Text 11"/>
          <p:cNvSpPr txBox="1"/>
          <p:nvPr/>
        </p:nvSpPr>
        <p:spPr>
          <a:xfrm>
            <a:off x="777240" y="3136392"/>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Q</a:t>
            </a:r>
            <a:endParaRPr lang="en-US" sz="900" dirty="0"/>
          </a:p>
        </p:txBody>
      </p:sp>
      <p:sp>
        <p:nvSpPr>
          <p:cNvPr id="14" name="Text 12"/>
          <p:cNvSpPr txBox="1"/>
          <p:nvPr/>
        </p:nvSpPr>
        <p:spPr>
          <a:xfrm>
            <a:off x="1088136" y="3108960"/>
            <a:ext cx="2834640" cy="292608"/>
          </a:xfrm>
          <a:prstGeom prst="rect">
            <a:avLst/>
          </a:prstGeom>
          <a:noFill/>
          <a:ln/>
        </p:spPr>
        <p:txBody>
          <a:bodyPr wrap="square" lIns="0" tIns="0" rIns="0" bIns="0" rtlCol="0" anchor="ctr"/>
          <a:lstStyle/>
          <a:p>
            <a:pPr marL="0" indent="0">
              <a:buNone/>
            </a:pPr>
            <a:r>
              <a:rPr lang="en-US" sz="1000" dirty="0">
                <a:solidFill>
                  <a:srgbClr val="6F6862"/>
                </a:solidFill>
                <a:latin typeface="Calibri" pitchFamily="34" charset="0"/>
                <a:ea typeface="Calibri" pitchFamily="34" charset="-122"/>
                <a:cs typeface="Calibri" pitchFamily="34" charset="-120"/>
              </a:rPr>
              <a:t>Hui et al. 2009 ✓; Ahlert et al. 2020, S. 297–302</a:t>
            </a:r>
            <a:endParaRPr lang="en-US" sz="1000" dirty="0"/>
          </a:p>
        </p:txBody>
      </p:sp>
      <p:sp>
        <p:nvSpPr>
          <p:cNvPr id="15" name="Shape 13"/>
          <p:cNvSpPr/>
          <p:nvPr/>
        </p:nvSpPr>
        <p:spPr>
          <a:xfrm>
            <a:off x="4297680" y="1417320"/>
            <a:ext cx="3520440" cy="2148840"/>
          </a:xfrm>
          <a:prstGeom prst="rect">
            <a:avLst/>
          </a:prstGeom>
          <a:solidFill>
            <a:srgbClr val="F3EEE6"/>
          </a:solidFill>
          <a:ln w="12700">
            <a:solidFill>
              <a:srgbClr val="F3EEE6"/>
            </a:solidFill>
            <a:prstDash val="solid"/>
          </a:ln>
        </p:spPr>
        <p:txBody>
          <a:bodyPr/>
          <a:lstStyle/>
          <a:p>
            <a:endParaRPr lang="de-DE"/>
          </a:p>
        </p:txBody>
      </p:sp>
      <p:sp>
        <p:nvSpPr>
          <p:cNvPr id="16" name="Shape 14"/>
          <p:cNvSpPr/>
          <p:nvPr/>
        </p:nvSpPr>
        <p:spPr>
          <a:xfrm>
            <a:off x="4498848" y="1618488"/>
            <a:ext cx="329184" cy="329184"/>
          </a:xfrm>
          <a:prstGeom prst="ellipse">
            <a:avLst/>
          </a:prstGeom>
          <a:solidFill>
            <a:srgbClr val="B5452F"/>
          </a:solidFill>
          <a:ln w="12700">
            <a:solidFill>
              <a:srgbClr val="FFFFFF"/>
            </a:solidFill>
            <a:prstDash val="solid"/>
          </a:ln>
        </p:spPr>
        <p:txBody>
          <a:bodyPr/>
          <a:lstStyle/>
          <a:p>
            <a:endParaRPr lang="de-DE"/>
          </a:p>
        </p:txBody>
      </p:sp>
      <p:sp>
        <p:nvSpPr>
          <p:cNvPr id="17" name="Text 15"/>
          <p:cNvSpPr txBox="1"/>
          <p:nvPr/>
        </p:nvSpPr>
        <p:spPr>
          <a:xfrm>
            <a:off x="4498848" y="161848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txBox="1"/>
          <p:nvPr/>
        </p:nvSpPr>
        <p:spPr>
          <a:xfrm>
            <a:off x="4956048" y="1600200"/>
            <a:ext cx="2743200" cy="384048"/>
          </a:xfrm>
          <a:prstGeom prst="rect">
            <a:avLst/>
          </a:prstGeom>
          <a:noFill/>
          <a:ln/>
        </p:spPr>
        <p:txBody>
          <a:bodyPr wrap="square" lIns="0" tIns="0" rIns="0" bIns="0" rtlCol="0" anchor="ctr"/>
          <a:lstStyle/>
          <a:p>
            <a:pPr marL="0" indent="0">
              <a:buNone/>
            </a:pPr>
            <a:r>
              <a:rPr lang="en-US" sz="1500" b="1" dirty="0">
                <a:solidFill>
                  <a:srgbClr val="2B2724"/>
                </a:solidFill>
                <a:latin typeface="Calibri" pitchFamily="34" charset="0"/>
                <a:ea typeface="Calibri" pitchFamily="34" charset="-122"/>
                <a:cs typeface="Calibri" pitchFamily="34" charset="-120"/>
              </a:rPr>
              <a:t>Kochwelten quer als Kojen</a:t>
            </a:r>
            <a:endParaRPr lang="en-US" sz="1500" dirty="0"/>
          </a:p>
        </p:txBody>
      </p:sp>
      <p:sp>
        <p:nvSpPr>
          <p:cNvPr id="19" name="Text 17"/>
          <p:cNvSpPr txBox="1"/>
          <p:nvPr/>
        </p:nvSpPr>
        <p:spPr>
          <a:xfrm>
            <a:off x="4526280" y="2103120"/>
            <a:ext cx="3108960" cy="960120"/>
          </a:xfrm>
          <a:prstGeom prst="rect">
            <a:avLst/>
          </a:prstGeom>
          <a:noFill/>
          <a:ln/>
        </p:spPr>
        <p:txBody>
          <a:bodyPr wrap="square" lIns="0" tIns="0" rIns="0" bIns="0" rtlCol="0" anchor="t"/>
          <a:lstStyle/>
          <a:p>
            <a:pPr marL="0" indent="0">
              <a:buNone/>
            </a:pPr>
            <a:r>
              <a:rPr lang="en-US" sz="1250" dirty="0">
                <a:solidFill>
                  <a:srgbClr val="2B2724"/>
                </a:solidFill>
                <a:latin typeface="Calibri" pitchFamily="34" charset="0"/>
                <a:ea typeface="Calibri" pitchFamily="34" charset="-122"/>
                <a:cs typeface="Calibri" pitchFamily="34" charset="-120"/>
              </a:rPr>
              <a:t>Drei Gondeln mit 1,5 m Gängen; in jeder Koje die Rezept-Matrix, gegenüber die Ergänzungen.</a:t>
            </a:r>
            <a:endParaRPr lang="en-US" sz="1250" dirty="0"/>
          </a:p>
        </p:txBody>
      </p:sp>
      <p:sp>
        <p:nvSpPr>
          <p:cNvPr id="20" name="Shape 18"/>
          <p:cNvSpPr/>
          <p:nvPr/>
        </p:nvSpPr>
        <p:spPr>
          <a:xfrm>
            <a:off x="4526280" y="3136392"/>
            <a:ext cx="237744" cy="237744"/>
          </a:xfrm>
          <a:prstGeom prst="ellipse">
            <a:avLst/>
          </a:prstGeom>
          <a:solidFill>
            <a:srgbClr val="4F6B3A"/>
          </a:solidFill>
          <a:ln w="12700">
            <a:solidFill>
              <a:srgbClr val="4F6B3A"/>
            </a:solidFill>
            <a:prstDash val="solid"/>
          </a:ln>
        </p:spPr>
        <p:txBody>
          <a:bodyPr/>
          <a:lstStyle/>
          <a:p>
            <a:endParaRPr lang="de-DE"/>
          </a:p>
        </p:txBody>
      </p:sp>
      <p:sp>
        <p:nvSpPr>
          <p:cNvPr id="21" name="Text 19"/>
          <p:cNvSpPr txBox="1"/>
          <p:nvPr/>
        </p:nvSpPr>
        <p:spPr>
          <a:xfrm>
            <a:off x="4526280" y="3136392"/>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Q</a:t>
            </a:r>
            <a:endParaRPr lang="en-US" sz="900" dirty="0"/>
          </a:p>
        </p:txBody>
      </p:sp>
      <p:sp>
        <p:nvSpPr>
          <p:cNvPr id="22" name="Text 20"/>
          <p:cNvSpPr txBox="1"/>
          <p:nvPr/>
        </p:nvSpPr>
        <p:spPr>
          <a:xfrm>
            <a:off x="4837176" y="3108960"/>
            <a:ext cx="2834640" cy="292608"/>
          </a:xfrm>
          <a:prstGeom prst="rect">
            <a:avLst/>
          </a:prstGeom>
          <a:noFill/>
          <a:ln/>
        </p:spPr>
        <p:txBody>
          <a:bodyPr wrap="square" lIns="0" tIns="0" rIns="0" bIns="0" rtlCol="0" anchor="ctr"/>
          <a:lstStyle/>
          <a:p>
            <a:pPr marL="0" indent="0">
              <a:buNone/>
            </a:pPr>
            <a:r>
              <a:rPr lang="en-US" sz="1000" dirty="0">
                <a:solidFill>
                  <a:srgbClr val="6F6862"/>
                </a:solidFill>
                <a:latin typeface="Calibri" pitchFamily="34" charset="0"/>
                <a:ea typeface="Calibri" pitchFamily="34" charset="-122"/>
                <a:cs typeface="Calibri" pitchFamily="34" charset="-120"/>
              </a:rPr>
              <a:t>Querplatzierung, S. 300–301, Abb. 10.3</a:t>
            </a:r>
            <a:endParaRPr lang="en-US" sz="1000" dirty="0"/>
          </a:p>
        </p:txBody>
      </p:sp>
      <p:sp>
        <p:nvSpPr>
          <p:cNvPr id="23" name="Shape 21"/>
          <p:cNvSpPr/>
          <p:nvPr/>
        </p:nvSpPr>
        <p:spPr>
          <a:xfrm>
            <a:off x="8046720" y="1417320"/>
            <a:ext cx="3520440" cy="2148840"/>
          </a:xfrm>
          <a:prstGeom prst="rect">
            <a:avLst/>
          </a:prstGeom>
          <a:solidFill>
            <a:srgbClr val="F3EEE6"/>
          </a:solidFill>
          <a:ln w="12700">
            <a:solidFill>
              <a:srgbClr val="F3EEE6"/>
            </a:solidFill>
            <a:prstDash val="solid"/>
          </a:ln>
        </p:spPr>
        <p:txBody>
          <a:bodyPr/>
          <a:lstStyle/>
          <a:p>
            <a:endParaRPr lang="de-DE"/>
          </a:p>
        </p:txBody>
      </p:sp>
      <p:sp>
        <p:nvSpPr>
          <p:cNvPr id="24" name="Shape 22"/>
          <p:cNvSpPr/>
          <p:nvPr/>
        </p:nvSpPr>
        <p:spPr>
          <a:xfrm>
            <a:off x="8247888" y="1618488"/>
            <a:ext cx="329184" cy="329184"/>
          </a:xfrm>
          <a:prstGeom prst="ellipse">
            <a:avLst/>
          </a:prstGeom>
          <a:solidFill>
            <a:srgbClr val="B5452F"/>
          </a:solidFill>
          <a:ln w="12700">
            <a:solidFill>
              <a:srgbClr val="FFFFFF"/>
            </a:solidFill>
            <a:prstDash val="solid"/>
          </a:ln>
        </p:spPr>
        <p:txBody>
          <a:bodyPr/>
          <a:lstStyle/>
          <a:p>
            <a:endParaRPr lang="de-DE"/>
          </a:p>
        </p:txBody>
      </p:sp>
      <p:sp>
        <p:nvSpPr>
          <p:cNvPr id="25" name="Text 23"/>
          <p:cNvSpPr txBox="1"/>
          <p:nvPr/>
        </p:nvSpPr>
        <p:spPr>
          <a:xfrm>
            <a:off x="8247888" y="161848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6" name="Text 24"/>
          <p:cNvSpPr txBox="1"/>
          <p:nvPr/>
        </p:nvSpPr>
        <p:spPr>
          <a:xfrm>
            <a:off x="8705088" y="1600200"/>
            <a:ext cx="2743200" cy="384048"/>
          </a:xfrm>
          <a:prstGeom prst="rect">
            <a:avLst/>
          </a:prstGeom>
          <a:noFill/>
          <a:ln/>
        </p:spPr>
        <p:txBody>
          <a:bodyPr wrap="square" lIns="0" tIns="0" rIns="0" bIns="0" rtlCol="0" anchor="ctr"/>
          <a:lstStyle/>
          <a:p>
            <a:pPr marL="0" indent="0">
              <a:buNone/>
            </a:pPr>
            <a:r>
              <a:rPr lang="en-US" sz="1500" b="1" dirty="0">
                <a:solidFill>
                  <a:srgbClr val="2B2724"/>
                </a:solidFill>
                <a:latin typeface="Calibri" pitchFamily="34" charset="0"/>
                <a:ea typeface="Calibri" pitchFamily="34" charset="-122"/>
                <a:cs typeface="Calibri" pitchFamily="34" charset="-120"/>
              </a:rPr>
              <a:t>Obst &amp; Gemüse schräg am Eingang</a:t>
            </a:r>
            <a:endParaRPr lang="en-US" sz="1500" dirty="0"/>
          </a:p>
        </p:txBody>
      </p:sp>
      <p:sp>
        <p:nvSpPr>
          <p:cNvPr id="27" name="Text 25"/>
          <p:cNvSpPr txBox="1"/>
          <p:nvPr/>
        </p:nvSpPr>
        <p:spPr>
          <a:xfrm>
            <a:off x="8275320" y="2103120"/>
            <a:ext cx="3108960" cy="960120"/>
          </a:xfrm>
          <a:prstGeom prst="rect">
            <a:avLst/>
          </a:prstGeom>
          <a:noFill/>
          <a:ln/>
        </p:spPr>
        <p:txBody>
          <a:bodyPr wrap="square" lIns="0" tIns="0" rIns="0" bIns="0" rtlCol="0" anchor="t"/>
          <a:lstStyle/>
          <a:p>
            <a:pPr marL="0" indent="0">
              <a:buNone/>
            </a:pPr>
            <a:r>
              <a:rPr lang="en-US" sz="1250" dirty="0">
                <a:solidFill>
                  <a:srgbClr val="2B2724"/>
                </a:solidFill>
                <a:latin typeface="Calibri" pitchFamily="34" charset="0"/>
                <a:ea typeface="Calibri" pitchFamily="34" charset="-122"/>
                <a:cs typeface="Calibri" pitchFamily="34" charset="-120"/>
              </a:rPr>
              <a:t>Frische Zutaten (O1) stehen auf fast jeder Karte. Der schräge Stand bremst und lenkt in den Rundlauf links.</a:t>
            </a:r>
            <a:endParaRPr lang="en-US" sz="1250" dirty="0"/>
          </a:p>
        </p:txBody>
      </p:sp>
      <p:sp>
        <p:nvSpPr>
          <p:cNvPr id="28" name="Shape 26"/>
          <p:cNvSpPr/>
          <p:nvPr/>
        </p:nvSpPr>
        <p:spPr>
          <a:xfrm>
            <a:off x="8275320" y="3136392"/>
            <a:ext cx="237744" cy="237744"/>
          </a:xfrm>
          <a:prstGeom prst="ellipse">
            <a:avLst/>
          </a:prstGeom>
          <a:solidFill>
            <a:srgbClr val="B5452F"/>
          </a:solidFill>
          <a:ln w="12700">
            <a:solidFill>
              <a:srgbClr val="B5452F"/>
            </a:solidFill>
            <a:prstDash val="solid"/>
          </a:ln>
        </p:spPr>
        <p:txBody>
          <a:bodyPr/>
          <a:lstStyle/>
          <a:p>
            <a:endParaRPr lang="de-DE"/>
          </a:p>
        </p:txBody>
      </p:sp>
      <p:sp>
        <p:nvSpPr>
          <p:cNvPr id="29" name="Text 27"/>
          <p:cNvSpPr txBox="1"/>
          <p:nvPr/>
        </p:nvSpPr>
        <p:spPr>
          <a:xfrm>
            <a:off x="8275320" y="3136392"/>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0" name="Text 28"/>
          <p:cNvSpPr txBox="1"/>
          <p:nvPr/>
        </p:nvSpPr>
        <p:spPr>
          <a:xfrm>
            <a:off x="8586216" y="3108960"/>
            <a:ext cx="2834640" cy="292608"/>
          </a:xfrm>
          <a:prstGeom prst="rect">
            <a:avLst/>
          </a:prstGeom>
          <a:noFill/>
          <a:ln/>
        </p:spPr>
        <p:txBody>
          <a:bodyPr wrap="square" lIns="0" tIns="0" rIns="0" bIns="0" rtlCol="0" anchor="ctr"/>
          <a:lstStyle/>
          <a:p>
            <a:pPr marL="0" indent="0">
              <a:buNone/>
            </a:pPr>
            <a:r>
              <a:rPr lang="en-US" sz="1000" dirty="0">
                <a:solidFill>
                  <a:srgbClr val="6F6862"/>
                </a:solidFill>
                <a:latin typeface="Calibri" pitchFamily="34" charset="0"/>
                <a:ea typeface="Calibri" pitchFamily="34" charset="-122"/>
                <a:cs typeface="Calibri" pitchFamily="34" charset="-120"/>
              </a:rPr>
              <a:t>Frische-Image ist Fallannahme</a:t>
            </a:r>
            <a:endParaRPr lang="en-US" sz="1000" dirty="0"/>
          </a:p>
        </p:txBody>
      </p:sp>
      <p:sp>
        <p:nvSpPr>
          <p:cNvPr id="31" name="Shape 29"/>
          <p:cNvSpPr/>
          <p:nvPr/>
        </p:nvSpPr>
        <p:spPr>
          <a:xfrm>
            <a:off x="548640" y="3794760"/>
            <a:ext cx="3520440" cy="2148840"/>
          </a:xfrm>
          <a:prstGeom prst="rect">
            <a:avLst/>
          </a:prstGeom>
          <a:solidFill>
            <a:srgbClr val="F3EEE6"/>
          </a:solidFill>
          <a:ln w="12700">
            <a:solidFill>
              <a:srgbClr val="F3EEE6"/>
            </a:solidFill>
            <a:prstDash val="solid"/>
          </a:ln>
        </p:spPr>
        <p:txBody>
          <a:bodyPr/>
          <a:lstStyle/>
          <a:p>
            <a:endParaRPr lang="de-DE"/>
          </a:p>
        </p:txBody>
      </p:sp>
      <p:sp>
        <p:nvSpPr>
          <p:cNvPr id="32" name="Shape 30"/>
          <p:cNvSpPr/>
          <p:nvPr/>
        </p:nvSpPr>
        <p:spPr>
          <a:xfrm>
            <a:off x="749808" y="3995928"/>
            <a:ext cx="329184" cy="329184"/>
          </a:xfrm>
          <a:prstGeom prst="ellipse">
            <a:avLst/>
          </a:prstGeom>
          <a:solidFill>
            <a:srgbClr val="B5452F"/>
          </a:solidFill>
          <a:ln w="12700">
            <a:solidFill>
              <a:srgbClr val="FFFFFF"/>
            </a:solidFill>
            <a:prstDash val="solid"/>
          </a:ln>
        </p:spPr>
        <p:txBody>
          <a:bodyPr/>
          <a:lstStyle/>
          <a:p>
            <a:endParaRPr lang="de-DE"/>
          </a:p>
        </p:txBody>
      </p:sp>
      <p:sp>
        <p:nvSpPr>
          <p:cNvPr id="33" name="Text 31"/>
          <p:cNvSpPr txBox="1"/>
          <p:nvPr/>
        </p:nvSpPr>
        <p:spPr>
          <a:xfrm>
            <a:off x="749808" y="39959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4" name="Text 32"/>
          <p:cNvSpPr txBox="1"/>
          <p:nvPr/>
        </p:nvSpPr>
        <p:spPr>
          <a:xfrm>
            <a:off x="1207008" y="3977640"/>
            <a:ext cx="2743200" cy="384048"/>
          </a:xfrm>
          <a:prstGeom prst="rect">
            <a:avLst/>
          </a:prstGeom>
          <a:noFill/>
          <a:ln/>
        </p:spPr>
        <p:txBody>
          <a:bodyPr wrap="square" lIns="0" tIns="0" rIns="0" bIns="0" rtlCol="0" anchor="ctr"/>
          <a:lstStyle/>
          <a:p>
            <a:pPr marL="0" indent="0">
              <a:buNone/>
            </a:pPr>
            <a:r>
              <a:rPr lang="en-US" sz="1500" b="1" dirty="0">
                <a:solidFill>
                  <a:srgbClr val="2B2724"/>
                </a:solidFill>
                <a:latin typeface="Calibri" pitchFamily="34" charset="0"/>
                <a:ea typeface="Calibri" pitchFamily="34" charset="-122"/>
                <a:cs typeface="Calibri" pitchFamily="34" charset="-120"/>
              </a:rPr>
              <a:t>Showküche, Zuschauer vorn</a:t>
            </a:r>
            <a:endParaRPr lang="en-US" sz="1500" dirty="0"/>
          </a:p>
        </p:txBody>
      </p:sp>
      <p:sp>
        <p:nvSpPr>
          <p:cNvPr id="35" name="Text 33"/>
          <p:cNvSpPr txBox="1"/>
          <p:nvPr/>
        </p:nvSpPr>
        <p:spPr>
          <a:xfrm>
            <a:off x="777240" y="4480560"/>
            <a:ext cx="3108960" cy="960120"/>
          </a:xfrm>
          <a:prstGeom prst="rect">
            <a:avLst/>
          </a:prstGeom>
          <a:noFill/>
          <a:ln/>
        </p:spPr>
        <p:txBody>
          <a:bodyPr wrap="square" lIns="0" tIns="0" rIns="0" bIns="0" rtlCol="0" anchor="t"/>
          <a:lstStyle/>
          <a:p>
            <a:pPr marL="0" indent="0">
              <a:buNone/>
            </a:pPr>
            <a:r>
              <a:rPr lang="en-US" sz="1250" dirty="0">
                <a:solidFill>
                  <a:srgbClr val="2B2724"/>
                </a:solidFill>
                <a:latin typeface="Calibri" pitchFamily="34" charset="0"/>
                <a:ea typeface="Calibri" pitchFamily="34" charset="-122"/>
                <a:cs typeface="Calibri" pitchFamily="34" charset="-120"/>
              </a:rPr>
              <a:t>Kochtresen als visueller Anker am Ende der Blickachse. Zuschauer stehen in der Übergangszone, nicht in den Gängen.</a:t>
            </a:r>
            <a:endParaRPr lang="en-US" sz="1250" dirty="0"/>
          </a:p>
        </p:txBody>
      </p:sp>
      <p:sp>
        <p:nvSpPr>
          <p:cNvPr id="36" name="Shape 34"/>
          <p:cNvSpPr/>
          <p:nvPr/>
        </p:nvSpPr>
        <p:spPr>
          <a:xfrm>
            <a:off x="777240" y="5513832"/>
            <a:ext cx="237744" cy="237744"/>
          </a:xfrm>
          <a:prstGeom prst="ellipse">
            <a:avLst/>
          </a:prstGeom>
          <a:solidFill>
            <a:srgbClr val="4F6B3A"/>
          </a:solidFill>
          <a:ln w="12700">
            <a:solidFill>
              <a:srgbClr val="4F6B3A"/>
            </a:solidFill>
            <a:prstDash val="solid"/>
          </a:ln>
        </p:spPr>
        <p:txBody>
          <a:bodyPr/>
          <a:lstStyle/>
          <a:p>
            <a:endParaRPr lang="de-DE"/>
          </a:p>
        </p:txBody>
      </p:sp>
      <p:sp>
        <p:nvSpPr>
          <p:cNvPr id="37" name="Text 35"/>
          <p:cNvSpPr txBox="1"/>
          <p:nvPr/>
        </p:nvSpPr>
        <p:spPr>
          <a:xfrm>
            <a:off x="777240" y="5513832"/>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Q</a:t>
            </a:r>
            <a:endParaRPr lang="en-US" sz="900" dirty="0"/>
          </a:p>
        </p:txBody>
      </p:sp>
      <p:sp>
        <p:nvSpPr>
          <p:cNvPr id="38" name="Text 36"/>
          <p:cNvSpPr txBox="1"/>
          <p:nvPr/>
        </p:nvSpPr>
        <p:spPr>
          <a:xfrm>
            <a:off x="1088136" y="5486400"/>
            <a:ext cx="2834640" cy="292608"/>
          </a:xfrm>
          <a:prstGeom prst="rect">
            <a:avLst/>
          </a:prstGeom>
          <a:noFill/>
          <a:ln/>
        </p:spPr>
        <p:txBody>
          <a:bodyPr wrap="square" lIns="0" tIns="0" rIns="0" bIns="0" rtlCol="0" anchor="ctr"/>
          <a:lstStyle/>
          <a:p>
            <a:pPr marL="0" indent="0">
              <a:buNone/>
            </a:pPr>
            <a:r>
              <a:rPr lang="en-US" sz="1000" dirty="0">
                <a:solidFill>
                  <a:srgbClr val="6F6862"/>
                </a:solidFill>
                <a:latin typeface="Calibri" pitchFamily="34" charset="0"/>
                <a:ea typeface="Calibri" pitchFamily="34" charset="-122"/>
                <a:cs typeface="Calibri" pitchFamily="34" charset="-120"/>
              </a:rPr>
              <a:t>Arena-Prinzip, S. 297–302; Hui et al. 2009 ✓</a:t>
            </a:r>
            <a:endParaRPr lang="en-US" sz="1000" dirty="0"/>
          </a:p>
        </p:txBody>
      </p:sp>
      <p:sp>
        <p:nvSpPr>
          <p:cNvPr id="39" name="Shape 37"/>
          <p:cNvSpPr/>
          <p:nvPr/>
        </p:nvSpPr>
        <p:spPr>
          <a:xfrm>
            <a:off x="4297680" y="3794760"/>
            <a:ext cx="3520440" cy="2148840"/>
          </a:xfrm>
          <a:prstGeom prst="rect">
            <a:avLst/>
          </a:prstGeom>
          <a:solidFill>
            <a:srgbClr val="F3EEE6"/>
          </a:solidFill>
          <a:ln w="12700">
            <a:solidFill>
              <a:srgbClr val="F3EEE6"/>
            </a:solidFill>
            <a:prstDash val="solid"/>
          </a:ln>
        </p:spPr>
        <p:txBody>
          <a:bodyPr/>
          <a:lstStyle/>
          <a:p>
            <a:endParaRPr lang="de-DE"/>
          </a:p>
        </p:txBody>
      </p:sp>
      <p:sp>
        <p:nvSpPr>
          <p:cNvPr id="40" name="Shape 38"/>
          <p:cNvSpPr/>
          <p:nvPr/>
        </p:nvSpPr>
        <p:spPr>
          <a:xfrm>
            <a:off x="4498848" y="3995928"/>
            <a:ext cx="329184" cy="329184"/>
          </a:xfrm>
          <a:prstGeom prst="ellipse">
            <a:avLst/>
          </a:prstGeom>
          <a:solidFill>
            <a:srgbClr val="B5452F"/>
          </a:solidFill>
          <a:ln w="12700">
            <a:solidFill>
              <a:srgbClr val="FFFFFF"/>
            </a:solidFill>
            <a:prstDash val="solid"/>
          </a:ln>
        </p:spPr>
        <p:txBody>
          <a:bodyPr/>
          <a:lstStyle/>
          <a:p>
            <a:endParaRPr lang="de-DE"/>
          </a:p>
        </p:txBody>
      </p:sp>
      <p:sp>
        <p:nvSpPr>
          <p:cNvPr id="41" name="Text 39"/>
          <p:cNvSpPr txBox="1"/>
          <p:nvPr/>
        </p:nvSpPr>
        <p:spPr>
          <a:xfrm>
            <a:off x="4498848" y="39959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2" name="Text 40"/>
          <p:cNvSpPr txBox="1"/>
          <p:nvPr/>
        </p:nvSpPr>
        <p:spPr>
          <a:xfrm>
            <a:off x="4956048" y="3977640"/>
            <a:ext cx="2743200" cy="384048"/>
          </a:xfrm>
          <a:prstGeom prst="rect">
            <a:avLst/>
          </a:prstGeom>
          <a:noFill/>
          <a:ln/>
        </p:spPr>
        <p:txBody>
          <a:bodyPr wrap="square" lIns="0" tIns="0" rIns="0" bIns="0" rtlCol="0" anchor="ctr"/>
          <a:lstStyle/>
          <a:p>
            <a:pPr marL="0" indent="0">
              <a:buNone/>
            </a:pPr>
            <a:r>
              <a:rPr lang="en-US" sz="1500" b="1" dirty="0">
                <a:solidFill>
                  <a:srgbClr val="2B2724"/>
                </a:solidFill>
                <a:latin typeface="Calibri" pitchFamily="34" charset="0"/>
                <a:ea typeface="Calibri" pitchFamily="34" charset="-122"/>
                <a:cs typeface="Calibri" pitchFamily="34" charset="-120"/>
              </a:rPr>
              <a:t>Basissortiment längs</a:t>
            </a:r>
            <a:endParaRPr lang="en-US" sz="1500" dirty="0"/>
          </a:p>
        </p:txBody>
      </p:sp>
      <p:sp>
        <p:nvSpPr>
          <p:cNvPr id="43" name="Text 41"/>
          <p:cNvSpPr txBox="1"/>
          <p:nvPr/>
        </p:nvSpPr>
        <p:spPr>
          <a:xfrm>
            <a:off x="4526280" y="4480560"/>
            <a:ext cx="3108960" cy="960120"/>
          </a:xfrm>
          <a:prstGeom prst="rect">
            <a:avLst/>
          </a:prstGeom>
          <a:noFill/>
          <a:ln/>
        </p:spPr>
        <p:txBody>
          <a:bodyPr wrap="square" lIns="0" tIns="0" rIns="0" bIns="0" rtlCol="0" anchor="t"/>
          <a:lstStyle/>
          <a:p>
            <a:pPr marL="0" indent="0">
              <a:buNone/>
            </a:pPr>
            <a:r>
              <a:rPr lang="en-US" sz="1250" dirty="0">
                <a:solidFill>
                  <a:srgbClr val="2B2724"/>
                </a:solidFill>
                <a:latin typeface="Calibri" pitchFamily="34" charset="0"/>
                <a:ea typeface="Calibri" pitchFamily="34" charset="-122"/>
                <a:cs typeface="Calibri" pitchFamily="34" charset="-120"/>
              </a:rPr>
              <a:t>Wandregal plus Gondel, 1,75 m Gang: Wer gezielt Olivenöl sucht, findet es im Vorbeigehen.</a:t>
            </a:r>
            <a:endParaRPr lang="en-US" sz="1250" dirty="0"/>
          </a:p>
        </p:txBody>
      </p:sp>
      <p:sp>
        <p:nvSpPr>
          <p:cNvPr id="44" name="Shape 42"/>
          <p:cNvSpPr/>
          <p:nvPr/>
        </p:nvSpPr>
        <p:spPr>
          <a:xfrm>
            <a:off x="4526280" y="5513832"/>
            <a:ext cx="237744" cy="237744"/>
          </a:xfrm>
          <a:prstGeom prst="ellipse">
            <a:avLst/>
          </a:prstGeom>
          <a:solidFill>
            <a:srgbClr val="4F6B3A"/>
          </a:solidFill>
          <a:ln w="12700">
            <a:solidFill>
              <a:srgbClr val="4F6B3A"/>
            </a:solidFill>
            <a:prstDash val="solid"/>
          </a:ln>
        </p:spPr>
        <p:txBody>
          <a:bodyPr/>
          <a:lstStyle/>
          <a:p>
            <a:endParaRPr lang="de-DE"/>
          </a:p>
        </p:txBody>
      </p:sp>
      <p:sp>
        <p:nvSpPr>
          <p:cNvPr id="45" name="Text 43"/>
          <p:cNvSpPr txBox="1"/>
          <p:nvPr/>
        </p:nvSpPr>
        <p:spPr>
          <a:xfrm>
            <a:off x="4526280" y="5513832"/>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Q</a:t>
            </a:r>
            <a:endParaRPr lang="en-US" sz="900" dirty="0"/>
          </a:p>
        </p:txBody>
      </p:sp>
      <p:sp>
        <p:nvSpPr>
          <p:cNvPr id="46" name="Text 44"/>
          <p:cNvSpPr txBox="1"/>
          <p:nvPr/>
        </p:nvSpPr>
        <p:spPr>
          <a:xfrm>
            <a:off x="4837176" y="5486400"/>
            <a:ext cx="2834640" cy="292608"/>
          </a:xfrm>
          <a:prstGeom prst="rect">
            <a:avLst/>
          </a:prstGeom>
          <a:noFill/>
          <a:ln/>
        </p:spPr>
        <p:txBody>
          <a:bodyPr wrap="square" lIns="0" tIns="0" rIns="0" bIns="0" rtlCol="0" anchor="ctr"/>
          <a:lstStyle/>
          <a:p>
            <a:pPr marL="0" indent="0">
              <a:buNone/>
            </a:pPr>
            <a:r>
              <a:rPr lang="en-US" sz="1000" dirty="0">
                <a:solidFill>
                  <a:srgbClr val="6F6862"/>
                </a:solidFill>
                <a:latin typeface="Calibri" pitchFamily="34" charset="0"/>
                <a:ea typeface="Calibri" pitchFamily="34" charset="-122"/>
                <a:cs typeface="Calibri" pitchFamily="34" charset="-120"/>
              </a:rPr>
              <a:t>Längsplatzierung, S. 300–301, Abb. 10.3</a:t>
            </a:r>
            <a:endParaRPr lang="en-US" sz="1000" dirty="0"/>
          </a:p>
        </p:txBody>
      </p:sp>
      <p:sp>
        <p:nvSpPr>
          <p:cNvPr id="47" name="Shape 45"/>
          <p:cNvSpPr/>
          <p:nvPr/>
        </p:nvSpPr>
        <p:spPr>
          <a:xfrm>
            <a:off x="8046720" y="3794760"/>
            <a:ext cx="3520440" cy="2148840"/>
          </a:xfrm>
          <a:prstGeom prst="rect">
            <a:avLst/>
          </a:prstGeom>
          <a:solidFill>
            <a:srgbClr val="F3EEE6"/>
          </a:solidFill>
          <a:ln w="12700">
            <a:solidFill>
              <a:srgbClr val="F3EEE6"/>
            </a:solidFill>
            <a:prstDash val="solid"/>
          </a:ln>
        </p:spPr>
        <p:txBody>
          <a:bodyPr/>
          <a:lstStyle/>
          <a:p>
            <a:endParaRPr lang="de-DE"/>
          </a:p>
        </p:txBody>
      </p:sp>
      <p:sp>
        <p:nvSpPr>
          <p:cNvPr id="48" name="Shape 46"/>
          <p:cNvSpPr/>
          <p:nvPr/>
        </p:nvSpPr>
        <p:spPr>
          <a:xfrm>
            <a:off x="8247888" y="3995928"/>
            <a:ext cx="329184" cy="329184"/>
          </a:xfrm>
          <a:prstGeom prst="ellipse">
            <a:avLst/>
          </a:prstGeom>
          <a:solidFill>
            <a:srgbClr val="B5452F"/>
          </a:solidFill>
          <a:ln w="12700">
            <a:solidFill>
              <a:srgbClr val="FFFFFF"/>
            </a:solidFill>
            <a:prstDash val="solid"/>
          </a:ln>
        </p:spPr>
        <p:txBody>
          <a:bodyPr/>
          <a:lstStyle/>
          <a:p>
            <a:endParaRPr lang="de-DE"/>
          </a:p>
        </p:txBody>
      </p:sp>
      <p:sp>
        <p:nvSpPr>
          <p:cNvPr id="49" name="Text 47"/>
          <p:cNvSpPr txBox="1"/>
          <p:nvPr/>
        </p:nvSpPr>
        <p:spPr>
          <a:xfrm>
            <a:off x="8247888" y="39959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50" name="Text 48"/>
          <p:cNvSpPr txBox="1"/>
          <p:nvPr/>
        </p:nvSpPr>
        <p:spPr>
          <a:xfrm>
            <a:off x="8705088" y="3977640"/>
            <a:ext cx="2743200" cy="384048"/>
          </a:xfrm>
          <a:prstGeom prst="rect">
            <a:avLst/>
          </a:prstGeom>
          <a:noFill/>
          <a:ln/>
        </p:spPr>
        <p:txBody>
          <a:bodyPr wrap="square" lIns="0" tIns="0" rIns="0" bIns="0" rtlCol="0" anchor="ctr"/>
          <a:lstStyle/>
          <a:p>
            <a:pPr marL="0" indent="0">
              <a:buNone/>
            </a:pPr>
            <a:r>
              <a:rPr lang="en-US" sz="1500" b="1" dirty="0">
                <a:solidFill>
                  <a:srgbClr val="2B2724"/>
                </a:solidFill>
                <a:latin typeface="Calibri" pitchFamily="34" charset="0"/>
                <a:ea typeface="Calibri" pitchFamily="34" charset="-122"/>
                <a:cs typeface="Calibri" pitchFamily="34" charset="-120"/>
              </a:rPr>
              <a:t>Dessert &amp; Wein nach der Frische</a:t>
            </a:r>
            <a:endParaRPr lang="en-US" sz="1500" dirty="0"/>
          </a:p>
        </p:txBody>
      </p:sp>
      <p:sp>
        <p:nvSpPr>
          <p:cNvPr id="51" name="Text 49"/>
          <p:cNvSpPr txBox="1"/>
          <p:nvPr/>
        </p:nvSpPr>
        <p:spPr>
          <a:xfrm>
            <a:off x="8275320" y="4480560"/>
            <a:ext cx="3108960" cy="960120"/>
          </a:xfrm>
          <a:prstGeom prst="rect">
            <a:avLst/>
          </a:prstGeom>
          <a:noFill/>
          <a:ln/>
        </p:spPr>
        <p:txBody>
          <a:bodyPr wrap="square" lIns="0" tIns="0" rIns="0" bIns="0" rtlCol="0" anchor="t"/>
          <a:lstStyle/>
          <a:p>
            <a:pPr marL="0" indent="0">
              <a:buNone/>
            </a:pPr>
            <a:r>
              <a:rPr lang="en-US" sz="1250" dirty="0">
                <a:solidFill>
                  <a:srgbClr val="2B2724"/>
                </a:solidFill>
                <a:latin typeface="Calibri" pitchFamily="34" charset="0"/>
                <a:ea typeface="Calibri" pitchFamily="34" charset="-122"/>
                <a:cs typeface="Calibri" pitchFamily="34" charset="-120"/>
              </a:rPr>
              <a:t>Erst „vernünftige“ Zutaten, dann Genuss: Studien zeigen diesen Licensing-Effekt. Dazu Impulsregal an der Kasse.</a:t>
            </a:r>
            <a:endParaRPr lang="en-US" sz="1250" dirty="0"/>
          </a:p>
        </p:txBody>
      </p:sp>
      <p:sp>
        <p:nvSpPr>
          <p:cNvPr id="52" name="Shape 50"/>
          <p:cNvSpPr/>
          <p:nvPr/>
        </p:nvSpPr>
        <p:spPr>
          <a:xfrm>
            <a:off x="8275320" y="5513832"/>
            <a:ext cx="237744" cy="237744"/>
          </a:xfrm>
          <a:prstGeom prst="ellipse">
            <a:avLst/>
          </a:prstGeom>
          <a:solidFill>
            <a:srgbClr val="B5452F"/>
          </a:solidFill>
          <a:ln w="12700">
            <a:solidFill>
              <a:srgbClr val="B5452F"/>
            </a:solidFill>
            <a:prstDash val="solid"/>
          </a:ln>
        </p:spPr>
        <p:txBody>
          <a:bodyPr/>
          <a:lstStyle/>
          <a:p>
            <a:endParaRPr lang="de-DE"/>
          </a:p>
        </p:txBody>
      </p:sp>
      <p:sp>
        <p:nvSpPr>
          <p:cNvPr id="53" name="Text 51"/>
          <p:cNvSpPr txBox="1"/>
          <p:nvPr/>
        </p:nvSpPr>
        <p:spPr>
          <a:xfrm>
            <a:off x="8275320" y="5513832"/>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Q</a:t>
            </a:r>
            <a:endParaRPr lang="en-US" sz="900" dirty="0"/>
          </a:p>
        </p:txBody>
      </p:sp>
      <p:sp>
        <p:nvSpPr>
          <p:cNvPr id="54" name="Text 52"/>
          <p:cNvSpPr txBox="1"/>
          <p:nvPr/>
        </p:nvSpPr>
        <p:spPr>
          <a:xfrm>
            <a:off x="8586216" y="5486400"/>
            <a:ext cx="2834640" cy="292608"/>
          </a:xfrm>
          <a:prstGeom prst="rect">
            <a:avLst/>
          </a:prstGeom>
          <a:noFill/>
          <a:ln/>
        </p:spPr>
        <p:txBody>
          <a:bodyPr wrap="square" lIns="0" tIns="0" rIns="0" bIns="0" rtlCol="0" anchor="ctr"/>
          <a:lstStyle/>
          <a:p>
            <a:pPr marL="0" indent="0">
              <a:buNone/>
            </a:pPr>
            <a:r>
              <a:rPr lang="en-US" sz="1000" dirty="0">
                <a:solidFill>
                  <a:srgbClr val="6F6862"/>
                </a:solidFill>
                <a:latin typeface="Calibri" pitchFamily="34" charset="0"/>
                <a:ea typeface="Calibri" pitchFamily="34" charset="-122"/>
                <a:cs typeface="Calibri" pitchFamily="34" charset="-120"/>
              </a:rPr>
              <a:t>Hui et al. 2009 ✓ (Licensing)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0972800" cy="274320"/>
          </a:xfrm>
          <a:prstGeom prst="rect">
            <a:avLst/>
          </a:prstGeom>
          <a:noFill/>
          <a:ln/>
        </p:spPr>
        <p:txBody>
          <a:bodyPr wrap="square" lIns="0" tIns="0" rIns="0" bIns="0" rtlCol="0" anchor="ctr"/>
          <a:lstStyle/>
          <a:p>
            <a:pPr marL="0" indent="0">
              <a:buNone/>
            </a:pPr>
            <a:r>
              <a:rPr lang="en-US" sz="1200" b="1" dirty="0">
                <a:solidFill>
                  <a:srgbClr val="B5452F"/>
                </a:solidFill>
                <a:latin typeface="Calibri" pitchFamily="34" charset="0"/>
                <a:ea typeface="Calibri" pitchFamily="34" charset="-122"/>
                <a:cs typeface="Calibri" pitchFamily="34" charset="-120"/>
              </a:rPr>
              <a:t>4 · RAUMZUTEILUNG</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2B2724"/>
                </a:solidFill>
                <a:latin typeface="Cambria" pitchFamily="34" charset="0"/>
                <a:ea typeface="Cambria" pitchFamily="34" charset="-122"/>
                <a:cs typeface="Cambria" pitchFamily="34" charset="-120"/>
              </a:rPr>
              <a:t>Flächenbilanz und Raumzuteilung nach Warenbereichen.</a:t>
            </a:r>
            <a:endParaRPr lang="en-US" sz="2800" dirty="0"/>
          </a:p>
        </p:txBody>
      </p:sp>
      <p:sp>
        <p:nvSpPr>
          <p:cNvPr id="4" name="Text 2"/>
          <p:cNvSpPr txBox="1"/>
          <p:nvPr/>
        </p:nvSpPr>
        <p:spPr>
          <a:xfrm>
            <a:off x="548640" y="6144768"/>
            <a:ext cx="11064240" cy="228600"/>
          </a:xfrm>
          <a:prstGeom prst="rect">
            <a:avLst/>
          </a:prstGeom>
          <a:noFill/>
          <a:ln/>
        </p:spPr>
        <p:txBody>
          <a:bodyPr wrap="square" lIns="0" tIns="0" rIns="0" bIns="0" rtlCol="0" anchor="ctr"/>
          <a:lstStyle/>
          <a:p>
            <a:pPr marL="0" indent="0">
              <a:buNone/>
            </a:pPr>
            <a:r>
              <a:rPr lang="en-US" sz="950" dirty="0">
                <a:solidFill>
                  <a:srgbClr val="6F6862"/>
                </a:solidFill>
                <a:latin typeface="Calibri" pitchFamily="34" charset="0"/>
                <a:ea typeface="Calibri" pitchFamily="34" charset="-122"/>
                <a:cs typeface="Calibri" pitchFamily="34" charset="-120"/>
              </a:rPr>
              <a:t>Stellflächen aus dem maßstäblichen Grundriss (3D-Modell) berechnet und gerundet; nicht im Diagramm: Schaufenster 1,3 m², Impulsregal 0,6 m². Aufteilung ist Fallannahme. Flächenarten vgl. Ahlert, Kenning und Brock, 2020, S. 297–302.</a:t>
            </a:r>
            <a:endParaRPr lang="en-US" sz="950" dirty="0"/>
          </a:p>
        </p:txBody>
      </p:sp>
      <p:sp>
        <p:nvSpPr>
          <p:cNvPr id="5" name="Shape 3"/>
          <p:cNvSpPr/>
          <p:nvPr/>
        </p:nvSpPr>
        <p:spPr>
          <a:xfrm>
            <a:off x="548640" y="6419088"/>
            <a:ext cx="11091672" cy="0"/>
          </a:xfrm>
          <a:prstGeom prst="line">
            <a:avLst/>
          </a:prstGeom>
          <a:noFill/>
          <a:ln w="9525">
            <a:solidFill>
              <a:srgbClr val="D9D1C5"/>
            </a:solidFill>
            <a:prstDash val="solid"/>
          </a:ln>
        </p:spPr>
        <p:txBody>
          <a:bodyPr/>
          <a:lstStyle/>
          <a:p>
            <a:endParaRPr lang="de-DE"/>
          </a:p>
        </p:txBody>
      </p:sp>
      <p:sp>
        <p:nvSpPr>
          <p:cNvPr id="6" name="Text 4"/>
          <p:cNvSpPr txBox="1"/>
          <p:nvPr/>
        </p:nvSpPr>
        <p:spPr>
          <a:xfrm>
            <a:off x="548640" y="6473952"/>
            <a:ext cx="7315200" cy="228600"/>
          </a:xfrm>
          <a:prstGeom prst="rect">
            <a:avLst/>
          </a:prstGeom>
          <a:noFill/>
          <a:ln/>
        </p:spPr>
        <p:txBody>
          <a:bodyPr wrap="square" lIns="0" tIns="0" rIns="0" bIns="0" rtlCol="0" anchor="ctr"/>
          <a:lstStyle/>
          <a:p>
            <a:pPr marL="0" indent="0">
              <a:buNone/>
            </a:pPr>
            <a:r>
              <a:rPr lang="en-US" sz="900" dirty="0">
                <a:solidFill>
                  <a:srgbClr val="6F6862"/>
                </a:solidFill>
                <a:latin typeface="Calibri" pitchFamily="34" charset="0"/>
                <a:ea typeface="Calibri" pitchFamily="34" charset="-122"/>
                <a:cs typeface="Calibri" pitchFamily="34" charset="-120"/>
              </a:rPr>
              <a:t>One Hour Kitchen · Store-Konzept · Kurs HD25A23</a:t>
            </a:r>
            <a:endParaRPr lang="en-US" sz="900" dirty="0"/>
          </a:p>
        </p:txBody>
      </p:sp>
      <p:sp>
        <p:nvSpPr>
          <p:cNvPr id="7" name="Text 5"/>
          <p:cNvSpPr txBox="1"/>
          <p:nvPr/>
        </p:nvSpPr>
        <p:spPr>
          <a:xfrm>
            <a:off x="10725912" y="6473952"/>
            <a:ext cx="914400" cy="228600"/>
          </a:xfrm>
          <a:prstGeom prst="rect">
            <a:avLst/>
          </a:prstGeom>
          <a:noFill/>
          <a:ln/>
        </p:spPr>
        <p:txBody>
          <a:bodyPr wrap="square" lIns="0" tIns="0" rIns="0" bIns="0" rtlCol="0" anchor="ctr"/>
          <a:lstStyle/>
          <a:p>
            <a:pPr marL="0" indent="0" algn="r">
              <a:buNone/>
            </a:pPr>
            <a:r>
              <a:rPr lang="en-US" sz="900" dirty="0">
                <a:solidFill>
                  <a:srgbClr val="6F6862"/>
                </a:solidFill>
                <a:latin typeface="Calibri" pitchFamily="34" charset="0"/>
                <a:ea typeface="Calibri" pitchFamily="34" charset="-122"/>
                <a:cs typeface="Calibri" pitchFamily="34" charset="-120"/>
              </a:rPr>
              <a:t>8</a:t>
            </a:r>
            <a:endParaRPr lang="en-US" sz="900" dirty="0"/>
          </a:p>
        </p:txBody>
      </p:sp>
      <p:graphicFrame>
        <p:nvGraphicFramePr>
          <p:cNvPr id="8" name="Chart 0"/>
          <p:cNvGraphicFramePr/>
          <p:nvPr/>
        </p:nvGraphicFramePr>
        <p:xfrm>
          <a:off x="457200" y="1371600"/>
          <a:ext cx="475488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1874520" y="2788920"/>
            <a:ext cx="1920240" cy="457200"/>
          </a:xfrm>
          <a:prstGeom prst="rect">
            <a:avLst/>
          </a:prstGeom>
          <a:noFill/>
          <a:ln/>
        </p:spPr>
        <p:txBody>
          <a:bodyPr wrap="square" lIns="0" tIns="0" rIns="0" bIns="0" rtlCol="0" anchor="ctr"/>
          <a:lstStyle/>
          <a:p>
            <a:pPr marL="0" indent="0" algn="ctr">
              <a:buNone/>
            </a:pPr>
            <a:r>
              <a:rPr lang="en-US" sz="2400" b="1" dirty="0">
                <a:solidFill>
                  <a:srgbClr val="2B2724"/>
                </a:solidFill>
                <a:latin typeface="Cambria" pitchFamily="34" charset="0"/>
                <a:ea typeface="Cambria" pitchFamily="34" charset="-122"/>
                <a:cs typeface="Cambria" pitchFamily="34" charset="-120"/>
              </a:rPr>
              <a:t>190 m²</a:t>
            </a:r>
            <a:endParaRPr lang="en-US" sz="2400" dirty="0"/>
          </a:p>
        </p:txBody>
      </p:sp>
      <p:graphicFrame>
        <p:nvGraphicFramePr>
          <p:cNvPr id="10" name="Chart 1"/>
          <p:cNvGraphicFramePr/>
          <p:nvPr/>
        </p:nvGraphicFramePr>
        <p:xfrm>
          <a:off x="5577840" y="1325880"/>
          <a:ext cx="6035040" cy="2880360"/>
        </p:xfrm>
        <a:graphic>
          <a:graphicData uri="http://schemas.openxmlformats.org/drawingml/2006/chart">
            <c:chart xmlns:c="http://schemas.openxmlformats.org/drawingml/2006/chart" xmlns:r="http://schemas.openxmlformats.org/officeDocument/2006/relationships" r:id="rId4"/>
          </a:graphicData>
        </a:graphic>
      </p:graphicFrame>
      <p:sp>
        <p:nvSpPr>
          <p:cNvPr id="11" name="Shape 7"/>
          <p:cNvSpPr/>
          <p:nvPr/>
        </p:nvSpPr>
        <p:spPr>
          <a:xfrm>
            <a:off x="5577840" y="4389120"/>
            <a:ext cx="6035040" cy="1600200"/>
          </a:xfrm>
          <a:prstGeom prst="rect">
            <a:avLst/>
          </a:prstGeom>
          <a:solidFill>
            <a:srgbClr val="F3EEE6"/>
          </a:solidFill>
          <a:ln w="12700">
            <a:solidFill>
              <a:srgbClr val="F3EEE6"/>
            </a:solidFill>
            <a:prstDash val="solid"/>
          </a:ln>
        </p:spPr>
        <p:txBody>
          <a:bodyPr/>
          <a:lstStyle/>
          <a:p>
            <a:endParaRPr lang="de-DE"/>
          </a:p>
        </p:txBody>
      </p:sp>
      <p:sp>
        <p:nvSpPr>
          <p:cNvPr id="12" name="Text 8"/>
          <p:cNvSpPr txBox="1"/>
          <p:nvPr/>
        </p:nvSpPr>
        <p:spPr>
          <a:xfrm>
            <a:off x="5806440" y="4480560"/>
            <a:ext cx="5303520" cy="1417320"/>
          </a:xfrm>
          <a:prstGeom prst="rect">
            <a:avLst/>
          </a:prstGeom>
          <a:noFill/>
          <a:ln/>
        </p:spPr>
        <p:txBody>
          <a:bodyPr wrap="square" lIns="0" tIns="0" rIns="0" bIns="0" rtlCol="0" anchor="ctr"/>
          <a:lstStyle/>
          <a:p>
            <a:pPr marL="0" indent="0">
              <a:buNone/>
            </a:pPr>
            <a:r>
              <a:rPr lang="en-US" sz="1400" b="1" dirty="0">
                <a:solidFill>
                  <a:srgbClr val="2B2724"/>
                </a:solidFill>
                <a:latin typeface="Calibri" pitchFamily="34" charset="0"/>
                <a:ea typeface="Calibri" pitchFamily="34" charset="-122"/>
                <a:cs typeface="Calibri" pitchFamily="34" charset="-120"/>
              </a:rPr>
              <a:t>Warum fast gleich viel Fläche für Kochwelten und Basis?</a:t>
            </a:r>
            <a:endParaRPr lang="en-US" sz="1400" dirty="0"/>
          </a:p>
          <a:p>
            <a:pPr marL="0" indent="0">
              <a:buNone/>
            </a:pPr>
            <a:r>
              <a:rPr lang="en-US" sz="1250" dirty="0">
                <a:solidFill>
                  <a:srgbClr val="2B2724"/>
                </a:solidFill>
                <a:latin typeface="Calibri" pitchFamily="34" charset="0"/>
                <a:ea typeface="Calibri" pitchFamily="34" charset="-122"/>
                <a:cs typeface="Calibri" pitchFamily="34" charset="-120"/>
              </a:rPr>
              <a:t>Das Basissortiment sichert die Frequenz, die Kochwelten das Profil. Die große Kundenfläche (ca. 70 %) folgt aus Übergangszone mit Dashboard, Zuschauerbereich und 1,4–1,75 m breiten Gängen.</a:t>
            </a:r>
            <a:endParaRPr lang="en-US" sz="1400" dirty="0"/>
          </a:p>
        </p:txBody>
      </p:sp>
      <p:sp>
        <p:nvSpPr>
          <p:cNvPr id="13" name="Shape 9"/>
          <p:cNvSpPr/>
          <p:nvPr/>
        </p:nvSpPr>
        <p:spPr>
          <a:xfrm>
            <a:off x="11155680" y="4526280"/>
            <a:ext cx="237744" cy="237744"/>
          </a:xfrm>
          <a:prstGeom prst="ellipse">
            <a:avLst/>
          </a:prstGeom>
          <a:solidFill>
            <a:srgbClr val="B5452F"/>
          </a:solidFill>
          <a:ln w="12700">
            <a:solidFill>
              <a:srgbClr val="B5452F"/>
            </a:solidFill>
            <a:prstDash val="solid"/>
          </a:ln>
        </p:spPr>
        <p:txBody>
          <a:bodyPr/>
          <a:lstStyle/>
          <a:p>
            <a:endParaRPr lang="de-DE"/>
          </a:p>
        </p:txBody>
      </p:sp>
      <p:sp>
        <p:nvSpPr>
          <p:cNvPr id="14" name="Text 10"/>
          <p:cNvSpPr txBox="1"/>
          <p:nvPr/>
        </p:nvSpPr>
        <p:spPr>
          <a:xfrm>
            <a:off x="11155680" y="4526280"/>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0972800" cy="274320"/>
          </a:xfrm>
          <a:prstGeom prst="rect">
            <a:avLst/>
          </a:prstGeom>
          <a:noFill/>
          <a:ln/>
        </p:spPr>
        <p:txBody>
          <a:bodyPr wrap="square" lIns="0" tIns="0" rIns="0" bIns="0" rtlCol="0" anchor="ctr"/>
          <a:lstStyle/>
          <a:p>
            <a:pPr marL="0" indent="0">
              <a:buNone/>
            </a:pPr>
            <a:r>
              <a:rPr lang="en-US" sz="1200" b="1" dirty="0">
                <a:solidFill>
                  <a:srgbClr val="B5452F"/>
                </a:solidFill>
                <a:latin typeface="Calibri" pitchFamily="34" charset="0"/>
                <a:ea typeface="Calibri" pitchFamily="34" charset="-122"/>
                <a:cs typeface="Calibri" pitchFamily="34" charset="-120"/>
              </a:rPr>
              <a:t>5 · REGALZUTEILUNG</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2B2724"/>
                </a:solidFill>
                <a:latin typeface="Cambria" pitchFamily="34" charset="0"/>
                <a:ea typeface="Cambria" pitchFamily="34" charset="-122"/>
                <a:cs typeface="Cambria" pitchFamily="34" charset="-120"/>
              </a:rPr>
              <a:t>Zwei Wege, zwei Anordnungen: quer irritieren, längs orientieren.</a:t>
            </a:r>
            <a:endParaRPr lang="en-US" sz="2800" dirty="0"/>
          </a:p>
        </p:txBody>
      </p:sp>
      <p:sp>
        <p:nvSpPr>
          <p:cNvPr id="4" name="Text 2"/>
          <p:cNvSpPr txBox="1"/>
          <p:nvPr/>
        </p:nvSpPr>
        <p:spPr>
          <a:xfrm>
            <a:off x="548640" y="6144768"/>
            <a:ext cx="11064240" cy="228600"/>
          </a:xfrm>
          <a:prstGeom prst="rect">
            <a:avLst/>
          </a:prstGeom>
          <a:noFill/>
          <a:ln/>
        </p:spPr>
        <p:txBody>
          <a:bodyPr wrap="square" lIns="0" tIns="0" rIns="0" bIns="0" rtlCol="0" anchor="ctr"/>
          <a:lstStyle/>
          <a:p>
            <a:pPr marL="0" indent="0">
              <a:buNone/>
            </a:pPr>
            <a:r>
              <a:rPr lang="en-US" sz="950" dirty="0">
                <a:solidFill>
                  <a:srgbClr val="6F6862"/>
                </a:solidFill>
                <a:latin typeface="Calibri" pitchFamily="34" charset="0"/>
                <a:ea typeface="Calibri" pitchFamily="34" charset="-122"/>
                <a:cs typeface="Calibri" pitchFamily="34" charset="-120"/>
              </a:rPr>
              <a:t>Quelle: Ahlert, Kenning und Brock, 2020, S. 300–301, Abb. 10.3. Leitdifferenzen nach Seminarskript HD25A23, in Anlehnung an Luhmann, 1984, S. 63.</a:t>
            </a:r>
            <a:endParaRPr lang="en-US" sz="950" dirty="0"/>
          </a:p>
        </p:txBody>
      </p:sp>
      <p:sp>
        <p:nvSpPr>
          <p:cNvPr id="5" name="Shape 3"/>
          <p:cNvSpPr/>
          <p:nvPr/>
        </p:nvSpPr>
        <p:spPr>
          <a:xfrm>
            <a:off x="548640" y="6419088"/>
            <a:ext cx="11091672" cy="0"/>
          </a:xfrm>
          <a:prstGeom prst="line">
            <a:avLst/>
          </a:prstGeom>
          <a:noFill/>
          <a:ln w="9525">
            <a:solidFill>
              <a:srgbClr val="D9D1C5"/>
            </a:solidFill>
            <a:prstDash val="solid"/>
          </a:ln>
        </p:spPr>
        <p:txBody>
          <a:bodyPr/>
          <a:lstStyle/>
          <a:p>
            <a:endParaRPr lang="de-DE"/>
          </a:p>
        </p:txBody>
      </p:sp>
      <p:sp>
        <p:nvSpPr>
          <p:cNvPr id="6" name="Text 4"/>
          <p:cNvSpPr txBox="1"/>
          <p:nvPr/>
        </p:nvSpPr>
        <p:spPr>
          <a:xfrm>
            <a:off x="548640" y="6473952"/>
            <a:ext cx="7315200" cy="228600"/>
          </a:xfrm>
          <a:prstGeom prst="rect">
            <a:avLst/>
          </a:prstGeom>
          <a:noFill/>
          <a:ln/>
        </p:spPr>
        <p:txBody>
          <a:bodyPr wrap="square" lIns="0" tIns="0" rIns="0" bIns="0" rtlCol="0" anchor="ctr"/>
          <a:lstStyle/>
          <a:p>
            <a:pPr marL="0" indent="0">
              <a:buNone/>
            </a:pPr>
            <a:r>
              <a:rPr lang="en-US" sz="900" dirty="0">
                <a:solidFill>
                  <a:srgbClr val="6F6862"/>
                </a:solidFill>
                <a:latin typeface="Calibri" pitchFamily="34" charset="0"/>
                <a:ea typeface="Calibri" pitchFamily="34" charset="-122"/>
                <a:cs typeface="Calibri" pitchFamily="34" charset="-120"/>
              </a:rPr>
              <a:t>One Hour Kitchen · Store-Konzept · Kurs HD25A23</a:t>
            </a:r>
            <a:endParaRPr lang="en-US" sz="900" dirty="0"/>
          </a:p>
        </p:txBody>
      </p:sp>
      <p:sp>
        <p:nvSpPr>
          <p:cNvPr id="7" name="Text 5"/>
          <p:cNvSpPr txBox="1"/>
          <p:nvPr/>
        </p:nvSpPr>
        <p:spPr>
          <a:xfrm>
            <a:off x="10725912" y="6473952"/>
            <a:ext cx="914400" cy="228600"/>
          </a:xfrm>
          <a:prstGeom prst="rect">
            <a:avLst/>
          </a:prstGeom>
          <a:noFill/>
          <a:ln/>
        </p:spPr>
        <p:txBody>
          <a:bodyPr wrap="square" lIns="0" tIns="0" rIns="0" bIns="0" rtlCol="0" anchor="ctr"/>
          <a:lstStyle/>
          <a:p>
            <a:pPr marL="0" indent="0" algn="r">
              <a:buNone/>
            </a:pPr>
            <a:r>
              <a:rPr lang="en-US" sz="900" dirty="0">
                <a:solidFill>
                  <a:srgbClr val="6F6862"/>
                </a:solidFill>
                <a:latin typeface="Calibri" pitchFamily="34" charset="0"/>
                <a:ea typeface="Calibri" pitchFamily="34" charset="-122"/>
                <a:cs typeface="Calibri" pitchFamily="34" charset="-120"/>
              </a:rPr>
              <a:t>9</a:t>
            </a:r>
            <a:endParaRPr lang="en-US" sz="900" dirty="0"/>
          </a:p>
        </p:txBody>
      </p:sp>
      <p:sp>
        <p:nvSpPr>
          <p:cNvPr id="8" name="Shape 6"/>
          <p:cNvSpPr/>
          <p:nvPr/>
        </p:nvSpPr>
        <p:spPr>
          <a:xfrm>
            <a:off x="548640" y="1417320"/>
            <a:ext cx="5394960" cy="548640"/>
          </a:xfrm>
          <a:prstGeom prst="rect">
            <a:avLst/>
          </a:prstGeom>
          <a:solidFill>
            <a:srgbClr val="B5452F"/>
          </a:solidFill>
          <a:ln w="12700">
            <a:solidFill>
              <a:srgbClr val="B5452F"/>
            </a:solidFill>
            <a:prstDash val="solid"/>
          </a:ln>
        </p:spPr>
        <p:txBody>
          <a:bodyPr/>
          <a:lstStyle/>
          <a:p>
            <a:endParaRPr lang="de-DE"/>
          </a:p>
        </p:txBody>
      </p:sp>
      <p:sp>
        <p:nvSpPr>
          <p:cNvPr id="9" name="Text 7"/>
          <p:cNvSpPr txBox="1"/>
          <p:nvPr/>
        </p:nvSpPr>
        <p:spPr>
          <a:xfrm>
            <a:off x="777240" y="1417320"/>
            <a:ext cx="50292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Kochwelten: Querplatzierung</a:t>
            </a:r>
            <a:endParaRPr lang="en-US" sz="1600" dirty="0"/>
          </a:p>
        </p:txBody>
      </p:sp>
      <p:sp>
        <p:nvSpPr>
          <p:cNvPr id="10" name="Shape 8"/>
          <p:cNvSpPr/>
          <p:nvPr/>
        </p:nvSpPr>
        <p:spPr>
          <a:xfrm>
            <a:off x="548640" y="1965960"/>
            <a:ext cx="5394960" cy="3246120"/>
          </a:xfrm>
          <a:prstGeom prst="rect">
            <a:avLst/>
          </a:prstGeom>
          <a:solidFill>
            <a:srgbClr val="F3EEE6"/>
          </a:solidFill>
          <a:ln w="12700">
            <a:solidFill>
              <a:srgbClr val="F3EEE6"/>
            </a:solidFill>
            <a:prstDash val="solid"/>
          </a:ln>
        </p:spPr>
        <p:txBody>
          <a:bodyPr/>
          <a:lstStyle/>
          <a:p>
            <a:endParaRPr lang="de-DE"/>
          </a:p>
        </p:txBody>
      </p:sp>
      <p:sp>
        <p:nvSpPr>
          <p:cNvPr id="11" name="Text 9"/>
          <p:cNvSpPr txBox="1"/>
          <p:nvPr/>
        </p:nvSpPr>
        <p:spPr>
          <a:xfrm>
            <a:off x="777240" y="2148840"/>
            <a:ext cx="1005840" cy="365760"/>
          </a:xfrm>
          <a:prstGeom prst="rect">
            <a:avLst/>
          </a:prstGeom>
          <a:noFill/>
          <a:ln/>
        </p:spPr>
        <p:txBody>
          <a:bodyPr wrap="square" lIns="0" tIns="0" rIns="0" bIns="0" rtlCol="0" anchor="ctr"/>
          <a:lstStyle/>
          <a:p>
            <a:pPr marL="0" indent="0">
              <a:buNone/>
            </a:pPr>
            <a:r>
              <a:rPr lang="en-US" sz="1300" b="1" dirty="0">
                <a:solidFill>
                  <a:srgbClr val="B5452F"/>
                </a:solidFill>
                <a:latin typeface="Calibri" pitchFamily="34" charset="0"/>
                <a:ea typeface="Calibri" pitchFamily="34" charset="-122"/>
                <a:cs typeface="Calibri" pitchFamily="34" charset="-120"/>
              </a:rPr>
              <a:t>Kunde</a:t>
            </a:r>
            <a:endParaRPr lang="en-US" sz="1300" dirty="0"/>
          </a:p>
        </p:txBody>
      </p:sp>
      <p:sp>
        <p:nvSpPr>
          <p:cNvPr id="12" name="Text 10"/>
          <p:cNvSpPr txBox="1"/>
          <p:nvPr/>
        </p:nvSpPr>
        <p:spPr>
          <a:xfrm>
            <a:off x="1783080" y="2148840"/>
            <a:ext cx="3977640" cy="868680"/>
          </a:xfrm>
          <a:prstGeom prst="rect">
            <a:avLst/>
          </a:prstGeom>
          <a:noFill/>
          <a:ln/>
        </p:spPr>
        <p:txBody>
          <a:bodyPr wrap="square" lIns="0" tIns="0" rIns="0" bIns="0" rtlCol="0" anchor="t"/>
          <a:lstStyle/>
          <a:p>
            <a:pPr marL="0" indent="0">
              <a:buNone/>
            </a:pPr>
            <a:r>
              <a:rPr lang="en-US" sz="1300" dirty="0">
                <a:solidFill>
                  <a:srgbClr val="2B2724"/>
                </a:solidFill>
                <a:latin typeface="Calibri" pitchFamily="34" charset="0"/>
                <a:ea typeface="Calibri" pitchFamily="34" charset="-122"/>
                <a:cs typeface="Calibri" pitchFamily="34" charset="-120"/>
              </a:rPr>
              <a:t>Neue Kaufrelevanz entsteht: Wer nur das Rezept holen wollte, entdeckt Limonade und Dessert daneben.</a:t>
            </a:r>
            <a:endParaRPr lang="en-US" sz="1300" dirty="0"/>
          </a:p>
        </p:txBody>
      </p:sp>
      <p:sp>
        <p:nvSpPr>
          <p:cNvPr id="13" name="Text 11"/>
          <p:cNvSpPr txBox="1"/>
          <p:nvPr/>
        </p:nvSpPr>
        <p:spPr>
          <a:xfrm>
            <a:off x="777240" y="3172968"/>
            <a:ext cx="1005840" cy="365760"/>
          </a:xfrm>
          <a:prstGeom prst="rect">
            <a:avLst/>
          </a:prstGeom>
          <a:noFill/>
          <a:ln/>
        </p:spPr>
        <p:txBody>
          <a:bodyPr wrap="square" lIns="0" tIns="0" rIns="0" bIns="0" rtlCol="0" anchor="ctr"/>
          <a:lstStyle/>
          <a:p>
            <a:pPr marL="0" indent="0">
              <a:buNone/>
            </a:pPr>
            <a:r>
              <a:rPr lang="en-US" sz="1300" b="1" dirty="0">
                <a:solidFill>
                  <a:srgbClr val="B5452F"/>
                </a:solidFill>
                <a:latin typeface="Calibri" pitchFamily="34" charset="0"/>
                <a:ea typeface="Calibri" pitchFamily="34" charset="-122"/>
                <a:cs typeface="Calibri" pitchFamily="34" charset="-120"/>
              </a:rPr>
              <a:t>Händler</a:t>
            </a:r>
            <a:endParaRPr lang="en-US" sz="1300" dirty="0"/>
          </a:p>
        </p:txBody>
      </p:sp>
      <p:sp>
        <p:nvSpPr>
          <p:cNvPr id="14" name="Text 12"/>
          <p:cNvSpPr txBox="1"/>
          <p:nvPr/>
        </p:nvSpPr>
        <p:spPr>
          <a:xfrm>
            <a:off x="1783080" y="3172968"/>
            <a:ext cx="3977640" cy="868680"/>
          </a:xfrm>
          <a:prstGeom prst="rect">
            <a:avLst/>
          </a:prstGeom>
          <a:noFill/>
          <a:ln/>
        </p:spPr>
        <p:txBody>
          <a:bodyPr wrap="square" lIns="0" tIns="0" rIns="0" bIns="0" rtlCol="0" anchor="t"/>
          <a:lstStyle/>
          <a:p>
            <a:pPr marL="0" indent="0">
              <a:buNone/>
            </a:pPr>
            <a:r>
              <a:rPr lang="en-US" sz="1300" dirty="0">
                <a:solidFill>
                  <a:srgbClr val="2B2724"/>
                </a:solidFill>
                <a:latin typeface="Calibri" pitchFamily="34" charset="0"/>
                <a:ea typeface="Calibri" pitchFamily="34" charset="-122"/>
                <a:cs typeface="Calibri" pitchFamily="34" charset="-120"/>
              </a:rPr>
              <a:t>Zusätzliche Käufe werden wahrscheinlicher, weil Regalköpfe und Kojen den Lauf unterbrechen.</a:t>
            </a:r>
            <a:endParaRPr lang="en-US" sz="1300" dirty="0"/>
          </a:p>
        </p:txBody>
      </p:sp>
      <p:sp>
        <p:nvSpPr>
          <p:cNvPr id="15" name="Text 13"/>
          <p:cNvSpPr txBox="1"/>
          <p:nvPr/>
        </p:nvSpPr>
        <p:spPr>
          <a:xfrm>
            <a:off x="777240" y="4197096"/>
            <a:ext cx="1005840" cy="365760"/>
          </a:xfrm>
          <a:prstGeom prst="rect">
            <a:avLst/>
          </a:prstGeom>
          <a:noFill/>
          <a:ln/>
        </p:spPr>
        <p:txBody>
          <a:bodyPr wrap="square" lIns="0" tIns="0" rIns="0" bIns="0" rtlCol="0" anchor="ctr"/>
          <a:lstStyle/>
          <a:p>
            <a:pPr marL="0" indent="0">
              <a:buNone/>
            </a:pPr>
            <a:r>
              <a:rPr lang="en-US" sz="1300" b="1" dirty="0">
                <a:solidFill>
                  <a:srgbClr val="B5452F"/>
                </a:solidFill>
                <a:latin typeface="Calibri" pitchFamily="34" charset="0"/>
                <a:ea typeface="Calibri" pitchFamily="34" charset="-122"/>
                <a:cs typeface="Calibri" pitchFamily="34" charset="-120"/>
              </a:rPr>
              <a:t>Bei uns</a:t>
            </a:r>
            <a:endParaRPr lang="en-US" sz="1300" dirty="0"/>
          </a:p>
        </p:txBody>
      </p:sp>
      <p:sp>
        <p:nvSpPr>
          <p:cNvPr id="16" name="Text 14"/>
          <p:cNvSpPr txBox="1"/>
          <p:nvPr/>
        </p:nvSpPr>
        <p:spPr>
          <a:xfrm>
            <a:off x="1783080" y="4197096"/>
            <a:ext cx="3977640" cy="868680"/>
          </a:xfrm>
          <a:prstGeom prst="rect">
            <a:avLst/>
          </a:prstGeom>
          <a:noFill/>
          <a:ln/>
        </p:spPr>
        <p:txBody>
          <a:bodyPr wrap="square" lIns="0" tIns="0" rIns="0" bIns="0" rtlCol="0" anchor="t"/>
          <a:lstStyle/>
          <a:p>
            <a:pPr marL="0" indent="0">
              <a:buNone/>
            </a:pPr>
            <a:r>
              <a:rPr lang="en-US" sz="1300" dirty="0">
                <a:solidFill>
                  <a:srgbClr val="2B2724"/>
                </a:solidFill>
                <a:latin typeface="Calibri" pitchFamily="34" charset="0"/>
                <a:ea typeface="Calibri" pitchFamily="34" charset="-122"/>
                <a:cs typeface="Calibri" pitchFamily="34" charset="-120"/>
              </a:rPr>
              <a:t>Drei querstehende Gondeln bilden Kojen; jede ist eine Spalte des Dashboards.</a:t>
            </a:r>
            <a:endParaRPr lang="en-US" sz="1300" dirty="0"/>
          </a:p>
        </p:txBody>
      </p:sp>
      <p:sp>
        <p:nvSpPr>
          <p:cNvPr id="17" name="Shape 15"/>
          <p:cNvSpPr/>
          <p:nvPr/>
        </p:nvSpPr>
        <p:spPr>
          <a:xfrm>
            <a:off x="548640" y="5394960"/>
            <a:ext cx="237744" cy="237744"/>
          </a:xfrm>
          <a:prstGeom prst="ellipse">
            <a:avLst/>
          </a:prstGeom>
          <a:solidFill>
            <a:srgbClr val="4F6B3A"/>
          </a:solidFill>
          <a:ln w="12700">
            <a:solidFill>
              <a:srgbClr val="4F6B3A"/>
            </a:solidFill>
            <a:prstDash val="solid"/>
          </a:ln>
        </p:spPr>
        <p:txBody>
          <a:bodyPr/>
          <a:lstStyle/>
          <a:p>
            <a:endParaRPr lang="de-DE"/>
          </a:p>
        </p:txBody>
      </p:sp>
      <p:sp>
        <p:nvSpPr>
          <p:cNvPr id="18" name="Text 16"/>
          <p:cNvSpPr txBox="1"/>
          <p:nvPr/>
        </p:nvSpPr>
        <p:spPr>
          <a:xfrm>
            <a:off x="548640" y="5394960"/>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Q</a:t>
            </a:r>
            <a:endParaRPr lang="en-US" sz="900" dirty="0"/>
          </a:p>
        </p:txBody>
      </p:sp>
      <p:sp>
        <p:nvSpPr>
          <p:cNvPr id="19" name="Text 17"/>
          <p:cNvSpPr txBox="1"/>
          <p:nvPr/>
        </p:nvSpPr>
        <p:spPr>
          <a:xfrm>
            <a:off x="859536" y="5367528"/>
            <a:ext cx="2743200" cy="292608"/>
          </a:xfrm>
          <a:prstGeom prst="rect">
            <a:avLst/>
          </a:prstGeom>
          <a:noFill/>
          <a:ln/>
        </p:spPr>
        <p:txBody>
          <a:bodyPr wrap="square" lIns="0" tIns="0" rIns="0" bIns="0" rtlCol="0" anchor="ctr"/>
          <a:lstStyle/>
          <a:p>
            <a:pPr marL="0" indent="0">
              <a:buNone/>
            </a:pPr>
            <a:r>
              <a:rPr lang="en-US" sz="1050" dirty="0">
                <a:solidFill>
                  <a:srgbClr val="6F6862"/>
                </a:solidFill>
                <a:latin typeface="Calibri" pitchFamily="34" charset="0"/>
                <a:ea typeface="Calibri" pitchFamily="34" charset="-122"/>
                <a:cs typeface="Calibri" pitchFamily="34" charset="-120"/>
              </a:rPr>
              <a:t>Abb. 10.3, S. 300–301</a:t>
            </a:r>
            <a:endParaRPr lang="en-US" sz="1050" dirty="0"/>
          </a:p>
        </p:txBody>
      </p:sp>
      <p:sp>
        <p:nvSpPr>
          <p:cNvPr id="20" name="Shape 18"/>
          <p:cNvSpPr/>
          <p:nvPr/>
        </p:nvSpPr>
        <p:spPr>
          <a:xfrm>
            <a:off x="6263640" y="1417320"/>
            <a:ext cx="5394960" cy="548640"/>
          </a:xfrm>
          <a:prstGeom prst="rect">
            <a:avLst/>
          </a:prstGeom>
          <a:solidFill>
            <a:srgbClr val="4F6B3A"/>
          </a:solidFill>
          <a:ln w="12700">
            <a:solidFill>
              <a:srgbClr val="4F6B3A"/>
            </a:solidFill>
            <a:prstDash val="solid"/>
          </a:ln>
        </p:spPr>
        <p:txBody>
          <a:bodyPr/>
          <a:lstStyle/>
          <a:p>
            <a:endParaRPr lang="de-DE"/>
          </a:p>
        </p:txBody>
      </p:sp>
      <p:sp>
        <p:nvSpPr>
          <p:cNvPr id="21" name="Text 19"/>
          <p:cNvSpPr txBox="1"/>
          <p:nvPr/>
        </p:nvSpPr>
        <p:spPr>
          <a:xfrm>
            <a:off x="6492240" y="1417320"/>
            <a:ext cx="5029200" cy="5486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Basissortiment: Längsplatzierung</a:t>
            </a:r>
            <a:endParaRPr lang="en-US" sz="1600" dirty="0"/>
          </a:p>
        </p:txBody>
      </p:sp>
      <p:sp>
        <p:nvSpPr>
          <p:cNvPr id="22" name="Shape 20"/>
          <p:cNvSpPr/>
          <p:nvPr/>
        </p:nvSpPr>
        <p:spPr>
          <a:xfrm>
            <a:off x="6263640" y="1965960"/>
            <a:ext cx="5394960" cy="3246120"/>
          </a:xfrm>
          <a:prstGeom prst="rect">
            <a:avLst/>
          </a:prstGeom>
          <a:solidFill>
            <a:srgbClr val="F3EEE6"/>
          </a:solidFill>
          <a:ln w="12700">
            <a:solidFill>
              <a:srgbClr val="F3EEE6"/>
            </a:solidFill>
            <a:prstDash val="solid"/>
          </a:ln>
        </p:spPr>
        <p:txBody>
          <a:bodyPr/>
          <a:lstStyle/>
          <a:p>
            <a:endParaRPr lang="de-DE"/>
          </a:p>
        </p:txBody>
      </p:sp>
      <p:sp>
        <p:nvSpPr>
          <p:cNvPr id="23" name="Text 21"/>
          <p:cNvSpPr txBox="1"/>
          <p:nvPr/>
        </p:nvSpPr>
        <p:spPr>
          <a:xfrm>
            <a:off x="6492240" y="2148840"/>
            <a:ext cx="1005840" cy="365760"/>
          </a:xfrm>
          <a:prstGeom prst="rect">
            <a:avLst/>
          </a:prstGeom>
          <a:noFill/>
          <a:ln/>
        </p:spPr>
        <p:txBody>
          <a:bodyPr wrap="square" lIns="0" tIns="0" rIns="0" bIns="0" rtlCol="0" anchor="ctr"/>
          <a:lstStyle/>
          <a:p>
            <a:pPr marL="0" indent="0">
              <a:buNone/>
            </a:pPr>
            <a:r>
              <a:rPr lang="en-US" sz="1300" b="1" dirty="0">
                <a:solidFill>
                  <a:srgbClr val="4F6B3A"/>
                </a:solidFill>
                <a:latin typeface="Calibri" pitchFamily="34" charset="0"/>
                <a:ea typeface="Calibri" pitchFamily="34" charset="-122"/>
                <a:cs typeface="Calibri" pitchFamily="34" charset="-120"/>
              </a:rPr>
              <a:t>Kunde</a:t>
            </a:r>
            <a:endParaRPr lang="en-US" sz="1300" dirty="0"/>
          </a:p>
        </p:txBody>
      </p:sp>
      <p:sp>
        <p:nvSpPr>
          <p:cNvPr id="24" name="Text 22"/>
          <p:cNvSpPr txBox="1"/>
          <p:nvPr/>
        </p:nvSpPr>
        <p:spPr>
          <a:xfrm>
            <a:off x="7498080" y="2148840"/>
            <a:ext cx="3977640" cy="868680"/>
          </a:xfrm>
          <a:prstGeom prst="rect">
            <a:avLst/>
          </a:prstGeom>
          <a:noFill/>
          <a:ln/>
        </p:spPr>
        <p:txBody>
          <a:bodyPr wrap="square" lIns="0" tIns="0" rIns="0" bIns="0" rtlCol="0" anchor="t"/>
          <a:lstStyle/>
          <a:p>
            <a:pPr marL="0" indent="0">
              <a:buNone/>
            </a:pPr>
            <a:r>
              <a:rPr lang="en-US" sz="1300" dirty="0">
                <a:solidFill>
                  <a:srgbClr val="2B2724"/>
                </a:solidFill>
                <a:latin typeface="Calibri" pitchFamily="34" charset="0"/>
                <a:ea typeface="Calibri" pitchFamily="34" charset="-122"/>
                <a:cs typeface="Calibri" pitchFamily="34" charset="-120"/>
              </a:rPr>
              <a:t>Bestehende Kaufrelevanz wird leicht verarbeitet: Warengruppe erkennen, vergleichen, greifen.</a:t>
            </a:r>
            <a:endParaRPr lang="en-US" sz="1300" dirty="0"/>
          </a:p>
        </p:txBody>
      </p:sp>
      <p:sp>
        <p:nvSpPr>
          <p:cNvPr id="25" name="Text 23"/>
          <p:cNvSpPr txBox="1"/>
          <p:nvPr/>
        </p:nvSpPr>
        <p:spPr>
          <a:xfrm>
            <a:off x="6492240" y="3172968"/>
            <a:ext cx="1005840" cy="365760"/>
          </a:xfrm>
          <a:prstGeom prst="rect">
            <a:avLst/>
          </a:prstGeom>
          <a:noFill/>
          <a:ln/>
        </p:spPr>
        <p:txBody>
          <a:bodyPr wrap="square" lIns="0" tIns="0" rIns="0" bIns="0" rtlCol="0" anchor="ctr"/>
          <a:lstStyle/>
          <a:p>
            <a:pPr marL="0" indent="0">
              <a:buNone/>
            </a:pPr>
            <a:r>
              <a:rPr lang="en-US" sz="1300" b="1" dirty="0">
                <a:solidFill>
                  <a:srgbClr val="4F6B3A"/>
                </a:solidFill>
                <a:latin typeface="Calibri" pitchFamily="34" charset="0"/>
                <a:ea typeface="Calibri" pitchFamily="34" charset="-122"/>
                <a:cs typeface="Calibri" pitchFamily="34" charset="-120"/>
              </a:rPr>
              <a:t>Händler</a:t>
            </a:r>
            <a:endParaRPr lang="en-US" sz="1300" dirty="0"/>
          </a:p>
        </p:txBody>
      </p:sp>
      <p:sp>
        <p:nvSpPr>
          <p:cNvPr id="26" name="Text 24"/>
          <p:cNvSpPr txBox="1"/>
          <p:nvPr/>
        </p:nvSpPr>
        <p:spPr>
          <a:xfrm>
            <a:off x="7498080" y="3172968"/>
            <a:ext cx="3977640" cy="868680"/>
          </a:xfrm>
          <a:prstGeom prst="rect">
            <a:avLst/>
          </a:prstGeom>
          <a:noFill/>
          <a:ln/>
        </p:spPr>
        <p:txBody>
          <a:bodyPr wrap="square" lIns="0" tIns="0" rIns="0" bIns="0" rtlCol="0" anchor="t"/>
          <a:lstStyle/>
          <a:p>
            <a:pPr marL="0" indent="0">
              <a:buNone/>
            </a:pPr>
            <a:r>
              <a:rPr lang="en-US" sz="1300" dirty="0">
                <a:solidFill>
                  <a:srgbClr val="2B2724"/>
                </a:solidFill>
                <a:latin typeface="Calibri" pitchFamily="34" charset="0"/>
                <a:ea typeface="Calibri" pitchFamily="34" charset="-122"/>
                <a:cs typeface="Calibri" pitchFamily="34" charset="-120"/>
              </a:rPr>
              <a:t>Geplante Käufe werden wahrscheinlicher, weil die Warengruppe im Vorbeigehen ganz sichtbar ist.</a:t>
            </a:r>
            <a:endParaRPr lang="en-US" sz="1300" dirty="0"/>
          </a:p>
        </p:txBody>
      </p:sp>
      <p:sp>
        <p:nvSpPr>
          <p:cNvPr id="27" name="Text 25"/>
          <p:cNvSpPr txBox="1"/>
          <p:nvPr/>
        </p:nvSpPr>
        <p:spPr>
          <a:xfrm>
            <a:off x="6492240" y="4197096"/>
            <a:ext cx="1005840" cy="365760"/>
          </a:xfrm>
          <a:prstGeom prst="rect">
            <a:avLst/>
          </a:prstGeom>
          <a:noFill/>
          <a:ln/>
        </p:spPr>
        <p:txBody>
          <a:bodyPr wrap="square" lIns="0" tIns="0" rIns="0" bIns="0" rtlCol="0" anchor="ctr"/>
          <a:lstStyle/>
          <a:p>
            <a:pPr marL="0" indent="0">
              <a:buNone/>
            </a:pPr>
            <a:r>
              <a:rPr lang="en-US" sz="1300" b="1" dirty="0">
                <a:solidFill>
                  <a:srgbClr val="4F6B3A"/>
                </a:solidFill>
                <a:latin typeface="Calibri" pitchFamily="34" charset="0"/>
                <a:ea typeface="Calibri" pitchFamily="34" charset="-122"/>
                <a:cs typeface="Calibri" pitchFamily="34" charset="-120"/>
              </a:rPr>
              <a:t>Bei uns</a:t>
            </a:r>
            <a:endParaRPr lang="en-US" sz="1300" dirty="0"/>
          </a:p>
        </p:txBody>
      </p:sp>
      <p:sp>
        <p:nvSpPr>
          <p:cNvPr id="28" name="Text 26"/>
          <p:cNvSpPr txBox="1"/>
          <p:nvPr/>
        </p:nvSpPr>
        <p:spPr>
          <a:xfrm>
            <a:off x="7498080" y="4197096"/>
            <a:ext cx="3977640" cy="868680"/>
          </a:xfrm>
          <a:prstGeom prst="rect">
            <a:avLst/>
          </a:prstGeom>
          <a:noFill/>
          <a:ln/>
        </p:spPr>
        <p:txBody>
          <a:bodyPr wrap="square" lIns="0" tIns="0" rIns="0" bIns="0" rtlCol="0" anchor="t"/>
          <a:lstStyle/>
          <a:p>
            <a:pPr marL="0" indent="0">
              <a:buNone/>
            </a:pPr>
            <a:r>
              <a:rPr lang="en-US" sz="1300" dirty="0">
                <a:solidFill>
                  <a:srgbClr val="2B2724"/>
                </a:solidFill>
                <a:latin typeface="Calibri" pitchFamily="34" charset="0"/>
                <a:ea typeface="Calibri" pitchFamily="34" charset="-122"/>
                <a:cs typeface="Calibri" pitchFamily="34" charset="-120"/>
              </a:rPr>
              <a:t>Eine Gondel und ein Wandregal parallel zum Schnellweg.</a:t>
            </a:r>
            <a:endParaRPr lang="en-US" sz="1300" dirty="0"/>
          </a:p>
        </p:txBody>
      </p:sp>
      <p:sp>
        <p:nvSpPr>
          <p:cNvPr id="29" name="Shape 27"/>
          <p:cNvSpPr/>
          <p:nvPr/>
        </p:nvSpPr>
        <p:spPr>
          <a:xfrm>
            <a:off x="6263640" y="5394960"/>
            <a:ext cx="237744" cy="237744"/>
          </a:xfrm>
          <a:prstGeom prst="ellipse">
            <a:avLst/>
          </a:prstGeom>
          <a:solidFill>
            <a:srgbClr val="4F6B3A"/>
          </a:solidFill>
          <a:ln w="12700">
            <a:solidFill>
              <a:srgbClr val="4F6B3A"/>
            </a:solidFill>
            <a:prstDash val="solid"/>
          </a:ln>
        </p:spPr>
        <p:txBody>
          <a:bodyPr/>
          <a:lstStyle/>
          <a:p>
            <a:endParaRPr lang="de-DE"/>
          </a:p>
        </p:txBody>
      </p:sp>
      <p:sp>
        <p:nvSpPr>
          <p:cNvPr id="30" name="Text 28"/>
          <p:cNvSpPr txBox="1"/>
          <p:nvPr/>
        </p:nvSpPr>
        <p:spPr>
          <a:xfrm>
            <a:off x="6263640" y="5394960"/>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Q</a:t>
            </a:r>
            <a:endParaRPr lang="en-US" sz="900" dirty="0"/>
          </a:p>
        </p:txBody>
      </p:sp>
      <p:sp>
        <p:nvSpPr>
          <p:cNvPr id="31" name="Text 29"/>
          <p:cNvSpPr txBox="1"/>
          <p:nvPr/>
        </p:nvSpPr>
        <p:spPr>
          <a:xfrm>
            <a:off x="6574536" y="5367528"/>
            <a:ext cx="2743200" cy="292608"/>
          </a:xfrm>
          <a:prstGeom prst="rect">
            <a:avLst/>
          </a:prstGeom>
          <a:noFill/>
          <a:ln/>
        </p:spPr>
        <p:txBody>
          <a:bodyPr wrap="square" lIns="0" tIns="0" rIns="0" bIns="0" rtlCol="0" anchor="ctr"/>
          <a:lstStyle/>
          <a:p>
            <a:pPr marL="0" indent="0">
              <a:buNone/>
            </a:pPr>
            <a:r>
              <a:rPr lang="en-US" sz="1050" dirty="0">
                <a:solidFill>
                  <a:srgbClr val="6F6862"/>
                </a:solidFill>
                <a:latin typeface="Calibri" pitchFamily="34" charset="0"/>
                <a:ea typeface="Calibri" pitchFamily="34" charset="-122"/>
                <a:cs typeface="Calibri" pitchFamily="34" charset="-120"/>
              </a:rPr>
              <a:t>Abb. 10.3, S. 300–301</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0972800" cy="274320"/>
          </a:xfrm>
          <a:prstGeom prst="rect">
            <a:avLst/>
          </a:prstGeom>
          <a:noFill/>
          <a:ln/>
        </p:spPr>
        <p:txBody>
          <a:bodyPr wrap="square" lIns="0" tIns="0" rIns="0" bIns="0" rtlCol="0" anchor="ctr"/>
          <a:lstStyle/>
          <a:p>
            <a:pPr marL="0" indent="0">
              <a:buNone/>
            </a:pPr>
            <a:r>
              <a:rPr lang="en-US" sz="1200" b="1" dirty="0">
                <a:solidFill>
                  <a:srgbClr val="B5452F"/>
                </a:solidFill>
                <a:latin typeface="Calibri" pitchFamily="34" charset="0"/>
                <a:ea typeface="Calibri" pitchFamily="34" charset="-122"/>
                <a:cs typeface="Calibri" pitchFamily="34" charset="-120"/>
              </a:rPr>
              <a:t>5 · REGALZUTEILUNG · BEISPIEL</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2B2724"/>
                </a:solidFill>
                <a:latin typeface="Cambria" pitchFamily="34" charset="0"/>
                <a:ea typeface="Cambria" pitchFamily="34" charset="-122"/>
                <a:cs typeface="Cambria" pitchFamily="34" charset="-120"/>
              </a:rPr>
              <a:t>Regalbild Pasta Night: das Dashboard, im Regal gespiegelt.</a:t>
            </a:r>
            <a:endParaRPr lang="en-US" sz="2800" dirty="0"/>
          </a:p>
        </p:txBody>
      </p:sp>
      <p:sp>
        <p:nvSpPr>
          <p:cNvPr id="4" name="Text 2"/>
          <p:cNvSpPr txBox="1"/>
          <p:nvPr/>
        </p:nvSpPr>
        <p:spPr>
          <a:xfrm>
            <a:off x="548640" y="6144768"/>
            <a:ext cx="11064240" cy="228600"/>
          </a:xfrm>
          <a:prstGeom prst="rect">
            <a:avLst/>
          </a:prstGeom>
          <a:noFill/>
          <a:ln/>
        </p:spPr>
        <p:txBody>
          <a:bodyPr wrap="square" lIns="0" tIns="0" rIns="0" bIns="0" rtlCol="0" anchor="ctr"/>
          <a:lstStyle/>
          <a:p>
            <a:pPr marL="0" indent="0">
              <a:buNone/>
            </a:pPr>
            <a:r>
              <a:rPr lang="en-US" sz="950" dirty="0">
                <a:solidFill>
                  <a:srgbClr val="6F6862"/>
                </a:solidFill>
                <a:latin typeface="Calibri" pitchFamily="34" charset="0"/>
                <a:ea typeface="Calibri" pitchFamily="34" charset="-122"/>
                <a:cs typeface="Calibri" pitchFamily="34" charset="-120"/>
              </a:rPr>
              <a:t>Regalzonen und Blockarten: Ahlert, Kenning und Brock, 2020, S. 302–303. Belegung der Fächer ist Fallannahme.</a:t>
            </a:r>
            <a:endParaRPr lang="en-US" sz="950" dirty="0"/>
          </a:p>
        </p:txBody>
      </p:sp>
      <p:sp>
        <p:nvSpPr>
          <p:cNvPr id="5" name="Shape 3"/>
          <p:cNvSpPr/>
          <p:nvPr/>
        </p:nvSpPr>
        <p:spPr>
          <a:xfrm>
            <a:off x="548640" y="6419088"/>
            <a:ext cx="11091672" cy="0"/>
          </a:xfrm>
          <a:prstGeom prst="line">
            <a:avLst/>
          </a:prstGeom>
          <a:noFill/>
          <a:ln w="9525">
            <a:solidFill>
              <a:srgbClr val="D9D1C5"/>
            </a:solidFill>
            <a:prstDash val="solid"/>
          </a:ln>
        </p:spPr>
        <p:txBody>
          <a:bodyPr/>
          <a:lstStyle/>
          <a:p>
            <a:endParaRPr lang="de-DE"/>
          </a:p>
        </p:txBody>
      </p:sp>
      <p:sp>
        <p:nvSpPr>
          <p:cNvPr id="6" name="Text 4"/>
          <p:cNvSpPr txBox="1"/>
          <p:nvPr/>
        </p:nvSpPr>
        <p:spPr>
          <a:xfrm>
            <a:off x="548640" y="6473952"/>
            <a:ext cx="7315200" cy="228600"/>
          </a:xfrm>
          <a:prstGeom prst="rect">
            <a:avLst/>
          </a:prstGeom>
          <a:noFill/>
          <a:ln/>
        </p:spPr>
        <p:txBody>
          <a:bodyPr wrap="square" lIns="0" tIns="0" rIns="0" bIns="0" rtlCol="0" anchor="ctr"/>
          <a:lstStyle/>
          <a:p>
            <a:pPr marL="0" indent="0">
              <a:buNone/>
            </a:pPr>
            <a:r>
              <a:rPr lang="en-US" sz="900" dirty="0">
                <a:solidFill>
                  <a:srgbClr val="6F6862"/>
                </a:solidFill>
                <a:latin typeface="Calibri" pitchFamily="34" charset="0"/>
                <a:ea typeface="Calibri" pitchFamily="34" charset="-122"/>
                <a:cs typeface="Calibri" pitchFamily="34" charset="-120"/>
              </a:rPr>
              <a:t>One Hour Kitchen · Store-Konzept · Kurs HD25A23</a:t>
            </a:r>
            <a:endParaRPr lang="en-US" sz="900" dirty="0"/>
          </a:p>
        </p:txBody>
      </p:sp>
      <p:sp>
        <p:nvSpPr>
          <p:cNvPr id="7" name="Text 5"/>
          <p:cNvSpPr txBox="1"/>
          <p:nvPr/>
        </p:nvSpPr>
        <p:spPr>
          <a:xfrm>
            <a:off x="10725912" y="6473952"/>
            <a:ext cx="914400" cy="228600"/>
          </a:xfrm>
          <a:prstGeom prst="rect">
            <a:avLst/>
          </a:prstGeom>
          <a:noFill/>
          <a:ln/>
        </p:spPr>
        <p:txBody>
          <a:bodyPr wrap="square" lIns="0" tIns="0" rIns="0" bIns="0" rtlCol="0" anchor="ctr"/>
          <a:lstStyle/>
          <a:p>
            <a:pPr marL="0" indent="0" algn="r">
              <a:buNone/>
            </a:pPr>
            <a:r>
              <a:rPr lang="en-US" sz="900" dirty="0">
                <a:solidFill>
                  <a:srgbClr val="6F6862"/>
                </a:solidFill>
                <a:latin typeface="Calibri" pitchFamily="34" charset="0"/>
                <a:ea typeface="Calibri" pitchFamily="34" charset="-122"/>
                <a:cs typeface="Calibri" pitchFamily="34" charset="-120"/>
              </a:rPr>
              <a:t>10</a:t>
            </a:r>
            <a:endParaRPr lang="en-US" sz="900" dirty="0"/>
          </a:p>
        </p:txBody>
      </p:sp>
      <p:sp>
        <p:nvSpPr>
          <p:cNvPr id="8" name="Shape 6"/>
          <p:cNvSpPr/>
          <p:nvPr/>
        </p:nvSpPr>
        <p:spPr>
          <a:xfrm>
            <a:off x="1664208" y="1344168"/>
            <a:ext cx="5266944" cy="3877056"/>
          </a:xfrm>
          <a:prstGeom prst="rect">
            <a:avLst/>
          </a:prstGeom>
          <a:solidFill>
            <a:srgbClr val="8C7B6A"/>
          </a:solidFill>
          <a:ln w="12700">
            <a:solidFill>
              <a:srgbClr val="8C7B6A"/>
            </a:solidFill>
            <a:prstDash val="solid"/>
          </a:ln>
        </p:spPr>
        <p:txBody>
          <a:bodyPr/>
          <a:lstStyle/>
          <a:p>
            <a:endParaRPr lang="de-DE"/>
          </a:p>
        </p:txBody>
      </p:sp>
      <p:sp>
        <p:nvSpPr>
          <p:cNvPr id="9" name="Text 7"/>
          <p:cNvSpPr txBox="1"/>
          <p:nvPr/>
        </p:nvSpPr>
        <p:spPr>
          <a:xfrm>
            <a:off x="457200" y="1417320"/>
            <a:ext cx="1188720" cy="932688"/>
          </a:xfrm>
          <a:prstGeom prst="rect">
            <a:avLst/>
          </a:prstGeom>
          <a:noFill/>
          <a:ln/>
        </p:spPr>
        <p:txBody>
          <a:bodyPr wrap="square" lIns="0" tIns="0" rIns="0" bIns="0" rtlCol="0" anchor="ctr"/>
          <a:lstStyle/>
          <a:p>
            <a:pPr marL="0" indent="0">
              <a:buNone/>
            </a:pPr>
            <a:r>
              <a:rPr lang="en-US" sz="1200" b="1" dirty="0">
                <a:solidFill>
                  <a:srgbClr val="2B2724"/>
                </a:solidFill>
                <a:latin typeface="Calibri" pitchFamily="34" charset="0"/>
                <a:ea typeface="Calibri" pitchFamily="34" charset="-122"/>
                <a:cs typeface="Calibri" pitchFamily="34" charset="-120"/>
              </a:rPr>
              <a:t>Reckzone</a:t>
            </a:r>
            <a:endParaRPr lang="en-US" sz="1200" dirty="0"/>
          </a:p>
          <a:p>
            <a:pPr marL="0" indent="0">
              <a:buNone/>
            </a:pPr>
            <a:r>
              <a:rPr lang="en-US" sz="1000" dirty="0">
                <a:solidFill>
                  <a:srgbClr val="6F6862"/>
                </a:solidFill>
                <a:latin typeface="Calibri" pitchFamily="34" charset="0"/>
                <a:ea typeface="Calibri" pitchFamily="34" charset="-122"/>
                <a:cs typeface="Calibri" pitchFamily="34" charset="-120"/>
              </a:rPr>
              <a:t>&gt; 170 cm</a:t>
            </a:r>
            <a:endParaRPr lang="en-US" sz="1200" dirty="0"/>
          </a:p>
        </p:txBody>
      </p:sp>
      <p:sp>
        <p:nvSpPr>
          <p:cNvPr id="10" name="Shape 8"/>
          <p:cNvSpPr/>
          <p:nvPr/>
        </p:nvSpPr>
        <p:spPr>
          <a:xfrm>
            <a:off x="1737360" y="1417320"/>
            <a:ext cx="1706880" cy="932688"/>
          </a:xfrm>
          <a:prstGeom prst="rect">
            <a:avLst/>
          </a:prstGeom>
          <a:solidFill>
            <a:srgbClr val="EFE3D0"/>
          </a:solidFill>
          <a:ln w="19050">
            <a:solidFill>
              <a:srgbClr val="8C7B6A"/>
            </a:solidFill>
            <a:prstDash val="solid"/>
          </a:ln>
        </p:spPr>
        <p:txBody>
          <a:bodyPr/>
          <a:lstStyle/>
          <a:p>
            <a:endParaRPr lang="de-DE"/>
          </a:p>
        </p:txBody>
      </p:sp>
      <p:sp>
        <p:nvSpPr>
          <p:cNvPr id="11" name="Text 9"/>
          <p:cNvSpPr txBox="1"/>
          <p:nvPr/>
        </p:nvSpPr>
        <p:spPr>
          <a:xfrm>
            <a:off x="1810512" y="1463040"/>
            <a:ext cx="1560576" cy="841248"/>
          </a:xfrm>
          <a:prstGeom prst="rect">
            <a:avLst/>
          </a:prstGeom>
          <a:noFill/>
          <a:ln/>
        </p:spPr>
        <p:txBody>
          <a:bodyPr wrap="square" lIns="0" tIns="0" rIns="0" bIns="0" rtlCol="0" anchor="ctr"/>
          <a:lstStyle/>
          <a:p>
            <a:pPr marL="0" indent="0" algn="ctr">
              <a:buNone/>
            </a:pPr>
            <a:r>
              <a:rPr lang="en-US" sz="1100" b="1" dirty="0">
                <a:solidFill>
                  <a:srgbClr val="2B2724"/>
                </a:solidFill>
                <a:latin typeface="Calibri" pitchFamily="34" charset="0"/>
                <a:ea typeface="Calibri" pitchFamily="34" charset="-122"/>
                <a:cs typeface="Calibri" pitchFamily="34" charset="-120"/>
              </a:rPr>
              <a:t>€  Für den kleinen Geldbeutel</a:t>
            </a:r>
            <a:endParaRPr lang="en-US" sz="1100" dirty="0"/>
          </a:p>
        </p:txBody>
      </p:sp>
      <p:sp>
        <p:nvSpPr>
          <p:cNvPr id="12" name="Shape 10"/>
          <p:cNvSpPr/>
          <p:nvPr/>
        </p:nvSpPr>
        <p:spPr>
          <a:xfrm>
            <a:off x="3444240" y="1417320"/>
            <a:ext cx="1706880" cy="932688"/>
          </a:xfrm>
          <a:prstGeom prst="rect">
            <a:avLst/>
          </a:prstGeom>
          <a:solidFill>
            <a:srgbClr val="EFE3D0"/>
          </a:solidFill>
          <a:ln w="19050">
            <a:solidFill>
              <a:srgbClr val="8C7B6A"/>
            </a:solidFill>
            <a:prstDash val="solid"/>
          </a:ln>
        </p:spPr>
        <p:txBody>
          <a:bodyPr/>
          <a:lstStyle/>
          <a:p>
            <a:endParaRPr lang="de-DE"/>
          </a:p>
        </p:txBody>
      </p:sp>
      <p:sp>
        <p:nvSpPr>
          <p:cNvPr id="13" name="Text 11"/>
          <p:cNvSpPr txBox="1"/>
          <p:nvPr/>
        </p:nvSpPr>
        <p:spPr>
          <a:xfrm>
            <a:off x="3517392" y="1463040"/>
            <a:ext cx="1560576" cy="841248"/>
          </a:xfrm>
          <a:prstGeom prst="rect">
            <a:avLst/>
          </a:prstGeom>
          <a:noFill/>
          <a:ln/>
        </p:spPr>
        <p:txBody>
          <a:bodyPr wrap="square" lIns="0" tIns="0" rIns="0" bIns="0" rtlCol="0" anchor="ctr"/>
          <a:lstStyle/>
          <a:p>
            <a:pPr marL="0" indent="0" algn="ctr">
              <a:buNone/>
            </a:pPr>
            <a:r>
              <a:rPr lang="en-US" sz="1100" b="1" dirty="0">
                <a:solidFill>
                  <a:srgbClr val="2B2724"/>
                </a:solidFill>
                <a:latin typeface="Calibri" pitchFamily="34" charset="0"/>
                <a:ea typeface="Calibri" pitchFamily="34" charset="-122"/>
                <a:cs typeface="Calibri" pitchFamily="34" charset="-120"/>
              </a:rPr>
              <a:t>★  Für besondere Abende</a:t>
            </a:r>
            <a:endParaRPr lang="en-US" sz="1100" dirty="0"/>
          </a:p>
        </p:txBody>
      </p:sp>
      <p:sp>
        <p:nvSpPr>
          <p:cNvPr id="14" name="Shape 12"/>
          <p:cNvSpPr/>
          <p:nvPr/>
        </p:nvSpPr>
        <p:spPr>
          <a:xfrm>
            <a:off x="5151120" y="1417320"/>
            <a:ext cx="1706880" cy="932688"/>
          </a:xfrm>
          <a:prstGeom prst="rect">
            <a:avLst/>
          </a:prstGeom>
          <a:solidFill>
            <a:srgbClr val="EFE3D0"/>
          </a:solidFill>
          <a:ln w="19050">
            <a:solidFill>
              <a:srgbClr val="8C7B6A"/>
            </a:solidFill>
            <a:prstDash val="solid"/>
          </a:ln>
        </p:spPr>
        <p:txBody>
          <a:bodyPr/>
          <a:lstStyle/>
          <a:p>
            <a:endParaRPr lang="de-DE"/>
          </a:p>
        </p:txBody>
      </p:sp>
      <p:sp>
        <p:nvSpPr>
          <p:cNvPr id="15" name="Text 13"/>
          <p:cNvSpPr txBox="1"/>
          <p:nvPr/>
        </p:nvSpPr>
        <p:spPr>
          <a:xfrm>
            <a:off x="5224272" y="1463040"/>
            <a:ext cx="1560576" cy="841248"/>
          </a:xfrm>
          <a:prstGeom prst="rect">
            <a:avLst/>
          </a:prstGeom>
          <a:noFill/>
          <a:ln/>
        </p:spPr>
        <p:txBody>
          <a:bodyPr wrap="square" lIns="0" tIns="0" rIns="0" bIns="0" rtlCol="0" anchor="ctr"/>
          <a:lstStyle/>
          <a:p>
            <a:pPr marL="0" indent="0" algn="ctr">
              <a:buNone/>
            </a:pPr>
            <a:r>
              <a:rPr lang="en-US" sz="1100" b="1" dirty="0">
                <a:solidFill>
                  <a:srgbClr val="2B2724"/>
                </a:solidFill>
                <a:latin typeface="Calibri" pitchFamily="34" charset="0"/>
                <a:ea typeface="Calibri" pitchFamily="34" charset="-122"/>
                <a:cs typeface="Calibri" pitchFamily="34" charset="-120"/>
              </a:rPr>
              <a:t>»  Wenn’s schnell gehen muss</a:t>
            </a:r>
            <a:endParaRPr lang="en-US" sz="1100" dirty="0"/>
          </a:p>
        </p:txBody>
      </p:sp>
      <p:sp>
        <p:nvSpPr>
          <p:cNvPr id="16" name="Text 14"/>
          <p:cNvSpPr txBox="1"/>
          <p:nvPr/>
        </p:nvSpPr>
        <p:spPr>
          <a:xfrm>
            <a:off x="457200" y="2350008"/>
            <a:ext cx="1188720" cy="932688"/>
          </a:xfrm>
          <a:prstGeom prst="rect">
            <a:avLst/>
          </a:prstGeom>
          <a:noFill/>
          <a:ln/>
        </p:spPr>
        <p:txBody>
          <a:bodyPr wrap="square" lIns="0" tIns="0" rIns="0" bIns="0" rtlCol="0" anchor="ctr"/>
          <a:lstStyle/>
          <a:p>
            <a:pPr marL="0" indent="0">
              <a:buNone/>
            </a:pPr>
            <a:r>
              <a:rPr lang="en-US" sz="1200" b="1" dirty="0">
                <a:solidFill>
                  <a:srgbClr val="2B2724"/>
                </a:solidFill>
                <a:latin typeface="Calibri" pitchFamily="34" charset="0"/>
                <a:ea typeface="Calibri" pitchFamily="34" charset="-122"/>
                <a:cs typeface="Calibri" pitchFamily="34" charset="-120"/>
              </a:rPr>
              <a:t>Sichtzone</a:t>
            </a:r>
            <a:endParaRPr lang="en-US" sz="1200" dirty="0"/>
          </a:p>
          <a:p>
            <a:pPr marL="0" indent="0">
              <a:buNone/>
            </a:pPr>
            <a:r>
              <a:rPr lang="en-US" sz="1000" dirty="0">
                <a:solidFill>
                  <a:srgbClr val="6F6862"/>
                </a:solidFill>
                <a:latin typeface="Calibri" pitchFamily="34" charset="0"/>
                <a:ea typeface="Calibri" pitchFamily="34" charset="-122"/>
                <a:cs typeface="Calibri" pitchFamily="34" charset="-120"/>
              </a:rPr>
              <a:t>120–170 cm</a:t>
            </a:r>
            <a:endParaRPr lang="en-US" sz="1200" dirty="0"/>
          </a:p>
        </p:txBody>
      </p:sp>
      <p:sp>
        <p:nvSpPr>
          <p:cNvPr id="17" name="Shape 15"/>
          <p:cNvSpPr/>
          <p:nvPr/>
        </p:nvSpPr>
        <p:spPr>
          <a:xfrm>
            <a:off x="1737360" y="2350008"/>
            <a:ext cx="1706880" cy="932688"/>
          </a:xfrm>
          <a:prstGeom prst="rect">
            <a:avLst/>
          </a:prstGeom>
          <a:solidFill>
            <a:srgbClr val="F6DDD5"/>
          </a:solidFill>
          <a:ln w="19050">
            <a:solidFill>
              <a:srgbClr val="8C7B6A"/>
            </a:solidFill>
            <a:prstDash val="solid"/>
          </a:ln>
        </p:spPr>
        <p:txBody>
          <a:bodyPr/>
          <a:lstStyle/>
          <a:p>
            <a:endParaRPr lang="de-DE"/>
          </a:p>
        </p:txBody>
      </p:sp>
      <p:sp>
        <p:nvSpPr>
          <p:cNvPr id="18" name="Text 16"/>
          <p:cNvSpPr txBox="1"/>
          <p:nvPr/>
        </p:nvSpPr>
        <p:spPr>
          <a:xfrm>
            <a:off x="1810512" y="2395728"/>
            <a:ext cx="1560576" cy="841248"/>
          </a:xfrm>
          <a:prstGeom prst="rect">
            <a:avLst/>
          </a:prstGeom>
          <a:noFill/>
          <a:ln/>
        </p:spPr>
        <p:txBody>
          <a:bodyPr wrap="square" lIns="0" tIns="0" rIns="0" bIns="0" rtlCol="0" anchor="ctr"/>
          <a:lstStyle/>
          <a:p>
            <a:pPr marL="0" indent="0" algn="ctr">
              <a:buNone/>
            </a:pPr>
            <a:r>
              <a:rPr lang="en-US" sz="1100" dirty="0">
                <a:solidFill>
                  <a:srgbClr val="2B2724"/>
                </a:solidFill>
                <a:latin typeface="Calibri" pitchFamily="34" charset="0"/>
                <a:ea typeface="Calibri" pitchFamily="34" charset="-122"/>
                <a:cs typeface="Calibri" pitchFamily="34" charset="-120"/>
              </a:rPr>
              <a:t>Karte #03 Pasta e Fagioli, 3,20 € je Portion</a:t>
            </a:r>
            <a:endParaRPr lang="en-US" sz="1100" dirty="0"/>
          </a:p>
        </p:txBody>
      </p:sp>
      <p:sp>
        <p:nvSpPr>
          <p:cNvPr id="19" name="Shape 17"/>
          <p:cNvSpPr/>
          <p:nvPr/>
        </p:nvSpPr>
        <p:spPr>
          <a:xfrm>
            <a:off x="3444240" y="2350008"/>
            <a:ext cx="1706880" cy="932688"/>
          </a:xfrm>
          <a:prstGeom prst="rect">
            <a:avLst/>
          </a:prstGeom>
          <a:solidFill>
            <a:srgbClr val="F6DDD5"/>
          </a:solidFill>
          <a:ln w="19050">
            <a:solidFill>
              <a:srgbClr val="8C7B6A"/>
            </a:solidFill>
            <a:prstDash val="solid"/>
          </a:ln>
        </p:spPr>
        <p:txBody>
          <a:bodyPr/>
          <a:lstStyle/>
          <a:p>
            <a:endParaRPr lang="de-DE"/>
          </a:p>
        </p:txBody>
      </p:sp>
      <p:sp>
        <p:nvSpPr>
          <p:cNvPr id="20" name="Text 18"/>
          <p:cNvSpPr txBox="1"/>
          <p:nvPr/>
        </p:nvSpPr>
        <p:spPr>
          <a:xfrm>
            <a:off x="3517392" y="2395728"/>
            <a:ext cx="1560576" cy="841248"/>
          </a:xfrm>
          <a:prstGeom prst="rect">
            <a:avLst/>
          </a:prstGeom>
          <a:noFill/>
          <a:ln/>
        </p:spPr>
        <p:txBody>
          <a:bodyPr wrap="square" lIns="0" tIns="0" rIns="0" bIns="0" rtlCol="0" anchor="ctr"/>
          <a:lstStyle/>
          <a:p>
            <a:pPr marL="0" indent="0" algn="ctr">
              <a:buNone/>
            </a:pPr>
            <a:r>
              <a:rPr lang="en-US" sz="1100" dirty="0">
                <a:solidFill>
                  <a:srgbClr val="2B2724"/>
                </a:solidFill>
                <a:latin typeface="Calibri" pitchFamily="34" charset="0"/>
                <a:ea typeface="Calibri" pitchFamily="34" charset="-122"/>
                <a:cs typeface="Calibri" pitchFamily="34" charset="-120"/>
              </a:rPr>
              <a:t>Karte #02 Tagliatelle al Limone</a:t>
            </a:r>
            <a:endParaRPr lang="en-US" sz="1100" dirty="0"/>
          </a:p>
        </p:txBody>
      </p:sp>
      <p:sp>
        <p:nvSpPr>
          <p:cNvPr id="21" name="Shape 19"/>
          <p:cNvSpPr/>
          <p:nvPr/>
        </p:nvSpPr>
        <p:spPr>
          <a:xfrm>
            <a:off x="5151120" y="2350008"/>
            <a:ext cx="1706880" cy="932688"/>
          </a:xfrm>
          <a:prstGeom prst="rect">
            <a:avLst/>
          </a:prstGeom>
          <a:solidFill>
            <a:srgbClr val="F6DDD5"/>
          </a:solidFill>
          <a:ln w="19050">
            <a:solidFill>
              <a:srgbClr val="8C7B6A"/>
            </a:solidFill>
            <a:prstDash val="solid"/>
          </a:ln>
        </p:spPr>
        <p:txBody>
          <a:bodyPr/>
          <a:lstStyle/>
          <a:p>
            <a:endParaRPr lang="de-DE"/>
          </a:p>
        </p:txBody>
      </p:sp>
      <p:sp>
        <p:nvSpPr>
          <p:cNvPr id="22" name="Text 20"/>
          <p:cNvSpPr txBox="1"/>
          <p:nvPr/>
        </p:nvSpPr>
        <p:spPr>
          <a:xfrm>
            <a:off x="5224272" y="2395728"/>
            <a:ext cx="1560576" cy="841248"/>
          </a:xfrm>
          <a:prstGeom prst="rect">
            <a:avLst/>
          </a:prstGeom>
          <a:noFill/>
          <a:ln/>
        </p:spPr>
        <p:txBody>
          <a:bodyPr wrap="square" lIns="0" tIns="0" rIns="0" bIns="0" rtlCol="0" anchor="ctr"/>
          <a:lstStyle/>
          <a:p>
            <a:pPr marL="0" indent="0" algn="ctr">
              <a:buNone/>
            </a:pPr>
            <a:r>
              <a:rPr lang="en-US" sz="1100" dirty="0">
                <a:solidFill>
                  <a:srgbClr val="2B2724"/>
                </a:solidFill>
                <a:latin typeface="Calibri" pitchFamily="34" charset="0"/>
                <a:ea typeface="Calibri" pitchFamily="34" charset="-122"/>
                <a:cs typeface="Calibri" pitchFamily="34" charset="-120"/>
              </a:rPr>
              <a:t>Karte #01 Creamy Tomato Pasta</a:t>
            </a:r>
            <a:endParaRPr lang="en-US" sz="1100" dirty="0"/>
          </a:p>
        </p:txBody>
      </p:sp>
      <p:sp>
        <p:nvSpPr>
          <p:cNvPr id="23" name="Text 21"/>
          <p:cNvSpPr txBox="1"/>
          <p:nvPr/>
        </p:nvSpPr>
        <p:spPr>
          <a:xfrm>
            <a:off x="457200" y="3282696"/>
            <a:ext cx="1188720" cy="932688"/>
          </a:xfrm>
          <a:prstGeom prst="rect">
            <a:avLst/>
          </a:prstGeom>
          <a:noFill/>
          <a:ln/>
        </p:spPr>
        <p:txBody>
          <a:bodyPr wrap="square" lIns="0" tIns="0" rIns="0" bIns="0" rtlCol="0" anchor="ctr"/>
          <a:lstStyle/>
          <a:p>
            <a:pPr marL="0" indent="0">
              <a:buNone/>
            </a:pPr>
            <a:r>
              <a:rPr lang="en-US" sz="1200" b="1" dirty="0">
                <a:solidFill>
                  <a:srgbClr val="2B2724"/>
                </a:solidFill>
                <a:latin typeface="Calibri" pitchFamily="34" charset="0"/>
                <a:ea typeface="Calibri" pitchFamily="34" charset="-122"/>
                <a:cs typeface="Calibri" pitchFamily="34" charset="-120"/>
              </a:rPr>
              <a:t>Greifzone</a:t>
            </a:r>
            <a:endParaRPr lang="en-US" sz="1200" dirty="0"/>
          </a:p>
          <a:p>
            <a:pPr marL="0" indent="0">
              <a:buNone/>
            </a:pPr>
            <a:r>
              <a:rPr lang="en-US" sz="1000" dirty="0">
                <a:solidFill>
                  <a:srgbClr val="6F6862"/>
                </a:solidFill>
                <a:latin typeface="Calibri" pitchFamily="34" charset="0"/>
                <a:ea typeface="Calibri" pitchFamily="34" charset="-122"/>
                <a:cs typeface="Calibri" pitchFamily="34" charset="-120"/>
              </a:rPr>
              <a:t>80–120 cm</a:t>
            </a:r>
            <a:endParaRPr lang="en-US" sz="1200" dirty="0"/>
          </a:p>
        </p:txBody>
      </p:sp>
      <p:sp>
        <p:nvSpPr>
          <p:cNvPr id="24" name="Shape 22"/>
          <p:cNvSpPr/>
          <p:nvPr/>
        </p:nvSpPr>
        <p:spPr>
          <a:xfrm>
            <a:off x="1737360" y="3282696"/>
            <a:ext cx="1706880" cy="932688"/>
          </a:xfrm>
          <a:prstGeom prst="rect">
            <a:avLst/>
          </a:prstGeom>
          <a:solidFill>
            <a:srgbClr val="F3EEE6"/>
          </a:solidFill>
          <a:ln w="19050">
            <a:solidFill>
              <a:srgbClr val="8C7B6A"/>
            </a:solidFill>
            <a:prstDash val="solid"/>
          </a:ln>
        </p:spPr>
        <p:txBody>
          <a:bodyPr/>
          <a:lstStyle/>
          <a:p>
            <a:endParaRPr lang="de-DE"/>
          </a:p>
        </p:txBody>
      </p:sp>
      <p:sp>
        <p:nvSpPr>
          <p:cNvPr id="25" name="Text 23"/>
          <p:cNvSpPr txBox="1"/>
          <p:nvPr/>
        </p:nvSpPr>
        <p:spPr>
          <a:xfrm>
            <a:off x="1810512" y="3328416"/>
            <a:ext cx="1560576" cy="841248"/>
          </a:xfrm>
          <a:prstGeom prst="rect">
            <a:avLst/>
          </a:prstGeom>
          <a:noFill/>
          <a:ln/>
        </p:spPr>
        <p:txBody>
          <a:bodyPr wrap="square" lIns="0" tIns="0" rIns="0" bIns="0" rtlCol="0" anchor="ctr"/>
          <a:lstStyle/>
          <a:p>
            <a:pPr marL="0" indent="0" algn="ctr">
              <a:buNone/>
            </a:pPr>
            <a:r>
              <a:rPr lang="en-US" sz="1100" dirty="0">
                <a:solidFill>
                  <a:srgbClr val="2B2724"/>
                </a:solidFill>
                <a:latin typeface="Calibri" pitchFamily="34" charset="0"/>
                <a:ea typeface="Calibri" pitchFamily="34" charset="-122"/>
                <a:cs typeface="Calibri" pitchFamily="34" charset="-120"/>
              </a:rPr>
              <a:t>Pasta, Bohnen, Passata</a:t>
            </a:r>
            <a:endParaRPr lang="en-US" sz="1100" dirty="0"/>
          </a:p>
        </p:txBody>
      </p:sp>
      <p:sp>
        <p:nvSpPr>
          <p:cNvPr id="26" name="Shape 24"/>
          <p:cNvSpPr/>
          <p:nvPr/>
        </p:nvSpPr>
        <p:spPr>
          <a:xfrm>
            <a:off x="3444240" y="3282696"/>
            <a:ext cx="1706880" cy="932688"/>
          </a:xfrm>
          <a:prstGeom prst="rect">
            <a:avLst/>
          </a:prstGeom>
          <a:solidFill>
            <a:srgbClr val="F3EEE6"/>
          </a:solidFill>
          <a:ln w="19050">
            <a:solidFill>
              <a:srgbClr val="8C7B6A"/>
            </a:solidFill>
            <a:prstDash val="solid"/>
          </a:ln>
        </p:spPr>
        <p:txBody>
          <a:bodyPr/>
          <a:lstStyle/>
          <a:p>
            <a:endParaRPr lang="de-DE"/>
          </a:p>
        </p:txBody>
      </p:sp>
      <p:sp>
        <p:nvSpPr>
          <p:cNvPr id="27" name="Text 25"/>
          <p:cNvSpPr txBox="1"/>
          <p:nvPr/>
        </p:nvSpPr>
        <p:spPr>
          <a:xfrm>
            <a:off x="3517392" y="3328416"/>
            <a:ext cx="1560576" cy="841248"/>
          </a:xfrm>
          <a:prstGeom prst="rect">
            <a:avLst/>
          </a:prstGeom>
          <a:noFill/>
          <a:ln/>
        </p:spPr>
        <p:txBody>
          <a:bodyPr wrap="square" lIns="0" tIns="0" rIns="0" bIns="0" rtlCol="0" anchor="ctr"/>
          <a:lstStyle/>
          <a:p>
            <a:pPr marL="0" indent="0" algn="ctr">
              <a:buNone/>
            </a:pPr>
            <a:r>
              <a:rPr lang="en-US" sz="1100" dirty="0">
                <a:solidFill>
                  <a:srgbClr val="2B2724"/>
                </a:solidFill>
                <a:latin typeface="Calibri" pitchFamily="34" charset="0"/>
                <a:ea typeface="Calibri" pitchFamily="34" charset="-122"/>
                <a:cs typeface="Calibri" pitchFamily="34" charset="-120"/>
              </a:rPr>
              <a:t>Tagliatelle, Zitronen, Tiramisu-Set</a:t>
            </a:r>
            <a:endParaRPr lang="en-US" sz="1100" dirty="0"/>
          </a:p>
        </p:txBody>
      </p:sp>
      <p:sp>
        <p:nvSpPr>
          <p:cNvPr id="28" name="Shape 26"/>
          <p:cNvSpPr/>
          <p:nvPr/>
        </p:nvSpPr>
        <p:spPr>
          <a:xfrm>
            <a:off x="5151120" y="3282696"/>
            <a:ext cx="1706880" cy="932688"/>
          </a:xfrm>
          <a:prstGeom prst="rect">
            <a:avLst/>
          </a:prstGeom>
          <a:solidFill>
            <a:srgbClr val="F3EEE6"/>
          </a:solidFill>
          <a:ln w="19050">
            <a:solidFill>
              <a:srgbClr val="8C7B6A"/>
            </a:solidFill>
            <a:prstDash val="solid"/>
          </a:ln>
        </p:spPr>
        <p:txBody>
          <a:bodyPr/>
          <a:lstStyle/>
          <a:p>
            <a:endParaRPr lang="de-DE"/>
          </a:p>
        </p:txBody>
      </p:sp>
      <p:sp>
        <p:nvSpPr>
          <p:cNvPr id="29" name="Text 27"/>
          <p:cNvSpPr txBox="1"/>
          <p:nvPr/>
        </p:nvSpPr>
        <p:spPr>
          <a:xfrm>
            <a:off x="5224272" y="3328416"/>
            <a:ext cx="1560576" cy="841248"/>
          </a:xfrm>
          <a:prstGeom prst="rect">
            <a:avLst/>
          </a:prstGeom>
          <a:noFill/>
          <a:ln/>
        </p:spPr>
        <p:txBody>
          <a:bodyPr wrap="square" lIns="0" tIns="0" rIns="0" bIns="0" rtlCol="0" anchor="ctr"/>
          <a:lstStyle/>
          <a:p>
            <a:pPr marL="0" indent="0" algn="ctr">
              <a:buNone/>
            </a:pPr>
            <a:r>
              <a:rPr lang="en-US" sz="1100" dirty="0">
                <a:solidFill>
                  <a:srgbClr val="2B2724"/>
                </a:solidFill>
                <a:latin typeface="Calibri" pitchFamily="34" charset="0"/>
                <a:ea typeface="Calibri" pitchFamily="34" charset="-122"/>
                <a:cs typeface="Calibri" pitchFamily="34" charset="-120"/>
              </a:rPr>
              <a:t>Pasta, Tomatensauce, Gewürze</a:t>
            </a:r>
            <a:endParaRPr lang="en-US" sz="1100" dirty="0"/>
          </a:p>
        </p:txBody>
      </p:sp>
      <p:sp>
        <p:nvSpPr>
          <p:cNvPr id="30" name="Text 28"/>
          <p:cNvSpPr txBox="1"/>
          <p:nvPr/>
        </p:nvSpPr>
        <p:spPr>
          <a:xfrm>
            <a:off x="457200" y="4215384"/>
            <a:ext cx="1188720" cy="932688"/>
          </a:xfrm>
          <a:prstGeom prst="rect">
            <a:avLst/>
          </a:prstGeom>
          <a:noFill/>
          <a:ln/>
        </p:spPr>
        <p:txBody>
          <a:bodyPr wrap="square" lIns="0" tIns="0" rIns="0" bIns="0" rtlCol="0" anchor="ctr"/>
          <a:lstStyle/>
          <a:p>
            <a:pPr marL="0" indent="0">
              <a:buNone/>
            </a:pPr>
            <a:r>
              <a:rPr lang="en-US" sz="1200" b="1" dirty="0">
                <a:solidFill>
                  <a:srgbClr val="2B2724"/>
                </a:solidFill>
                <a:latin typeface="Calibri" pitchFamily="34" charset="0"/>
                <a:ea typeface="Calibri" pitchFamily="34" charset="-122"/>
                <a:cs typeface="Calibri" pitchFamily="34" charset="-120"/>
              </a:rPr>
              <a:t>Bückzone</a:t>
            </a:r>
            <a:endParaRPr lang="en-US" sz="1200" dirty="0"/>
          </a:p>
          <a:p>
            <a:pPr marL="0" indent="0">
              <a:buNone/>
            </a:pPr>
            <a:r>
              <a:rPr lang="en-US" sz="1000" dirty="0">
                <a:solidFill>
                  <a:srgbClr val="6F6862"/>
                </a:solidFill>
                <a:latin typeface="Calibri" pitchFamily="34" charset="0"/>
                <a:ea typeface="Calibri" pitchFamily="34" charset="-122"/>
                <a:cs typeface="Calibri" pitchFamily="34" charset="-120"/>
              </a:rPr>
              <a:t>&lt; 80 cm</a:t>
            </a:r>
            <a:endParaRPr lang="en-US" sz="1200" dirty="0"/>
          </a:p>
        </p:txBody>
      </p:sp>
      <p:sp>
        <p:nvSpPr>
          <p:cNvPr id="31" name="Shape 29"/>
          <p:cNvSpPr/>
          <p:nvPr/>
        </p:nvSpPr>
        <p:spPr>
          <a:xfrm>
            <a:off x="1737360" y="4215384"/>
            <a:ext cx="1706880" cy="932688"/>
          </a:xfrm>
          <a:prstGeom prst="rect">
            <a:avLst/>
          </a:prstGeom>
          <a:solidFill>
            <a:srgbClr val="FBF9F5"/>
          </a:solidFill>
          <a:ln w="19050">
            <a:solidFill>
              <a:srgbClr val="8C7B6A"/>
            </a:solidFill>
            <a:prstDash val="solid"/>
          </a:ln>
        </p:spPr>
        <p:txBody>
          <a:bodyPr/>
          <a:lstStyle/>
          <a:p>
            <a:endParaRPr lang="de-DE"/>
          </a:p>
        </p:txBody>
      </p:sp>
      <p:sp>
        <p:nvSpPr>
          <p:cNvPr id="32" name="Text 30"/>
          <p:cNvSpPr txBox="1"/>
          <p:nvPr/>
        </p:nvSpPr>
        <p:spPr>
          <a:xfrm>
            <a:off x="1810512" y="4261104"/>
            <a:ext cx="1560576" cy="841248"/>
          </a:xfrm>
          <a:prstGeom prst="rect">
            <a:avLst/>
          </a:prstGeom>
          <a:noFill/>
          <a:ln/>
        </p:spPr>
        <p:txBody>
          <a:bodyPr wrap="square" lIns="0" tIns="0" rIns="0" bIns="0" rtlCol="0" anchor="ctr"/>
          <a:lstStyle/>
          <a:p>
            <a:pPr marL="0" indent="0" algn="ctr">
              <a:buNone/>
            </a:pPr>
            <a:r>
              <a:rPr lang="en-US" sz="1100" dirty="0">
                <a:solidFill>
                  <a:srgbClr val="2B2724"/>
                </a:solidFill>
                <a:latin typeface="Calibri" pitchFamily="34" charset="0"/>
                <a:ea typeface="Calibri" pitchFamily="34" charset="-122"/>
                <a:cs typeface="Calibri" pitchFamily="34" charset="-120"/>
              </a:rPr>
              <a:t>Großpackungen Pasta und Bohnen</a:t>
            </a:r>
            <a:endParaRPr lang="en-US" sz="1100" dirty="0"/>
          </a:p>
        </p:txBody>
      </p:sp>
      <p:sp>
        <p:nvSpPr>
          <p:cNvPr id="33" name="Shape 31"/>
          <p:cNvSpPr/>
          <p:nvPr/>
        </p:nvSpPr>
        <p:spPr>
          <a:xfrm>
            <a:off x="3444240" y="4215384"/>
            <a:ext cx="1706880" cy="932688"/>
          </a:xfrm>
          <a:prstGeom prst="rect">
            <a:avLst/>
          </a:prstGeom>
          <a:solidFill>
            <a:srgbClr val="FBF9F5"/>
          </a:solidFill>
          <a:ln w="19050">
            <a:solidFill>
              <a:srgbClr val="8C7B6A"/>
            </a:solidFill>
            <a:prstDash val="solid"/>
          </a:ln>
        </p:spPr>
        <p:txBody>
          <a:bodyPr/>
          <a:lstStyle/>
          <a:p>
            <a:endParaRPr lang="de-DE"/>
          </a:p>
        </p:txBody>
      </p:sp>
      <p:sp>
        <p:nvSpPr>
          <p:cNvPr id="34" name="Text 32"/>
          <p:cNvSpPr txBox="1"/>
          <p:nvPr/>
        </p:nvSpPr>
        <p:spPr>
          <a:xfrm>
            <a:off x="3517392" y="4261104"/>
            <a:ext cx="1560576" cy="841248"/>
          </a:xfrm>
          <a:prstGeom prst="rect">
            <a:avLst/>
          </a:prstGeom>
          <a:noFill/>
          <a:ln/>
        </p:spPr>
        <p:txBody>
          <a:bodyPr wrap="square" lIns="0" tIns="0" rIns="0" bIns="0" rtlCol="0" anchor="ctr"/>
          <a:lstStyle/>
          <a:p>
            <a:pPr marL="0" indent="0" algn="ctr">
              <a:buNone/>
            </a:pPr>
            <a:r>
              <a:rPr lang="en-US" sz="1100" dirty="0">
                <a:solidFill>
                  <a:srgbClr val="2B2724"/>
                </a:solidFill>
                <a:latin typeface="Calibri" pitchFamily="34" charset="0"/>
                <a:ea typeface="Calibri" pitchFamily="34" charset="-122"/>
                <a:cs typeface="Calibri" pitchFamily="34" charset="-120"/>
              </a:rPr>
              <a:t>Aperitivo alkoholfrei, Limonade</a:t>
            </a:r>
            <a:endParaRPr lang="en-US" sz="1100" dirty="0"/>
          </a:p>
        </p:txBody>
      </p:sp>
      <p:sp>
        <p:nvSpPr>
          <p:cNvPr id="35" name="Shape 33"/>
          <p:cNvSpPr/>
          <p:nvPr/>
        </p:nvSpPr>
        <p:spPr>
          <a:xfrm>
            <a:off x="5151120" y="4215384"/>
            <a:ext cx="1706880" cy="932688"/>
          </a:xfrm>
          <a:prstGeom prst="rect">
            <a:avLst/>
          </a:prstGeom>
          <a:solidFill>
            <a:srgbClr val="FBF9F5"/>
          </a:solidFill>
          <a:ln w="19050">
            <a:solidFill>
              <a:srgbClr val="8C7B6A"/>
            </a:solidFill>
            <a:prstDash val="solid"/>
          </a:ln>
        </p:spPr>
        <p:txBody>
          <a:bodyPr/>
          <a:lstStyle/>
          <a:p>
            <a:endParaRPr lang="de-DE"/>
          </a:p>
        </p:txBody>
      </p:sp>
      <p:sp>
        <p:nvSpPr>
          <p:cNvPr id="36" name="Text 34"/>
          <p:cNvSpPr txBox="1"/>
          <p:nvPr/>
        </p:nvSpPr>
        <p:spPr>
          <a:xfrm>
            <a:off x="5224272" y="4261104"/>
            <a:ext cx="1560576" cy="841248"/>
          </a:xfrm>
          <a:prstGeom prst="rect">
            <a:avLst/>
          </a:prstGeom>
          <a:noFill/>
          <a:ln/>
        </p:spPr>
        <p:txBody>
          <a:bodyPr wrap="square" lIns="0" tIns="0" rIns="0" bIns="0" rtlCol="0" anchor="ctr"/>
          <a:lstStyle/>
          <a:p>
            <a:pPr marL="0" indent="0" algn="ctr">
              <a:buNone/>
            </a:pPr>
            <a:r>
              <a:rPr lang="en-US" sz="1100" dirty="0">
                <a:solidFill>
                  <a:srgbClr val="2B2724"/>
                </a:solidFill>
                <a:latin typeface="Calibri" pitchFamily="34" charset="0"/>
                <a:ea typeface="Calibri" pitchFamily="34" charset="-122"/>
                <a:cs typeface="Calibri" pitchFamily="34" charset="-120"/>
              </a:rPr>
              <a:t>Wasser, Getränke im 6er-Pack</a:t>
            </a:r>
            <a:endParaRPr lang="en-US" sz="1100" dirty="0"/>
          </a:p>
        </p:txBody>
      </p:sp>
      <p:sp>
        <p:nvSpPr>
          <p:cNvPr id="37" name="Text 35"/>
          <p:cNvSpPr txBox="1"/>
          <p:nvPr/>
        </p:nvSpPr>
        <p:spPr>
          <a:xfrm>
            <a:off x="1737360" y="5257800"/>
            <a:ext cx="1706880" cy="274320"/>
          </a:xfrm>
          <a:prstGeom prst="rect">
            <a:avLst/>
          </a:prstGeom>
          <a:noFill/>
          <a:ln/>
        </p:spPr>
        <p:txBody>
          <a:bodyPr wrap="square" lIns="0" tIns="0" rIns="0" bIns="0" rtlCol="0" anchor="ctr"/>
          <a:lstStyle/>
          <a:p>
            <a:pPr marL="0" indent="0" algn="ctr">
              <a:buNone/>
            </a:pPr>
            <a:r>
              <a:rPr lang="en-US" sz="1200" b="1" dirty="0">
                <a:solidFill>
                  <a:srgbClr val="B5452F"/>
                </a:solidFill>
                <a:latin typeface="Calibri" pitchFamily="34" charset="0"/>
                <a:ea typeface="Calibri" pitchFamily="34" charset="-122"/>
                <a:cs typeface="Calibri" pitchFamily="34" charset="-120"/>
              </a:rPr>
              <a:t>€ günstig</a:t>
            </a:r>
            <a:endParaRPr lang="en-US" sz="1200" dirty="0"/>
          </a:p>
        </p:txBody>
      </p:sp>
      <p:sp>
        <p:nvSpPr>
          <p:cNvPr id="38" name="Text 36"/>
          <p:cNvSpPr txBox="1"/>
          <p:nvPr/>
        </p:nvSpPr>
        <p:spPr>
          <a:xfrm>
            <a:off x="3444240" y="5257800"/>
            <a:ext cx="1706880" cy="274320"/>
          </a:xfrm>
          <a:prstGeom prst="rect">
            <a:avLst/>
          </a:prstGeom>
          <a:noFill/>
          <a:ln/>
        </p:spPr>
        <p:txBody>
          <a:bodyPr wrap="square" lIns="0" tIns="0" rIns="0" bIns="0" rtlCol="0" anchor="ctr"/>
          <a:lstStyle/>
          <a:p>
            <a:pPr marL="0" indent="0" algn="ctr">
              <a:buNone/>
            </a:pPr>
            <a:r>
              <a:rPr lang="en-US" sz="1200" b="1" dirty="0">
                <a:solidFill>
                  <a:srgbClr val="B5452F"/>
                </a:solidFill>
                <a:latin typeface="Calibri" pitchFamily="34" charset="0"/>
                <a:ea typeface="Calibri" pitchFamily="34" charset="-122"/>
                <a:cs typeface="Calibri" pitchFamily="34" charset="-120"/>
              </a:rPr>
              <a:t>★ besonders</a:t>
            </a:r>
            <a:endParaRPr lang="en-US" sz="1200" dirty="0"/>
          </a:p>
        </p:txBody>
      </p:sp>
      <p:sp>
        <p:nvSpPr>
          <p:cNvPr id="39" name="Text 37"/>
          <p:cNvSpPr txBox="1"/>
          <p:nvPr/>
        </p:nvSpPr>
        <p:spPr>
          <a:xfrm>
            <a:off x="5151120" y="5257800"/>
            <a:ext cx="1706880" cy="274320"/>
          </a:xfrm>
          <a:prstGeom prst="rect">
            <a:avLst/>
          </a:prstGeom>
          <a:noFill/>
          <a:ln/>
        </p:spPr>
        <p:txBody>
          <a:bodyPr wrap="square" lIns="0" tIns="0" rIns="0" bIns="0" rtlCol="0" anchor="ctr"/>
          <a:lstStyle/>
          <a:p>
            <a:pPr marL="0" indent="0" algn="ctr">
              <a:buNone/>
            </a:pPr>
            <a:r>
              <a:rPr lang="en-US" sz="1200" b="1" dirty="0">
                <a:solidFill>
                  <a:srgbClr val="B5452F"/>
                </a:solidFill>
                <a:latin typeface="Calibri" pitchFamily="34" charset="0"/>
                <a:ea typeface="Calibri" pitchFamily="34" charset="-122"/>
                <a:cs typeface="Calibri" pitchFamily="34" charset="-120"/>
              </a:rPr>
              <a:t>» schnell</a:t>
            </a:r>
            <a:endParaRPr lang="en-US" sz="1200" dirty="0"/>
          </a:p>
        </p:txBody>
      </p:sp>
      <p:sp>
        <p:nvSpPr>
          <p:cNvPr id="40" name="Text 38"/>
          <p:cNvSpPr txBox="1"/>
          <p:nvPr/>
        </p:nvSpPr>
        <p:spPr>
          <a:xfrm>
            <a:off x="5760720" y="5559552"/>
            <a:ext cx="1097280" cy="256032"/>
          </a:xfrm>
          <a:prstGeom prst="rect">
            <a:avLst/>
          </a:prstGeom>
          <a:noFill/>
          <a:ln/>
        </p:spPr>
        <p:txBody>
          <a:bodyPr wrap="square" lIns="0" tIns="0" rIns="0" bIns="0" rtlCol="0" anchor="ctr"/>
          <a:lstStyle/>
          <a:p>
            <a:pPr marL="0" indent="0" algn="r">
              <a:buNone/>
            </a:pPr>
            <a:r>
              <a:rPr lang="en-US" sz="1100" b="1" dirty="0">
                <a:solidFill>
                  <a:srgbClr val="2B2724"/>
                </a:solidFill>
                <a:latin typeface="Calibri" pitchFamily="34" charset="0"/>
                <a:ea typeface="Calibri" pitchFamily="34" charset="-122"/>
                <a:cs typeface="Calibri" pitchFamily="34" charset="-120"/>
              </a:rPr>
              <a:t>Hauptgang →</a:t>
            </a:r>
            <a:endParaRPr lang="en-US" sz="1100" dirty="0"/>
          </a:p>
        </p:txBody>
      </p:sp>
      <p:sp>
        <p:nvSpPr>
          <p:cNvPr id="41" name="Text 39"/>
          <p:cNvSpPr txBox="1"/>
          <p:nvPr/>
        </p:nvSpPr>
        <p:spPr>
          <a:xfrm>
            <a:off x="1737360" y="5559552"/>
            <a:ext cx="3840480" cy="256032"/>
          </a:xfrm>
          <a:prstGeom prst="rect">
            <a:avLst/>
          </a:prstGeom>
          <a:noFill/>
          <a:ln/>
        </p:spPr>
        <p:txBody>
          <a:bodyPr wrap="square" lIns="0" tIns="0" rIns="0" bIns="0" rtlCol="0" anchor="ctr"/>
          <a:lstStyle/>
          <a:p>
            <a:pPr marL="0" indent="0">
              <a:buNone/>
            </a:pPr>
            <a:r>
              <a:rPr lang="en-US" sz="1100" i="1" dirty="0">
                <a:solidFill>
                  <a:srgbClr val="6F6862"/>
                </a:solidFill>
                <a:latin typeface="Calibri" pitchFamily="34" charset="0"/>
                <a:ea typeface="Calibri" pitchFamily="34" charset="-122"/>
                <a:cs typeface="Calibri" pitchFamily="34" charset="-120"/>
              </a:rPr>
              <a:t>vertikal: Anlass · horizontal: Funktion der Zone</a:t>
            </a:r>
            <a:endParaRPr lang="en-US" sz="1100" dirty="0"/>
          </a:p>
        </p:txBody>
      </p:sp>
      <p:sp>
        <p:nvSpPr>
          <p:cNvPr id="42" name="Text 40"/>
          <p:cNvSpPr txBox="1"/>
          <p:nvPr/>
        </p:nvSpPr>
        <p:spPr>
          <a:xfrm>
            <a:off x="7315200" y="1417320"/>
            <a:ext cx="4297680" cy="320040"/>
          </a:xfrm>
          <a:prstGeom prst="rect">
            <a:avLst/>
          </a:prstGeom>
          <a:noFill/>
          <a:ln/>
        </p:spPr>
        <p:txBody>
          <a:bodyPr wrap="square" lIns="0" tIns="0" rIns="0" bIns="0" rtlCol="0" anchor="ctr"/>
          <a:lstStyle/>
          <a:p>
            <a:pPr marL="0" indent="0">
              <a:buNone/>
            </a:pPr>
            <a:r>
              <a:rPr lang="en-US" sz="1500" b="1" dirty="0">
                <a:solidFill>
                  <a:srgbClr val="2B2724"/>
                </a:solidFill>
                <a:latin typeface="Calibri" pitchFamily="34" charset="0"/>
                <a:ea typeface="Calibri" pitchFamily="34" charset="-122"/>
                <a:cs typeface="Calibri" pitchFamily="34" charset="-120"/>
              </a:rPr>
              <a:t>Gespiegelte Matrix</a:t>
            </a:r>
            <a:endParaRPr lang="en-US" sz="1500" dirty="0"/>
          </a:p>
        </p:txBody>
      </p:sp>
      <p:sp>
        <p:nvSpPr>
          <p:cNvPr id="43" name="Text 41"/>
          <p:cNvSpPr txBox="1"/>
          <p:nvPr/>
        </p:nvSpPr>
        <p:spPr>
          <a:xfrm>
            <a:off x="7315200" y="1764792"/>
            <a:ext cx="4297680" cy="731520"/>
          </a:xfrm>
          <a:prstGeom prst="rect">
            <a:avLst/>
          </a:prstGeom>
          <a:noFill/>
          <a:ln/>
        </p:spPr>
        <p:txBody>
          <a:bodyPr wrap="square" lIns="0" tIns="0" rIns="0" bIns="0" rtlCol="0" anchor="t"/>
          <a:lstStyle/>
          <a:p>
            <a:pPr marL="0" indent="0">
              <a:buNone/>
            </a:pPr>
            <a:r>
              <a:rPr lang="en-US" sz="1250" dirty="0">
                <a:solidFill>
                  <a:srgbClr val="2B2724"/>
                </a:solidFill>
                <a:latin typeface="Calibri" pitchFamily="34" charset="0"/>
                <a:ea typeface="Calibri" pitchFamily="34" charset="-122"/>
                <a:cs typeface="Calibri" pitchFamily="34" charset="-120"/>
              </a:rPr>
              <a:t>Jede Koje ist eine Spalte des Dashboards: dieselben drei Anlässe, Symbole und Rezeptnummern. Wer am Eingang gewählt hat, findet sein Feld sofort wieder.</a:t>
            </a:r>
            <a:endParaRPr lang="en-US" sz="1250" dirty="0"/>
          </a:p>
        </p:txBody>
      </p:sp>
      <p:sp>
        <p:nvSpPr>
          <p:cNvPr id="44" name="Shape 42"/>
          <p:cNvSpPr/>
          <p:nvPr/>
        </p:nvSpPr>
        <p:spPr>
          <a:xfrm>
            <a:off x="7315200" y="2514600"/>
            <a:ext cx="237744" cy="237744"/>
          </a:xfrm>
          <a:prstGeom prst="ellipse">
            <a:avLst/>
          </a:prstGeom>
          <a:solidFill>
            <a:srgbClr val="4F6B3A"/>
          </a:solidFill>
          <a:ln w="12700">
            <a:solidFill>
              <a:srgbClr val="4F6B3A"/>
            </a:solidFill>
            <a:prstDash val="solid"/>
          </a:ln>
        </p:spPr>
        <p:txBody>
          <a:bodyPr/>
          <a:lstStyle/>
          <a:p>
            <a:endParaRPr lang="de-DE"/>
          </a:p>
        </p:txBody>
      </p:sp>
      <p:sp>
        <p:nvSpPr>
          <p:cNvPr id="45" name="Text 43"/>
          <p:cNvSpPr txBox="1"/>
          <p:nvPr/>
        </p:nvSpPr>
        <p:spPr>
          <a:xfrm>
            <a:off x="7315200" y="2514600"/>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Q</a:t>
            </a:r>
            <a:endParaRPr lang="en-US" sz="900" dirty="0"/>
          </a:p>
        </p:txBody>
      </p:sp>
      <p:sp>
        <p:nvSpPr>
          <p:cNvPr id="46" name="Text 44"/>
          <p:cNvSpPr txBox="1"/>
          <p:nvPr/>
        </p:nvSpPr>
        <p:spPr>
          <a:xfrm>
            <a:off x="7626096" y="2487168"/>
            <a:ext cx="3657600" cy="292608"/>
          </a:xfrm>
          <a:prstGeom prst="rect">
            <a:avLst/>
          </a:prstGeom>
          <a:noFill/>
          <a:ln/>
        </p:spPr>
        <p:txBody>
          <a:bodyPr wrap="square" lIns="0" tIns="0" rIns="0" bIns="0" rtlCol="0" anchor="ctr"/>
          <a:lstStyle/>
          <a:p>
            <a:pPr marL="0" indent="0">
              <a:buNone/>
            </a:pPr>
            <a:r>
              <a:rPr lang="en-US" sz="1000" dirty="0">
                <a:solidFill>
                  <a:srgbClr val="6F6862"/>
                </a:solidFill>
                <a:latin typeface="Calibri" pitchFamily="34" charset="0"/>
                <a:ea typeface="Calibri" pitchFamily="34" charset="-122"/>
                <a:cs typeface="Calibri" pitchFamily="34" charset="-120"/>
              </a:rPr>
              <a:t>Kreuzblock-Prinzip, S. 303</a:t>
            </a:r>
            <a:endParaRPr lang="en-US" sz="1000" dirty="0"/>
          </a:p>
        </p:txBody>
      </p:sp>
      <p:sp>
        <p:nvSpPr>
          <p:cNvPr id="47" name="Text 45"/>
          <p:cNvSpPr txBox="1"/>
          <p:nvPr/>
        </p:nvSpPr>
        <p:spPr>
          <a:xfrm>
            <a:off x="7315200" y="2898648"/>
            <a:ext cx="4297680" cy="320040"/>
          </a:xfrm>
          <a:prstGeom prst="rect">
            <a:avLst/>
          </a:prstGeom>
          <a:noFill/>
          <a:ln/>
        </p:spPr>
        <p:txBody>
          <a:bodyPr wrap="square" lIns="0" tIns="0" rIns="0" bIns="0" rtlCol="0" anchor="ctr"/>
          <a:lstStyle/>
          <a:p>
            <a:pPr marL="0" indent="0">
              <a:buNone/>
            </a:pPr>
            <a:r>
              <a:rPr lang="en-US" sz="1500" b="1" dirty="0">
                <a:solidFill>
                  <a:srgbClr val="2B2724"/>
                </a:solidFill>
                <a:latin typeface="Calibri" pitchFamily="34" charset="0"/>
                <a:ea typeface="Calibri" pitchFamily="34" charset="-122"/>
                <a:cs typeface="Calibri" pitchFamily="34" charset="-120"/>
              </a:rPr>
              <a:t>» schnell am Regalkopf</a:t>
            </a:r>
            <a:endParaRPr lang="en-US" sz="1500" dirty="0"/>
          </a:p>
        </p:txBody>
      </p:sp>
      <p:sp>
        <p:nvSpPr>
          <p:cNvPr id="48" name="Text 46"/>
          <p:cNvSpPr txBox="1"/>
          <p:nvPr/>
        </p:nvSpPr>
        <p:spPr>
          <a:xfrm>
            <a:off x="7315200" y="3246120"/>
            <a:ext cx="4297680" cy="731520"/>
          </a:xfrm>
          <a:prstGeom prst="rect">
            <a:avLst/>
          </a:prstGeom>
          <a:noFill/>
          <a:ln/>
        </p:spPr>
        <p:txBody>
          <a:bodyPr wrap="square" lIns="0" tIns="0" rIns="0" bIns="0" rtlCol="0" anchor="t"/>
          <a:lstStyle/>
          <a:p>
            <a:pPr marL="0" indent="0">
              <a:buNone/>
            </a:pPr>
            <a:r>
              <a:rPr lang="en-US" sz="1250" dirty="0">
                <a:solidFill>
                  <a:srgbClr val="2B2724"/>
                </a:solidFill>
                <a:latin typeface="Calibri" pitchFamily="34" charset="0"/>
                <a:ea typeface="Calibri" pitchFamily="34" charset="-122"/>
                <a:cs typeface="Calibri" pitchFamily="34" charset="-120"/>
              </a:rPr>
              <a:t>Der Abschnitt für Eilige liegt direkt am Hauptgang. Wer schnell einkauft, muss nicht in die Koje hinein.</a:t>
            </a:r>
            <a:endParaRPr lang="en-US" sz="1250" dirty="0"/>
          </a:p>
        </p:txBody>
      </p:sp>
      <p:sp>
        <p:nvSpPr>
          <p:cNvPr id="49" name="Shape 47"/>
          <p:cNvSpPr/>
          <p:nvPr/>
        </p:nvSpPr>
        <p:spPr>
          <a:xfrm>
            <a:off x="7315200" y="3995928"/>
            <a:ext cx="237744" cy="237744"/>
          </a:xfrm>
          <a:prstGeom prst="ellipse">
            <a:avLst/>
          </a:prstGeom>
          <a:solidFill>
            <a:srgbClr val="B5452F"/>
          </a:solidFill>
          <a:ln w="12700">
            <a:solidFill>
              <a:srgbClr val="B5452F"/>
            </a:solidFill>
            <a:prstDash val="solid"/>
          </a:ln>
        </p:spPr>
        <p:txBody>
          <a:bodyPr/>
          <a:lstStyle/>
          <a:p>
            <a:endParaRPr lang="de-DE"/>
          </a:p>
        </p:txBody>
      </p:sp>
      <p:sp>
        <p:nvSpPr>
          <p:cNvPr id="50" name="Text 48"/>
          <p:cNvSpPr txBox="1"/>
          <p:nvPr/>
        </p:nvSpPr>
        <p:spPr>
          <a:xfrm>
            <a:off x="7315200" y="3995928"/>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1" name="Text 49"/>
          <p:cNvSpPr txBox="1"/>
          <p:nvPr/>
        </p:nvSpPr>
        <p:spPr>
          <a:xfrm>
            <a:off x="7626096" y="3968496"/>
            <a:ext cx="3657600" cy="292608"/>
          </a:xfrm>
          <a:prstGeom prst="rect">
            <a:avLst/>
          </a:prstGeom>
          <a:noFill/>
          <a:ln/>
        </p:spPr>
        <p:txBody>
          <a:bodyPr wrap="square" lIns="0" tIns="0" rIns="0" bIns="0" rtlCol="0" anchor="ctr"/>
          <a:lstStyle/>
          <a:p>
            <a:pPr marL="0" indent="0">
              <a:buNone/>
            </a:pPr>
            <a:r>
              <a:rPr lang="en-US" sz="1000" dirty="0">
                <a:solidFill>
                  <a:srgbClr val="6F6862"/>
                </a:solidFill>
                <a:latin typeface="Calibri" pitchFamily="34" charset="0"/>
                <a:ea typeface="Calibri" pitchFamily="34" charset="-122"/>
                <a:cs typeface="Calibri" pitchFamily="34" charset="-120"/>
              </a:rPr>
              <a:t>Eigene Entscheidung, Wirkung nicht belegt</a:t>
            </a:r>
            <a:endParaRPr lang="en-US" sz="1000" dirty="0"/>
          </a:p>
        </p:txBody>
      </p:sp>
      <p:sp>
        <p:nvSpPr>
          <p:cNvPr id="52" name="Text 50"/>
          <p:cNvSpPr txBox="1"/>
          <p:nvPr/>
        </p:nvSpPr>
        <p:spPr>
          <a:xfrm>
            <a:off x="7315200" y="4379976"/>
            <a:ext cx="4297680" cy="320040"/>
          </a:xfrm>
          <a:prstGeom prst="rect">
            <a:avLst/>
          </a:prstGeom>
          <a:noFill/>
          <a:ln/>
        </p:spPr>
        <p:txBody>
          <a:bodyPr wrap="square" lIns="0" tIns="0" rIns="0" bIns="0" rtlCol="0" anchor="ctr"/>
          <a:lstStyle/>
          <a:p>
            <a:pPr marL="0" indent="0">
              <a:buNone/>
            </a:pPr>
            <a:r>
              <a:rPr lang="en-US" sz="1500" b="1" dirty="0">
                <a:solidFill>
                  <a:srgbClr val="2B2724"/>
                </a:solidFill>
                <a:latin typeface="Calibri" pitchFamily="34" charset="0"/>
                <a:ea typeface="Calibri" pitchFamily="34" charset="-122"/>
                <a:cs typeface="Calibri" pitchFamily="34" charset="-120"/>
              </a:rPr>
              <a:t>Sichtzone für die Karte</a:t>
            </a:r>
            <a:endParaRPr lang="en-US" sz="1500" dirty="0"/>
          </a:p>
        </p:txBody>
      </p:sp>
      <p:sp>
        <p:nvSpPr>
          <p:cNvPr id="53" name="Text 51"/>
          <p:cNvSpPr txBox="1"/>
          <p:nvPr/>
        </p:nvSpPr>
        <p:spPr>
          <a:xfrm>
            <a:off x="7315200" y="4727448"/>
            <a:ext cx="4297680" cy="731520"/>
          </a:xfrm>
          <a:prstGeom prst="rect">
            <a:avLst/>
          </a:prstGeom>
          <a:noFill/>
          <a:ln/>
        </p:spPr>
        <p:txBody>
          <a:bodyPr wrap="square" lIns="0" tIns="0" rIns="0" bIns="0" rtlCol="0" anchor="t"/>
          <a:lstStyle/>
          <a:p>
            <a:pPr marL="0" indent="0">
              <a:buNone/>
            </a:pPr>
            <a:r>
              <a:rPr lang="en-US" sz="1250" dirty="0">
                <a:solidFill>
                  <a:srgbClr val="2B2724"/>
                </a:solidFill>
                <a:latin typeface="Calibri" pitchFamily="34" charset="0"/>
                <a:ea typeface="Calibri" pitchFamily="34" charset="-122"/>
                <a:cs typeface="Calibri" pitchFamily="34" charset="-120"/>
              </a:rPr>
              <a:t>Rezeptkarten und ein Bild des Gerichts stehen dort, wo am leichtesten gesehen wird; schwere Gebinde in der Bückzone.</a:t>
            </a:r>
            <a:endParaRPr lang="en-US" sz="1250" dirty="0"/>
          </a:p>
        </p:txBody>
      </p:sp>
      <p:sp>
        <p:nvSpPr>
          <p:cNvPr id="54" name="Shape 52"/>
          <p:cNvSpPr/>
          <p:nvPr/>
        </p:nvSpPr>
        <p:spPr>
          <a:xfrm>
            <a:off x="7315200" y="5477256"/>
            <a:ext cx="237744" cy="237744"/>
          </a:xfrm>
          <a:prstGeom prst="ellipse">
            <a:avLst/>
          </a:prstGeom>
          <a:solidFill>
            <a:srgbClr val="4F6B3A"/>
          </a:solidFill>
          <a:ln w="12700">
            <a:solidFill>
              <a:srgbClr val="4F6B3A"/>
            </a:solidFill>
            <a:prstDash val="solid"/>
          </a:ln>
        </p:spPr>
        <p:txBody>
          <a:bodyPr/>
          <a:lstStyle/>
          <a:p>
            <a:endParaRPr lang="de-DE"/>
          </a:p>
        </p:txBody>
      </p:sp>
      <p:sp>
        <p:nvSpPr>
          <p:cNvPr id="55" name="Text 53"/>
          <p:cNvSpPr txBox="1"/>
          <p:nvPr/>
        </p:nvSpPr>
        <p:spPr>
          <a:xfrm>
            <a:off x="7315200" y="5477256"/>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Q</a:t>
            </a:r>
            <a:endParaRPr lang="en-US" sz="900" dirty="0"/>
          </a:p>
        </p:txBody>
      </p:sp>
      <p:sp>
        <p:nvSpPr>
          <p:cNvPr id="56" name="Text 54"/>
          <p:cNvSpPr txBox="1"/>
          <p:nvPr/>
        </p:nvSpPr>
        <p:spPr>
          <a:xfrm>
            <a:off x="7626096" y="5449824"/>
            <a:ext cx="3657600" cy="292608"/>
          </a:xfrm>
          <a:prstGeom prst="rect">
            <a:avLst/>
          </a:prstGeom>
          <a:noFill/>
          <a:ln/>
        </p:spPr>
        <p:txBody>
          <a:bodyPr wrap="square" lIns="0" tIns="0" rIns="0" bIns="0" rtlCol="0" anchor="ctr"/>
          <a:lstStyle/>
          <a:p>
            <a:pPr marL="0" indent="0">
              <a:buNone/>
            </a:pPr>
            <a:r>
              <a:rPr lang="en-US" sz="1000" dirty="0">
                <a:solidFill>
                  <a:srgbClr val="6F6862"/>
                </a:solidFill>
                <a:latin typeface="Calibri" pitchFamily="34" charset="0"/>
                <a:ea typeface="Calibri" pitchFamily="34" charset="-122"/>
                <a:cs typeface="Calibri" pitchFamily="34" charset="-120"/>
              </a:rPr>
              <a:t>Regalzonen, S. 302–303</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0972800" cy="274320"/>
          </a:xfrm>
          <a:prstGeom prst="rect">
            <a:avLst/>
          </a:prstGeom>
          <a:noFill/>
          <a:ln/>
        </p:spPr>
        <p:txBody>
          <a:bodyPr wrap="square" lIns="0" tIns="0" rIns="0" bIns="0" rtlCol="0" anchor="ctr"/>
          <a:lstStyle/>
          <a:p>
            <a:pPr marL="0" indent="0">
              <a:buNone/>
            </a:pPr>
            <a:r>
              <a:rPr lang="en-US" sz="1200" b="1" dirty="0">
                <a:solidFill>
                  <a:srgbClr val="B5452F"/>
                </a:solidFill>
                <a:latin typeface="Calibri" pitchFamily="34" charset="0"/>
                <a:ea typeface="Calibri" pitchFamily="34" charset="-122"/>
                <a:cs typeface="Calibri" pitchFamily="34" charset="-120"/>
              </a:rPr>
              <a:t>5 · REGALZUTEILUNG · PLATZIERUNGSREGEL</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2B2724"/>
                </a:solidFill>
                <a:latin typeface="Cambria" pitchFamily="34" charset="0"/>
                <a:ea typeface="Cambria" pitchFamily="34" charset="-122"/>
                <a:cs typeface="Cambria" pitchFamily="34" charset="-120"/>
              </a:rPr>
              <a:t>Ein Artikel, mehrere Rezepte: die Parmesan-Regel.</a:t>
            </a:r>
            <a:endParaRPr lang="en-US" sz="2800" dirty="0"/>
          </a:p>
        </p:txBody>
      </p:sp>
      <p:sp>
        <p:nvSpPr>
          <p:cNvPr id="4" name="Text 2"/>
          <p:cNvSpPr txBox="1"/>
          <p:nvPr/>
        </p:nvSpPr>
        <p:spPr>
          <a:xfrm>
            <a:off x="548640" y="6144768"/>
            <a:ext cx="11064240" cy="228600"/>
          </a:xfrm>
          <a:prstGeom prst="rect">
            <a:avLst/>
          </a:prstGeom>
          <a:noFill/>
          <a:ln/>
        </p:spPr>
        <p:txBody>
          <a:bodyPr wrap="square" lIns="0" tIns="0" rIns="0" bIns="0" rtlCol="0" anchor="ctr"/>
          <a:lstStyle/>
          <a:p>
            <a:pPr marL="0" indent="0">
              <a:buNone/>
            </a:pPr>
            <a:r>
              <a:rPr lang="en-US" sz="950" dirty="0">
                <a:solidFill>
                  <a:srgbClr val="6F6862"/>
                </a:solidFill>
                <a:latin typeface="Calibri" pitchFamily="34" charset="0"/>
                <a:ea typeface="Calibri" pitchFamily="34" charset="-122"/>
                <a:cs typeface="Calibri" pitchFamily="34" charset="-120"/>
              </a:rPr>
              <a:t>Produktblock: Ahlert, Kenning und Brock, 2020, S. 303. Regel und Fachcodes sind eigene Entscheidung.</a:t>
            </a:r>
            <a:endParaRPr lang="en-US" sz="950" dirty="0"/>
          </a:p>
        </p:txBody>
      </p:sp>
      <p:sp>
        <p:nvSpPr>
          <p:cNvPr id="5" name="Shape 3"/>
          <p:cNvSpPr/>
          <p:nvPr/>
        </p:nvSpPr>
        <p:spPr>
          <a:xfrm>
            <a:off x="548640" y="6419088"/>
            <a:ext cx="11091672" cy="0"/>
          </a:xfrm>
          <a:prstGeom prst="line">
            <a:avLst/>
          </a:prstGeom>
          <a:noFill/>
          <a:ln w="9525">
            <a:solidFill>
              <a:srgbClr val="D9D1C5"/>
            </a:solidFill>
            <a:prstDash val="solid"/>
          </a:ln>
        </p:spPr>
        <p:txBody>
          <a:bodyPr/>
          <a:lstStyle/>
          <a:p>
            <a:endParaRPr lang="de-DE"/>
          </a:p>
        </p:txBody>
      </p:sp>
      <p:sp>
        <p:nvSpPr>
          <p:cNvPr id="6" name="Text 4"/>
          <p:cNvSpPr txBox="1"/>
          <p:nvPr/>
        </p:nvSpPr>
        <p:spPr>
          <a:xfrm>
            <a:off x="548640" y="6473952"/>
            <a:ext cx="7315200" cy="228600"/>
          </a:xfrm>
          <a:prstGeom prst="rect">
            <a:avLst/>
          </a:prstGeom>
          <a:noFill/>
          <a:ln/>
        </p:spPr>
        <p:txBody>
          <a:bodyPr wrap="square" lIns="0" tIns="0" rIns="0" bIns="0" rtlCol="0" anchor="ctr"/>
          <a:lstStyle/>
          <a:p>
            <a:pPr marL="0" indent="0">
              <a:buNone/>
            </a:pPr>
            <a:r>
              <a:rPr lang="en-US" sz="900" dirty="0">
                <a:solidFill>
                  <a:srgbClr val="6F6862"/>
                </a:solidFill>
                <a:latin typeface="Calibri" pitchFamily="34" charset="0"/>
                <a:ea typeface="Calibri" pitchFamily="34" charset="-122"/>
                <a:cs typeface="Calibri" pitchFamily="34" charset="-120"/>
              </a:rPr>
              <a:t>One Hour Kitchen · Store-Konzept · Kurs HD25A23</a:t>
            </a:r>
            <a:endParaRPr lang="en-US" sz="900" dirty="0"/>
          </a:p>
        </p:txBody>
      </p:sp>
      <p:sp>
        <p:nvSpPr>
          <p:cNvPr id="7" name="Text 5"/>
          <p:cNvSpPr txBox="1"/>
          <p:nvPr/>
        </p:nvSpPr>
        <p:spPr>
          <a:xfrm>
            <a:off x="10725912" y="6473952"/>
            <a:ext cx="914400" cy="228600"/>
          </a:xfrm>
          <a:prstGeom prst="rect">
            <a:avLst/>
          </a:prstGeom>
          <a:noFill/>
          <a:ln/>
        </p:spPr>
        <p:txBody>
          <a:bodyPr wrap="square" lIns="0" tIns="0" rIns="0" bIns="0" rtlCol="0" anchor="ctr"/>
          <a:lstStyle/>
          <a:p>
            <a:pPr marL="0" indent="0" algn="r">
              <a:buNone/>
            </a:pPr>
            <a:r>
              <a:rPr lang="en-US" sz="900" dirty="0">
                <a:solidFill>
                  <a:srgbClr val="6F6862"/>
                </a:solidFill>
                <a:latin typeface="Calibri" pitchFamily="34" charset="0"/>
                <a:ea typeface="Calibri" pitchFamily="34" charset="-122"/>
                <a:cs typeface="Calibri" pitchFamily="34" charset="-120"/>
              </a:rPr>
              <a:t>11</a:t>
            </a:r>
            <a:endParaRPr lang="en-US" sz="900" dirty="0"/>
          </a:p>
        </p:txBody>
      </p:sp>
      <p:sp>
        <p:nvSpPr>
          <p:cNvPr id="8" name="Shape 6"/>
          <p:cNvSpPr/>
          <p:nvPr/>
        </p:nvSpPr>
        <p:spPr>
          <a:xfrm>
            <a:off x="548640" y="1463040"/>
            <a:ext cx="3017520" cy="1097280"/>
          </a:xfrm>
          <a:prstGeom prst="rect">
            <a:avLst/>
          </a:prstGeom>
          <a:solidFill>
            <a:srgbClr val="B5452F"/>
          </a:solidFill>
          <a:ln w="12700">
            <a:solidFill>
              <a:srgbClr val="B5452F"/>
            </a:solidFill>
            <a:prstDash val="solid"/>
          </a:ln>
        </p:spPr>
        <p:txBody>
          <a:bodyPr/>
          <a:lstStyle/>
          <a:p>
            <a:endParaRPr lang="de-DE"/>
          </a:p>
        </p:txBody>
      </p:sp>
      <p:sp>
        <p:nvSpPr>
          <p:cNvPr id="9" name="Text 7"/>
          <p:cNvSpPr txBox="1"/>
          <p:nvPr/>
        </p:nvSpPr>
        <p:spPr>
          <a:xfrm>
            <a:off x="548640" y="1463040"/>
            <a:ext cx="3017520" cy="10972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Rezept #01</a:t>
            </a:r>
            <a:endParaRPr lang="en-US" sz="1600" dirty="0"/>
          </a:p>
          <a:p>
            <a:pPr marL="0" indent="0" algn="ctr">
              <a:buNone/>
            </a:pPr>
            <a:r>
              <a:rPr lang="en-US" sz="1200" dirty="0">
                <a:solidFill>
                  <a:srgbClr val="FFFFFF"/>
                </a:solidFill>
                <a:latin typeface="Calibri" pitchFamily="34" charset="0"/>
                <a:ea typeface="Calibri" pitchFamily="34" charset="-122"/>
                <a:cs typeface="Calibri" pitchFamily="34" charset="-120"/>
              </a:rPr>
              <a:t>Creamy Tomato Pasta</a:t>
            </a:r>
            <a:endParaRPr lang="en-US" sz="1600" dirty="0"/>
          </a:p>
        </p:txBody>
      </p:sp>
      <p:sp>
        <p:nvSpPr>
          <p:cNvPr id="10" name="Shape 8"/>
          <p:cNvSpPr/>
          <p:nvPr/>
        </p:nvSpPr>
        <p:spPr>
          <a:xfrm>
            <a:off x="548640" y="3291840"/>
            <a:ext cx="3017520" cy="1097280"/>
          </a:xfrm>
          <a:prstGeom prst="rect">
            <a:avLst/>
          </a:prstGeom>
          <a:solidFill>
            <a:srgbClr val="B5452F"/>
          </a:solidFill>
          <a:ln w="12700">
            <a:solidFill>
              <a:srgbClr val="B5452F"/>
            </a:solidFill>
            <a:prstDash val="solid"/>
          </a:ln>
        </p:spPr>
        <p:txBody>
          <a:bodyPr/>
          <a:lstStyle/>
          <a:p>
            <a:endParaRPr lang="de-DE"/>
          </a:p>
        </p:txBody>
      </p:sp>
      <p:sp>
        <p:nvSpPr>
          <p:cNvPr id="11" name="Text 9"/>
          <p:cNvSpPr txBox="1"/>
          <p:nvPr/>
        </p:nvSpPr>
        <p:spPr>
          <a:xfrm>
            <a:off x="548640" y="3291840"/>
            <a:ext cx="3017520" cy="10972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Rezept #02</a:t>
            </a:r>
            <a:endParaRPr lang="en-US" sz="1600" dirty="0"/>
          </a:p>
          <a:p>
            <a:pPr marL="0" indent="0" algn="ctr">
              <a:buNone/>
            </a:pPr>
            <a:r>
              <a:rPr lang="en-US" sz="1200" dirty="0">
                <a:solidFill>
                  <a:srgbClr val="FFFFFF"/>
                </a:solidFill>
                <a:latin typeface="Calibri" pitchFamily="34" charset="0"/>
                <a:ea typeface="Calibri" pitchFamily="34" charset="-122"/>
                <a:cs typeface="Calibri" pitchFamily="34" charset="-120"/>
              </a:rPr>
              <a:t>Tagliatelle al Limone</a:t>
            </a:r>
            <a:endParaRPr lang="en-US" sz="1600" dirty="0"/>
          </a:p>
        </p:txBody>
      </p:sp>
      <p:sp>
        <p:nvSpPr>
          <p:cNvPr id="12" name="Shape 10"/>
          <p:cNvSpPr/>
          <p:nvPr/>
        </p:nvSpPr>
        <p:spPr>
          <a:xfrm>
            <a:off x="4663440" y="2148840"/>
            <a:ext cx="3108960" cy="1554480"/>
          </a:xfrm>
          <a:prstGeom prst="rect">
            <a:avLst/>
          </a:prstGeom>
          <a:solidFill>
            <a:srgbClr val="4F6B3A"/>
          </a:solidFill>
          <a:ln w="12700">
            <a:solidFill>
              <a:srgbClr val="4F6B3A"/>
            </a:solidFill>
            <a:prstDash val="solid"/>
          </a:ln>
        </p:spPr>
        <p:txBody>
          <a:bodyPr/>
          <a:lstStyle/>
          <a:p>
            <a:endParaRPr lang="de-DE"/>
          </a:p>
        </p:txBody>
      </p:sp>
      <p:sp>
        <p:nvSpPr>
          <p:cNvPr id="13" name="Text 11"/>
          <p:cNvSpPr txBox="1"/>
          <p:nvPr/>
        </p:nvSpPr>
        <p:spPr>
          <a:xfrm>
            <a:off x="4800600" y="2148840"/>
            <a:ext cx="2834640" cy="1554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Hauptplatzierung</a:t>
            </a:r>
            <a:endParaRPr lang="en-US" sz="1600" dirty="0"/>
          </a:p>
          <a:p>
            <a:pPr marL="0" indent="0" algn="ctr">
              <a:buNone/>
            </a:pPr>
            <a:r>
              <a:rPr lang="en-US" sz="1200" dirty="0">
                <a:solidFill>
                  <a:srgbClr val="FFFFFF"/>
                </a:solidFill>
                <a:latin typeface="Calibri" pitchFamily="34" charset="0"/>
                <a:ea typeface="Calibri" pitchFamily="34" charset="-122"/>
                <a:cs typeface="Calibri" pitchFamily="34" charset="-120"/>
              </a:rPr>
              <a:t>Parmesan im Kühlregal Frische, Fach K3, Produktblock Käse</a:t>
            </a:r>
            <a:endParaRPr lang="en-US" sz="1600" dirty="0"/>
          </a:p>
        </p:txBody>
      </p:sp>
      <p:sp>
        <p:nvSpPr>
          <p:cNvPr id="14" name="Shape 12"/>
          <p:cNvSpPr/>
          <p:nvPr/>
        </p:nvSpPr>
        <p:spPr>
          <a:xfrm>
            <a:off x="3566160" y="2011680"/>
            <a:ext cx="1097280" cy="777240"/>
          </a:xfrm>
          <a:prstGeom prst="line">
            <a:avLst/>
          </a:prstGeom>
          <a:noFill/>
          <a:ln w="25400">
            <a:solidFill>
              <a:srgbClr val="2B2724"/>
            </a:solidFill>
            <a:prstDash val="solid"/>
            <a:tailEnd type="triangle"/>
          </a:ln>
        </p:spPr>
        <p:txBody>
          <a:bodyPr/>
          <a:lstStyle/>
          <a:p>
            <a:endParaRPr lang="de-DE"/>
          </a:p>
        </p:txBody>
      </p:sp>
      <p:sp>
        <p:nvSpPr>
          <p:cNvPr id="15" name="Shape 13"/>
          <p:cNvSpPr/>
          <p:nvPr/>
        </p:nvSpPr>
        <p:spPr>
          <a:xfrm flipV="1">
            <a:off x="3566160" y="3063240"/>
            <a:ext cx="1097280" cy="777240"/>
          </a:xfrm>
          <a:prstGeom prst="line">
            <a:avLst/>
          </a:prstGeom>
          <a:noFill/>
          <a:ln w="25400">
            <a:solidFill>
              <a:srgbClr val="2B2724"/>
            </a:solidFill>
            <a:prstDash val="solid"/>
            <a:tailEnd type="triangle"/>
          </a:ln>
        </p:spPr>
        <p:txBody>
          <a:bodyPr/>
          <a:lstStyle/>
          <a:p>
            <a:endParaRPr lang="de-DE"/>
          </a:p>
        </p:txBody>
      </p:sp>
      <p:sp>
        <p:nvSpPr>
          <p:cNvPr id="16" name="Text 14"/>
          <p:cNvSpPr txBox="1"/>
          <p:nvPr/>
        </p:nvSpPr>
        <p:spPr>
          <a:xfrm>
            <a:off x="3246120" y="4617720"/>
            <a:ext cx="4754880" cy="320040"/>
          </a:xfrm>
          <a:prstGeom prst="rect">
            <a:avLst/>
          </a:prstGeom>
          <a:noFill/>
          <a:ln/>
        </p:spPr>
        <p:txBody>
          <a:bodyPr wrap="square" lIns="0" tIns="0" rIns="0" bIns="0" rtlCol="0" anchor="ctr"/>
          <a:lstStyle/>
          <a:p>
            <a:pPr marL="0" indent="0" algn="ctr">
              <a:buNone/>
            </a:pPr>
            <a:r>
              <a:rPr lang="en-US" sz="1200" i="1" dirty="0">
                <a:solidFill>
                  <a:srgbClr val="6F6862"/>
                </a:solidFill>
                <a:latin typeface="Calibri" pitchFamily="34" charset="0"/>
                <a:ea typeface="Calibri" pitchFamily="34" charset="-122"/>
                <a:cs typeface="Calibri" pitchFamily="34" charset="-120"/>
              </a:rPr>
              <a:t>Karte verweist auf „K3“</a:t>
            </a:r>
            <a:endParaRPr lang="en-US" sz="1200" dirty="0"/>
          </a:p>
        </p:txBody>
      </p:sp>
      <p:sp>
        <p:nvSpPr>
          <p:cNvPr id="17" name="Text 15"/>
          <p:cNvSpPr txBox="1"/>
          <p:nvPr/>
        </p:nvSpPr>
        <p:spPr>
          <a:xfrm>
            <a:off x="8229600" y="1417320"/>
            <a:ext cx="3383280" cy="365760"/>
          </a:xfrm>
          <a:prstGeom prst="rect">
            <a:avLst/>
          </a:prstGeom>
          <a:noFill/>
          <a:ln/>
        </p:spPr>
        <p:txBody>
          <a:bodyPr wrap="square" lIns="0" tIns="0" rIns="0" bIns="0" rtlCol="0" anchor="ctr"/>
          <a:lstStyle/>
          <a:p>
            <a:pPr marL="0" indent="0">
              <a:buNone/>
            </a:pPr>
            <a:r>
              <a:rPr lang="en-US" sz="1800" b="1" dirty="0">
                <a:solidFill>
                  <a:srgbClr val="2B2724"/>
                </a:solidFill>
                <a:latin typeface="Cambria" pitchFamily="34" charset="0"/>
                <a:ea typeface="Cambria" pitchFamily="34" charset="-122"/>
                <a:cs typeface="Cambria" pitchFamily="34" charset="-120"/>
              </a:rPr>
              <a:t>Unsere Regel</a:t>
            </a:r>
            <a:endParaRPr lang="en-US" sz="1800" dirty="0"/>
          </a:p>
        </p:txBody>
      </p:sp>
      <p:sp>
        <p:nvSpPr>
          <p:cNvPr id="18" name="Shape 16"/>
          <p:cNvSpPr/>
          <p:nvPr/>
        </p:nvSpPr>
        <p:spPr>
          <a:xfrm>
            <a:off x="8229600" y="1920240"/>
            <a:ext cx="292608" cy="292608"/>
          </a:xfrm>
          <a:prstGeom prst="ellipse">
            <a:avLst/>
          </a:prstGeom>
          <a:solidFill>
            <a:srgbClr val="B5452F"/>
          </a:solidFill>
          <a:ln w="12700">
            <a:solidFill>
              <a:srgbClr val="FFFFFF"/>
            </a:solidFill>
            <a:prstDash val="solid"/>
          </a:ln>
        </p:spPr>
        <p:txBody>
          <a:bodyPr/>
          <a:lstStyle/>
          <a:p>
            <a:endParaRPr lang="de-DE"/>
          </a:p>
        </p:txBody>
      </p:sp>
      <p:sp>
        <p:nvSpPr>
          <p:cNvPr id="19" name="Text 17"/>
          <p:cNvSpPr txBox="1"/>
          <p:nvPr/>
        </p:nvSpPr>
        <p:spPr>
          <a:xfrm>
            <a:off x="8229600" y="192024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8"/>
          <p:cNvSpPr txBox="1"/>
          <p:nvPr/>
        </p:nvSpPr>
        <p:spPr>
          <a:xfrm>
            <a:off x="8641080" y="1874520"/>
            <a:ext cx="3017520" cy="914400"/>
          </a:xfrm>
          <a:prstGeom prst="rect">
            <a:avLst/>
          </a:prstGeom>
          <a:noFill/>
          <a:ln/>
        </p:spPr>
        <p:txBody>
          <a:bodyPr wrap="square" lIns="0" tIns="0" rIns="0" bIns="0" rtlCol="0" anchor="t"/>
          <a:lstStyle/>
          <a:p>
            <a:pPr marL="0" indent="0">
              <a:buNone/>
            </a:pPr>
            <a:r>
              <a:rPr lang="en-US" sz="1250" dirty="0">
                <a:solidFill>
                  <a:srgbClr val="2B2724"/>
                </a:solidFill>
                <a:latin typeface="Calibri" pitchFamily="34" charset="0"/>
                <a:ea typeface="Calibri" pitchFamily="34" charset="-122"/>
                <a:cs typeface="Calibri" pitchFamily="34" charset="-120"/>
              </a:rPr>
              <a:t>Jeder Artikel hat genau eine Hauptplatzierung im Basissortiment oder in der Kühlung.</a:t>
            </a:r>
            <a:endParaRPr lang="en-US" sz="1250" dirty="0"/>
          </a:p>
        </p:txBody>
      </p:sp>
      <p:sp>
        <p:nvSpPr>
          <p:cNvPr id="21" name="Shape 19"/>
          <p:cNvSpPr/>
          <p:nvPr/>
        </p:nvSpPr>
        <p:spPr>
          <a:xfrm>
            <a:off x="8229600" y="2971800"/>
            <a:ext cx="292608" cy="292608"/>
          </a:xfrm>
          <a:prstGeom prst="ellipse">
            <a:avLst/>
          </a:prstGeom>
          <a:solidFill>
            <a:srgbClr val="B5452F"/>
          </a:solidFill>
          <a:ln w="12700">
            <a:solidFill>
              <a:srgbClr val="FFFFFF"/>
            </a:solidFill>
            <a:prstDash val="solid"/>
          </a:ln>
        </p:spPr>
        <p:txBody>
          <a:bodyPr/>
          <a:lstStyle/>
          <a:p>
            <a:endParaRPr lang="de-DE"/>
          </a:p>
        </p:txBody>
      </p:sp>
      <p:sp>
        <p:nvSpPr>
          <p:cNvPr id="22" name="Text 20"/>
          <p:cNvSpPr txBox="1"/>
          <p:nvPr/>
        </p:nvSpPr>
        <p:spPr>
          <a:xfrm>
            <a:off x="8229600" y="297180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3" name="Text 21"/>
          <p:cNvSpPr txBox="1"/>
          <p:nvPr/>
        </p:nvSpPr>
        <p:spPr>
          <a:xfrm>
            <a:off x="8641080" y="2926080"/>
            <a:ext cx="3017520" cy="914400"/>
          </a:xfrm>
          <a:prstGeom prst="rect">
            <a:avLst/>
          </a:prstGeom>
          <a:noFill/>
          <a:ln/>
        </p:spPr>
        <p:txBody>
          <a:bodyPr wrap="square" lIns="0" tIns="0" rIns="0" bIns="0" rtlCol="0" anchor="t"/>
          <a:lstStyle/>
          <a:p>
            <a:pPr marL="0" indent="0">
              <a:buNone/>
            </a:pPr>
            <a:r>
              <a:rPr lang="en-US" sz="1250" dirty="0">
                <a:solidFill>
                  <a:srgbClr val="2B2724"/>
                </a:solidFill>
                <a:latin typeface="Calibri" pitchFamily="34" charset="0"/>
                <a:ea typeface="Calibri" pitchFamily="34" charset="-122"/>
                <a:cs typeface="Calibri" pitchFamily="34" charset="-120"/>
              </a:rPr>
              <a:t>Ungekühlte Artikel dürfen zusätzlich als Zweitplatzierung in einer Kochwelt stehen.</a:t>
            </a:r>
            <a:endParaRPr lang="en-US" sz="1250" dirty="0"/>
          </a:p>
        </p:txBody>
      </p:sp>
      <p:sp>
        <p:nvSpPr>
          <p:cNvPr id="24" name="Shape 22"/>
          <p:cNvSpPr/>
          <p:nvPr/>
        </p:nvSpPr>
        <p:spPr>
          <a:xfrm>
            <a:off x="8229600" y="4023360"/>
            <a:ext cx="292608" cy="292608"/>
          </a:xfrm>
          <a:prstGeom prst="ellipse">
            <a:avLst/>
          </a:prstGeom>
          <a:solidFill>
            <a:srgbClr val="B5452F"/>
          </a:solidFill>
          <a:ln w="12700">
            <a:solidFill>
              <a:srgbClr val="FFFFFF"/>
            </a:solidFill>
            <a:prstDash val="solid"/>
          </a:ln>
        </p:spPr>
        <p:txBody>
          <a:bodyPr/>
          <a:lstStyle/>
          <a:p>
            <a:endParaRPr lang="de-DE"/>
          </a:p>
        </p:txBody>
      </p:sp>
      <p:sp>
        <p:nvSpPr>
          <p:cNvPr id="25" name="Text 23"/>
          <p:cNvSpPr txBox="1"/>
          <p:nvPr/>
        </p:nvSpPr>
        <p:spPr>
          <a:xfrm>
            <a:off x="8229600" y="402336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6" name="Text 24"/>
          <p:cNvSpPr txBox="1"/>
          <p:nvPr/>
        </p:nvSpPr>
        <p:spPr>
          <a:xfrm>
            <a:off x="8641080" y="3977640"/>
            <a:ext cx="3017520" cy="914400"/>
          </a:xfrm>
          <a:prstGeom prst="rect">
            <a:avLst/>
          </a:prstGeom>
          <a:noFill/>
          <a:ln/>
        </p:spPr>
        <p:txBody>
          <a:bodyPr wrap="square" lIns="0" tIns="0" rIns="0" bIns="0" rtlCol="0" anchor="t"/>
          <a:lstStyle/>
          <a:p>
            <a:pPr marL="0" indent="0">
              <a:buNone/>
            </a:pPr>
            <a:r>
              <a:rPr lang="en-US" sz="1250" dirty="0">
                <a:solidFill>
                  <a:srgbClr val="2B2724"/>
                </a:solidFill>
                <a:latin typeface="Calibri" pitchFamily="34" charset="0"/>
                <a:ea typeface="Calibri" pitchFamily="34" charset="-122"/>
                <a:cs typeface="Calibri" pitchFamily="34" charset="-120"/>
              </a:rPr>
              <a:t>Kühlpflichtige Artikel stehen nie in der Kochwelt. Die Rezeptkarte nennt ihren Fundort mit Fachcode.</a:t>
            </a:r>
            <a:endParaRPr lang="en-US" sz="1250" dirty="0"/>
          </a:p>
        </p:txBody>
      </p:sp>
      <p:sp>
        <p:nvSpPr>
          <p:cNvPr id="27" name="Shape 25"/>
          <p:cNvSpPr/>
          <p:nvPr/>
        </p:nvSpPr>
        <p:spPr>
          <a:xfrm>
            <a:off x="8229600" y="5120640"/>
            <a:ext cx="237744" cy="237744"/>
          </a:xfrm>
          <a:prstGeom prst="ellipse">
            <a:avLst/>
          </a:prstGeom>
          <a:solidFill>
            <a:srgbClr val="B5452F"/>
          </a:solidFill>
          <a:ln w="12700">
            <a:solidFill>
              <a:srgbClr val="B5452F"/>
            </a:solidFill>
            <a:prstDash val="solid"/>
          </a:ln>
        </p:spPr>
        <p:txBody>
          <a:bodyPr/>
          <a:lstStyle/>
          <a:p>
            <a:endParaRPr lang="de-DE"/>
          </a:p>
        </p:txBody>
      </p:sp>
      <p:sp>
        <p:nvSpPr>
          <p:cNvPr id="28" name="Text 26"/>
          <p:cNvSpPr txBox="1"/>
          <p:nvPr/>
        </p:nvSpPr>
        <p:spPr>
          <a:xfrm>
            <a:off x="8229600" y="5120640"/>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9" name="Text 27"/>
          <p:cNvSpPr txBox="1"/>
          <p:nvPr/>
        </p:nvSpPr>
        <p:spPr>
          <a:xfrm>
            <a:off x="8540496" y="5093208"/>
            <a:ext cx="3017520" cy="292608"/>
          </a:xfrm>
          <a:prstGeom prst="rect">
            <a:avLst/>
          </a:prstGeom>
          <a:noFill/>
          <a:ln/>
        </p:spPr>
        <p:txBody>
          <a:bodyPr wrap="square" lIns="0" tIns="0" rIns="0" bIns="0" rtlCol="0" anchor="ctr"/>
          <a:lstStyle/>
          <a:p>
            <a:pPr marL="0" indent="0">
              <a:buNone/>
            </a:pPr>
            <a:r>
              <a:rPr lang="en-US" sz="1000" dirty="0">
                <a:solidFill>
                  <a:srgbClr val="6F6862"/>
                </a:solidFill>
                <a:latin typeface="Calibri" pitchFamily="34" charset="0"/>
                <a:ea typeface="Calibri" pitchFamily="34" charset="-122"/>
                <a:cs typeface="Calibri" pitchFamily="34" charset="-120"/>
              </a:rPr>
              <a:t>Eigene Entscheidung, Wirkung nicht belegt</a:t>
            </a:r>
            <a:endParaRPr lang="en-US" sz="1000" dirty="0"/>
          </a:p>
        </p:txBody>
      </p:sp>
      <p:sp>
        <p:nvSpPr>
          <p:cNvPr id="30" name="Shape 28"/>
          <p:cNvSpPr/>
          <p:nvPr/>
        </p:nvSpPr>
        <p:spPr>
          <a:xfrm>
            <a:off x="548640" y="5120640"/>
            <a:ext cx="237744" cy="237744"/>
          </a:xfrm>
          <a:prstGeom prst="ellipse">
            <a:avLst/>
          </a:prstGeom>
          <a:solidFill>
            <a:srgbClr val="4F6B3A"/>
          </a:solidFill>
          <a:ln w="12700">
            <a:solidFill>
              <a:srgbClr val="4F6B3A"/>
            </a:solidFill>
            <a:prstDash val="solid"/>
          </a:ln>
        </p:spPr>
        <p:txBody>
          <a:bodyPr/>
          <a:lstStyle/>
          <a:p>
            <a:endParaRPr lang="de-DE"/>
          </a:p>
        </p:txBody>
      </p:sp>
      <p:sp>
        <p:nvSpPr>
          <p:cNvPr id="31" name="Text 29"/>
          <p:cNvSpPr txBox="1"/>
          <p:nvPr/>
        </p:nvSpPr>
        <p:spPr>
          <a:xfrm>
            <a:off x="548640" y="5120640"/>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Q</a:t>
            </a:r>
            <a:endParaRPr lang="en-US" sz="900" dirty="0"/>
          </a:p>
        </p:txBody>
      </p:sp>
      <p:sp>
        <p:nvSpPr>
          <p:cNvPr id="32" name="Text 30"/>
          <p:cNvSpPr txBox="1"/>
          <p:nvPr/>
        </p:nvSpPr>
        <p:spPr>
          <a:xfrm>
            <a:off x="859536" y="5093208"/>
            <a:ext cx="6858000" cy="292608"/>
          </a:xfrm>
          <a:prstGeom prst="rect">
            <a:avLst/>
          </a:prstGeom>
          <a:noFill/>
          <a:ln/>
        </p:spPr>
        <p:txBody>
          <a:bodyPr wrap="square" lIns="0" tIns="0" rIns="0" bIns="0" rtlCol="0" anchor="ctr"/>
          <a:lstStyle/>
          <a:p>
            <a:pPr marL="0" indent="0">
              <a:buNone/>
            </a:pPr>
            <a:r>
              <a:rPr lang="en-US" sz="1000" dirty="0">
                <a:solidFill>
                  <a:srgbClr val="6F6862"/>
                </a:solidFill>
                <a:latin typeface="Calibri" pitchFamily="34" charset="0"/>
                <a:ea typeface="Calibri" pitchFamily="34" charset="-122"/>
                <a:cs typeface="Calibri" pitchFamily="34" charset="-120"/>
              </a:rPr>
              <a:t>Produktblock: ähnliche Produktarten stehen zusammen, S. 303</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0972800" cy="274320"/>
          </a:xfrm>
          <a:prstGeom prst="rect">
            <a:avLst/>
          </a:prstGeom>
          <a:noFill/>
          <a:ln/>
        </p:spPr>
        <p:txBody>
          <a:bodyPr wrap="square" lIns="0" tIns="0" rIns="0" bIns="0" rtlCol="0" anchor="ctr"/>
          <a:lstStyle/>
          <a:p>
            <a:pPr marL="0" indent="0">
              <a:buNone/>
            </a:pPr>
            <a:r>
              <a:rPr lang="en-US" sz="1200" b="1" dirty="0">
                <a:solidFill>
                  <a:srgbClr val="B5452F"/>
                </a:solidFill>
                <a:latin typeface="Calibri" pitchFamily="34" charset="0"/>
                <a:ea typeface="Calibri" pitchFamily="34" charset="-122"/>
                <a:cs typeface="Calibri" pitchFamily="34" charset="-120"/>
              </a:rPr>
              <a:t>6 · WARENPRÄSENTATION · KERNELEMENT</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2B2724"/>
                </a:solidFill>
                <a:latin typeface="Cambria" pitchFamily="34" charset="0"/>
                <a:ea typeface="Cambria" pitchFamily="34" charset="-122"/>
                <a:cs typeface="Cambria" pitchFamily="34" charset="-120"/>
              </a:rPr>
              <a:t>Das Matrix-Dashboard: Küche × Anlass = ein Rezept.</a:t>
            </a:r>
            <a:endParaRPr lang="en-US" sz="2800" dirty="0"/>
          </a:p>
        </p:txBody>
      </p:sp>
      <p:sp>
        <p:nvSpPr>
          <p:cNvPr id="4" name="Text 2"/>
          <p:cNvSpPr txBox="1"/>
          <p:nvPr/>
        </p:nvSpPr>
        <p:spPr>
          <a:xfrm>
            <a:off x="548640" y="6144768"/>
            <a:ext cx="11064240" cy="228600"/>
          </a:xfrm>
          <a:prstGeom prst="rect">
            <a:avLst/>
          </a:prstGeom>
          <a:noFill/>
          <a:ln/>
        </p:spPr>
        <p:txBody>
          <a:bodyPr wrap="square" lIns="0" tIns="0" rIns="0" bIns="0" rtlCol="0" anchor="ctr"/>
          <a:lstStyle/>
          <a:p>
            <a:pPr marL="0" indent="0">
              <a:buNone/>
            </a:pPr>
            <a:r>
              <a:rPr lang="en-US" sz="950" dirty="0">
                <a:solidFill>
                  <a:srgbClr val="6F6862"/>
                </a:solidFill>
                <a:latin typeface="Calibri" pitchFamily="34" charset="0"/>
                <a:ea typeface="Calibri" pitchFamily="34" charset="-122"/>
                <a:cs typeface="Calibri" pitchFamily="34" charset="-120"/>
              </a:rPr>
              <a:t>Rezepte, Zeiten, Preise und Kriterien sind Fallannahmen. Ordnungsprinzip in Anlehnung an den Kreuzblock, Ahlert, Kenning und Brock, 2020, S. 303.</a:t>
            </a:r>
            <a:endParaRPr lang="en-US" sz="950" dirty="0"/>
          </a:p>
        </p:txBody>
      </p:sp>
      <p:sp>
        <p:nvSpPr>
          <p:cNvPr id="5" name="Shape 3"/>
          <p:cNvSpPr/>
          <p:nvPr/>
        </p:nvSpPr>
        <p:spPr>
          <a:xfrm>
            <a:off x="548640" y="6419088"/>
            <a:ext cx="11091672" cy="0"/>
          </a:xfrm>
          <a:prstGeom prst="line">
            <a:avLst/>
          </a:prstGeom>
          <a:noFill/>
          <a:ln w="9525">
            <a:solidFill>
              <a:srgbClr val="D9D1C5"/>
            </a:solidFill>
            <a:prstDash val="solid"/>
          </a:ln>
        </p:spPr>
        <p:txBody>
          <a:bodyPr/>
          <a:lstStyle/>
          <a:p>
            <a:endParaRPr lang="de-DE"/>
          </a:p>
        </p:txBody>
      </p:sp>
      <p:sp>
        <p:nvSpPr>
          <p:cNvPr id="6" name="Text 4"/>
          <p:cNvSpPr txBox="1"/>
          <p:nvPr/>
        </p:nvSpPr>
        <p:spPr>
          <a:xfrm>
            <a:off x="548640" y="6473952"/>
            <a:ext cx="7315200" cy="228600"/>
          </a:xfrm>
          <a:prstGeom prst="rect">
            <a:avLst/>
          </a:prstGeom>
          <a:noFill/>
          <a:ln/>
        </p:spPr>
        <p:txBody>
          <a:bodyPr wrap="square" lIns="0" tIns="0" rIns="0" bIns="0" rtlCol="0" anchor="ctr"/>
          <a:lstStyle/>
          <a:p>
            <a:pPr marL="0" indent="0">
              <a:buNone/>
            </a:pPr>
            <a:r>
              <a:rPr lang="en-US" sz="900" dirty="0">
                <a:solidFill>
                  <a:srgbClr val="6F6862"/>
                </a:solidFill>
                <a:latin typeface="Calibri" pitchFamily="34" charset="0"/>
                <a:ea typeface="Calibri" pitchFamily="34" charset="-122"/>
                <a:cs typeface="Calibri" pitchFamily="34" charset="-120"/>
              </a:rPr>
              <a:t>One Hour Kitchen · Store-Konzept · Kurs HD25A23</a:t>
            </a:r>
            <a:endParaRPr lang="en-US" sz="900" dirty="0"/>
          </a:p>
        </p:txBody>
      </p:sp>
      <p:sp>
        <p:nvSpPr>
          <p:cNvPr id="7" name="Text 5"/>
          <p:cNvSpPr txBox="1"/>
          <p:nvPr/>
        </p:nvSpPr>
        <p:spPr>
          <a:xfrm>
            <a:off x="10725912" y="6473952"/>
            <a:ext cx="914400" cy="228600"/>
          </a:xfrm>
          <a:prstGeom prst="rect">
            <a:avLst/>
          </a:prstGeom>
          <a:noFill/>
          <a:ln/>
        </p:spPr>
        <p:txBody>
          <a:bodyPr wrap="square" lIns="0" tIns="0" rIns="0" bIns="0" rtlCol="0" anchor="ctr"/>
          <a:lstStyle/>
          <a:p>
            <a:pPr marL="0" indent="0" algn="r">
              <a:buNone/>
            </a:pPr>
            <a:r>
              <a:rPr lang="en-US" sz="900" dirty="0">
                <a:solidFill>
                  <a:srgbClr val="6F6862"/>
                </a:solidFill>
                <a:latin typeface="Calibri" pitchFamily="34" charset="0"/>
                <a:ea typeface="Calibri" pitchFamily="34" charset="-122"/>
                <a:cs typeface="Calibri" pitchFamily="34" charset="-120"/>
              </a:rPr>
              <a:t>12</a:t>
            </a:r>
            <a:endParaRPr lang="en-US" sz="900" dirty="0"/>
          </a:p>
        </p:txBody>
      </p:sp>
      <p:sp>
        <p:nvSpPr>
          <p:cNvPr id="8" name="Shape 6"/>
          <p:cNvSpPr/>
          <p:nvPr/>
        </p:nvSpPr>
        <p:spPr>
          <a:xfrm>
            <a:off x="548640" y="1417320"/>
            <a:ext cx="1600200" cy="502920"/>
          </a:xfrm>
          <a:prstGeom prst="rect">
            <a:avLst/>
          </a:prstGeom>
          <a:solidFill>
            <a:srgbClr val="2B2724"/>
          </a:solidFill>
          <a:ln w="19050">
            <a:solidFill>
              <a:srgbClr val="FFFFFF"/>
            </a:solidFill>
            <a:prstDash val="solid"/>
          </a:ln>
        </p:spPr>
        <p:txBody>
          <a:bodyPr/>
          <a:lstStyle/>
          <a:p>
            <a:endParaRPr lang="de-DE"/>
          </a:p>
        </p:txBody>
      </p:sp>
      <p:sp>
        <p:nvSpPr>
          <p:cNvPr id="9" name="Text 7"/>
          <p:cNvSpPr txBox="1"/>
          <p:nvPr/>
        </p:nvSpPr>
        <p:spPr>
          <a:xfrm>
            <a:off x="548640" y="1417320"/>
            <a:ext cx="1600200"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Anlass ↓  Küche →</a:t>
            </a:r>
            <a:endParaRPr lang="en-US" sz="1050" dirty="0"/>
          </a:p>
        </p:txBody>
      </p:sp>
      <p:sp>
        <p:nvSpPr>
          <p:cNvPr id="10" name="Shape 8"/>
          <p:cNvSpPr/>
          <p:nvPr/>
        </p:nvSpPr>
        <p:spPr>
          <a:xfrm>
            <a:off x="2148840" y="1417320"/>
            <a:ext cx="1691640" cy="502920"/>
          </a:xfrm>
          <a:prstGeom prst="rect">
            <a:avLst/>
          </a:prstGeom>
          <a:solidFill>
            <a:srgbClr val="B5452F"/>
          </a:solidFill>
          <a:ln w="19050">
            <a:solidFill>
              <a:srgbClr val="FFFFFF"/>
            </a:solidFill>
            <a:prstDash val="solid"/>
          </a:ln>
        </p:spPr>
        <p:txBody>
          <a:bodyPr/>
          <a:lstStyle/>
          <a:p>
            <a:endParaRPr lang="de-DE"/>
          </a:p>
        </p:txBody>
      </p:sp>
      <p:sp>
        <p:nvSpPr>
          <p:cNvPr id="11" name="Text 9"/>
          <p:cNvSpPr txBox="1"/>
          <p:nvPr/>
        </p:nvSpPr>
        <p:spPr>
          <a:xfrm>
            <a:off x="2148840" y="1417320"/>
            <a:ext cx="169164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Pasta Night</a:t>
            </a:r>
            <a:endParaRPr lang="en-US" sz="1300" dirty="0"/>
          </a:p>
        </p:txBody>
      </p:sp>
      <p:sp>
        <p:nvSpPr>
          <p:cNvPr id="12" name="Shape 10"/>
          <p:cNvSpPr/>
          <p:nvPr/>
        </p:nvSpPr>
        <p:spPr>
          <a:xfrm>
            <a:off x="3840480" y="1417320"/>
            <a:ext cx="1691640" cy="502920"/>
          </a:xfrm>
          <a:prstGeom prst="rect">
            <a:avLst/>
          </a:prstGeom>
          <a:solidFill>
            <a:srgbClr val="8A3A5C"/>
          </a:solidFill>
          <a:ln w="19050">
            <a:solidFill>
              <a:srgbClr val="FFFFFF"/>
            </a:solidFill>
            <a:prstDash val="solid"/>
          </a:ln>
        </p:spPr>
        <p:txBody>
          <a:bodyPr/>
          <a:lstStyle/>
          <a:p>
            <a:endParaRPr lang="de-DE"/>
          </a:p>
        </p:txBody>
      </p:sp>
      <p:sp>
        <p:nvSpPr>
          <p:cNvPr id="13" name="Text 11"/>
          <p:cNvSpPr txBox="1"/>
          <p:nvPr/>
        </p:nvSpPr>
        <p:spPr>
          <a:xfrm>
            <a:off x="3840480" y="1417320"/>
            <a:ext cx="169164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Asian Night</a:t>
            </a:r>
            <a:endParaRPr lang="en-US" sz="1300" dirty="0"/>
          </a:p>
        </p:txBody>
      </p:sp>
      <p:sp>
        <p:nvSpPr>
          <p:cNvPr id="14" name="Shape 12"/>
          <p:cNvSpPr/>
          <p:nvPr/>
        </p:nvSpPr>
        <p:spPr>
          <a:xfrm>
            <a:off x="5532120" y="1417320"/>
            <a:ext cx="1691640" cy="502920"/>
          </a:xfrm>
          <a:prstGeom prst="rect">
            <a:avLst/>
          </a:prstGeom>
          <a:solidFill>
            <a:srgbClr val="4F6B3A"/>
          </a:solidFill>
          <a:ln w="19050">
            <a:solidFill>
              <a:srgbClr val="FFFFFF"/>
            </a:solidFill>
            <a:prstDash val="solid"/>
          </a:ln>
        </p:spPr>
        <p:txBody>
          <a:bodyPr/>
          <a:lstStyle/>
          <a:p>
            <a:endParaRPr lang="de-DE"/>
          </a:p>
        </p:txBody>
      </p:sp>
      <p:sp>
        <p:nvSpPr>
          <p:cNvPr id="15" name="Text 13"/>
          <p:cNvSpPr txBox="1"/>
          <p:nvPr/>
        </p:nvSpPr>
        <p:spPr>
          <a:xfrm>
            <a:off x="5532120" y="1417320"/>
            <a:ext cx="169164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Mexican Night</a:t>
            </a:r>
            <a:endParaRPr lang="en-US" sz="1300" dirty="0"/>
          </a:p>
        </p:txBody>
      </p:sp>
      <p:sp>
        <p:nvSpPr>
          <p:cNvPr id="16" name="Shape 14"/>
          <p:cNvSpPr/>
          <p:nvPr/>
        </p:nvSpPr>
        <p:spPr>
          <a:xfrm>
            <a:off x="548640" y="1920240"/>
            <a:ext cx="1600200" cy="960120"/>
          </a:xfrm>
          <a:prstGeom prst="rect">
            <a:avLst/>
          </a:prstGeom>
          <a:solidFill>
            <a:srgbClr val="F6DDD5"/>
          </a:solidFill>
          <a:ln w="19050">
            <a:solidFill>
              <a:srgbClr val="FFFFFF"/>
            </a:solidFill>
            <a:prstDash val="solid"/>
          </a:ln>
        </p:spPr>
        <p:txBody>
          <a:bodyPr/>
          <a:lstStyle/>
          <a:p>
            <a:endParaRPr lang="de-DE"/>
          </a:p>
        </p:txBody>
      </p:sp>
      <p:sp>
        <p:nvSpPr>
          <p:cNvPr id="17" name="Text 15"/>
          <p:cNvSpPr txBox="1"/>
          <p:nvPr/>
        </p:nvSpPr>
        <p:spPr>
          <a:xfrm>
            <a:off x="658368" y="1920240"/>
            <a:ext cx="1417320" cy="960120"/>
          </a:xfrm>
          <a:prstGeom prst="rect">
            <a:avLst/>
          </a:prstGeom>
          <a:noFill/>
          <a:ln/>
        </p:spPr>
        <p:txBody>
          <a:bodyPr wrap="square" lIns="0" tIns="0" rIns="0" bIns="0" rtlCol="0" anchor="ctr"/>
          <a:lstStyle/>
          <a:p>
            <a:pPr marL="0" indent="0">
              <a:buNone/>
            </a:pPr>
            <a:r>
              <a:rPr lang="en-US" sz="1400" b="1" dirty="0">
                <a:solidFill>
                  <a:srgbClr val="2B2724"/>
                </a:solidFill>
                <a:latin typeface="Calibri" pitchFamily="34" charset="0"/>
                <a:ea typeface="Calibri" pitchFamily="34" charset="-122"/>
                <a:cs typeface="Calibri" pitchFamily="34" charset="-120"/>
              </a:rPr>
              <a:t>»  schnell</a:t>
            </a:r>
            <a:endParaRPr lang="en-US" sz="1400" dirty="0"/>
          </a:p>
          <a:p>
            <a:pPr marL="0" indent="0">
              <a:buNone/>
            </a:pPr>
            <a:r>
              <a:rPr lang="en-US" sz="1100" dirty="0">
                <a:solidFill>
                  <a:srgbClr val="6F6862"/>
                </a:solidFill>
                <a:latin typeface="Calibri" pitchFamily="34" charset="0"/>
                <a:ea typeface="Calibri" pitchFamily="34" charset="-122"/>
                <a:cs typeface="Calibri" pitchFamily="34" charset="-120"/>
              </a:rPr>
              <a:t>≤ 20 Min.</a:t>
            </a:r>
            <a:endParaRPr lang="en-US" sz="1400" dirty="0"/>
          </a:p>
        </p:txBody>
      </p:sp>
      <p:sp>
        <p:nvSpPr>
          <p:cNvPr id="18" name="Shape 16"/>
          <p:cNvSpPr/>
          <p:nvPr/>
        </p:nvSpPr>
        <p:spPr>
          <a:xfrm>
            <a:off x="2148840" y="1920240"/>
            <a:ext cx="1691640" cy="960120"/>
          </a:xfrm>
          <a:prstGeom prst="rect">
            <a:avLst/>
          </a:prstGeom>
          <a:solidFill>
            <a:srgbClr val="FBEFEA"/>
          </a:solidFill>
          <a:ln w="12700">
            <a:solidFill>
              <a:srgbClr val="D9D1C5"/>
            </a:solidFill>
            <a:prstDash val="solid"/>
          </a:ln>
        </p:spPr>
        <p:txBody>
          <a:bodyPr/>
          <a:lstStyle/>
          <a:p>
            <a:endParaRPr lang="de-DE"/>
          </a:p>
        </p:txBody>
      </p:sp>
      <p:sp>
        <p:nvSpPr>
          <p:cNvPr id="19" name="Text 17"/>
          <p:cNvSpPr txBox="1"/>
          <p:nvPr/>
        </p:nvSpPr>
        <p:spPr>
          <a:xfrm>
            <a:off x="2240280" y="1993392"/>
            <a:ext cx="1234440" cy="813816"/>
          </a:xfrm>
          <a:prstGeom prst="rect">
            <a:avLst/>
          </a:prstGeom>
          <a:noFill/>
          <a:ln/>
        </p:spPr>
        <p:txBody>
          <a:bodyPr wrap="square" lIns="0" tIns="0" rIns="0" bIns="0" rtlCol="0" anchor="ctr"/>
          <a:lstStyle/>
          <a:p>
            <a:pPr marL="0" indent="0">
              <a:buNone/>
            </a:pPr>
            <a:r>
              <a:rPr lang="en-US" sz="1100" b="1" dirty="0">
                <a:solidFill>
                  <a:srgbClr val="B5452F"/>
                </a:solidFill>
                <a:latin typeface="Calibri" pitchFamily="34" charset="0"/>
                <a:ea typeface="Calibri" pitchFamily="34" charset="-122"/>
                <a:cs typeface="Calibri" pitchFamily="34" charset="-120"/>
              </a:rPr>
              <a:t>#01  </a:t>
            </a:r>
            <a:r>
              <a:rPr lang="en-US" sz="1150" b="1" dirty="0">
                <a:solidFill>
                  <a:srgbClr val="2B2724"/>
                </a:solidFill>
                <a:latin typeface="Calibri" pitchFamily="34" charset="0"/>
                <a:ea typeface="Calibri" pitchFamily="34" charset="-122"/>
                <a:cs typeface="Calibri" pitchFamily="34" charset="-120"/>
              </a:rPr>
              <a:t>Creamy Tomato Pasta</a:t>
            </a:r>
            <a:endParaRPr lang="en-US" sz="1100" dirty="0"/>
          </a:p>
          <a:p>
            <a:pPr marL="0" indent="0">
              <a:buNone/>
            </a:pPr>
            <a:r>
              <a:rPr lang="en-US" sz="1050" dirty="0">
                <a:solidFill>
                  <a:srgbClr val="6F6862"/>
                </a:solidFill>
                <a:latin typeface="Calibri" pitchFamily="34" charset="0"/>
                <a:ea typeface="Calibri" pitchFamily="34" charset="-122"/>
                <a:cs typeface="Calibri" pitchFamily="34" charset="-120"/>
              </a:rPr>
              <a:t>20 Min.</a:t>
            </a:r>
            <a:endParaRPr lang="en-US" sz="1100" dirty="0"/>
          </a:p>
        </p:txBody>
      </p:sp>
      <p:sp>
        <p:nvSpPr>
          <p:cNvPr id="20" name="Shape 18"/>
          <p:cNvSpPr/>
          <p:nvPr/>
        </p:nvSpPr>
        <p:spPr>
          <a:xfrm>
            <a:off x="3529584" y="2496312"/>
            <a:ext cx="201168" cy="274320"/>
          </a:xfrm>
          <a:prstGeom prst="rect">
            <a:avLst/>
          </a:prstGeom>
          <a:solidFill>
            <a:srgbClr val="FFFFFF"/>
          </a:solidFill>
          <a:ln w="9525">
            <a:solidFill>
              <a:srgbClr val="2B2724"/>
            </a:solidFill>
            <a:prstDash val="solid"/>
          </a:ln>
        </p:spPr>
        <p:txBody>
          <a:bodyPr/>
          <a:lstStyle/>
          <a:p>
            <a:endParaRPr lang="de-DE"/>
          </a:p>
        </p:txBody>
      </p:sp>
      <p:sp>
        <p:nvSpPr>
          <p:cNvPr id="21" name="Shape 19"/>
          <p:cNvSpPr/>
          <p:nvPr/>
        </p:nvSpPr>
        <p:spPr>
          <a:xfrm>
            <a:off x="3840480" y="1920240"/>
            <a:ext cx="1691640" cy="960120"/>
          </a:xfrm>
          <a:prstGeom prst="rect">
            <a:avLst/>
          </a:prstGeom>
          <a:solidFill>
            <a:srgbClr val="FBEFEA"/>
          </a:solidFill>
          <a:ln w="12700">
            <a:solidFill>
              <a:srgbClr val="D9D1C5"/>
            </a:solidFill>
            <a:prstDash val="solid"/>
          </a:ln>
        </p:spPr>
        <p:txBody>
          <a:bodyPr/>
          <a:lstStyle/>
          <a:p>
            <a:endParaRPr lang="de-DE"/>
          </a:p>
        </p:txBody>
      </p:sp>
      <p:sp>
        <p:nvSpPr>
          <p:cNvPr id="22" name="Text 20"/>
          <p:cNvSpPr txBox="1"/>
          <p:nvPr/>
        </p:nvSpPr>
        <p:spPr>
          <a:xfrm>
            <a:off x="3931920" y="1993392"/>
            <a:ext cx="1234440" cy="813816"/>
          </a:xfrm>
          <a:prstGeom prst="rect">
            <a:avLst/>
          </a:prstGeom>
          <a:noFill/>
          <a:ln/>
        </p:spPr>
        <p:txBody>
          <a:bodyPr wrap="square" lIns="0" tIns="0" rIns="0" bIns="0" rtlCol="0" anchor="ctr"/>
          <a:lstStyle/>
          <a:p>
            <a:pPr marL="0" indent="0">
              <a:buNone/>
            </a:pPr>
            <a:r>
              <a:rPr lang="en-US" sz="1100" b="1" dirty="0">
                <a:solidFill>
                  <a:srgbClr val="8A3A5C"/>
                </a:solidFill>
                <a:latin typeface="Calibri" pitchFamily="34" charset="0"/>
                <a:ea typeface="Calibri" pitchFamily="34" charset="-122"/>
                <a:cs typeface="Calibri" pitchFamily="34" charset="-120"/>
              </a:rPr>
              <a:t>#04  </a:t>
            </a:r>
            <a:r>
              <a:rPr lang="en-US" sz="1150" b="1" dirty="0">
                <a:solidFill>
                  <a:srgbClr val="2B2724"/>
                </a:solidFill>
                <a:latin typeface="Calibri" pitchFamily="34" charset="0"/>
                <a:ea typeface="Calibri" pitchFamily="34" charset="-122"/>
                <a:cs typeface="Calibri" pitchFamily="34" charset="-120"/>
              </a:rPr>
              <a:t>Gebratene Udon</a:t>
            </a:r>
            <a:endParaRPr lang="en-US" sz="1100" dirty="0"/>
          </a:p>
          <a:p>
            <a:pPr marL="0" indent="0">
              <a:buNone/>
            </a:pPr>
            <a:r>
              <a:rPr lang="en-US" sz="1050" dirty="0">
                <a:solidFill>
                  <a:srgbClr val="6F6862"/>
                </a:solidFill>
                <a:latin typeface="Calibri" pitchFamily="34" charset="0"/>
                <a:ea typeface="Calibri" pitchFamily="34" charset="-122"/>
                <a:cs typeface="Calibri" pitchFamily="34" charset="-120"/>
              </a:rPr>
              <a:t>15 Min.</a:t>
            </a:r>
            <a:endParaRPr lang="en-US" sz="1100" dirty="0"/>
          </a:p>
        </p:txBody>
      </p:sp>
      <p:sp>
        <p:nvSpPr>
          <p:cNvPr id="23" name="Shape 21"/>
          <p:cNvSpPr/>
          <p:nvPr/>
        </p:nvSpPr>
        <p:spPr>
          <a:xfrm>
            <a:off x="5221224" y="2496312"/>
            <a:ext cx="201168" cy="274320"/>
          </a:xfrm>
          <a:prstGeom prst="rect">
            <a:avLst/>
          </a:prstGeom>
          <a:solidFill>
            <a:srgbClr val="FFFFFF"/>
          </a:solidFill>
          <a:ln w="9525">
            <a:solidFill>
              <a:srgbClr val="2B2724"/>
            </a:solidFill>
            <a:prstDash val="solid"/>
          </a:ln>
        </p:spPr>
        <p:txBody>
          <a:bodyPr/>
          <a:lstStyle/>
          <a:p>
            <a:endParaRPr lang="de-DE"/>
          </a:p>
        </p:txBody>
      </p:sp>
      <p:sp>
        <p:nvSpPr>
          <p:cNvPr id="24" name="Shape 22"/>
          <p:cNvSpPr/>
          <p:nvPr/>
        </p:nvSpPr>
        <p:spPr>
          <a:xfrm>
            <a:off x="5532120" y="1920240"/>
            <a:ext cx="1691640" cy="960120"/>
          </a:xfrm>
          <a:prstGeom prst="rect">
            <a:avLst/>
          </a:prstGeom>
          <a:solidFill>
            <a:srgbClr val="FBEFEA"/>
          </a:solidFill>
          <a:ln w="12700">
            <a:solidFill>
              <a:srgbClr val="D9D1C5"/>
            </a:solidFill>
            <a:prstDash val="solid"/>
          </a:ln>
        </p:spPr>
        <p:txBody>
          <a:bodyPr/>
          <a:lstStyle/>
          <a:p>
            <a:endParaRPr lang="de-DE"/>
          </a:p>
        </p:txBody>
      </p:sp>
      <p:sp>
        <p:nvSpPr>
          <p:cNvPr id="25" name="Text 23"/>
          <p:cNvSpPr txBox="1"/>
          <p:nvPr/>
        </p:nvSpPr>
        <p:spPr>
          <a:xfrm>
            <a:off x="5623560" y="1993392"/>
            <a:ext cx="1234440" cy="813816"/>
          </a:xfrm>
          <a:prstGeom prst="rect">
            <a:avLst/>
          </a:prstGeom>
          <a:noFill/>
          <a:ln/>
        </p:spPr>
        <p:txBody>
          <a:bodyPr wrap="square" lIns="0" tIns="0" rIns="0" bIns="0" rtlCol="0" anchor="ctr"/>
          <a:lstStyle/>
          <a:p>
            <a:pPr marL="0" indent="0">
              <a:buNone/>
            </a:pPr>
            <a:r>
              <a:rPr lang="en-US" sz="1100" b="1" dirty="0">
                <a:solidFill>
                  <a:srgbClr val="4F6B3A"/>
                </a:solidFill>
                <a:latin typeface="Calibri" pitchFamily="34" charset="0"/>
                <a:ea typeface="Calibri" pitchFamily="34" charset="-122"/>
                <a:cs typeface="Calibri" pitchFamily="34" charset="-120"/>
              </a:rPr>
              <a:t>#07  </a:t>
            </a:r>
            <a:r>
              <a:rPr lang="en-US" sz="1150" b="1" dirty="0">
                <a:solidFill>
                  <a:srgbClr val="2B2724"/>
                </a:solidFill>
                <a:latin typeface="Calibri" pitchFamily="34" charset="0"/>
                <a:ea typeface="Calibri" pitchFamily="34" charset="-122"/>
                <a:cs typeface="Calibri" pitchFamily="34" charset="-120"/>
              </a:rPr>
              <a:t>Quesadillas</a:t>
            </a:r>
            <a:endParaRPr lang="en-US" sz="1100" dirty="0"/>
          </a:p>
          <a:p>
            <a:pPr marL="0" indent="0">
              <a:buNone/>
            </a:pPr>
            <a:r>
              <a:rPr lang="en-US" sz="1050" dirty="0">
                <a:solidFill>
                  <a:srgbClr val="6F6862"/>
                </a:solidFill>
                <a:latin typeface="Calibri" pitchFamily="34" charset="0"/>
                <a:ea typeface="Calibri" pitchFamily="34" charset="-122"/>
                <a:cs typeface="Calibri" pitchFamily="34" charset="-120"/>
              </a:rPr>
              <a:t>15 Min.</a:t>
            </a:r>
            <a:endParaRPr lang="en-US" sz="1100" dirty="0"/>
          </a:p>
        </p:txBody>
      </p:sp>
      <p:sp>
        <p:nvSpPr>
          <p:cNvPr id="26" name="Shape 24"/>
          <p:cNvSpPr/>
          <p:nvPr/>
        </p:nvSpPr>
        <p:spPr>
          <a:xfrm>
            <a:off x="6912864" y="2496312"/>
            <a:ext cx="201168" cy="274320"/>
          </a:xfrm>
          <a:prstGeom prst="rect">
            <a:avLst/>
          </a:prstGeom>
          <a:solidFill>
            <a:srgbClr val="FFFFFF"/>
          </a:solidFill>
          <a:ln w="9525">
            <a:solidFill>
              <a:srgbClr val="2B2724"/>
            </a:solidFill>
            <a:prstDash val="solid"/>
          </a:ln>
        </p:spPr>
        <p:txBody>
          <a:bodyPr/>
          <a:lstStyle/>
          <a:p>
            <a:endParaRPr lang="de-DE"/>
          </a:p>
        </p:txBody>
      </p:sp>
      <p:sp>
        <p:nvSpPr>
          <p:cNvPr id="27" name="Shape 25"/>
          <p:cNvSpPr/>
          <p:nvPr/>
        </p:nvSpPr>
        <p:spPr>
          <a:xfrm>
            <a:off x="548640" y="2880360"/>
            <a:ext cx="1600200" cy="960120"/>
          </a:xfrm>
          <a:prstGeom prst="rect">
            <a:avLst/>
          </a:prstGeom>
          <a:solidFill>
            <a:srgbClr val="F3EEE6"/>
          </a:solidFill>
          <a:ln w="19050">
            <a:solidFill>
              <a:srgbClr val="FFFFFF"/>
            </a:solidFill>
            <a:prstDash val="solid"/>
          </a:ln>
        </p:spPr>
        <p:txBody>
          <a:bodyPr/>
          <a:lstStyle/>
          <a:p>
            <a:endParaRPr lang="de-DE"/>
          </a:p>
        </p:txBody>
      </p:sp>
      <p:sp>
        <p:nvSpPr>
          <p:cNvPr id="28" name="Text 26"/>
          <p:cNvSpPr txBox="1"/>
          <p:nvPr/>
        </p:nvSpPr>
        <p:spPr>
          <a:xfrm>
            <a:off x="658368" y="2880360"/>
            <a:ext cx="1417320" cy="960120"/>
          </a:xfrm>
          <a:prstGeom prst="rect">
            <a:avLst/>
          </a:prstGeom>
          <a:noFill/>
          <a:ln/>
        </p:spPr>
        <p:txBody>
          <a:bodyPr wrap="square" lIns="0" tIns="0" rIns="0" bIns="0" rtlCol="0" anchor="ctr"/>
          <a:lstStyle/>
          <a:p>
            <a:pPr marL="0" indent="0">
              <a:buNone/>
            </a:pPr>
            <a:r>
              <a:rPr lang="en-US" sz="1400" b="1" dirty="0">
                <a:solidFill>
                  <a:srgbClr val="2B2724"/>
                </a:solidFill>
                <a:latin typeface="Calibri" pitchFamily="34" charset="0"/>
                <a:ea typeface="Calibri" pitchFamily="34" charset="-122"/>
                <a:cs typeface="Calibri" pitchFamily="34" charset="-120"/>
              </a:rPr>
              <a:t>★  besonders</a:t>
            </a:r>
            <a:endParaRPr lang="en-US" sz="1400" dirty="0"/>
          </a:p>
          <a:p>
            <a:pPr marL="0" indent="0">
              <a:buNone/>
            </a:pPr>
            <a:r>
              <a:rPr lang="en-US" sz="1100" dirty="0">
                <a:solidFill>
                  <a:srgbClr val="6F6862"/>
                </a:solidFill>
                <a:latin typeface="Calibri" pitchFamily="34" charset="0"/>
                <a:ea typeface="Calibri" pitchFamily="34" charset="-122"/>
                <a:cs typeface="Calibri" pitchFamily="34" charset="-120"/>
              </a:rPr>
              <a:t>Menü mit Dessert</a:t>
            </a:r>
            <a:endParaRPr lang="en-US" sz="1400" dirty="0"/>
          </a:p>
        </p:txBody>
      </p:sp>
      <p:sp>
        <p:nvSpPr>
          <p:cNvPr id="29" name="Shape 27"/>
          <p:cNvSpPr/>
          <p:nvPr/>
        </p:nvSpPr>
        <p:spPr>
          <a:xfrm>
            <a:off x="2148840" y="2880360"/>
            <a:ext cx="1691640" cy="960120"/>
          </a:xfrm>
          <a:prstGeom prst="rect">
            <a:avLst/>
          </a:prstGeom>
          <a:solidFill>
            <a:srgbClr val="FFFFFF"/>
          </a:solidFill>
          <a:ln w="12700">
            <a:solidFill>
              <a:srgbClr val="D9D1C5"/>
            </a:solidFill>
            <a:prstDash val="solid"/>
          </a:ln>
        </p:spPr>
        <p:txBody>
          <a:bodyPr/>
          <a:lstStyle/>
          <a:p>
            <a:endParaRPr lang="de-DE"/>
          </a:p>
        </p:txBody>
      </p:sp>
      <p:sp>
        <p:nvSpPr>
          <p:cNvPr id="30" name="Text 28"/>
          <p:cNvSpPr txBox="1"/>
          <p:nvPr/>
        </p:nvSpPr>
        <p:spPr>
          <a:xfrm>
            <a:off x="2240280" y="2953512"/>
            <a:ext cx="1234440" cy="813816"/>
          </a:xfrm>
          <a:prstGeom prst="rect">
            <a:avLst/>
          </a:prstGeom>
          <a:noFill/>
          <a:ln/>
        </p:spPr>
        <p:txBody>
          <a:bodyPr wrap="square" lIns="0" tIns="0" rIns="0" bIns="0" rtlCol="0" anchor="ctr"/>
          <a:lstStyle/>
          <a:p>
            <a:pPr marL="0" indent="0">
              <a:buNone/>
            </a:pPr>
            <a:r>
              <a:rPr lang="en-US" sz="1100" b="1" dirty="0">
                <a:solidFill>
                  <a:srgbClr val="B5452F"/>
                </a:solidFill>
                <a:latin typeface="Calibri" pitchFamily="34" charset="0"/>
                <a:ea typeface="Calibri" pitchFamily="34" charset="-122"/>
                <a:cs typeface="Calibri" pitchFamily="34" charset="-120"/>
              </a:rPr>
              <a:t>#02  </a:t>
            </a:r>
            <a:r>
              <a:rPr lang="en-US" sz="1150" b="1" dirty="0">
                <a:solidFill>
                  <a:srgbClr val="2B2724"/>
                </a:solidFill>
                <a:latin typeface="Calibri" pitchFamily="34" charset="0"/>
                <a:ea typeface="Calibri" pitchFamily="34" charset="-122"/>
                <a:cs typeface="Calibri" pitchFamily="34" charset="-120"/>
              </a:rPr>
              <a:t>Tagliatelle al Limone + Tiramisu</a:t>
            </a:r>
            <a:endParaRPr lang="en-US" sz="1100" dirty="0"/>
          </a:p>
          <a:p>
            <a:pPr marL="0" indent="0">
              <a:buNone/>
            </a:pPr>
            <a:r>
              <a:rPr lang="en-US" sz="1050" dirty="0">
                <a:solidFill>
                  <a:srgbClr val="6F6862"/>
                </a:solidFill>
                <a:latin typeface="Calibri" pitchFamily="34" charset="0"/>
                <a:ea typeface="Calibri" pitchFamily="34" charset="-122"/>
                <a:cs typeface="Calibri" pitchFamily="34" charset="-120"/>
              </a:rPr>
              <a:t>für 2</a:t>
            </a:r>
            <a:endParaRPr lang="en-US" sz="1100" dirty="0"/>
          </a:p>
        </p:txBody>
      </p:sp>
      <p:sp>
        <p:nvSpPr>
          <p:cNvPr id="31" name="Shape 29"/>
          <p:cNvSpPr/>
          <p:nvPr/>
        </p:nvSpPr>
        <p:spPr>
          <a:xfrm>
            <a:off x="3529584" y="3456432"/>
            <a:ext cx="201168" cy="274320"/>
          </a:xfrm>
          <a:prstGeom prst="rect">
            <a:avLst/>
          </a:prstGeom>
          <a:solidFill>
            <a:srgbClr val="FFFFFF"/>
          </a:solidFill>
          <a:ln w="9525">
            <a:solidFill>
              <a:srgbClr val="2B2724"/>
            </a:solidFill>
            <a:prstDash val="solid"/>
          </a:ln>
        </p:spPr>
        <p:txBody>
          <a:bodyPr/>
          <a:lstStyle/>
          <a:p>
            <a:endParaRPr lang="de-DE"/>
          </a:p>
        </p:txBody>
      </p:sp>
      <p:sp>
        <p:nvSpPr>
          <p:cNvPr id="32" name="Shape 30"/>
          <p:cNvSpPr/>
          <p:nvPr/>
        </p:nvSpPr>
        <p:spPr>
          <a:xfrm>
            <a:off x="3840480" y="2880360"/>
            <a:ext cx="1691640" cy="960120"/>
          </a:xfrm>
          <a:prstGeom prst="rect">
            <a:avLst/>
          </a:prstGeom>
          <a:solidFill>
            <a:srgbClr val="FFFFFF"/>
          </a:solidFill>
          <a:ln w="12700">
            <a:solidFill>
              <a:srgbClr val="D9D1C5"/>
            </a:solidFill>
            <a:prstDash val="solid"/>
          </a:ln>
        </p:spPr>
        <p:txBody>
          <a:bodyPr/>
          <a:lstStyle/>
          <a:p>
            <a:endParaRPr lang="de-DE"/>
          </a:p>
        </p:txBody>
      </p:sp>
      <p:sp>
        <p:nvSpPr>
          <p:cNvPr id="33" name="Text 31"/>
          <p:cNvSpPr txBox="1"/>
          <p:nvPr/>
        </p:nvSpPr>
        <p:spPr>
          <a:xfrm>
            <a:off x="3931920" y="2953512"/>
            <a:ext cx="1234440" cy="813816"/>
          </a:xfrm>
          <a:prstGeom prst="rect">
            <a:avLst/>
          </a:prstGeom>
          <a:noFill/>
          <a:ln/>
        </p:spPr>
        <p:txBody>
          <a:bodyPr wrap="square" lIns="0" tIns="0" rIns="0" bIns="0" rtlCol="0" anchor="ctr"/>
          <a:lstStyle/>
          <a:p>
            <a:pPr marL="0" indent="0">
              <a:buNone/>
            </a:pPr>
            <a:r>
              <a:rPr lang="en-US" sz="1100" b="1" dirty="0">
                <a:solidFill>
                  <a:srgbClr val="8A3A5C"/>
                </a:solidFill>
                <a:latin typeface="Calibri" pitchFamily="34" charset="0"/>
                <a:ea typeface="Calibri" pitchFamily="34" charset="-122"/>
                <a:cs typeface="Calibri" pitchFamily="34" charset="-120"/>
              </a:rPr>
              <a:t>#05  </a:t>
            </a:r>
            <a:r>
              <a:rPr lang="en-US" sz="1150" b="1" dirty="0">
                <a:solidFill>
                  <a:srgbClr val="2B2724"/>
                </a:solidFill>
                <a:latin typeface="Calibri" pitchFamily="34" charset="0"/>
                <a:ea typeface="Calibri" pitchFamily="34" charset="-122"/>
                <a:cs typeface="Calibri" pitchFamily="34" charset="-120"/>
              </a:rPr>
              <a:t>Ramen-Abend + Mochi</a:t>
            </a:r>
            <a:endParaRPr lang="en-US" sz="1100" dirty="0"/>
          </a:p>
          <a:p>
            <a:pPr marL="0" indent="0">
              <a:buNone/>
            </a:pPr>
            <a:r>
              <a:rPr lang="en-US" sz="1050" dirty="0">
                <a:solidFill>
                  <a:srgbClr val="6F6862"/>
                </a:solidFill>
                <a:latin typeface="Calibri" pitchFamily="34" charset="0"/>
                <a:ea typeface="Calibri" pitchFamily="34" charset="-122"/>
                <a:cs typeface="Calibri" pitchFamily="34" charset="-120"/>
              </a:rPr>
              <a:t>für 2</a:t>
            </a:r>
            <a:endParaRPr lang="en-US" sz="1100" dirty="0"/>
          </a:p>
        </p:txBody>
      </p:sp>
      <p:sp>
        <p:nvSpPr>
          <p:cNvPr id="34" name="Shape 32"/>
          <p:cNvSpPr/>
          <p:nvPr/>
        </p:nvSpPr>
        <p:spPr>
          <a:xfrm>
            <a:off x="5221224" y="3456432"/>
            <a:ext cx="201168" cy="274320"/>
          </a:xfrm>
          <a:prstGeom prst="rect">
            <a:avLst/>
          </a:prstGeom>
          <a:solidFill>
            <a:srgbClr val="FFFFFF"/>
          </a:solidFill>
          <a:ln w="9525">
            <a:solidFill>
              <a:srgbClr val="2B2724"/>
            </a:solidFill>
            <a:prstDash val="solid"/>
          </a:ln>
        </p:spPr>
        <p:txBody>
          <a:bodyPr/>
          <a:lstStyle/>
          <a:p>
            <a:endParaRPr lang="de-DE"/>
          </a:p>
        </p:txBody>
      </p:sp>
      <p:sp>
        <p:nvSpPr>
          <p:cNvPr id="35" name="Shape 33"/>
          <p:cNvSpPr/>
          <p:nvPr/>
        </p:nvSpPr>
        <p:spPr>
          <a:xfrm>
            <a:off x="5532120" y="2880360"/>
            <a:ext cx="1691640" cy="960120"/>
          </a:xfrm>
          <a:prstGeom prst="rect">
            <a:avLst/>
          </a:prstGeom>
          <a:solidFill>
            <a:srgbClr val="FFFFFF"/>
          </a:solidFill>
          <a:ln w="12700">
            <a:solidFill>
              <a:srgbClr val="D9D1C5"/>
            </a:solidFill>
            <a:prstDash val="solid"/>
          </a:ln>
        </p:spPr>
        <p:txBody>
          <a:bodyPr/>
          <a:lstStyle/>
          <a:p>
            <a:endParaRPr lang="de-DE"/>
          </a:p>
        </p:txBody>
      </p:sp>
      <p:sp>
        <p:nvSpPr>
          <p:cNvPr id="36" name="Text 34"/>
          <p:cNvSpPr txBox="1"/>
          <p:nvPr/>
        </p:nvSpPr>
        <p:spPr>
          <a:xfrm>
            <a:off x="5623560" y="2953512"/>
            <a:ext cx="1234440" cy="813816"/>
          </a:xfrm>
          <a:prstGeom prst="rect">
            <a:avLst/>
          </a:prstGeom>
          <a:noFill/>
          <a:ln/>
        </p:spPr>
        <p:txBody>
          <a:bodyPr wrap="square" lIns="0" tIns="0" rIns="0" bIns="0" rtlCol="0" anchor="ctr"/>
          <a:lstStyle/>
          <a:p>
            <a:pPr marL="0" indent="0">
              <a:buNone/>
            </a:pPr>
            <a:r>
              <a:rPr lang="en-US" sz="1100" b="1" dirty="0">
                <a:solidFill>
                  <a:srgbClr val="4F6B3A"/>
                </a:solidFill>
                <a:latin typeface="Calibri" pitchFamily="34" charset="0"/>
                <a:ea typeface="Calibri" pitchFamily="34" charset="-122"/>
                <a:cs typeface="Calibri" pitchFamily="34" charset="-120"/>
              </a:rPr>
              <a:t>#08  </a:t>
            </a:r>
            <a:r>
              <a:rPr lang="en-US" sz="1150" b="1" dirty="0">
                <a:solidFill>
                  <a:srgbClr val="2B2724"/>
                </a:solidFill>
                <a:latin typeface="Calibri" pitchFamily="34" charset="0"/>
                <a:ea typeface="Calibri" pitchFamily="34" charset="-122"/>
                <a:cs typeface="Calibri" pitchFamily="34" charset="-120"/>
              </a:rPr>
              <a:t>Taco-Abend mit Guacamole</a:t>
            </a:r>
            <a:endParaRPr lang="en-US" sz="1100" dirty="0"/>
          </a:p>
          <a:p>
            <a:pPr marL="0" indent="0">
              <a:buNone/>
            </a:pPr>
            <a:r>
              <a:rPr lang="en-US" sz="1050" dirty="0">
                <a:solidFill>
                  <a:srgbClr val="6F6862"/>
                </a:solidFill>
                <a:latin typeface="Calibri" pitchFamily="34" charset="0"/>
                <a:ea typeface="Calibri" pitchFamily="34" charset="-122"/>
                <a:cs typeface="Calibri" pitchFamily="34" charset="-120"/>
              </a:rPr>
              <a:t>für 2</a:t>
            </a:r>
            <a:endParaRPr lang="en-US" sz="1100" dirty="0"/>
          </a:p>
        </p:txBody>
      </p:sp>
      <p:sp>
        <p:nvSpPr>
          <p:cNvPr id="37" name="Shape 35"/>
          <p:cNvSpPr/>
          <p:nvPr/>
        </p:nvSpPr>
        <p:spPr>
          <a:xfrm>
            <a:off x="6912864" y="3456432"/>
            <a:ext cx="201168" cy="274320"/>
          </a:xfrm>
          <a:prstGeom prst="rect">
            <a:avLst/>
          </a:prstGeom>
          <a:solidFill>
            <a:srgbClr val="FFFFFF"/>
          </a:solidFill>
          <a:ln w="9525">
            <a:solidFill>
              <a:srgbClr val="2B2724"/>
            </a:solidFill>
            <a:prstDash val="solid"/>
          </a:ln>
        </p:spPr>
        <p:txBody>
          <a:bodyPr/>
          <a:lstStyle/>
          <a:p>
            <a:endParaRPr lang="de-DE"/>
          </a:p>
        </p:txBody>
      </p:sp>
      <p:sp>
        <p:nvSpPr>
          <p:cNvPr id="38" name="Shape 36"/>
          <p:cNvSpPr/>
          <p:nvPr/>
        </p:nvSpPr>
        <p:spPr>
          <a:xfrm>
            <a:off x="548640" y="3840480"/>
            <a:ext cx="1600200" cy="960120"/>
          </a:xfrm>
          <a:prstGeom prst="rect">
            <a:avLst/>
          </a:prstGeom>
          <a:solidFill>
            <a:srgbClr val="F3EEE6"/>
          </a:solidFill>
          <a:ln w="19050">
            <a:solidFill>
              <a:srgbClr val="FFFFFF"/>
            </a:solidFill>
            <a:prstDash val="solid"/>
          </a:ln>
        </p:spPr>
        <p:txBody>
          <a:bodyPr/>
          <a:lstStyle/>
          <a:p>
            <a:endParaRPr lang="de-DE"/>
          </a:p>
        </p:txBody>
      </p:sp>
      <p:sp>
        <p:nvSpPr>
          <p:cNvPr id="39" name="Text 37"/>
          <p:cNvSpPr txBox="1"/>
          <p:nvPr/>
        </p:nvSpPr>
        <p:spPr>
          <a:xfrm>
            <a:off x="658368" y="3840480"/>
            <a:ext cx="1417320" cy="960120"/>
          </a:xfrm>
          <a:prstGeom prst="rect">
            <a:avLst/>
          </a:prstGeom>
          <a:noFill/>
          <a:ln/>
        </p:spPr>
        <p:txBody>
          <a:bodyPr wrap="square" lIns="0" tIns="0" rIns="0" bIns="0" rtlCol="0" anchor="ctr"/>
          <a:lstStyle/>
          <a:p>
            <a:pPr marL="0" indent="0">
              <a:buNone/>
            </a:pPr>
            <a:r>
              <a:rPr lang="en-US" sz="1400" b="1" dirty="0">
                <a:solidFill>
                  <a:srgbClr val="2B2724"/>
                </a:solidFill>
                <a:latin typeface="Calibri" pitchFamily="34" charset="0"/>
                <a:ea typeface="Calibri" pitchFamily="34" charset="-122"/>
                <a:cs typeface="Calibri" pitchFamily="34" charset="-120"/>
              </a:rPr>
              <a:t>€  günstig</a:t>
            </a:r>
            <a:endParaRPr lang="en-US" sz="1400" dirty="0"/>
          </a:p>
          <a:p>
            <a:pPr marL="0" indent="0">
              <a:buNone/>
            </a:pPr>
            <a:r>
              <a:rPr lang="en-US" sz="1100" dirty="0">
                <a:solidFill>
                  <a:srgbClr val="6F6862"/>
                </a:solidFill>
                <a:latin typeface="Calibri" pitchFamily="34" charset="0"/>
                <a:ea typeface="Calibri" pitchFamily="34" charset="-122"/>
                <a:cs typeface="Calibri" pitchFamily="34" charset="-120"/>
              </a:rPr>
              <a:t>≤ 4 € je Portion</a:t>
            </a:r>
            <a:endParaRPr lang="en-US" sz="1400" dirty="0"/>
          </a:p>
        </p:txBody>
      </p:sp>
      <p:sp>
        <p:nvSpPr>
          <p:cNvPr id="40" name="Shape 38"/>
          <p:cNvSpPr/>
          <p:nvPr/>
        </p:nvSpPr>
        <p:spPr>
          <a:xfrm>
            <a:off x="2148840" y="3840480"/>
            <a:ext cx="1691640" cy="960120"/>
          </a:xfrm>
          <a:prstGeom prst="rect">
            <a:avLst/>
          </a:prstGeom>
          <a:solidFill>
            <a:srgbClr val="FFFFFF"/>
          </a:solidFill>
          <a:ln w="12700">
            <a:solidFill>
              <a:srgbClr val="D9D1C5"/>
            </a:solidFill>
            <a:prstDash val="solid"/>
          </a:ln>
        </p:spPr>
        <p:txBody>
          <a:bodyPr/>
          <a:lstStyle/>
          <a:p>
            <a:endParaRPr lang="de-DE"/>
          </a:p>
        </p:txBody>
      </p:sp>
      <p:sp>
        <p:nvSpPr>
          <p:cNvPr id="41" name="Text 39"/>
          <p:cNvSpPr txBox="1"/>
          <p:nvPr/>
        </p:nvSpPr>
        <p:spPr>
          <a:xfrm>
            <a:off x="2240280" y="3913632"/>
            <a:ext cx="1234440" cy="813816"/>
          </a:xfrm>
          <a:prstGeom prst="rect">
            <a:avLst/>
          </a:prstGeom>
          <a:noFill/>
          <a:ln/>
        </p:spPr>
        <p:txBody>
          <a:bodyPr wrap="square" lIns="0" tIns="0" rIns="0" bIns="0" rtlCol="0" anchor="ctr"/>
          <a:lstStyle/>
          <a:p>
            <a:pPr marL="0" indent="0">
              <a:buNone/>
            </a:pPr>
            <a:r>
              <a:rPr lang="en-US" sz="1100" b="1" dirty="0">
                <a:solidFill>
                  <a:srgbClr val="B5452F"/>
                </a:solidFill>
                <a:latin typeface="Calibri" pitchFamily="34" charset="0"/>
                <a:ea typeface="Calibri" pitchFamily="34" charset="-122"/>
                <a:cs typeface="Calibri" pitchFamily="34" charset="-120"/>
              </a:rPr>
              <a:t>#03  </a:t>
            </a:r>
            <a:r>
              <a:rPr lang="en-US" sz="1150" b="1" dirty="0">
                <a:solidFill>
                  <a:srgbClr val="2B2724"/>
                </a:solidFill>
                <a:latin typeface="Calibri" pitchFamily="34" charset="0"/>
                <a:ea typeface="Calibri" pitchFamily="34" charset="-122"/>
                <a:cs typeface="Calibri" pitchFamily="34" charset="-120"/>
              </a:rPr>
              <a:t>Pasta e Fagioli</a:t>
            </a:r>
            <a:endParaRPr lang="en-US" sz="1100" dirty="0"/>
          </a:p>
          <a:p>
            <a:pPr marL="0" indent="0">
              <a:buNone/>
            </a:pPr>
            <a:r>
              <a:rPr lang="en-US" sz="1050" dirty="0">
                <a:solidFill>
                  <a:srgbClr val="6F6862"/>
                </a:solidFill>
                <a:latin typeface="Calibri" pitchFamily="34" charset="0"/>
                <a:ea typeface="Calibri" pitchFamily="34" charset="-122"/>
                <a:cs typeface="Calibri" pitchFamily="34" charset="-120"/>
              </a:rPr>
              <a:t>3,20 €</a:t>
            </a:r>
            <a:endParaRPr lang="en-US" sz="1100" dirty="0"/>
          </a:p>
        </p:txBody>
      </p:sp>
      <p:sp>
        <p:nvSpPr>
          <p:cNvPr id="42" name="Shape 40"/>
          <p:cNvSpPr/>
          <p:nvPr/>
        </p:nvSpPr>
        <p:spPr>
          <a:xfrm>
            <a:off x="3529584" y="4416552"/>
            <a:ext cx="201168" cy="274320"/>
          </a:xfrm>
          <a:prstGeom prst="rect">
            <a:avLst/>
          </a:prstGeom>
          <a:solidFill>
            <a:srgbClr val="FFFFFF"/>
          </a:solidFill>
          <a:ln w="9525">
            <a:solidFill>
              <a:srgbClr val="2B2724"/>
            </a:solidFill>
            <a:prstDash val="solid"/>
          </a:ln>
        </p:spPr>
        <p:txBody>
          <a:bodyPr/>
          <a:lstStyle/>
          <a:p>
            <a:endParaRPr lang="de-DE"/>
          </a:p>
        </p:txBody>
      </p:sp>
      <p:sp>
        <p:nvSpPr>
          <p:cNvPr id="43" name="Shape 41"/>
          <p:cNvSpPr/>
          <p:nvPr/>
        </p:nvSpPr>
        <p:spPr>
          <a:xfrm>
            <a:off x="3840480" y="3840480"/>
            <a:ext cx="1691640" cy="960120"/>
          </a:xfrm>
          <a:prstGeom prst="rect">
            <a:avLst/>
          </a:prstGeom>
          <a:solidFill>
            <a:srgbClr val="FFFFFF"/>
          </a:solidFill>
          <a:ln w="12700">
            <a:solidFill>
              <a:srgbClr val="D9D1C5"/>
            </a:solidFill>
            <a:prstDash val="solid"/>
          </a:ln>
        </p:spPr>
        <p:txBody>
          <a:bodyPr/>
          <a:lstStyle/>
          <a:p>
            <a:endParaRPr lang="de-DE"/>
          </a:p>
        </p:txBody>
      </p:sp>
      <p:sp>
        <p:nvSpPr>
          <p:cNvPr id="44" name="Text 42"/>
          <p:cNvSpPr txBox="1"/>
          <p:nvPr/>
        </p:nvSpPr>
        <p:spPr>
          <a:xfrm>
            <a:off x="3931920" y="3913632"/>
            <a:ext cx="1234440" cy="813816"/>
          </a:xfrm>
          <a:prstGeom prst="rect">
            <a:avLst/>
          </a:prstGeom>
          <a:noFill/>
          <a:ln/>
        </p:spPr>
        <p:txBody>
          <a:bodyPr wrap="square" lIns="0" tIns="0" rIns="0" bIns="0" rtlCol="0" anchor="ctr"/>
          <a:lstStyle/>
          <a:p>
            <a:pPr marL="0" indent="0">
              <a:buNone/>
            </a:pPr>
            <a:r>
              <a:rPr lang="en-US" sz="1100" b="1" dirty="0">
                <a:solidFill>
                  <a:srgbClr val="8A3A5C"/>
                </a:solidFill>
                <a:latin typeface="Calibri" pitchFamily="34" charset="0"/>
                <a:ea typeface="Calibri" pitchFamily="34" charset="-122"/>
                <a:cs typeface="Calibri" pitchFamily="34" charset="-120"/>
              </a:rPr>
              <a:t>#06  </a:t>
            </a:r>
            <a:r>
              <a:rPr lang="en-US" sz="1150" b="1" dirty="0">
                <a:solidFill>
                  <a:srgbClr val="2B2724"/>
                </a:solidFill>
                <a:latin typeface="Calibri" pitchFamily="34" charset="0"/>
                <a:ea typeface="Calibri" pitchFamily="34" charset="-122"/>
                <a:cs typeface="Calibri" pitchFamily="34" charset="-120"/>
              </a:rPr>
              <a:t>Gemüse-Fried-Rice</a:t>
            </a:r>
            <a:endParaRPr lang="en-US" sz="1100" dirty="0"/>
          </a:p>
          <a:p>
            <a:pPr marL="0" indent="0">
              <a:buNone/>
            </a:pPr>
            <a:r>
              <a:rPr lang="en-US" sz="1050" dirty="0">
                <a:solidFill>
                  <a:srgbClr val="6F6862"/>
                </a:solidFill>
                <a:latin typeface="Calibri" pitchFamily="34" charset="0"/>
                <a:ea typeface="Calibri" pitchFamily="34" charset="-122"/>
                <a:cs typeface="Calibri" pitchFamily="34" charset="-120"/>
              </a:rPr>
              <a:t>2,90 €</a:t>
            </a:r>
            <a:endParaRPr lang="en-US" sz="1100" dirty="0"/>
          </a:p>
        </p:txBody>
      </p:sp>
      <p:sp>
        <p:nvSpPr>
          <p:cNvPr id="45" name="Shape 43"/>
          <p:cNvSpPr/>
          <p:nvPr/>
        </p:nvSpPr>
        <p:spPr>
          <a:xfrm>
            <a:off x="5221224" y="4416552"/>
            <a:ext cx="201168" cy="274320"/>
          </a:xfrm>
          <a:prstGeom prst="rect">
            <a:avLst/>
          </a:prstGeom>
          <a:solidFill>
            <a:srgbClr val="FFFFFF"/>
          </a:solidFill>
          <a:ln w="9525">
            <a:solidFill>
              <a:srgbClr val="2B2724"/>
            </a:solidFill>
            <a:prstDash val="solid"/>
          </a:ln>
        </p:spPr>
        <p:txBody>
          <a:bodyPr/>
          <a:lstStyle/>
          <a:p>
            <a:endParaRPr lang="de-DE"/>
          </a:p>
        </p:txBody>
      </p:sp>
      <p:sp>
        <p:nvSpPr>
          <p:cNvPr id="46" name="Shape 44"/>
          <p:cNvSpPr/>
          <p:nvPr/>
        </p:nvSpPr>
        <p:spPr>
          <a:xfrm>
            <a:off x="5532120" y="3840480"/>
            <a:ext cx="1691640" cy="960120"/>
          </a:xfrm>
          <a:prstGeom prst="rect">
            <a:avLst/>
          </a:prstGeom>
          <a:solidFill>
            <a:srgbClr val="FFFFFF"/>
          </a:solidFill>
          <a:ln w="12700">
            <a:solidFill>
              <a:srgbClr val="D9D1C5"/>
            </a:solidFill>
            <a:prstDash val="solid"/>
          </a:ln>
        </p:spPr>
        <p:txBody>
          <a:bodyPr/>
          <a:lstStyle/>
          <a:p>
            <a:endParaRPr lang="de-DE"/>
          </a:p>
        </p:txBody>
      </p:sp>
      <p:sp>
        <p:nvSpPr>
          <p:cNvPr id="47" name="Text 45"/>
          <p:cNvSpPr txBox="1"/>
          <p:nvPr/>
        </p:nvSpPr>
        <p:spPr>
          <a:xfrm>
            <a:off x="5623560" y="3913632"/>
            <a:ext cx="1234440" cy="813816"/>
          </a:xfrm>
          <a:prstGeom prst="rect">
            <a:avLst/>
          </a:prstGeom>
          <a:noFill/>
          <a:ln/>
        </p:spPr>
        <p:txBody>
          <a:bodyPr wrap="square" lIns="0" tIns="0" rIns="0" bIns="0" rtlCol="0" anchor="ctr"/>
          <a:lstStyle/>
          <a:p>
            <a:pPr marL="0" indent="0">
              <a:buNone/>
            </a:pPr>
            <a:r>
              <a:rPr lang="en-US" sz="1100" b="1" dirty="0">
                <a:solidFill>
                  <a:srgbClr val="4F6B3A"/>
                </a:solidFill>
                <a:latin typeface="Calibri" pitchFamily="34" charset="0"/>
                <a:ea typeface="Calibri" pitchFamily="34" charset="-122"/>
                <a:cs typeface="Calibri" pitchFamily="34" charset="-120"/>
              </a:rPr>
              <a:t>#09  </a:t>
            </a:r>
            <a:r>
              <a:rPr lang="en-US" sz="1150" b="1" dirty="0">
                <a:solidFill>
                  <a:srgbClr val="2B2724"/>
                </a:solidFill>
                <a:latin typeface="Calibri" pitchFamily="34" charset="0"/>
                <a:ea typeface="Calibri" pitchFamily="34" charset="-122"/>
                <a:cs typeface="Calibri" pitchFamily="34" charset="-120"/>
              </a:rPr>
              <a:t>Chili sin Carne</a:t>
            </a:r>
            <a:endParaRPr lang="en-US" sz="1100" dirty="0"/>
          </a:p>
          <a:p>
            <a:pPr marL="0" indent="0">
              <a:buNone/>
            </a:pPr>
            <a:r>
              <a:rPr lang="en-US" sz="1050" dirty="0">
                <a:solidFill>
                  <a:srgbClr val="6F6862"/>
                </a:solidFill>
                <a:latin typeface="Calibri" pitchFamily="34" charset="0"/>
                <a:ea typeface="Calibri" pitchFamily="34" charset="-122"/>
                <a:cs typeface="Calibri" pitchFamily="34" charset="-120"/>
              </a:rPr>
              <a:t>2,80 €</a:t>
            </a:r>
            <a:endParaRPr lang="en-US" sz="1100" dirty="0"/>
          </a:p>
        </p:txBody>
      </p:sp>
      <p:sp>
        <p:nvSpPr>
          <p:cNvPr id="48" name="Shape 46"/>
          <p:cNvSpPr/>
          <p:nvPr/>
        </p:nvSpPr>
        <p:spPr>
          <a:xfrm>
            <a:off x="6912864" y="4416552"/>
            <a:ext cx="201168" cy="274320"/>
          </a:xfrm>
          <a:prstGeom prst="rect">
            <a:avLst/>
          </a:prstGeom>
          <a:solidFill>
            <a:srgbClr val="FFFFFF"/>
          </a:solidFill>
          <a:ln w="9525">
            <a:solidFill>
              <a:srgbClr val="2B2724"/>
            </a:solidFill>
            <a:prstDash val="solid"/>
          </a:ln>
        </p:spPr>
        <p:txBody>
          <a:bodyPr/>
          <a:lstStyle/>
          <a:p>
            <a:endParaRPr lang="de-DE"/>
          </a:p>
        </p:txBody>
      </p:sp>
      <p:sp>
        <p:nvSpPr>
          <p:cNvPr id="49" name="Text 47"/>
          <p:cNvSpPr txBox="1"/>
          <p:nvPr/>
        </p:nvSpPr>
        <p:spPr>
          <a:xfrm>
            <a:off x="548640" y="4873752"/>
            <a:ext cx="3657600" cy="228600"/>
          </a:xfrm>
          <a:prstGeom prst="rect">
            <a:avLst/>
          </a:prstGeom>
          <a:noFill/>
          <a:ln/>
        </p:spPr>
        <p:txBody>
          <a:bodyPr wrap="square" lIns="0" tIns="0" rIns="0" bIns="0" rtlCol="0" anchor="ctr"/>
          <a:lstStyle/>
          <a:p>
            <a:pPr marL="0" indent="0">
              <a:buNone/>
            </a:pPr>
            <a:r>
              <a:rPr lang="en-US" sz="1000" dirty="0">
                <a:solidFill>
                  <a:srgbClr val="6F6862"/>
                </a:solidFill>
                <a:latin typeface="Calibri" pitchFamily="34" charset="0"/>
                <a:ea typeface="Calibri" pitchFamily="34" charset="-122"/>
                <a:cs typeface="Calibri" pitchFamily="34" charset="-120"/>
              </a:rPr>
              <a:t>□ = Kartenspender je Feld</a:t>
            </a:r>
            <a:endParaRPr lang="en-US" sz="1000" dirty="0"/>
          </a:p>
        </p:txBody>
      </p:sp>
      <p:sp>
        <p:nvSpPr>
          <p:cNvPr id="50" name="Shape 48"/>
          <p:cNvSpPr/>
          <p:nvPr/>
        </p:nvSpPr>
        <p:spPr>
          <a:xfrm>
            <a:off x="548640" y="5184648"/>
            <a:ext cx="237744" cy="237744"/>
          </a:xfrm>
          <a:prstGeom prst="ellipse">
            <a:avLst/>
          </a:prstGeom>
          <a:solidFill>
            <a:srgbClr val="B5452F"/>
          </a:solidFill>
          <a:ln w="12700">
            <a:solidFill>
              <a:srgbClr val="B5452F"/>
            </a:solidFill>
            <a:prstDash val="solid"/>
          </a:ln>
        </p:spPr>
        <p:txBody>
          <a:bodyPr/>
          <a:lstStyle/>
          <a:p>
            <a:endParaRPr lang="de-DE"/>
          </a:p>
        </p:txBody>
      </p:sp>
      <p:sp>
        <p:nvSpPr>
          <p:cNvPr id="51" name="Text 49"/>
          <p:cNvSpPr txBox="1"/>
          <p:nvPr/>
        </p:nvSpPr>
        <p:spPr>
          <a:xfrm>
            <a:off x="548640" y="5184648"/>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50"/>
          <p:cNvSpPr txBox="1"/>
          <p:nvPr/>
        </p:nvSpPr>
        <p:spPr>
          <a:xfrm>
            <a:off x="859536" y="5157216"/>
            <a:ext cx="5760720" cy="292608"/>
          </a:xfrm>
          <a:prstGeom prst="rect">
            <a:avLst/>
          </a:prstGeom>
          <a:noFill/>
          <a:ln/>
        </p:spPr>
        <p:txBody>
          <a:bodyPr wrap="square" lIns="0" tIns="0" rIns="0" bIns="0" rtlCol="0" anchor="ctr"/>
          <a:lstStyle/>
          <a:p>
            <a:pPr marL="0" indent="0">
              <a:buNone/>
            </a:pPr>
            <a:r>
              <a:rPr lang="en-US" sz="1050" dirty="0">
                <a:solidFill>
                  <a:srgbClr val="6F6862"/>
                </a:solidFill>
                <a:latin typeface="Calibri" pitchFamily="34" charset="0"/>
                <a:ea typeface="Calibri" pitchFamily="34" charset="-122"/>
                <a:cs typeface="Calibri" pitchFamily="34" charset="-120"/>
              </a:rPr>
              <a:t>Rezepte und Kriterien der Zeilen sind eigene Festlegung</a:t>
            </a:r>
            <a:endParaRPr lang="en-US" sz="1050" dirty="0"/>
          </a:p>
        </p:txBody>
      </p:sp>
      <p:sp>
        <p:nvSpPr>
          <p:cNvPr id="53" name="Text 51"/>
          <p:cNvSpPr txBox="1"/>
          <p:nvPr/>
        </p:nvSpPr>
        <p:spPr>
          <a:xfrm>
            <a:off x="7635240" y="1417320"/>
            <a:ext cx="4023360" cy="320040"/>
          </a:xfrm>
          <a:prstGeom prst="rect">
            <a:avLst/>
          </a:prstGeom>
          <a:noFill/>
          <a:ln/>
        </p:spPr>
        <p:txBody>
          <a:bodyPr wrap="square" lIns="0" tIns="0" rIns="0" bIns="0" rtlCol="0" anchor="ctr"/>
          <a:lstStyle/>
          <a:p>
            <a:pPr marL="0" indent="0">
              <a:buNone/>
            </a:pPr>
            <a:r>
              <a:rPr lang="en-US" sz="1500" b="1" dirty="0">
                <a:solidFill>
                  <a:srgbClr val="2B2724"/>
                </a:solidFill>
                <a:latin typeface="Calibri" pitchFamily="34" charset="0"/>
                <a:ea typeface="Calibri" pitchFamily="34" charset="-122"/>
                <a:cs typeface="Calibri" pitchFamily="34" charset="-120"/>
              </a:rPr>
              <a:t>Aufbau</a:t>
            </a:r>
            <a:endParaRPr lang="en-US" sz="1500" dirty="0"/>
          </a:p>
        </p:txBody>
      </p:sp>
      <p:sp>
        <p:nvSpPr>
          <p:cNvPr id="54" name="Text 52"/>
          <p:cNvSpPr txBox="1"/>
          <p:nvPr/>
        </p:nvSpPr>
        <p:spPr>
          <a:xfrm>
            <a:off x="7635240" y="1755648"/>
            <a:ext cx="4023360" cy="777240"/>
          </a:xfrm>
          <a:prstGeom prst="rect">
            <a:avLst/>
          </a:prstGeom>
          <a:noFill/>
          <a:ln/>
        </p:spPr>
        <p:txBody>
          <a:bodyPr wrap="square" lIns="0" tIns="0" rIns="0" bIns="0" rtlCol="0" anchor="t"/>
          <a:lstStyle/>
          <a:p>
            <a:pPr marL="0" indent="0">
              <a:buNone/>
            </a:pPr>
            <a:r>
              <a:rPr lang="en-US" sz="1200" dirty="0">
                <a:solidFill>
                  <a:srgbClr val="2B2724"/>
                </a:solidFill>
                <a:latin typeface="Calibri" pitchFamily="34" charset="0"/>
                <a:ea typeface="Calibri" pitchFamily="34" charset="-122"/>
                <a:cs typeface="Calibri" pitchFamily="34" charset="-120"/>
              </a:rPr>
              <a:t>Dashboard 2,4 m breit, ca. 3 m hinter dem Eingang, leicht links der Blickachse. Die Matrix liegt zwischen 100 und 210 cm, darunter 9 Kartenspender. Rückseite: Kursprogramm der Showküche.</a:t>
            </a:r>
            <a:endParaRPr lang="en-US" sz="1200" dirty="0"/>
          </a:p>
        </p:txBody>
      </p:sp>
      <p:sp>
        <p:nvSpPr>
          <p:cNvPr id="55" name="Shape 53"/>
          <p:cNvSpPr/>
          <p:nvPr/>
        </p:nvSpPr>
        <p:spPr>
          <a:xfrm>
            <a:off x="7635240" y="2532888"/>
            <a:ext cx="237744" cy="237744"/>
          </a:xfrm>
          <a:prstGeom prst="ellipse">
            <a:avLst/>
          </a:prstGeom>
          <a:solidFill>
            <a:srgbClr val="B5452F"/>
          </a:solidFill>
          <a:ln w="12700">
            <a:solidFill>
              <a:srgbClr val="B5452F"/>
            </a:solidFill>
            <a:prstDash val="solid"/>
          </a:ln>
        </p:spPr>
        <p:txBody>
          <a:bodyPr/>
          <a:lstStyle/>
          <a:p>
            <a:endParaRPr lang="de-DE"/>
          </a:p>
        </p:txBody>
      </p:sp>
      <p:sp>
        <p:nvSpPr>
          <p:cNvPr id="56" name="Text 54"/>
          <p:cNvSpPr txBox="1"/>
          <p:nvPr/>
        </p:nvSpPr>
        <p:spPr>
          <a:xfrm>
            <a:off x="7635240" y="2532888"/>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7" name="Text 55"/>
          <p:cNvSpPr txBox="1"/>
          <p:nvPr/>
        </p:nvSpPr>
        <p:spPr>
          <a:xfrm>
            <a:off x="7946136" y="2505456"/>
            <a:ext cx="3657600" cy="292608"/>
          </a:xfrm>
          <a:prstGeom prst="rect">
            <a:avLst/>
          </a:prstGeom>
          <a:noFill/>
          <a:ln/>
        </p:spPr>
        <p:txBody>
          <a:bodyPr wrap="square" lIns="0" tIns="0" rIns="0" bIns="0" rtlCol="0" anchor="ctr"/>
          <a:lstStyle/>
          <a:p>
            <a:pPr marL="0" indent="0">
              <a:buNone/>
            </a:pPr>
            <a:r>
              <a:rPr lang="en-US" sz="1000" dirty="0">
                <a:solidFill>
                  <a:srgbClr val="6F6862"/>
                </a:solidFill>
                <a:latin typeface="Calibri" pitchFamily="34" charset="0"/>
                <a:ea typeface="Calibri" pitchFamily="34" charset="-122"/>
                <a:cs typeface="Calibri" pitchFamily="34" charset="-120"/>
              </a:rPr>
              <a:t>Maße und Position sind eigene Entscheidung</a:t>
            </a:r>
            <a:endParaRPr lang="en-US" sz="1000" dirty="0"/>
          </a:p>
        </p:txBody>
      </p:sp>
      <p:sp>
        <p:nvSpPr>
          <p:cNvPr id="58" name="Text 56"/>
          <p:cNvSpPr txBox="1"/>
          <p:nvPr/>
        </p:nvSpPr>
        <p:spPr>
          <a:xfrm>
            <a:off x="7635240" y="2898648"/>
            <a:ext cx="4023360" cy="320040"/>
          </a:xfrm>
          <a:prstGeom prst="rect">
            <a:avLst/>
          </a:prstGeom>
          <a:noFill/>
          <a:ln/>
        </p:spPr>
        <p:txBody>
          <a:bodyPr wrap="square" lIns="0" tIns="0" rIns="0" bIns="0" rtlCol="0" anchor="ctr"/>
          <a:lstStyle/>
          <a:p>
            <a:pPr marL="0" indent="0">
              <a:buNone/>
            </a:pPr>
            <a:r>
              <a:rPr lang="en-US" sz="1500" b="1" dirty="0">
                <a:solidFill>
                  <a:srgbClr val="2B2724"/>
                </a:solidFill>
                <a:latin typeface="Calibri" pitchFamily="34" charset="0"/>
                <a:ea typeface="Calibri" pitchFamily="34" charset="-122"/>
                <a:cs typeface="Calibri" pitchFamily="34" charset="-120"/>
              </a:rPr>
              <a:t>Orientierung zuerst</a:t>
            </a:r>
            <a:endParaRPr lang="en-US" sz="1500" dirty="0"/>
          </a:p>
        </p:txBody>
      </p:sp>
      <p:sp>
        <p:nvSpPr>
          <p:cNvPr id="59" name="Text 57"/>
          <p:cNvSpPr txBox="1"/>
          <p:nvPr/>
        </p:nvSpPr>
        <p:spPr>
          <a:xfrm>
            <a:off x="7635240" y="3236976"/>
            <a:ext cx="4023360" cy="777240"/>
          </a:xfrm>
          <a:prstGeom prst="rect">
            <a:avLst/>
          </a:prstGeom>
          <a:noFill/>
          <a:ln/>
        </p:spPr>
        <p:txBody>
          <a:bodyPr wrap="square" lIns="0" tIns="0" rIns="0" bIns="0" rtlCol="0" anchor="t"/>
          <a:lstStyle/>
          <a:p>
            <a:pPr marL="0" indent="0">
              <a:buNone/>
            </a:pPr>
            <a:r>
              <a:rPr lang="en-US" sz="1200" dirty="0">
                <a:solidFill>
                  <a:srgbClr val="2B2724"/>
                </a:solidFill>
                <a:latin typeface="Calibri" pitchFamily="34" charset="0"/>
                <a:ea typeface="Calibri" pitchFamily="34" charset="-122"/>
                <a:cs typeface="Calibri" pitchFamily="34" charset="-120"/>
              </a:rPr>
              <a:t>Die Kundin hat schon eine Kaufabsicht. Das Dashboard bedient diese bestehende Kaufrelevanz und macht aus neun Rezepten zwei einfache Fragen.</a:t>
            </a:r>
            <a:endParaRPr lang="en-US" sz="1200" dirty="0"/>
          </a:p>
        </p:txBody>
      </p:sp>
      <p:sp>
        <p:nvSpPr>
          <p:cNvPr id="60" name="Shape 58"/>
          <p:cNvSpPr/>
          <p:nvPr/>
        </p:nvSpPr>
        <p:spPr>
          <a:xfrm>
            <a:off x="7635240" y="4014216"/>
            <a:ext cx="237744" cy="237744"/>
          </a:xfrm>
          <a:prstGeom prst="ellipse">
            <a:avLst/>
          </a:prstGeom>
          <a:solidFill>
            <a:srgbClr val="4F6B3A"/>
          </a:solidFill>
          <a:ln w="12700">
            <a:solidFill>
              <a:srgbClr val="4F6B3A"/>
            </a:solidFill>
            <a:prstDash val="solid"/>
          </a:ln>
        </p:spPr>
        <p:txBody>
          <a:bodyPr/>
          <a:lstStyle/>
          <a:p>
            <a:endParaRPr lang="de-DE"/>
          </a:p>
        </p:txBody>
      </p:sp>
      <p:sp>
        <p:nvSpPr>
          <p:cNvPr id="61" name="Text 59"/>
          <p:cNvSpPr txBox="1"/>
          <p:nvPr/>
        </p:nvSpPr>
        <p:spPr>
          <a:xfrm>
            <a:off x="7635240" y="4014216"/>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Q</a:t>
            </a:r>
            <a:endParaRPr lang="en-US" sz="900" dirty="0"/>
          </a:p>
        </p:txBody>
      </p:sp>
      <p:sp>
        <p:nvSpPr>
          <p:cNvPr id="62" name="Text 60"/>
          <p:cNvSpPr txBox="1"/>
          <p:nvPr/>
        </p:nvSpPr>
        <p:spPr>
          <a:xfrm>
            <a:off x="7946136" y="3986784"/>
            <a:ext cx="3657600" cy="292608"/>
          </a:xfrm>
          <a:prstGeom prst="rect">
            <a:avLst/>
          </a:prstGeom>
          <a:noFill/>
          <a:ln/>
        </p:spPr>
        <p:txBody>
          <a:bodyPr wrap="square" lIns="0" tIns="0" rIns="0" bIns="0" rtlCol="0" anchor="ctr"/>
          <a:lstStyle/>
          <a:p>
            <a:pPr marL="0" indent="0">
              <a:buNone/>
            </a:pPr>
            <a:r>
              <a:rPr lang="en-US" sz="1000" dirty="0">
                <a:solidFill>
                  <a:srgbClr val="6F6862"/>
                </a:solidFill>
                <a:latin typeface="Calibri" pitchFamily="34" charset="0"/>
                <a:ea typeface="Calibri" pitchFamily="34" charset="-122"/>
                <a:cs typeface="Calibri" pitchFamily="34" charset="-120"/>
              </a:rPr>
              <a:t>Leitdifferenz kaufrelevant, Seminarskript</a:t>
            </a:r>
            <a:endParaRPr lang="en-US" sz="1000" dirty="0"/>
          </a:p>
        </p:txBody>
      </p:sp>
      <p:sp>
        <p:nvSpPr>
          <p:cNvPr id="63" name="Text 61"/>
          <p:cNvSpPr txBox="1"/>
          <p:nvPr/>
        </p:nvSpPr>
        <p:spPr>
          <a:xfrm>
            <a:off x="7635240" y="4379976"/>
            <a:ext cx="4023360" cy="320040"/>
          </a:xfrm>
          <a:prstGeom prst="rect">
            <a:avLst/>
          </a:prstGeom>
          <a:noFill/>
          <a:ln/>
        </p:spPr>
        <p:txBody>
          <a:bodyPr wrap="square" lIns="0" tIns="0" rIns="0" bIns="0" rtlCol="0" anchor="ctr"/>
          <a:lstStyle/>
          <a:p>
            <a:pPr marL="0" indent="0">
              <a:buNone/>
            </a:pPr>
            <a:r>
              <a:rPr lang="en-US" sz="1500" b="1" dirty="0">
                <a:solidFill>
                  <a:srgbClr val="2B2724"/>
                </a:solidFill>
                <a:latin typeface="Calibri" pitchFamily="34" charset="0"/>
                <a:ea typeface="Calibri" pitchFamily="34" charset="-122"/>
                <a:cs typeface="Calibri" pitchFamily="34" charset="-120"/>
              </a:rPr>
              <a:t>Wechsel ohne Umbau</a:t>
            </a:r>
            <a:endParaRPr lang="en-US" sz="1500" dirty="0"/>
          </a:p>
        </p:txBody>
      </p:sp>
      <p:sp>
        <p:nvSpPr>
          <p:cNvPr id="64" name="Text 62"/>
          <p:cNvSpPr txBox="1"/>
          <p:nvPr/>
        </p:nvSpPr>
        <p:spPr>
          <a:xfrm>
            <a:off x="7635240" y="4718304"/>
            <a:ext cx="4023360" cy="777240"/>
          </a:xfrm>
          <a:prstGeom prst="rect">
            <a:avLst/>
          </a:prstGeom>
          <a:noFill/>
          <a:ln/>
        </p:spPr>
        <p:txBody>
          <a:bodyPr wrap="square" lIns="0" tIns="0" rIns="0" bIns="0" rtlCol="0" anchor="t"/>
          <a:lstStyle/>
          <a:p>
            <a:pPr marL="0" indent="0">
              <a:buNone/>
            </a:pPr>
            <a:r>
              <a:rPr lang="en-US" sz="1200" dirty="0">
                <a:solidFill>
                  <a:srgbClr val="2B2724"/>
                </a:solidFill>
                <a:latin typeface="Calibri" pitchFamily="34" charset="0"/>
                <a:ea typeface="Calibri" pitchFamily="34" charset="-122"/>
                <a:cs typeface="Calibri" pitchFamily="34" charset="-120"/>
              </a:rPr>
              <a:t>Monatlich tauschen nur die Rezepte in den Feldern. Spalten, Zeilen und Kojen bleiben fest, die Kundschaft lernt das System.</a:t>
            </a:r>
            <a:endParaRPr lang="en-US" sz="1200" dirty="0"/>
          </a:p>
        </p:txBody>
      </p:sp>
      <p:sp>
        <p:nvSpPr>
          <p:cNvPr id="65" name="Shape 63"/>
          <p:cNvSpPr/>
          <p:nvPr/>
        </p:nvSpPr>
        <p:spPr>
          <a:xfrm>
            <a:off x="7635240" y="5495544"/>
            <a:ext cx="237744" cy="237744"/>
          </a:xfrm>
          <a:prstGeom prst="ellipse">
            <a:avLst/>
          </a:prstGeom>
          <a:solidFill>
            <a:srgbClr val="B5452F"/>
          </a:solidFill>
          <a:ln w="12700">
            <a:solidFill>
              <a:srgbClr val="B5452F"/>
            </a:solidFill>
            <a:prstDash val="solid"/>
          </a:ln>
        </p:spPr>
        <p:txBody>
          <a:bodyPr/>
          <a:lstStyle/>
          <a:p>
            <a:endParaRPr lang="de-DE"/>
          </a:p>
        </p:txBody>
      </p:sp>
      <p:sp>
        <p:nvSpPr>
          <p:cNvPr id="66" name="Text 64"/>
          <p:cNvSpPr txBox="1"/>
          <p:nvPr/>
        </p:nvSpPr>
        <p:spPr>
          <a:xfrm>
            <a:off x="7635240" y="5495544"/>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5"/>
          <p:cNvSpPr txBox="1"/>
          <p:nvPr/>
        </p:nvSpPr>
        <p:spPr>
          <a:xfrm>
            <a:off x="7946136" y="5468112"/>
            <a:ext cx="3657600" cy="292608"/>
          </a:xfrm>
          <a:prstGeom prst="rect">
            <a:avLst/>
          </a:prstGeom>
          <a:noFill/>
          <a:ln/>
        </p:spPr>
        <p:txBody>
          <a:bodyPr wrap="square" lIns="0" tIns="0" rIns="0" bIns="0" rtlCol="0" anchor="ctr"/>
          <a:lstStyle/>
          <a:p>
            <a:pPr marL="0" indent="0">
              <a:buNone/>
            </a:pPr>
            <a:r>
              <a:rPr lang="en-US" sz="1000" dirty="0">
                <a:solidFill>
                  <a:srgbClr val="6F6862"/>
                </a:solidFill>
                <a:latin typeface="Calibri" pitchFamily="34" charset="0"/>
                <a:ea typeface="Calibri" pitchFamily="34" charset="-122"/>
                <a:cs typeface="Calibri" pitchFamily="34" charset="-120"/>
              </a:rPr>
              <a:t>eigene Entscheidung</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0972800" cy="274320"/>
          </a:xfrm>
          <a:prstGeom prst="rect">
            <a:avLst/>
          </a:prstGeom>
          <a:noFill/>
          <a:ln/>
        </p:spPr>
        <p:txBody>
          <a:bodyPr wrap="square" lIns="0" tIns="0" rIns="0" bIns="0" rtlCol="0" anchor="ctr"/>
          <a:lstStyle/>
          <a:p>
            <a:pPr marL="0" indent="0">
              <a:buNone/>
            </a:pPr>
            <a:r>
              <a:rPr lang="en-US" sz="1200" b="1" dirty="0">
                <a:solidFill>
                  <a:srgbClr val="B5452F"/>
                </a:solidFill>
                <a:latin typeface="Calibri" pitchFamily="34" charset="0"/>
                <a:ea typeface="Calibri" pitchFamily="34" charset="-122"/>
                <a:cs typeface="Calibri" pitchFamily="34" charset="-120"/>
              </a:rPr>
              <a:t>6 · WARENPRÄSENTATION</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2B2724"/>
                </a:solidFill>
                <a:latin typeface="Cambria" pitchFamily="34" charset="0"/>
                <a:ea typeface="Cambria" pitchFamily="34" charset="-122"/>
                <a:cs typeface="Cambria" pitchFamily="34" charset="-120"/>
              </a:rPr>
              <a:t>Die Rezeptkarte führt durch den Einkauf.</a:t>
            </a:r>
            <a:endParaRPr lang="en-US" sz="2800" dirty="0"/>
          </a:p>
        </p:txBody>
      </p:sp>
      <p:sp>
        <p:nvSpPr>
          <p:cNvPr id="4" name="Text 2"/>
          <p:cNvSpPr txBox="1"/>
          <p:nvPr/>
        </p:nvSpPr>
        <p:spPr>
          <a:xfrm>
            <a:off x="548640" y="6144768"/>
            <a:ext cx="11064240" cy="228600"/>
          </a:xfrm>
          <a:prstGeom prst="rect">
            <a:avLst/>
          </a:prstGeom>
          <a:noFill/>
          <a:ln/>
        </p:spPr>
        <p:txBody>
          <a:bodyPr wrap="square" lIns="0" tIns="0" rIns="0" bIns="0" rtlCol="0" anchor="ctr"/>
          <a:lstStyle/>
          <a:p>
            <a:pPr marL="0" indent="0">
              <a:buNone/>
            </a:pPr>
            <a:r>
              <a:rPr lang="en-US" sz="950" dirty="0">
                <a:solidFill>
                  <a:srgbClr val="6F6862"/>
                </a:solidFill>
                <a:latin typeface="Calibri" pitchFamily="34" charset="0"/>
                <a:ea typeface="Calibri" pitchFamily="34" charset="-122"/>
                <a:cs typeface="Calibri" pitchFamily="34" charset="-120"/>
              </a:rPr>
              <a:t>Rezeptkarte und Fachcodes sind eigene Gestaltung; Platzierung in der Sichtzone vgl. Ahlert, Kenning und Brock, 2020, S. 302–303.</a:t>
            </a:r>
            <a:endParaRPr lang="en-US" sz="950" dirty="0"/>
          </a:p>
        </p:txBody>
      </p:sp>
      <p:sp>
        <p:nvSpPr>
          <p:cNvPr id="5" name="Shape 3"/>
          <p:cNvSpPr/>
          <p:nvPr/>
        </p:nvSpPr>
        <p:spPr>
          <a:xfrm>
            <a:off x="548640" y="6419088"/>
            <a:ext cx="11091672" cy="0"/>
          </a:xfrm>
          <a:prstGeom prst="line">
            <a:avLst/>
          </a:prstGeom>
          <a:noFill/>
          <a:ln w="9525">
            <a:solidFill>
              <a:srgbClr val="D9D1C5"/>
            </a:solidFill>
            <a:prstDash val="solid"/>
          </a:ln>
        </p:spPr>
        <p:txBody>
          <a:bodyPr/>
          <a:lstStyle/>
          <a:p>
            <a:endParaRPr lang="de-DE"/>
          </a:p>
        </p:txBody>
      </p:sp>
      <p:sp>
        <p:nvSpPr>
          <p:cNvPr id="6" name="Text 4"/>
          <p:cNvSpPr txBox="1"/>
          <p:nvPr/>
        </p:nvSpPr>
        <p:spPr>
          <a:xfrm>
            <a:off x="548640" y="6473952"/>
            <a:ext cx="7315200" cy="228600"/>
          </a:xfrm>
          <a:prstGeom prst="rect">
            <a:avLst/>
          </a:prstGeom>
          <a:noFill/>
          <a:ln/>
        </p:spPr>
        <p:txBody>
          <a:bodyPr wrap="square" lIns="0" tIns="0" rIns="0" bIns="0" rtlCol="0" anchor="ctr"/>
          <a:lstStyle/>
          <a:p>
            <a:pPr marL="0" indent="0">
              <a:buNone/>
            </a:pPr>
            <a:r>
              <a:rPr lang="en-US" sz="900" dirty="0">
                <a:solidFill>
                  <a:srgbClr val="6F6862"/>
                </a:solidFill>
                <a:latin typeface="Calibri" pitchFamily="34" charset="0"/>
                <a:ea typeface="Calibri" pitchFamily="34" charset="-122"/>
                <a:cs typeface="Calibri" pitchFamily="34" charset="-120"/>
              </a:rPr>
              <a:t>One Hour Kitchen · Store-Konzept · Kurs HD25A23</a:t>
            </a:r>
            <a:endParaRPr lang="en-US" sz="900" dirty="0"/>
          </a:p>
        </p:txBody>
      </p:sp>
      <p:sp>
        <p:nvSpPr>
          <p:cNvPr id="7" name="Text 5"/>
          <p:cNvSpPr txBox="1"/>
          <p:nvPr/>
        </p:nvSpPr>
        <p:spPr>
          <a:xfrm>
            <a:off x="10725912" y="6473952"/>
            <a:ext cx="914400" cy="228600"/>
          </a:xfrm>
          <a:prstGeom prst="rect">
            <a:avLst/>
          </a:prstGeom>
          <a:noFill/>
          <a:ln/>
        </p:spPr>
        <p:txBody>
          <a:bodyPr wrap="square" lIns="0" tIns="0" rIns="0" bIns="0" rtlCol="0" anchor="ctr"/>
          <a:lstStyle/>
          <a:p>
            <a:pPr marL="0" indent="0" algn="r">
              <a:buNone/>
            </a:pPr>
            <a:r>
              <a:rPr lang="en-US" sz="900" dirty="0">
                <a:solidFill>
                  <a:srgbClr val="6F6862"/>
                </a:solidFill>
                <a:latin typeface="Calibri" pitchFamily="34" charset="0"/>
                <a:ea typeface="Calibri" pitchFamily="34" charset="-122"/>
                <a:cs typeface="Calibri" pitchFamily="34" charset="-120"/>
              </a:rPr>
              <a:t>13</a:t>
            </a:r>
            <a:endParaRPr lang="en-US" sz="900" dirty="0"/>
          </a:p>
        </p:txBody>
      </p:sp>
      <p:sp>
        <p:nvSpPr>
          <p:cNvPr id="8" name="Shape 6"/>
          <p:cNvSpPr/>
          <p:nvPr/>
        </p:nvSpPr>
        <p:spPr>
          <a:xfrm>
            <a:off x="731520" y="1417320"/>
            <a:ext cx="3657600" cy="4572000"/>
          </a:xfrm>
          <a:prstGeom prst="rect">
            <a:avLst/>
          </a:prstGeom>
          <a:solidFill>
            <a:srgbClr val="FFFFFF"/>
          </a:solidFill>
          <a:ln w="12700">
            <a:solidFill>
              <a:srgbClr val="D9D1C5"/>
            </a:solidFill>
            <a:prstDash val="solid"/>
          </a:ln>
          <a:effectLst>
            <a:outerShdw blurRad="101600" dist="38100" dir="5400000" algn="bl" rotWithShape="0">
              <a:srgbClr val="000000">
                <a:alpha val="18000"/>
              </a:srgbClr>
            </a:outerShdw>
          </a:effectLst>
        </p:spPr>
        <p:txBody>
          <a:bodyPr/>
          <a:lstStyle/>
          <a:p>
            <a:endParaRPr lang="de-DE"/>
          </a:p>
        </p:txBody>
      </p:sp>
      <p:sp>
        <p:nvSpPr>
          <p:cNvPr id="9" name="Shape 7"/>
          <p:cNvSpPr/>
          <p:nvPr/>
        </p:nvSpPr>
        <p:spPr>
          <a:xfrm>
            <a:off x="731520" y="1417320"/>
            <a:ext cx="3657600" cy="1051560"/>
          </a:xfrm>
          <a:prstGeom prst="rect">
            <a:avLst/>
          </a:prstGeom>
          <a:solidFill>
            <a:srgbClr val="B5452F"/>
          </a:solidFill>
          <a:ln w="12700">
            <a:solidFill>
              <a:srgbClr val="B5452F"/>
            </a:solidFill>
            <a:prstDash val="solid"/>
          </a:ln>
        </p:spPr>
        <p:txBody>
          <a:bodyPr/>
          <a:lstStyle/>
          <a:p>
            <a:endParaRPr lang="de-DE"/>
          </a:p>
        </p:txBody>
      </p:sp>
      <p:sp>
        <p:nvSpPr>
          <p:cNvPr id="10" name="Text 8"/>
          <p:cNvSpPr txBox="1"/>
          <p:nvPr/>
        </p:nvSpPr>
        <p:spPr>
          <a:xfrm>
            <a:off x="960120" y="1463040"/>
            <a:ext cx="3291840" cy="960120"/>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REZEPT #01  »  SCHNELL</a:t>
            </a:r>
            <a:endParaRPr lang="en-US" sz="1100" dirty="0"/>
          </a:p>
          <a:p>
            <a:pPr marL="0" indent="0">
              <a:buNone/>
            </a:pPr>
            <a:r>
              <a:rPr lang="en-US" sz="1900" b="1" dirty="0">
                <a:solidFill>
                  <a:srgbClr val="FFFFFF"/>
                </a:solidFill>
                <a:latin typeface="Cambria" pitchFamily="34" charset="0"/>
                <a:ea typeface="Cambria" pitchFamily="34" charset="-122"/>
                <a:cs typeface="Cambria" pitchFamily="34" charset="-120"/>
              </a:rPr>
              <a:t>Creamy Tomato Pasta</a:t>
            </a:r>
            <a:endParaRPr lang="en-US" sz="1100" dirty="0"/>
          </a:p>
        </p:txBody>
      </p:sp>
      <p:sp>
        <p:nvSpPr>
          <p:cNvPr id="11" name="Text 9"/>
          <p:cNvSpPr txBox="1"/>
          <p:nvPr/>
        </p:nvSpPr>
        <p:spPr>
          <a:xfrm>
            <a:off x="960120" y="2560320"/>
            <a:ext cx="3291840" cy="274320"/>
          </a:xfrm>
          <a:prstGeom prst="rect">
            <a:avLst/>
          </a:prstGeom>
          <a:noFill/>
          <a:ln/>
        </p:spPr>
        <p:txBody>
          <a:bodyPr wrap="square" lIns="0" tIns="0" rIns="0" bIns="0" rtlCol="0" anchor="ctr"/>
          <a:lstStyle/>
          <a:p>
            <a:pPr marL="0" indent="0">
              <a:buNone/>
            </a:pPr>
            <a:r>
              <a:rPr lang="en-US" sz="1100" b="1" dirty="0">
                <a:solidFill>
                  <a:srgbClr val="4F6B3A"/>
                </a:solidFill>
                <a:latin typeface="Calibri" pitchFamily="34" charset="0"/>
                <a:ea typeface="Calibri" pitchFamily="34" charset="-122"/>
                <a:cs typeface="Calibri" pitchFamily="34" charset="-120"/>
              </a:rPr>
              <a:t>20 Min. · 2 Personen · Pasta Night</a:t>
            </a:r>
            <a:endParaRPr lang="en-US" sz="1100" dirty="0"/>
          </a:p>
        </p:txBody>
      </p:sp>
      <p:sp>
        <p:nvSpPr>
          <p:cNvPr id="12" name="Text 10"/>
          <p:cNvSpPr txBox="1"/>
          <p:nvPr/>
        </p:nvSpPr>
        <p:spPr>
          <a:xfrm>
            <a:off x="960120" y="2926080"/>
            <a:ext cx="2377440" cy="292608"/>
          </a:xfrm>
          <a:prstGeom prst="rect">
            <a:avLst/>
          </a:prstGeom>
          <a:noFill/>
          <a:ln/>
        </p:spPr>
        <p:txBody>
          <a:bodyPr wrap="square" lIns="0" tIns="0" rIns="0" bIns="0" rtlCol="0" anchor="ctr"/>
          <a:lstStyle/>
          <a:p>
            <a:pPr marL="0" indent="0">
              <a:buNone/>
            </a:pPr>
            <a:r>
              <a:rPr lang="en-US" sz="1200" dirty="0">
                <a:solidFill>
                  <a:srgbClr val="2B2724"/>
                </a:solidFill>
                <a:latin typeface="Calibri" pitchFamily="34" charset="0"/>
                <a:ea typeface="Calibri" pitchFamily="34" charset="-122"/>
                <a:cs typeface="Calibri" pitchFamily="34" charset="-120"/>
              </a:rPr>
              <a:t>Pasta</a:t>
            </a:r>
            <a:endParaRPr lang="en-US" sz="1200" dirty="0"/>
          </a:p>
        </p:txBody>
      </p:sp>
      <p:sp>
        <p:nvSpPr>
          <p:cNvPr id="13" name="Shape 11"/>
          <p:cNvSpPr/>
          <p:nvPr/>
        </p:nvSpPr>
        <p:spPr>
          <a:xfrm>
            <a:off x="3611880" y="2953512"/>
            <a:ext cx="502920" cy="237744"/>
          </a:xfrm>
          <a:prstGeom prst="rect">
            <a:avLst/>
          </a:prstGeom>
          <a:solidFill>
            <a:srgbClr val="B5452F"/>
          </a:solidFill>
          <a:ln w="12700">
            <a:solidFill>
              <a:srgbClr val="B5452F"/>
            </a:solidFill>
            <a:prstDash val="solid"/>
          </a:ln>
        </p:spPr>
        <p:txBody>
          <a:bodyPr/>
          <a:lstStyle/>
          <a:p>
            <a:endParaRPr lang="de-DE"/>
          </a:p>
        </p:txBody>
      </p:sp>
      <p:sp>
        <p:nvSpPr>
          <p:cNvPr id="14" name="Text 12"/>
          <p:cNvSpPr txBox="1"/>
          <p:nvPr/>
        </p:nvSpPr>
        <p:spPr>
          <a:xfrm>
            <a:off x="3611880" y="2953512"/>
            <a:ext cx="502920"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W1</a:t>
            </a:r>
            <a:endParaRPr lang="en-US" sz="1000" dirty="0"/>
          </a:p>
        </p:txBody>
      </p:sp>
      <p:sp>
        <p:nvSpPr>
          <p:cNvPr id="15" name="Text 13"/>
          <p:cNvSpPr txBox="1"/>
          <p:nvPr/>
        </p:nvSpPr>
        <p:spPr>
          <a:xfrm>
            <a:off x="960120" y="3273552"/>
            <a:ext cx="2377440" cy="292608"/>
          </a:xfrm>
          <a:prstGeom prst="rect">
            <a:avLst/>
          </a:prstGeom>
          <a:noFill/>
          <a:ln/>
        </p:spPr>
        <p:txBody>
          <a:bodyPr wrap="square" lIns="0" tIns="0" rIns="0" bIns="0" rtlCol="0" anchor="ctr"/>
          <a:lstStyle/>
          <a:p>
            <a:pPr marL="0" indent="0">
              <a:buNone/>
            </a:pPr>
            <a:r>
              <a:rPr lang="en-US" sz="1200" dirty="0">
                <a:solidFill>
                  <a:srgbClr val="2B2724"/>
                </a:solidFill>
                <a:latin typeface="Calibri" pitchFamily="34" charset="0"/>
                <a:ea typeface="Calibri" pitchFamily="34" charset="-122"/>
                <a:cs typeface="Calibri" pitchFamily="34" charset="-120"/>
              </a:rPr>
              <a:t>Tomatensauce</a:t>
            </a:r>
            <a:endParaRPr lang="en-US" sz="1200" dirty="0"/>
          </a:p>
        </p:txBody>
      </p:sp>
      <p:sp>
        <p:nvSpPr>
          <p:cNvPr id="16" name="Shape 14"/>
          <p:cNvSpPr/>
          <p:nvPr/>
        </p:nvSpPr>
        <p:spPr>
          <a:xfrm>
            <a:off x="3611880" y="3300984"/>
            <a:ext cx="502920" cy="237744"/>
          </a:xfrm>
          <a:prstGeom prst="rect">
            <a:avLst/>
          </a:prstGeom>
          <a:solidFill>
            <a:srgbClr val="B5452F"/>
          </a:solidFill>
          <a:ln w="12700">
            <a:solidFill>
              <a:srgbClr val="B5452F"/>
            </a:solidFill>
            <a:prstDash val="solid"/>
          </a:ln>
        </p:spPr>
        <p:txBody>
          <a:bodyPr/>
          <a:lstStyle/>
          <a:p>
            <a:endParaRPr lang="de-DE"/>
          </a:p>
        </p:txBody>
      </p:sp>
      <p:sp>
        <p:nvSpPr>
          <p:cNvPr id="17" name="Text 15"/>
          <p:cNvSpPr txBox="1"/>
          <p:nvPr/>
        </p:nvSpPr>
        <p:spPr>
          <a:xfrm>
            <a:off x="3611880" y="3300984"/>
            <a:ext cx="502920"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W1</a:t>
            </a:r>
            <a:endParaRPr lang="en-US" sz="1000" dirty="0"/>
          </a:p>
        </p:txBody>
      </p:sp>
      <p:sp>
        <p:nvSpPr>
          <p:cNvPr id="18" name="Text 16"/>
          <p:cNvSpPr txBox="1"/>
          <p:nvPr/>
        </p:nvSpPr>
        <p:spPr>
          <a:xfrm>
            <a:off x="960120" y="3621024"/>
            <a:ext cx="2377440" cy="292608"/>
          </a:xfrm>
          <a:prstGeom prst="rect">
            <a:avLst/>
          </a:prstGeom>
          <a:noFill/>
          <a:ln/>
        </p:spPr>
        <p:txBody>
          <a:bodyPr wrap="square" lIns="0" tIns="0" rIns="0" bIns="0" rtlCol="0" anchor="ctr"/>
          <a:lstStyle/>
          <a:p>
            <a:pPr marL="0" indent="0">
              <a:buNone/>
            </a:pPr>
            <a:r>
              <a:rPr lang="en-US" sz="1200" dirty="0">
                <a:solidFill>
                  <a:srgbClr val="2B2724"/>
                </a:solidFill>
                <a:latin typeface="Calibri" pitchFamily="34" charset="0"/>
                <a:ea typeface="Calibri" pitchFamily="34" charset="-122"/>
                <a:cs typeface="Calibri" pitchFamily="34" charset="-120"/>
              </a:rPr>
              <a:t>Sahne</a:t>
            </a:r>
            <a:endParaRPr lang="en-US" sz="1200" dirty="0"/>
          </a:p>
        </p:txBody>
      </p:sp>
      <p:sp>
        <p:nvSpPr>
          <p:cNvPr id="19" name="Shape 17"/>
          <p:cNvSpPr/>
          <p:nvPr/>
        </p:nvSpPr>
        <p:spPr>
          <a:xfrm>
            <a:off x="3611880" y="3648456"/>
            <a:ext cx="502920" cy="237744"/>
          </a:xfrm>
          <a:prstGeom prst="rect">
            <a:avLst/>
          </a:prstGeom>
          <a:solidFill>
            <a:srgbClr val="6B97AE"/>
          </a:solidFill>
          <a:ln w="12700">
            <a:solidFill>
              <a:srgbClr val="6B97AE"/>
            </a:solidFill>
            <a:prstDash val="solid"/>
          </a:ln>
        </p:spPr>
        <p:txBody>
          <a:bodyPr/>
          <a:lstStyle/>
          <a:p>
            <a:endParaRPr lang="de-DE"/>
          </a:p>
        </p:txBody>
      </p:sp>
      <p:sp>
        <p:nvSpPr>
          <p:cNvPr id="20" name="Text 18"/>
          <p:cNvSpPr txBox="1"/>
          <p:nvPr/>
        </p:nvSpPr>
        <p:spPr>
          <a:xfrm>
            <a:off x="3611880" y="3648456"/>
            <a:ext cx="502920"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K1</a:t>
            </a:r>
            <a:endParaRPr lang="en-US" sz="1000" dirty="0"/>
          </a:p>
        </p:txBody>
      </p:sp>
      <p:sp>
        <p:nvSpPr>
          <p:cNvPr id="21" name="Text 19"/>
          <p:cNvSpPr txBox="1"/>
          <p:nvPr/>
        </p:nvSpPr>
        <p:spPr>
          <a:xfrm>
            <a:off x="960120" y="3968496"/>
            <a:ext cx="2377440" cy="292608"/>
          </a:xfrm>
          <a:prstGeom prst="rect">
            <a:avLst/>
          </a:prstGeom>
          <a:noFill/>
          <a:ln/>
        </p:spPr>
        <p:txBody>
          <a:bodyPr wrap="square" lIns="0" tIns="0" rIns="0" bIns="0" rtlCol="0" anchor="ctr"/>
          <a:lstStyle/>
          <a:p>
            <a:pPr marL="0" indent="0">
              <a:buNone/>
            </a:pPr>
            <a:r>
              <a:rPr lang="en-US" sz="1200" dirty="0">
                <a:solidFill>
                  <a:srgbClr val="2B2724"/>
                </a:solidFill>
                <a:latin typeface="Calibri" pitchFamily="34" charset="0"/>
                <a:ea typeface="Calibri" pitchFamily="34" charset="-122"/>
                <a:cs typeface="Calibri" pitchFamily="34" charset="-120"/>
              </a:rPr>
              <a:t>Parmesan</a:t>
            </a:r>
            <a:endParaRPr lang="en-US" sz="1200" dirty="0"/>
          </a:p>
        </p:txBody>
      </p:sp>
      <p:sp>
        <p:nvSpPr>
          <p:cNvPr id="22" name="Shape 20"/>
          <p:cNvSpPr/>
          <p:nvPr/>
        </p:nvSpPr>
        <p:spPr>
          <a:xfrm>
            <a:off x="3611880" y="3995928"/>
            <a:ext cx="502920" cy="237744"/>
          </a:xfrm>
          <a:prstGeom prst="rect">
            <a:avLst/>
          </a:prstGeom>
          <a:solidFill>
            <a:srgbClr val="6B97AE"/>
          </a:solidFill>
          <a:ln w="12700">
            <a:solidFill>
              <a:srgbClr val="6B97AE"/>
            </a:solidFill>
            <a:prstDash val="solid"/>
          </a:ln>
        </p:spPr>
        <p:txBody>
          <a:bodyPr/>
          <a:lstStyle/>
          <a:p>
            <a:endParaRPr lang="de-DE"/>
          </a:p>
        </p:txBody>
      </p:sp>
      <p:sp>
        <p:nvSpPr>
          <p:cNvPr id="23" name="Text 21"/>
          <p:cNvSpPr txBox="1"/>
          <p:nvPr/>
        </p:nvSpPr>
        <p:spPr>
          <a:xfrm>
            <a:off x="3611880" y="3995928"/>
            <a:ext cx="502920"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K2</a:t>
            </a:r>
            <a:endParaRPr lang="en-US" sz="1000" dirty="0"/>
          </a:p>
        </p:txBody>
      </p:sp>
      <p:sp>
        <p:nvSpPr>
          <p:cNvPr id="24" name="Text 22"/>
          <p:cNvSpPr txBox="1"/>
          <p:nvPr/>
        </p:nvSpPr>
        <p:spPr>
          <a:xfrm>
            <a:off x="960120" y="4315968"/>
            <a:ext cx="2377440" cy="292608"/>
          </a:xfrm>
          <a:prstGeom prst="rect">
            <a:avLst/>
          </a:prstGeom>
          <a:noFill/>
          <a:ln/>
        </p:spPr>
        <p:txBody>
          <a:bodyPr wrap="square" lIns="0" tIns="0" rIns="0" bIns="0" rtlCol="0" anchor="ctr"/>
          <a:lstStyle/>
          <a:p>
            <a:pPr marL="0" indent="0">
              <a:buNone/>
            </a:pPr>
            <a:r>
              <a:rPr lang="en-US" sz="1200" dirty="0">
                <a:solidFill>
                  <a:srgbClr val="2B2724"/>
                </a:solidFill>
                <a:latin typeface="Calibri" pitchFamily="34" charset="0"/>
                <a:ea typeface="Calibri" pitchFamily="34" charset="-122"/>
                <a:cs typeface="Calibri" pitchFamily="34" charset="-120"/>
              </a:rPr>
              <a:t>Knoblauch (Basilikum K6)</a:t>
            </a:r>
            <a:endParaRPr lang="en-US" sz="1200" dirty="0"/>
          </a:p>
        </p:txBody>
      </p:sp>
      <p:sp>
        <p:nvSpPr>
          <p:cNvPr id="25" name="Shape 23"/>
          <p:cNvSpPr/>
          <p:nvPr/>
        </p:nvSpPr>
        <p:spPr>
          <a:xfrm>
            <a:off x="3611880" y="4343400"/>
            <a:ext cx="502920" cy="237744"/>
          </a:xfrm>
          <a:prstGeom prst="rect">
            <a:avLst/>
          </a:prstGeom>
          <a:solidFill>
            <a:srgbClr val="6B97AE"/>
          </a:solidFill>
          <a:ln w="12700">
            <a:solidFill>
              <a:srgbClr val="6B97AE"/>
            </a:solidFill>
            <a:prstDash val="solid"/>
          </a:ln>
        </p:spPr>
        <p:txBody>
          <a:bodyPr/>
          <a:lstStyle/>
          <a:p>
            <a:endParaRPr lang="de-DE"/>
          </a:p>
        </p:txBody>
      </p:sp>
      <p:sp>
        <p:nvSpPr>
          <p:cNvPr id="26" name="Text 24"/>
          <p:cNvSpPr txBox="1"/>
          <p:nvPr/>
        </p:nvSpPr>
        <p:spPr>
          <a:xfrm>
            <a:off x="3611880" y="4343400"/>
            <a:ext cx="502920"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O1</a:t>
            </a:r>
            <a:endParaRPr lang="en-US" sz="1000" dirty="0"/>
          </a:p>
        </p:txBody>
      </p:sp>
      <p:sp>
        <p:nvSpPr>
          <p:cNvPr id="27" name="Text 25"/>
          <p:cNvSpPr txBox="1"/>
          <p:nvPr/>
        </p:nvSpPr>
        <p:spPr>
          <a:xfrm>
            <a:off x="960120" y="4663440"/>
            <a:ext cx="2377440" cy="292608"/>
          </a:xfrm>
          <a:prstGeom prst="rect">
            <a:avLst/>
          </a:prstGeom>
          <a:noFill/>
          <a:ln/>
        </p:spPr>
        <p:txBody>
          <a:bodyPr wrap="square" lIns="0" tIns="0" rIns="0" bIns="0" rtlCol="0" anchor="ctr"/>
          <a:lstStyle/>
          <a:p>
            <a:pPr marL="0" indent="0">
              <a:buNone/>
            </a:pPr>
            <a:r>
              <a:rPr lang="en-US" sz="1200" dirty="0">
                <a:solidFill>
                  <a:srgbClr val="2B2724"/>
                </a:solidFill>
                <a:latin typeface="Calibri" pitchFamily="34" charset="0"/>
                <a:ea typeface="Calibri" pitchFamily="34" charset="-122"/>
                <a:cs typeface="Calibri" pitchFamily="34" charset="-120"/>
              </a:rPr>
              <a:t>Olivenöl, Gewürze</a:t>
            </a:r>
            <a:endParaRPr lang="en-US" sz="1200" dirty="0"/>
          </a:p>
        </p:txBody>
      </p:sp>
      <p:sp>
        <p:nvSpPr>
          <p:cNvPr id="28" name="Shape 26"/>
          <p:cNvSpPr/>
          <p:nvPr/>
        </p:nvSpPr>
        <p:spPr>
          <a:xfrm>
            <a:off x="3611880" y="4690872"/>
            <a:ext cx="502920" cy="237744"/>
          </a:xfrm>
          <a:prstGeom prst="rect">
            <a:avLst/>
          </a:prstGeom>
          <a:solidFill>
            <a:srgbClr val="9A8566"/>
          </a:solidFill>
          <a:ln w="12700">
            <a:solidFill>
              <a:srgbClr val="9A8566"/>
            </a:solidFill>
            <a:prstDash val="solid"/>
          </a:ln>
        </p:spPr>
        <p:txBody>
          <a:bodyPr/>
          <a:lstStyle/>
          <a:p>
            <a:endParaRPr lang="de-DE"/>
          </a:p>
        </p:txBody>
      </p:sp>
      <p:sp>
        <p:nvSpPr>
          <p:cNvPr id="29" name="Text 27"/>
          <p:cNvSpPr txBox="1"/>
          <p:nvPr/>
        </p:nvSpPr>
        <p:spPr>
          <a:xfrm>
            <a:off x="3611880" y="4690872"/>
            <a:ext cx="502920"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B2</a:t>
            </a:r>
            <a:endParaRPr lang="en-US" sz="1000" dirty="0"/>
          </a:p>
        </p:txBody>
      </p:sp>
      <p:sp>
        <p:nvSpPr>
          <p:cNvPr id="30" name="Text 28"/>
          <p:cNvSpPr txBox="1"/>
          <p:nvPr/>
        </p:nvSpPr>
        <p:spPr>
          <a:xfrm>
            <a:off x="960120" y="5010912"/>
            <a:ext cx="2377440" cy="292608"/>
          </a:xfrm>
          <a:prstGeom prst="rect">
            <a:avLst/>
          </a:prstGeom>
          <a:noFill/>
          <a:ln/>
        </p:spPr>
        <p:txBody>
          <a:bodyPr wrap="square" lIns="0" tIns="0" rIns="0" bIns="0" rtlCol="0" anchor="ctr"/>
          <a:lstStyle/>
          <a:p>
            <a:pPr marL="0" indent="0">
              <a:buNone/>
            </a:pPr>
            <a:r>
              <a:rPr lang="en-US" sz="1200" dirty="0">
                <a:solidFill>
                  <a:srgbClr val="2B2724"/>
                </a:solidFill>
                <a:latin typeface="Calibri" pitchFamily="34" charset="0"/>
                <a:ea typeface="Calibri" pitchFamily="34" charset="-122"/>
                <a:cs typeface="Calibri" pitchFamily="34" charset="-120"/>
              </a:rPr>
              <a:t>+ Limonade</a:t>
            </a:r>
            <a:endParaRPr lang="en-US" sz="1200" dirty="0"/>
          </a:p>
        </p:txBody>
      </p:sp>
      <p:sp>
        <p:nvSpPr>
          <p:cNvPr id="31" name="Shape 29"/>
          <p:cNvSpPr/>
          <p:nvPr/>
        </p:nvSpPr>
        <p:spPr>
          <a:xfrm>
            <a:off x="3611880" y="5038344"/>
            <a:ext cx="502920" cy="237744"/>
          </a:xfrm>
          <a:prstGeom prst="rect">
            <a:avLst/>
          </a:prstGeom>
          <a:solidFill>
            <a:srgbClr val="2F5D8A"/>
          </a:solidFill>
          <a:ln w="12700">
            <a:solidFill>
              <a:srgbClr val="2F5D8A"/>
            </a:solidFill>
            <a:prstDash val="solid"/>
          </a:ln>
        </p:spPr>
        <p:txBody>
          <a:bodyPr/>
          <a:lstStyle/>
          <a:p>
            <a:endParaRPr lang="de-DE"/>
          </a:p>
        </p:txBody>
      </p:sp>
      <p:sp>
        <p:nvSpPr>
          <p:cNvPr id="32" name="Text 30"/>
          <p:cNvSpPr txBox="1"/>
          <p:nvPr/>
        </p:nvSpPr>
        <p:spPr>
          <a:xfrm>
            <a:off x="3611880" y="5038344"/>
            <a:ext cx="502920"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G3</a:t>
            </a:r>
            <a:endParaRPr lang="en-US" sz="1000" dirty="0"/>
          </a:p>
        </p:txBody>
      </p:sp>
      <p:sp>
        <p:nvSpPr>
          <p:cNvPr id="33" name="Text 31"/>
          <p:cNvSpPr txBox="1"/>
          <p:nvPr/>
        </p:nvSpPr>
        <p:spPr>
          <a:xfrm>
            <a:off x="960120" y="5358384"/>
            <a:ext cx="2377440" cy="292608"/>
          </a:xfrm>
          <a:prstGeom prst="rect">
            <a:avLst/>
          </a:prstGeom>
          <a:noFill/>
          <a:ln/>
        </p:spPr>
        <p:txBody>
          <a:bodyPr wrap="square" lIns="0" tIns="0" rIns="0" bIns="0" rtlCol="0" anchor="ctr"/>
          <a:lstStyle/>
          <a:p>
            <a:pPr marL="0" indent="0">
              <a:buNone/>
            </a:pPr>
            <a:r>
              <a:rPr lang="en-US" sz="1200" dirty="0">
                <a:solidFill>
                  <a:srgbClr val="2B2724"/>
                </a:solidFill>
                <a:latin typeface="Calibri" pitchFamily="34" charset="0"/>
                <a:ea typeface="Calibri" pitchFamily="34" charset="-122"/>
                <a:cs typeface="Calibri" pitchFamily="34" charset="-120"/>
              </a:rPr>
              <a:t>+ Cantuccini</a:t>
            </a:r>
            <a:endParaRPr lang="en-US" sz="1200" dirty="0"/>
          </a:p>
        </p:txBody>
      </p:sp>
      <p:sp>
        <p:nvSpPr>
          <p:cNvPr id="34" name="Shape 32"/>
          <p:cNvSpPr/>
          <p:nvPr/>
        </p:nvSpPr>
        <p:spPr>
          <a:xfrm>
            <a:off x="3611880" y="5385816"/>
            <a:ext cx="502920" cy="237744"/>
          </a:xfrm>
          <a:prstGeom prst="rect">
            <a:avLst/>
          </a:prstGeom>
          <a:solidFill>
            <a:srgbClr val="8A5A3C"/>
          </a:solidFill>
          <a:ln w="12700">
            <a:solidFill>
              <a:srgbClr val="8A5A3C"/>
            </a:solidFill>
            <a:prstDash val="solid"/>
          </a:ln>
        </p:spPr>
        <p:txBody>
          <a:bodyPr/>
          <a:lstStyle/>
          <a:p>
            <a:endParaRPr lang="de-DE"/>
          </a:p>
        </p:txBody>
      </p:sp>
      <p:sp>
        <p:nvSpPr>
          <p:cNvPr id="35" name="Text 33"/>
          <p:cNvSpPr txBox="1"/>
          <p:nvPr/>
        </p:nvSpPr>
        <p:spPr>
          <a:xfrm>
            <a:off x="3611880" y="5385816"/>
            <a:ext cx="502920"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W1</a:t>
            </a:r>
            <a:endParaRPr lang="en-US" sz="1000" dirty="0"/>
          </a:p>
        </p:txBody>
      </p:sp>
      <p:sp>
        <p:nvSpPr>
          <p:cNvPr id="36" name="Text 34"/>
          <p:cNvSpPr txBox="1"/>
          <p:nvPr/>
        </p:nvSpPr>
        <p:spPr>
          <a:xfrm>
            <a:off x="5029200" y="1417320"/>
            <a:ext cx="6583680" cy="320040"/>
          </a:xfrm>
          <a:prstGeom prst="rect">
            <a:avLst/>
          </a:prstGeom>
          <a:noFill/>
          <a:ln/>
        </p:spPr>
        <p:txBody>
          <a:bodyPr wrap="square" lIns="0" tIns="0" rIns="0" bIns="0" rtlCol="0" anchor="ctr"/>
          <a:lstStyle/>
          <a:p>
            <a:pPr marL="0" indent="0">
              <a:buNone/>
            </a:pPr>
            <a:r>
              <a:rPr lang="en-US" sz="1300" b="1" dirty="0">
                <a:solidFill>
                  <a:srgbClr val="2B2724"/>
                </a:solidFill>
                <a:latin typeface="Calibri" pitchFamily="34" charset="0"/>
                <a:ea typeface="Calibri" pitchFamily="34" charset="-122"/>
                <a:cs typeface="Calibri" pitchFamily="34" charset="-120"/>
              </a:rPr>
              <a:t>Fachcodes: O = Obst/Gemüse · W = Kochwelt · K = Kühlung · B = Basis · D = Dessert · G = Getränke</a:t>
            </a:r>
            <a:endParaRPr lang="en-US" sz="1300" dirty="0"/>
          </a:p>
        </p:txBody>
      </p:sp>
      <p:sp>
        <p:nvSpPr>
          <p:cNvPr id="37" name="Shape 35"/>
          <p:cNvSpPr/>
          <p:nvPr/>
        </p:nvSpPr>
        <p:spPr>
          <a:xfrm>
            <a:off x="5029200" y="2011680"/>
            <a:ext cx="1188720" cy="1234440"/>
          </a:xfrm>
          <a:prstGeom prst="rect">
            <a:avLst/>
          </a:prstGeom>
          <a:solidFill>
            <a:srgbClr val="F6DDD5"/>
          </a:solidFill>
          <a:ln w="12700">
            <a:solidFill>
              <a:srgbClr val="F6DDD5"/>
            </a:solidFill>
            <a:prstDash val="solid"/>
          </a:ln>
        </p:spPr>
        <p:txBody>
          <a:bodyPr/>
          <a:lstStyle/>
          <a:p>
            <a:endParaRPr lang="de-DE"/>
          </a:p>
        </p:txBody>
      </p:sp>
      <p:sp>
        <p:nvSpPr>
          <p:cNvPr id="38" name="Text 36"/>
          <p:cNvSpPr txBox="1"/>
          <p:nvPr/>
        </p:nvSpPr>
        <p:spPr>
          <a:xfrm>
            <a:off x="5102352" y="2057400"/>
            <a:ext cx="1042416" cy="1143000"/>
          </a:xfrm>
          <a:prstGeom prst="rect">
            <a:avLst/>
          </a:prstGeom>
          <a:noFill/>
          <a:ln/>
        </p:spPr>
        <p:txBody>
          <a:bodyPr wrap="square" lIns="0" tIns="0" rIns="0" bIns="0" rtlCol="0" anchor="ctr"/>
          <a:lstStyle/>
          <a:p>
            <a:pPr marL="0" indent="0" algn="ctr">
              <a:buNone/>
            </a:pPr>
            <a:r>
              <a:rPr lang="en-US" sz="1800" b="1" dirty="0">
                <a:solidFill>
                  <a:srgbClr val="B5452F"/>
                </a:solidFill>
                <a:latin typeface="Cambria" pitchFamily="34" charset="0"/>
                <a:ea typeface="Cambria" pitchFamily="34" charset="-122"/>
                <a:cs typeface="Cambria" pitchFamily="34" charset="-120"/>
              </a:rPr>
              <a:t>01</a:t>
            </a:r>
            <a:endParaRPr lang="en-US" sz="1800" dirty="0"/>
          </a:p>
          <a:p>
            <a:pPr marL="0" indent="0" algn="ctr">
              <a:buNone/>
            </a:pPr>
            <a:r>
              <a:rPr lang="en-US" sz="1200" b="1" dirty="0">
                <a:solidFill>
                  <a:srgbClr val="2B2724"/>
                </a:solidFill>
                <a:latin typeface="Calibri" pitchFamily="34" charset="0"/>
                <a:ea typeface="Calibri" pitchFamily="34" charset="-122"/>
                <a:cs typeface="Calibri" pitchFamily="34" charset="-120"/>
              </a:rPr>
              <a:t>Entscheiden</a:t>
            </a:r>
            <a:endParaRPr lang="en-US" sz="1800" dirty="0"/>
          </a:p>
          <a:p>
            <a:pPr marL="0" indent="0" algn="ctr">
              <a:buNone/>
            </a:pPr>
            <a:r>
              <a:rPr lang="en-US" sz="1050" dirty="0">
                <a:solidFill>
                  <a:srgbClr val="6F6862"/>
                </a:solidFill>
                <a:latin typeface="Calibri" pitchFamily="34" charset="0"/>
                <a:ea typeface="Calibri" pitchFamily="34" charset="-122"/>
                <a:cs typeface="Calibri" pitchFamily="34" charset="-120"/>
              </a:rPr>
              <a:t>Küche × Anlass</a:t>
            </a:r>
            <a:endParaRPr lang="en-US" sz="1800" dirty="0"/>
          </a:p>
        </p:txBody>
      </p:sp>
      <p:sp>
        <p:nvSpPr>
          <p:cNvPr id="39" name="Shape 37"/>
          <p:cNvSpPr/>
          <p:nvPr/>
        </p:nvSpPr>
        <p:spPr>
          <a:xfrm>
            <a:off x="6364224" y="2011680"/>
            <a:ext cx="1188720" cy="1234440"/>
          </a:xfrm>
          <a:prstGeom prst="rect">
            <a:avLst/>
          </a:prstGeom>
          <a:solidFill>
            <a:srgbClr val="F3EEE6"/>
          </a:solidFill>
          <a:ln w="12700">
            <a:solidFill>
              <a:srgbClr val="F3EEE6"/>
            </a:solidFill>
            <a:prstDash val="solid"/>
          </a:ln>
        </p:spPr>
        <p:txBody>
          <a:bodyPr/>
          <a:lstStyle/>
          <a:p>
            <a:endParaRPr lang="de-DE"/>
          </a:p>
        </p:txBody>
      </p:sp>
      <p:sp>
        <p:nvSpPr>
          <p:cNvPr id="40" name="Text 38"/>
          <p:cNvSpPr txBox="1"/>
          <p:nvPr/>
        </p:nvSpPr>
        <p:spPr>
          <a:xfrm>
            <a:off x="6437376" y="2057400"/>
            <a:ext cx="1042416" cy="1143000"/>
          </a:xfrm>
          <a:prstGeom prst="rect">
            <a:avLst/>
          </a:prstGeom>
          <a:noFill/>
          <a:ln/>
        </p:spPr>
        <p:txBody>
          <a:bodyPr wrap="square" lIns="0" tIns="0" rIns="0" bIns="0" rtlCol="0" anchor="ctr"/>
          <a:lstStyle/>
          <a:p>
            <a:pPr marL="0" indent="0" algn="ctr">
              <a:buNone/>
            </a:pPr>
            <a:r>
              <a:rPr lang="en-US" sz="1800" b="1" dirty="0">
                <a:solidFill>
                  <a:srgbClr val="B5452F"/>
                </a:solidFill>
                <a:latin typeface="Cambria" pitchFamily="34" charset="0"/>
                <a:ea typeface="Cambria" pitchFamily="34" charset="-122"/>
                <a:cs typeface="Cambria" pitchFamily="34" charset="-120"/>
              </a:rPr>
              <a:t>02</a:t>
            </a:r>
            <a:endParaRPr lang="en-US" sz="1800" dirty="0"/>
          </a:p>
          <a:p>
            <a:pPr marL="0" indent="0" algn="ctr">
              <a:buNone/>
            </a:pPr>
            <a:r>
              <a:rPr lang="en-US" sz="1200" b="1" dirty="0">
                <a:solidFill>
                  <a:srgbClr val="2B2724"/>
                </a:solidFill>
                <a:latin typeface="Calibri" pitchFamily="34" charset="0"/>
                <a:ea typeface="Calibri" pitchFamily="34" charset="-122"/>
                <a:cs typeface="Calibri" pitchFamily="34" charset="-120"/>
              </a:rPr>
              <a:t>Rezept</a:t>
            </a:r>
            <a:endParaRPr lang="en-US" sz="1800" dirty="0"/>
          </a:p>
          <a:p>
            <a:pPr marL="0" indent="0" algn="ctr">
              <a:buNone/>
            </a:pPr>
            <a:r>
              <a:rPr lang="en-US" sz="1050" dirty="0">
                <a:solidFill>
                  <a:srgbClr val="6F6862"/>
                </a:solidFill>
                <a:latin typeface="Calibri" pitchFamily="34" charset="0"/>
                <a:ea typeface="Calibri" pitchFamily="34" charset="-122"/>
                <a:cs typeface="Calibri" pitchFamily="34" charset="-120"/>
              </a:rPr>
              <a:t>Karte ziehen</a:t>
            </a:r>
            <a:endParaRPr lang="en-US" sz="1800" dirty="0"/>
          </a:p>
        </p:txBody>
      </p:sp>
      <p:sp>
        <p:nvSpPr>
          <p:cNvPr id="41" name="Shape 39"/>
          <p:cNvSpPr/>
          <p:nvPr/>
        </p:nvSpPr>
        <p:spPr>
          <a:xfrm>
            <a:off x="7699248" y="2011680"/>
            <a:ext cx="1188720" cy="1234440"/>
          </a:xfrm>
          <a:prstGeom prst="rect">
            <a:avLst/>
          </a:prstGeom>
          <a:solidFill>
            <a:srgbClr val="F6DDD5"/>
          </a:solidFill>
          <a:ln w="12700">
            <a:solidFill>
              <a:srgbClr val="F6DDD5"/>
            </a:solidFill>
            <a:prstDash val="solid"/>
          </a:ln>
        </p:spPr>
        <p:txBody>
          <a:bodyPr/>
          <a:lstStyle/>
          <a:p>
            <a:endParaRPr lang="de-DE"/>
          </a:p>
        </p:txBody>
      </p:sp>
      <p:sp>
        <p:nvSpPr>
          <p:cNvPr id="42" name="Text 40"/>
          <p:cNvSpPr txBox="1"/>
          <p:nvPr/>
        </p:nvSpPr>
        <p:spPr>
          <a:xfrm>
            <a:off x="7772400" y="2057400"/>
            <a:ext cx="1042416" cy="1143000"/>
          </a:xfrm>
          <a:prstGeom prst="rect">
            <a:avLst/>
          </a:prstGeom>
          <a:noFill/>
          <a:ln/>
        </p:spPr>
        <p:txBody>
          <a:bodyPr wrap="square" lIns="0" tIns="0" rIns="0" bIns="0" rtlCol="0" anchor="ctr"/>
          <a:lstStyle/>
          <a:p>
            <a:pPr marL="0" indent="0" algn="ctr">
              <a:buNone/>
            </a:pPr>
            <a:r>
              <a:rPr lang="en-US" sz="1800" b="1" dirty="0">
                <a:solidFill>
                  <a:srgbClr val="B5452F"/>
                </a:solidFill>
                <a:latin typeface="Cambria" pitchFamily="34" charset="0"/>
                <a:ea typeface="Cambria" pitchFamily="34" charset="-122"/>
                <a:cs typeface="Cambria" pitchFamily="34" charset="-120"/>
              </a:rPr>
              <a:t>03</a:t>
            </a:r>
            <a:endParaRPr lang="en-US" sz="1800" dirty="0"/>
          </a:p>
          <a:p>
            <a:pPr marL="0" indent="0" algn="ctr">
              <a:buNone/>
            </a:pPr>
            <a:r>
              <a:rPr lang="en-US" sz="1200" b="1" dirty="0">
                <a:solidFill>
                  <a:srgbClr val="2B2724"/>
                </a:solidFill>
                <a:latin typeface="Calibri" pitchFamily="34" charset="0"/>
                <a:ea typeface="Calibri" pitchFamily="34" charset="-122"/>
                <a:cs typeface="Calibri" pitchFamily="34" charset="-120"/>
              </a:rPr>
              <a:t>Einkauf</a:t>
            </a:r>
            <a:endParaRPr lang="en-US" sz="1800" dirty="0"/>
          </a:p>
          <a:p>
            <a:pPr marL="0" indent="0" algn="ctr">
              <a:buNone/>
            </a:pPr>
            <a:r>
              <a:rPr lang="en-US" sz="1050" dirty="0">
                <a:solidFill>
                  <a:srgbClr val="6F6862"/>
                </a:solidFill>
                <a:latin typeface="Calibri" pitchFamily="34" charset="0"/>
                <a:ea typeface="Calibri" pitchFamily="34" charset="-122"/>
                <a:cs typeface="Calibri" pitchFamily="34" charset="-120"/>
              </a:rPr>
              <a:t>Koje, Spalte »</a:t>
            </a:r>
            <a:endParaRPr lang="en-US" sz="1800" dirty="0"/>
          </a:p>
        </p:txBody>
      </p:sp>
      <p:sp>
        <p:nvSpPr>
          <p:cNvPr id="43" name="Shape 41"/>
          <p:cNvSpPr/>
          <p:nvPr/>
        </p:nvSpPr>
        <p:spPr>
          <a:xfrm>
            <a:off x="9034272" y="2011680"/>
            <a:ext cx="1188720" cy="1234440"/>
          </a:xfrm>
          <a:prstGeom prst="rect">
            <a:avLst/>
          </a:prstGeom>
          <a:solidFill>
            <a:srgbClr val="F3EEE6"/>
          </a:solidFill>
          <a:ln w="12700">
            <a:solidFill>
              <a:srgbClr val="F3EEE6"/>
            </a:solidFill>
            <a:prstDash val="solid"/>
          </a:ln>
        </p:spPr>
        <p:txBody>
          <a:bodyPr/>
          <a:lstStyle/>
          <a:p>
            <a:endParaRPr lang="de-DE"/>
          </a:p>
        </p:txBody>
      </p:sp>
      <p:sp>
        <p:nvSpPr>
          <p:cNvPr id="44" name="Text 42"/>
          <p:cNvSpPr txBox="1"/>
          <p:nvPr/>
        </p:nvSpPr>
        <p:spPr>
          <a:xfrm>
            <a:off x="9107424" y="2057400"/>
            <a:ext cx="1042416" cy="1143000"/>
          </a:xfrm>
          <a:prstGeom prst="rect">
            <a:avLst/>
          </a:prstGeom>
          <a:noFill/>
          <a:ln/>
        </p:spPr>
        <p:txBody>
          <a:bodyPr wrap="square" lIns="0" tIns="0" rIns="0" bIns="0" rtlCol="0" anchor="ctr"/>
          <a:lstStyle/>
          <a:p>
            <a:pPr marL="0" indent="0" algn="ctr">
              <a:buNone/>
            </a:pPr>
            <a:r>
              <a:rPr lang="en-US" sz="1800" b="1" dirty="0">
                <a:solidFill>
                  <a:srgbClr val="B5452F"/>
                </a:solidFill>
                <a:latin typeface="Cambria" pitchFamily="34" charset="0"/>
                <a:ea typeface="Cambria" pitchFamily="34" charset="-122"/>
                <a:cs typeface="Cambria" pitchFamily="34" charset="-120"/>
              </a:rPr>
              <a:t>04</a:t>
            </a:r>
            <a:endParaRPr lang="en-US" sz="1800" dirty="0"/>
          </a:p>
          <a:p>
            <a:pPr marL="0" indent="0" algn="ctr">
              <a:buNone/>
            </a:pPr>
            <a:r>
              <a:rPr lang="en-US" sz="1200" b="1" dirty="0">
                <a:solidFill>
                  <a:srgbClr val="2B2724"/>
                </a:solidFill>
                <a:latin typeface="Calibri" pitchFamily="34" charset="0"/>
                <a:ea typeface="Calibri" pitchFamily="34" charset="-122"/>
                <a:cs typeface="Calibri" pitchFamily="34" charset="-120"/>
              </a:rPr>
              <a:t>Ergänzen</a:t>
            </a:r>
            <a:endParaRPr lang="en-US" sz="1800" dirty="0"/>
          </a:p>
          <a:p>
            <a:pPr marL="0" indent="0" algn="ctr">
              <a:buNone/>
            </a:pPr>
            <a:r>
              <a:rPr lang="en-US" sz="1050" dirty="0">
                <a:solidFill>
                  <a:srgbClr val="6F6862"/>
                </a:solidFill>
                <a:latin typeface="Calibri" pitchFamily="34" charset="0"/>
                <a:ea typeface="Calibri" pitchFamily="34" charset="-122"/>
                <a:cs typeface="Calibri" pitchFamily="34" charset="-120"/>
              </a:rPr>
              <a:t>Drink + Dessert</a:t>
            </a:r>
            <a:endParaRPr lang="en-US" sz="1800" dirty="0"/>
          </a:p>
        </p:txBody>
      </p:sp>
      <p:sp>
        <p:nvSpPr>
          <p:cNvPr id="45" name="Shape 43"/>
          <p:cNvSpPr/>
          <p:nvPr/>
        </p:nvSpPr>
        <p:spPr>
          <a:xfrm>
            <a:off x="10369296" y="2011680"/>
            <a:ext cx="1188720" cy="1234440"/>
          </a:xfrm>
          <a:prstGeom prst="rect">
            <a:avLst/>
          </a:prstGeom>
          <a:solidFill>
            <a:srgbClr val="F6DDD5"/>
          </a:solidFill>
          <a:ln w="12700">
            <a:solidFill>
              <a:srgbClr val="F6DDD5"/>
            </a:solidFill>
            <a:prstDash val="solid"/>
          </a:ln>
        </p:spPr>
        <p:txBody>
          <a:bodyPr/>
          <a:lstStyle/>
          <a:p>
            <a:endParaRPr lang="de-DE"/>
          </a:p>
        </p:txBody>
      </p:sp>
      <p:sp>
        <p:nvSpPr>
          <p:cNvPr id="46" name="Text 44"/>
          <p:cNvSpPr txBox="1"/>
          <p:nvPr/>
        </p:nvSpPr>
        <p:spPr>
          <a:xfrm>
            <a:off x="10442448" y="2057400"/>
            <a:ext cx="1042416" cy="1143000"/>
          </a:xfrm>
          <a:prstGeom prst="rect">
            <a:avLst/>
          </a:prstGeom>
          <a:noFill/>
          <a:ln/>
        </p:spPr>
        <p:txBody>
          <a:bodyPr wrap="square" lIns="0" tIns="0" rIns="0" bIns="0" rtlCol="0" anchor="ctr"/>
          <a:lstStyle/>
          <a:p>
            <a:pPr marL="0" indent="0" algn="ctr">
              <a:buNone/>
            </a:pPr>
            <a:r>
              <a:rPr lang="en-US" sz="1800" b="1" dirty="0">
                <a:solidFill>
                  <a:srgbClr val="B5452F"/>
                </a:solidFill>
                <a:latin typeface="Cambria" pitchFamily="34" charset="0"/>
                <a:ea typeface="Cambria" pitchFamily="34" charset="-122"/>
                <a:cs typeface="Cambria" pitchFamily="34" charset="-120"/>
              </a:rPr>
              <a:t>05</a:t>
            </a:r>
            <a:endParaRPr lang="en-US" sz="1800" dirty="0"/>
          </a:p>
          <a:p>
            <a:pPr marL="0" indent="0" algn="ctr">
              <a:buNone/>
            </a:pPr>
            <a:r>
              <a:rPr lang="en-US" sz="1200" b="1" dirty="0">
                <a:solidFill>
                  <a:srgbClr val="2B2724"/>
                </a:solidFill>
                <a:latin typeface="Calibri" pitchFamily="34" charset="0"/>
                <a:ea typeface="Calibri" pitchFamily="34" charset="-122"/>
                <a:cs typeface="Calibri" pitchFamily="34" charset="-120"/>
              </a:rPr>
              <a:t>Abschluss</a:t>
            </a:r>
            <a:endParaRPr lang="en-US" sz="1800" dirty="0"/>
          </a:p>
          <a:p>
            <a:pPr marL="0" indent="0" algn="ctr">
              <a:buNone/>
            </a:pPr>
            <a:r>
              <a:rPr lang="en-US" sz="1050" dirty="0">
                <a:solidFill>
                  <a:srgbClr val="6F6862"/>
                </a:solidFill>
                <a:latin typeface="Calibri" pitchFamily="34" charset="0"/>
                <a:ea typeface="Calibri" pitchFamily="34" charset="-122"/>
                <a:cs typeface="Calibri" pitchFamily="34" charset="-120"/>
              </a:rPr>
              <a:t>Kasse / Kurs buchen</a:t>
            </a:r>
            <a:endParaRPr lang="en-US" sz="1800" dirty="0"/>
          </a:p>
        </p:txBody>
      </p:sp>
      <p:sp>
        <p:nvSpPr>
          <p:cNvPr id="47" name="Text 45"/>
          <p:cNvSpPr txBox="1"/>
          <p:nvPr/>
        </p:nvSpPr>
        <p:spPr>
          <a:xfrm>
            <a:off x="5029200" y="3566160"/>
            <a:ext cx="6583680" cy="274320"/>
          </a:xfrm>
          <a:prstGeom prst="rect">
            <a:avLst/>
          </a:prstGeom>
          <a:noFill/>
          <a:ln/>
        </p:spPr>
        <p:txBody>
          <a:bodyPr wrap="square" lIns="0" tIns="0" rIns="0" bIns="0" rtlCol="0" anchor="ctr"/>
          <a:lstStyle/>
          <a:p>
            <a:pPr marL="0" indent="0">
              <a:buNone/>
            </a:pPr>
            <a:r>
              <a:rPr lang="en-US" sz="1350" b="1" dirty="0">
                <a:solidFill>
                  <a:srgbClr val="2B2724"/>
                </a:solidFill>
                <a:latin typeface="Calibri" pitchFamily="34" charset="0"/>
                <a:ea typeface="Calibri" pitchFamily="34" charset="-122"/>
                <a:cs typeface="Calibri" pitchFamily="34" charset="-120"/>
              </a:rPr>
              <a:t>Präsentation, nicht Deko</a:t>
            </a:r>
            <a:endParaRPr lang="en-US" sz="1350" dirty="0"/>
          </a:p>
        </p:txBody>
      </p:sp>
      <p:sp>
        <p:nvSpPr>
          <p:cNvPr id="48" name="Text 46"/>
          <p:cNvSpPr txBox="1"/>
          <p:nvPr/>
        </p:nvSpPr>
        <p:spPr>
          <a:xfrm>
            <a:off x="5029200" y="3840480"/>
            <a:ext cx="6583680" cy="457200"/>
          </a:xfrm>
          <a:prstGeom prst="rect">
            <a:avLst/>
          </a:prstGeom>
          <a:noFill/>
          <a:ln/>
        </p:spPr>
        <p:txBody>
          <a:bodyPr wrap="square" lIns="0" tIns="0" rIns="0" bIns="0" rtlCol="0" anchor="ctr"/>
          <a:lstStyle/>
          <a:p>
            <a:pPr marL="0" indent="0">
              <a:buNone/>
            </a:pPr>
            <a:r>
              <a:rPr lang="en-US" sz="1250" dirty="0">
                <a:solidFill>
                  <a:srgbClr val="2B2724"/>
                </a:solidFill>
                <a:latin typeface="Calibri" pitchFamily="34" charset="0"/>
                <a:ea typeface="Calibri" pitchFamily="34" charset="-122"/>
                <a:cs typeface="Calibri" pitchFamily="34" charset="-120"/>
              </a:rPr>
              <a:t>Die Karte macht Ware verständlich: Sie zeigt, wozu die Zutaten zusammengehören und wo sie liegen.</a:t>
            </a:r>
            <a:endParaRPr lang="en-US" sz="1250" dirty="0"/>
          </a:p>
        </p:txBody>
      </p:sp>
      <p:sp>
        <p:nvSpPr>
          <p:cNvPr id="49" name="Text 47"/>
          <p:cNvSpPr txBox="1"/>
          <p:nvPr/>
        </p:nvSpPr>
        <p:spPr>
          <a:xfrm>
            <a:off x="5029200" y="4370832"/>
            <a:ext cx="6583680" cy="274320"/>
          </a:xfrm>
          <a:prstGeom prst="rect">
            <a:avLst/>
          </a:prstGeom>
          <a:noFill/>
          <a:ln/>
        </p:spPr>
        <p:txBody>
          <a:bodyPr wrap="square" lIns="0" tIns="0" rIns="0" bIns="0" rtlCol="0" anchor="ctr"/>
          <a:lstStyle/>
          <a:p>
            <a:pPr marL="0" indent="0">
              <a:buNone/>
            </a:pPr>
            <a:r>
              <a:rPr lang="en-US" sz="1350" b="1" dirty="0">
                <a:solidFill>
                  <a:srgbClr val="2B2724"/>
                </a:solidFill>
                <a:latin typeface="Calibri" pitchFamily="34" charset="0"/>
                <a:ea typeface="Calibri" pitchFamily="34" charset="-122"/>
                <a:cs typeface="Calibri" pitchFamily="34" charset="-120"/>
              </a:rPr>
              <a:t>Gleiche Zeichen überall</a:t>
            </a:r>
            <a:endParaRPr lang="en-US" sz="1350" dirty="0"/>
          </a:p>
        </p:txBody>
      </p:sp>
      <p:sp>
        <p:nvSpPr>
          <p:cNvPr id="50" name="Text 48"/>
          <p:cNvSpPr txBox="1"/>
          <p:nvPr/>
        </p:nvSpPr>
        <p:spPr>
          <a:xfrm>
            <a:off x="5029200" y="4645152"/>
            <a:ext cx="6583680" cy="457200"/>
          </a:xfrm>
          <a:prstGeom prst="rect">
            <a:avLst/>
          </a:prstGeom>
          <a:noFill/>
          <a:ln/>
        </p:spPr>
        <p:txBody>
          <a:bodyPr wrap="square" lIns="0" tIns="0" rIns="0" bIns="0" rtlCol="0" anchor="ctr"/>
          <a:lstStyle/>
          <a:p>
            <a:pPr marL="0" indent="0">
              <a:buNone/>
            </a:pPr>
            <a:r>
              <a:rPr lang="en-US" sz="1250" dirty="0">
                <a:solidFill>
                  <a:srgbClr val="2B2724"/>
                </a:solidFill>
                <a:latin typeface="Calibri" pitchFamily="34" charset="0"/>
                <a:ea typeface="Calibri" pitchFamily="34" charset="-122"/>
                <a:cs typeface="Calibri" pitchFamily="34" charset="-120"/>
              </a:rPr>
              <a:t>Nummer und Anlass-Symbol stehen gleich auf Präsenter, Karte und Regalabschnitt.</a:t>
            </a:r>
            <a:endParaRPr lang="en-US" sz="1250" dirty="0"/>
          </a:p>
        </p:txBody>
      </p:sp>
      <p:sp>
        <p:nvSpPr>
          <p:cNvPr id="51" name="Text 49"/>
          <p:cNvSpPr txBox="1"/>
          <p:nvPr/>
        </p:nvSpPr>
        <p:spPr>
          <a:xfrm>
            <a:off x="5029200" y="5175504"/>
            <a:ext cx="6583680" cy="274320"/>
          </a:xfrm>
          <a:prstGeom prst="rect">
            <a:avLst/>
          </a:prstGeom>
          <a:noFill/>
          <a:ln/>
        </p:spPr>
        <p:txBody>
          <a:bodyPr wrap="square" lIns="0" tIns="0" rIns="0" bIns="0" rtlCol="0" anchor="ctr"/>
          <a:lstStyle/>
          <a:p>
            <a:pPr marL="0" indent="0">
              <a:buNone/>
            </a:pPr>
            <a:r>
              <a:rPr lang="en-US" sz="1350" b="1" dirty="0">
                <a:solidFill>
                  <a:srgbClr val="2B2724"/>
                </a:solidFill>
                <a:latin typeface="Calibri" pitchFamily="34" charset="0"/>
                <a:ea typeface="Calibri" pitchFamily="34" charset="-122"/>
                <a:cs typeface="Calibri" pitchFamily="34" charset="-120"/>
              </a:rPr>
              <a:t>Brücke zur Showküche</a:t>
            </a:r>
            <a:endParaRPr lang="en-US" sz="1350" dirty="0"/>
          </a:p>
        </p:txBody>
      </p:sp>
      <p:sp>
        <p:nvSpPr>
          <p:cNvPr id="52" name="Text 50"/>
          <p:cNvSpPr txBox="1"/>
          <p:nvPr/>
        </p:nvSpPr>
        <p:spPr>
          <a:xfrm>
            <a:off x="5029200" y="5449824"/>
            <a:ext cx="6583680" cy="457200"/>
          </a:xfrm>
          <a:prstGeom prst="rect">
            <a:avLst/>
          </a:prstGeom>
          <a:noFill/>
          <a:ln/>
        </p:spPr>
        <p:txBody>
          <a:bodyPr wrap="square" lIns="0" tIns="0" rIns="0" bIns="0" rtlCol="0" anchor="ctr"/>
          <a:lstStyle/>
          <a:p>
            <a:pPr marL="0" indent="0">
              <a:buNone/>
            </a:pPr>
            <a:r>
              <a:rPr lang="en-US" sz="1250" dirty="0">
                <a:solidFill>
                  <a:srgbClr val="2B2724"/>
                </a:solidFill>
                <a:latin typeface="Calibri" pitchFamily="34" charset="0"/>
                <a:ea typeface="Calibri" pitchFamily="34" charset="-122"/>
                <a:cs typeface="Calibri" pitchFamily="34" charset="-120"/>
              </a:rPr>
              <a:t>QR-Code auf der Rückseite: Kurs zu diesem Rezept buchen.</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0972800" cy="274320"/>
          </a:xfrm>
          <a:prstGeom prst="rect">
            <a:avLst/>
          </a:prstGeom>
          <a:noFill/>
          <a:ln/>
        </p:spPr>
        <p:txBody>
          <a:bodyPr wrap="square" lIns="0" tIns="0" rIns="0" bIns="0" rtlCol="0" anchor="ctr"/>
          <a:lstStyle/>
          <a:p>
            <a:pPr marL="0" indent="0">
              <a:buNone/>
            </a:pPr>
            <a:r>
              <a:rPr lang="en-US" sz="1200" b="1" dirty="0">
                <a:solidFill>
                  <a:srgbClr val="B5452F"/>
                </a:solidFill>
                <a:latin typeface="Calibri" pitchFamily="34" charset="0"/>
                <a:ea typeface="Calibri" pitchFamily="34" charset="-122"/>
                <a:cs typeface="Calibri" pitchFamily="34" charset="-120"/>
              </a:rPr>
              <a:t>6 · WARENPRÄSENTATION</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2B2724"/>
                </a:solidFill>
                <a:latin typeface="Cambria" pitchFamily="34" charset="0"/>
                <a:ea typeface="Cambria" pitchFamily="34" charset="-122"/>
                <a:cs typeface="Cambria" pitchFamily="34" charset="-120"/>
              </a:rPr>
              <a:t>Warenpräsentation: drei Elemente, jeweils begründet.</a:t>
            </a:r>
            <a:endParaRPr lang="en-US" sz="2800" dirty="0"/>
          </a:p>
        </p:txBody>
      </p:sp>
      <p:sp>
        <p:nvSpPr>
          <p:cNvPr id="4" name="Text 2"/>
          <p:cNvSpPr txBox="1"/>
          <p:nvPr/>
        </p:nvSpPr>
        <p:spPr>
          <a:xfrm>
            <a:off x="548640" y="6144768"/>
            <a:ext cx="11064240" cy="228600"/>
          </a:xfrm>
          <a:prstGeom prst="rect">
            <a:avLst/>
          </a:prstGeom>
          <a:noFill/>
          <a:ln/>
        </p:spPr>
        <p:txBody>
          <a:bodyPr wrap="square" lIns="0" tIns="0" rIns="0" bIns="0" rtlCol="0" anchor="ctr"/>
          <a:lstStyle/>
          <a:p>
            <a:pPr marL="0" indent="0">
              <a:buNone/>
            </a:pPr>
            <a:r>
              <a:rPr lang="en-US" sz="950" dirty="0">
                <a:solidFill>
                  <a:srgbClr val="6F6862"/>
                </a:solidFill>
                <a:latin typeface="Calibri" pitchFamily="34" charset="0"/>
                <a:ea typeface="Calibri" pitchFamily="34" charset="-122"/>
                <a:cs typeface="Calibri" pitchFamily="34" charset="-120"/>
              </a:rPr>
              <a:t>Fensterarten und Präsentationsmittel: Ahlert, Kenning und Brock, 2020, S. 303–306 ✓. Querplatzierung: S. 300–301, Abb. 10.3 ✓. Funktionen sind beabsichtigt, Wirkungen nicht belegt.</a:t>
            </a:r>
            <a:endParaRPr lang="en-US" sz="950" dirty="0"/>
          </a:p>
        </p:txBody>
      </p:sp>
      <p:sp>
        <p:nvSpPr>
          <p:cNvPr id="5" name="Shape 3"/>
          <p:cNvSpPr/>
          <p:nvPr/>
        </p:nvSpPr>
        <p:spPr>
          <a:xfrm>
            <a:off x="548640" y="6419088"/>
            <a:ext cx="11091672" cy="0"/>
          </a:xfrm>
          <a:prstGeom prst="line">
            <a:avLst/>
          </a:prstGeom>
          <a:noFill/>
          <a:ln w="9525">
            <a:solidFill>
              <a:srgbClr val="D9D1C5"/>
            </a:solidFill>
            <a:prstDash val="solid"/>
          </a:ln>
        </p:spPr>
        <p:txBody>
          <a:bodyPr/>
          <a:lstStyle/>
          <a:p>
            <a:endParaRPr lang="de-DE"/>
          </a:p>
        </p:txBody>
      </p:sp>
      <p:sp>
        <p:nvSpPr>
          <p:cNvPr id="6" name="Text 4"/>
          <p:cNvSpPr txBox="1"/>
          <p:nvPr/>
        </p:nvSpPr>
        <p:spPr>
          <a:xfrm>
            <a:off x="548640" y="6473952"/>
            <a:ext cx="7315200" cy="228600"/>
          </a:xfrm>
          <a:prstGeom prst="rect">
            <a:avLst/>
          </a:prstGeom>
          <a:noFill/>
          <a:ln/>
        </p:spPr>
        <p:txBody>
          <a:bodyPr wrap="square" lIns="0" tIns="0" rIns="0" bIns="0" rtlCol="0" anchor="ctr"/>
          <a:lstStyle/>
          <a:p>
            <a:pPr marL="0" indent="0">
              <a:buNone/>
            </a:pPr>
            <a:r>
              <a:rPr lang="en-US" sz="900" dirty="0">
                <a:solidFill>
                  <a:srgbClr val="6F6862"/>
                </a:solidFill>
                <a:latin typeface="Calibri" pitchFamily="34" charset="0"/>
                <a:ea typeface="Calibri" pitchFamily="34" charset="-122"/>
                <a:cs typeface="Calibri" pitchFamily="34" charset="-120"/>
              </a:rPr>
              <a:t>One Hour Kitchen · Store-Konzept · Kurs HD25A23</a:t>
            </a:r>
            <a:endParaRPr lang="en-US" sz="900" dirty="0"/>
          </a:p>
        </p:txBody>
      </p:sp>
      <p:sp>
        <p:nvSpPr>
          <p:cNvPr id="7" name="Text 5"/>
          <p:cNvSpPr txBox="1"/>
          <p:nvPr/>
        </p:nvSpPr>
        <p:spPr>
          <a:xfrm>
            <a:off x="10725912" y="6473952"/>
            <a:ext cx="914400" cy="228600"/>
          </a:xfrm>
          <a:prstGeom prst="rect">
            <a:avLst/>
          </a:prstGeom>
          <a:noFill/>
          <a:ln/>
        </p:spPr>
        <p:txBody>
          <a:bodyPr wrap="square" lIns="0" tIns="0" rIns="0" bIns="0" rtlCol="0" anchor="ctr"/>
          <a:lstStyle/>
          <a:p>
            <a:pPr marL="0" indent="0" algn="r">
              <a:buNone/>
            </a:pPr>
            <a:r>
              <a:rPr lang="en-US" sz="900" dirty="0">
                <a:solidFill>
                  <a:srgbClr val="6F6862"/>
                </a:solidFill>
                <a:latin typeface="Calibri" pitchFamily="34" charset="0"/>
                <a:ea typeface="Calibri" pitchFamily="34" charset="-122"/>
                <a:cs typeface="Calibri" pitchFamily="34" charset="-120"/>
              </a:rPr>
              <a:t>14</a:t>
            </a:r>
            <a:endParaRPr lang="en-US" sz="900" dirty="0"/>
          </a:p>
        </p:txBody>
      </p:sp>
      <p:sp>
        <p:nvSpPr>
          <p:cNvPr id="8" name="Shape 6"/>
          <p:cNvSpPr/>
          <p:nvPr/>
        </p:nvSpPr>
        <p:spPr>
          <a:xfrm>
            <a:off x="548640" y="1417320"/>
            <a:ext cx="3200400" cy="457200"/>
          </a:xfrm>
          <a:prstGeom prst="rect">
            <a:avLst/>
          </a:prstGeom>
          <a:solidFill>
            <a:srgbClr val="2B2724"/>
          </a:solidFill>
          <a:ln w="12700">
            <a:solidFill>
              <a:srgbClr val="2B2724"/>
            </a:solidFill>
            <a:prstDash val="solid"/>
          </a:ln>
        </p:spPr>
        <p:txBody>
          <a:bodyPr/>
          <a:lstStyle/>
          <a:p>
            <a:endParaRPr lang="de-DE"/>
          </a:p>
        </p:txBody>
      </p:sp>
      <p:sp>
        <p:nvSpPr>
          <p:cNvPr id="9" name="Text 7"/>
          <p:cNvSpPr txBox="1"/>
          <p:nvPr/>
        </p:nvSpPr>
        <p:spPr>
          <a:xfrm>
            <a:off x="685800" y="1417320"/>
            <a:ext cx="2926080"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Sichtbares Merkmal</a:t>
            </a:r>
            <a:endParaRPr lang="en-US" sz="1300" dirty="0"/>
          </a:p>
        </p:txBody>
      </p:sp>
      <p:sp>
        <p:nvSpPr>
          <p:cNvPr id="10" name="Shape 8"/>
          <p:cNvSpPr/>
          <p:nvPr/>
        </p:nvSpPr>
        <p:spPr>
          <a:xfrm>
            <a:off x="3977640" y="1417320"/>
            <a:ext cx="4023360" cy="457200"/>
          </a:xfrm>
          <a:prstGeom prst="rect">
            <a:avLst/>
          </a:prstGeom>
          <a:solidFill>
            <a:srgbClr val="B5452F"/>
          </a:solidFill>
          <a:ln w="12700">
            <a:solidFill>
              <a:srgbClr val="B5452F"/>
            </a:solidFill>
            <a:prstDash val="solid"/>
          </a:ln>
        </p:spPr>
        <p:txBody>
          <a:bodyPr/>
          <a:lstStyle/>
          <a:p>
            <a:endParaRPr lang="de-DE"/>
          </a:p>
        </p:txBody>
      </p:sp>
      <p:sp>
        <p:nvSpPr>
          <p:cNvPr id="11" name="Text 9"/>
          <p:cNvSpPr txBox="1"/>
          <p:nvPr/>
        </p:nvSpPr>
        <p:spPr>
          <a:xfrm>
            <a:off x="4114800" y="1417320"/>
            <a:ext cx="3749040"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Beabsichtigte Funktion für unsere Zielgruppe</a:t>
            </a:r>
            <a:endParaRPr lang="en-US" sz="1300" dirty="0"/>
          </a:p>
        </p:txBody>
      </p:sp>
      <p:sp>
        <p:nvSpPr>
          <p:cNvPr id="12" name="Shape 10"/>
          <p:cNvSpPr/>
          <p:nvPr/>
        </p:nvSpPr>
        <p:spPr>
          <a:xfrm>
            <a:off x="8229600" y="1417320"/>
            <a:ext cx="3410712" cy="457200"/>
          </a:xfrm>
          <a:prstGeom prst="rect">
            <a:avLst/>
          </a:prstGeom>
          <a:solidFill>
            <a:srgbClr val="6F6862"/>
          </a:solidFill>
          <a:ln w="12700">
            <a:solidFill>
              <a:srgbClr val="6F6862"/>
            </a:solidFill>
            <a:prstDash val="solid"/>
          </a:ln>
        </p:spPr>
        <p:txBody>
          <a:bodyPr/>
          <a:lstStyle/>
          <a:p>
            <a:endParaRPr lang="de-DE"/>
          </a:p>
        </p:txBody>
      </p:sp>
      <p:sp>
        <p:nvSpPr>
          <p:cNvPr id="13" name="Text 11"/>
          <p:cNvSpPr txBox="1"/>
          <p:nvPr/>
        </p:nvSpPr>
        <p:spPr>
          <a:xfrm>
            <a:off x="8366760" y="1417320"/>
            <a:ext cx="3136392"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Aussagegrenze</a:t>
            </a:r>
            <a:endParaRPr lang="en-US" sz="1300" dirty="0"/>
          </a:p>
        </p:txBody>
      </p:sp>
      <p:sp>
        <p:nvSpPr>
          <p:cNvPr id="14" name="Text 12"/>
          <p:cNvSpPr txBox="1"/>
          <p:nvPr/>
        </p:nvSpPr>
        <p:spPr>
          <a:xfrm>
            <a:off x="3703320" y="1417320"/>
            <a:ext cx="320040" cy="457200"/>
          </a:xfrm>
          <a:prstGeom prst="rect">
            <a:avLst/>
          </a:prstGeom>
          <a:noFill/>
          <a:ln/>
        </p:spPr>
        <p:txBody>
          <a:bodyPr wrap="square" lIns="0" tIns="0" rIns="0" bIns="0" rtlCol="0" anchor="ctr"/>
          <a:lstStyle/>
          <a:p>
            <a:pPr marL="0" indent="0" algn="ctr">
              <a:buNone/>
            </a:pPr>
            <a:r>
              <a:rPr lang="en-US" sz="1800" b="1" dirty="0">
                <a:solidFill>
                  <a:srgbClr val="2B2724"/>
                </a:solidFill>
                <a:latin typeface="Calibri" pitchFamily="34" charset="0"/>
                <a:ea typeface="Calibri" pitchFamily="34" charset="-122"/>
                <a:cs typeface="Calibri" pitchFamily="34" charset="-120"/>
              </a:rPr>
              <a:t>→</a:t>
            </a:r>
            <a:endParaRPr lang="en-US" sz="1800" dirty="0"/>
          </a:p>
        </p:txBody>
      </p:sp>
      <p:sp>
        <p:nvSpPr>
          <p:cNvPr id="15" name="Text 13"/>
          <p:cNvSpPr txBox="1"/>
          <p:nvPr/>
        </p:nvSpPr>
        <p:spPr>
          <a:xfrm>
            <a:off x="7973568" y="1417320"/>
            <a:ext cx="320040" cy="457200"/>
          </a:xfrm>
          <a:prstGeom prst="rect">
            <a:avLst/>
          </a:prstGeom>
          <a:noFill/>
          <a:ln/>
        </p:spPr>
        <p:txBody>
          <a:bodyPr wrap="square" lIns="0" tIns="0" rIns="0" bIns="0" rtlCol="0" anchor="ctr"/>
          <a:lstStyle/>
          <a:p>
            <a:pPr marL="0" indent="0" algn="ctr">
              <a:buNone/>
            </a:pPr>
            <a:r>
              <a:rPr lang="en-US" sz="1800" b="1" dirty="0">
                <a:solidFill>
                  <a:srgbClr val="2B2724"/>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548640" y="2011680"/>
            <a:ext cx="11091672" cy="1252728"/>
          </a:xfrm>
          <a:prstGeom prst="rect">
            <a:avLst/>
          </a:prstGeom>
          <a:solidFill>
            <a:srgbClr val="F3EEE6"/>
          </a:solidFill>
          <a:ln w="12700">
            <a:solidFill>
              <a:srgbClr val="F3EEE6"/>
            </a:solidFill>
            <a:prstDash val="solid"/>
          </a:ln>
        </p:spPr>
        <p:txBody>
          <a:bodyPr/>
          <a:lstStyle/>
          <a:p>
            <a:endParaRPr lang="de-DE"/>
          </a:p>
        </p:txBody>
      </p:sp>
      <p:sp>
        <p:nvSpPr>
          <p:cNvPr id="17" name="Text 15"/>
          <p:cNvSpPr txBox="1"/>
          <p:nvPr/>
        </p:nvSpPr>
        <p:spPr>
          <a:xfrm>
            <a:off x="685800" y="2011680"/>
            <a:ext cx="3017520" cy="1252728"/>
          </a:xfrm>
          <a:prstGeom prst="rect">
            <a:avLst/>
          </a:prstGeom>
          <a:noFill/>
          <a:ln/>
        </p:spPr>
        <p:txBody>
          <a:bodyPr wrap="square" lIns="0" tIns="0" rIns="0" bIns="0" rtlCol="0" anchor="ctr"/>
          <a:lstStyle/>
          <a:p>
            <a:pPr marL="0" indent="0">
              <a:buNone/>
            </a:pPr>
            <a:r>
              <a:rPr lang="en-US" sz="1400" b="1" dirty="0">
                <a:solidFill>
                  <a:srgbClr val="2B2724"/>
                </a:solidFill>
                <a:latin typeface="Calibri" pitchFamily="34" charset="0"/>
                <a:ea typeface="Calibri" pitchFamily="34" charset="-122"/>
                <a:cs typeface="Calibri" pitchFamily="34" charset="-120"/>
              </a:rPr>
              <a:t>Matrix-Dashboard</a:t>
            </a:r>
            <a:endParaRPr lang="en-US" sz="1400" dirty="0"/>
          </a:p>
          <a:p>
            <a:pPr marL="0" indent="0">
              <a:buNone/>
            </a:pPr>
            <a:r>
              <a:rPr lang="en-US" sz="1150" dirty="0">
                <a:solidFill>
                  <a:srgbClr val="6F6862"/>
                </a:solidFill>
                <a:latin typeface="Calibri" pitchFamily="34" charset="0"/>
                <a:ea typeface="Calibri" pitchFamily="34" charset="-122"/>
                <a:cs typeface="Calibri" pitchFamily="34" charset="-120"/>
              </a:rPr>
              <a:t>Bildschirm mit 9 Rezepten, Kartenspender je Feld</a:t>
            </a:r>
            <a:endParaRPr lang="en-US" sz="1400" dirty="0"/>
          </a:p>
        </p:txBody>
      </p:sp>
      <p:sp>
        <p:nvSpPr>
          <p:cNvPr id="18" name="Text 16"/>
          <p:cNvSpPr txBox="1"/>
          <p:nvPr/>
        </p:nvSpPr>
        <p:spPr>
          <a:xfrm>
            <a:off x="4114800" y="2011680"/>
            <a:ext cx="3840480" cy="1252728"/>
          </a:xfrm>
          <a:prstGeom prst="rect">
            <a:avLst/>
          </a:prstGeom>
          <a:noFill/>
          <a:ln/>
        </p:spPr>
        <p:txBody>
          <a:bodyPr wrap="square" lIns="0" tIns="0" rIns="0" bIns="0" rtlCol="0" anchor="ctr"/>
          <a:lstStyle/>
          <a:p>
            <a:pPr marL="0" indent="0">
              <a:buNone/>
            </a:pPr>
            <a:r>
              <a:rPr lang="en-US" sz="1250" dirty="0">
                <a:solidFill>
                  <a:srgbClr val="2B2724"/>
                </a:solidFill>
                <a:latin typeface="Calibri" pitchFamily="34" charset="0"/>
                <a:ea typeface="Calibri" pitchFamily="34" charset="-122"/>
                <a:cs typeface="Calibri" pitchFamily="34" charset="-120"/>
              </a:rPr>
              <a:t>Macht aus der offenen Frage „Was koche ich?“ zwei einfache Entscheidungen.</a:t>
            </a:r>
            <a:endParaRPr lang="en-US" sz="1250" dirty="0"/>
          </a:p>
        </p:txBody>
      </p:sp>
      <p:sp>
        <p:nvSpPr>
          <p:cNvPr id="19" name="Text 17"/>
          <p:cNvSpPr txBox="1"/>
          <p:nvPr/>
        </p:nvSpPr>
        <p:spPr>
          <a:xfrm>
            <a:off x="8366760" y="2011680"/>
            <a:ext cx="3154680" cy="1252728"/>
          </a:xfrm>
          <a:prstGeom prst="rect">
            <a:avLst/>
          </a:prstGeom>
          <a:noFill/>
          <a:ln/>
        </p:spPr>
        <p:txBody>
          <a:bodyPr wrap="square" lIns="0" tIns="0" rIns="0" bIns="0" rtlCol="0" anchor="ctr"/>
          <a:lstStyle/>
          <a:p>
            <a:pPr marL="0" indent="0">
              <a:buNone/>
            </a:pPr>
            <a:r>
              <a:rPr lang="en-US" sz="1200" i="1" dirty="0">
                <a:solidFill>
                  <a:srgbClr val="6F6862"/>
                </a:solidFill>
                <a:latin typeface="Calibri" pitchFamily="34" charset="0"/>
                <a:ea typeface="Calibri" pitchFamily="34" charset="-122"/>
                <a:cs typeface="Calibri" pitchFamily="34" charset="-120"/>
              </a:rPr>
              <a:t>Belegt nicht, dass die Wahl schneller fällt.</a:t>
            </a:r>
            <a:endParaRPr lang="en-US" sz="1200" dirty="0"/>
          </a:p>
        </p:txBody>
      </p:sp>
      <p:sp>
        <p:nvSpPr>
          <p:cNvPr id="20" name="Text 18"/>
          <p:cNvSpPr txBox="1"/>
          <p:nvPr/>
        </p:nvSpPr>
        <p:spPr>
          <a:xfrm>
            <a:off x="685800" y="3337560"/>
            <a:ext cx="3017520" cy="1252728"/>
          </a:xfrm>
          <a:prstGeom prst="rect">
            <a:avLst/>
          </a:prstGeom>
          <a:noFill/>
          <a:ln/>
        </p:spPr>
        <p:txBody>
          <a:bodyPr wrap="square" lIns="0" tIns="0" rIns="0" bIns="0" rtlCol="0" anchor="ctr"/>
          <a:lstStyle/>
          <a:p>
            <a:pPr marL="0" indent="0">
              <a:buNone/>
            </a:pPr>
            <a:r>
              <a:rPr lang="en-US" sz="1400" b="1" dirty="0">
                <a:solidFill>
                  <a:srgbClr val="2B2724"/>
                </a:solidFill>
                <a:latin typeface="Calibri" pitchFamily="34" charset="0"/>
                <a:ea typeface="Calibri" pitchFamily="34" charset="-122"/>
                <a:cs typeface="Calibri" pitchFamily="34" charset="-120"/>
              </a:rPr>
              <a:t>Obst &amp; Gemüse schräg</a:t>
            </a:r>
            <a:endParaRPr lang="en-US" sz="1400" dirty="0"/>
          </a:p>
          <a:p>
            <a:pPr marL="0" indent="0">
              <a:buNone/>
            </a:pPr>
            <a:r>
              <a:rPr lang="en-US" sz="1150" dirty="0">
                <a:solidFill>
                  <a:srgbClr val="6F6862"/>
                </a:solidFill>
                <a:latin typeface="Calibri" pitchFamily="34" charset="0"/>
                <a:ea typeface="Calibri" pitchFamily="34" charset="-122"/>
                <a:cs typeface="Calibri" pitchFamily="34" charset="-120"/>
              </a:rPr>
              <a:t>Marktstand mit Kisten, Preisstecker O1</a:t>
            </a:r>
            <a:endParaRPr lang="en-US" sz="1400" dirty="0"/>
          </a:p>
        </p:txBody>
      </p:sp>
      <p:sp>
        <p:nvSpPr>
          <p:cNvPr id="21" name="Text 19"/>
          <p:cNvSpPr txBox="1"/>
          <p:nvPr/>
        </p:nvSpPr>
        <p:spPr>
          <a:xfrm>
            <a:off x="4114800" y="3337560"/>
            <a:ext cx="3840480" cy="1252728"/>
          </a:xfrm>
          <a:prstGeom prst="rect">
            <a:avLst/>
          </a:prstGeom>
          <a:noFill/>
          <a:ln/>
        </p:spPr>
        <p:txBody>
          <a:bodyPr wrap="square" lIns="0" tIns="0" rIns="0" bIns="0" rtlCol="0" anchor="ctr"/>
          <a:lstStyle/>
          <a:p>
            <a:pPr marL="0" indent="0">
              <a:buNone/>
            </a:pPr>
            <a:r>
              <a:rPr lang="en-US" sz="1250" dirty="0">
                <a:solidFill>
                  <a:srgbClr val="2B2724"/>
                </a:solidFill>
                <a:latin typeface="Calibri" pitchFamily="34" charset="0"/>
                <a:ea typeface="Calibri" pitchFamily="34" charset="-122"/>
                <a:cs typeface="Calibri" pitchFamily="34" charset="-120"/>
              </a:rPr>
              <a:t>Frische Zutaten sofort im Blick; die schräge Stellung bremst und lenkt in den Rundlauf.</a:t>
            </a:r>
            <a:endParaRPr lang="en-US" sz="1250" dirty="0"/>
          </a:p>
        </p:txBody>
      </p:sp>
      <p:sp>
        <p:nvSpPr>
          <p:cNvPr id="22" name="Text 20"/>
          <p:cNvSpPr txBox="1"/>
          <p:nvPr/>
        </p:nvSpPr>
        <p:spPr>
          <a:xfrm>
            <a:off x="8366760" y="3337560"/>
            <a:ext cx="3154680" cy="1252728"/>
          </a:xfrm>
          <a:prstGeom prst="rect">
            <a:avLst/>
          </a:prstGeom>
          <a:noFill/>
          <a:ln/>
        </p:spPr>
        <p:txBody>
          <a:bodyPr wrap="square" lIns="0" tIns="0" rIns="0" bIns="0" rtlCol="0" anchor="ctr"/>
          <a:lstStyle/>
          <a:p>
            <a:pPr marL="0" indent="0">
              <a:buNone/>
            </a:pPr>
            <a:r>
              <a:rPr lang="en-US" sz="1200" i="1" dirty="0">
                <a:solidFill>
                  <a:srgbClr val="6F6862"/>
                </a:solidFill>
                <a:latin typeface="Calibri" pitchFamily="34" charset="0"/>
                <a:ea typeface="Calibri" pitchFamily="34" charset="-122"/>
                <a:cs typeface="Calibri" pitchFamily="34" charset="-120"/>
              </a:rPr>
              <a:t>Belegt nicht, dass das Frische-Image steigt.</a:t>
            </a:r>
            <a:endParaRPr lang="en-US" sz="1200" dirty="0"/>
          </a:p>
        </p:txBody>
      </p:sp>
      <p:sp>
        <p:nvSpPr>
          <p:cNvPr id="23" name="Shape 21"/>
          <p:cNvSpPr/>
          <p:nvPr/>
        </p:nvSpPr>
        <p:spPr>
          <a:xfrm>
            <a:off x="548640" y="4663440"/>
            <a:ext cx="11091672" cy="1252728"/>
          </a:xfrm>
          <a:prstGeom prst="rect">
            <a:avLst/>
          </a:prstGeom>
          <a:solidFill>
            <a:srgbClr val="F3EEE6"/>
          </a:solidFill>
          <a:ln w="12700">
            <a:solidFill>
              <a:srgbClr val="F3EEE6"/>
            </a:solidFill>
            <a:prstDash val="solid"/>
          </a:ln>
        </p:spPr>
        <p:txBody>
          <a:bodyPr/>
          <a:lstStyle/>
          <a:p>
            <a:endParaRPr lang="de-DE"/>
          </a:p>
        </p:txBody>
      </p:sp>
      <p:sp>
        <p:nvSpPr>
          <p:cNvPr id="24" name="Text 22"/>
          <p:cNvSpPr txBox="1"/>
          <p:nvPr/>
        </p:nvSpPr>
        <p:spPr>
          <a:xfrm>
            <a:off x="685800" y="4663440"/>
            <a:ext cx="3017520" cy="1252728"/>
          </a:xfrm>
          <a:prstGeom prst="rect">
            <a:avLst/>
          </a:prstGeom>
          <a:noFill/>
          <a:ln/>
        </p:spPr>
        <p:txBody>
          <a:bodyPr wrap="square" lIns="0" tIns="0" rIns="0" bIns="0" rtlCol="0" anchor="ctr"/>
          <a:lstStyle/>
          <a:p>
            <a:pPr marL="0" indent="0">
              <a:buNone/>
            </a:pPr>
            <a:r>
              <a:rPr lang="en-US" sz="1400" b="1" dirty="0">
                <a:solidFill>
                  <a:srgbClr val="2B2724"/>
                </a:solidFill>
                <a:latin typeface="Calibri" pitchFamily="34" charset="0"/>
                <a:ea typeface="Calibri" pitchFamily="34" charset="-122"/>
                <a:cs typeface="Calibri" pitchFamily="34" charset="-120"/>
              </a:rPr>
              <a:t>Fantasiefenster</a:t>
            </a:r>
            <a:endParaRPr lang="en-US" sz="1400" dirty="0"/>
          </a:p>
          <a:p>
            <a:pPr marL="0" indent="0">
              <a:buNone/>
            </a:pPr>
            <a:r>
              <a:rPr lang="en-US" sz="1150" dirty="0">
                <a:solidFill>
                  <a:srgbClr val="6F6862"/>
                </a:solidFill>
                <a:latin typeface="Calibri" pitchFamily="34" charset="0"/>
                <a:ea typeface="Calibri" pitchFamily="34" charset="-122"/>
                <a:cs typeface="Calibri" pitchFamily="34" charset="-120"/>
              </a:rPr>
              <a:t>zu den Rezepten des Monats</a:t>
            </a:r>
            <a:endParaRPr lang="en-US" sz="1400" dirty="0"/>
          </a:p>
        </p:txBody>
      </p:sp>
      <p:sp>
        <p:nvSpPr>
          <p:cNvPr id="25" name="Text 23"/>
          <p:cNvSpPr txBox="1"/>
          <p:nvPr/>
        </p:nvSpPr>
        <p:spPr>
          <a:xfrm>
            <a:off x="4114800" y="4663440"/>
            <a:ext cx="3840480" cy="1252728"/>
          </a:xfrm>
          <a:prstGeom prst="rect">
            <a:avLst/>
          </a:prstGeom>
          <a:noFill/>
          <a:ln/>
        </p:spPr>
        <p:txBody>
          <a:bodyPr wrap="square" lIns="0" tIns="0" rIns="0" bIns="0" rtlCol="0" anchor="ctr"/>
          <a:lstStyle/>
          <a:p>
            <a:pPr marL="0" indent="0">
              <a:buNone/>
            </a:pPr>
            <a:r>
              <a:rPr lang="en-US" sz="1250" dirty="0">
                <a:solidFill>
                  <a:srgbClr val="2B2724"/>
                </a:solidFill>
                <a:latin typeface="Calibri" pitchFamily="34" charset="0"/>
                <a:ea typeface="Calibri" pitchFamily="34" charset="-122"/>
                <a:cs typeface="Calibri" pitchFamily="34" charset="-120"/>
              </a:rPr>
              <a:t>Macht das Angebot schon von der Straße sichtbar und spricht Laufkundschaft vom Campus an.</a:t>
            </a:r>
            <a:endParaRPr lang="en-US" sz="1250" dirty="0"/>
          </a:p>
        </p:txBody>
      </p:sp>
      <p:sp>
        <p:nvSpPr>
          <p:cNvPr id="26" name="Text 24"/>
          <p:cNvSpPr txBox="1"/>
          <p:nvPr/>
        </p:nvSpPr>
        <p:spPr>
          <a:xfrm>
            <a:off x="8366760" y="4663440"/>
            <a:ext cx="3154680" cy="1252728"/>
          </a:xfrm>
          <a:prstGeom prst="rect">
            <a:avLst/>
          </a:prstGeom>
          <a:noFill/>
          <a:ln/>
        </p:spPr>
        <p:txBody>
          <a:bodyPr wrap="square" lIns="0" tIns="0" rIns="0" bIns="0" rtlCol="0" anchor="ctr"/>
          <a:lstStyle/>
          <a:p>
            <a:pPr marL="0" indent="0">
              <a:buNone/>
            </a:pPr>
            <a:r>
              <a:rPr lang="en-US" sz="1200" i="1" dirty="0">
                <a:solidFill>
                  <a:srgbClr val="6F6862"/>
                </a:solidFill>
                <a:latin typeface="Calibri" pitchFamily="34" charset="0"/>
                <a:ea typeface="Calibri" pitchFamily="34" charset="-122"/>
                <a:cs typeface="Calibri" pitchFamily="34" charset="-120"/>
              </a:rPr>
              <a:t>Belegt nicht, dass mehr Personen den Laden betreten.</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0972800" cy="274320"/>
          </a:xfrm>
          <a:prstGeom prst="rect">
            <a:avLst/>
          </a:prstGeom>
          <a:noFill/>
          <a:ln/>
        </p:spPr>
        <p:txBody>
          <a:bodyPr wrap="square" lIns="0" tIns="0" rIns="0" bIns="0" rtlCol="0" anchor="ctr"/>
          <a:lstStyle/>
          <a:p>
            <a:pPr marL="0" indent="0">
              <a:buNone/>
            </a:pPr>
            <a:r>
              <a:rPr lang="en-US" sz="1200" b="1" dirty="0">
                <a:solidFill>
                  <a:srgbClr val="B5452F"/>
                </a:solidFill>
                <a:latin typeface="Calibri" pitchFamily="34" charset="0"/>
                <a:ea typeface="Calibri" pitchFamily="34" charset="-122"/>
                <a:cs typeface="Calibri" pitchFamily="34" charset="-120"/>
              </a:rPr>
              <a:t>7 · ATMOSPHÄRE</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2B2724"/>
                </a:solidFill>
                <a:latin typeface="Cambria" pitchFamily="34" charset="0"/>
                <a:ea typeface="Cambria" pitchFamily="34" charset="-122"/>
                <a:cs typeface="Cambria" pitchFamily="34" charset="-120"/>
              </a:rPr>
              <a:t>Atmosphäre: Stimmung in Kochwelten, Klarheit in der Basis.</a:t>
            </a:r>
            <a:endParaRPr lang="en-US" sz="2800" dirty="0"/>
          </a:p>
        </p:txBody>
      </p:sp>
      <p:sp>
        <p:nvSpPr>
          <p:cNvPr id="4" name="Text 2"/>
          <p:cNvSpPr txBox="1"/>
          <p:nvPr/>
        </p:nvSpPr>
        <p:spPr>
          <a:xfrm>
            <a:off x="548640" y="6144768"/>
            <a:ext cx="11064240" cy="228600"/>
          </a:xfrm>
          <a:prstGeom prst="rect">
            <a:avLst/>
          </a:prstGeom>
          <a:noFill/>
          <a:ln/>
        </p:spPr>
        <p:txBody>
          <a:bodyPr wrap="square" lIns="0" tIns="0" rIns="0" bIns="0" rtlCol="0" anchor="ctr"/>
          <a:lstStyle/>
          <a:p>
            <a:pPr marL="0" indent="0">
              <a:buNone/>
            </a:pPr>
            <a:r>
              <a:rPr lang="en-US" sz="950" dirty="0">
                <a:solidFill>
                  <a:srgbClr val="6F6862"/>
                </a:solidFill>
                <a:latin typeface="Calibri" pitchFamily="34" charset="0"/>
                <a:ea typeface="Calibri" pitchFamily="34" charset="-122"/>
                <a:cs typeface="Calibri" pitchFamily="34" charset="-120"/>
              </a:rPr>
              <a:t>Gestaltungsmittel: Ahlert, Kenning und Brock, 2020, S. 303–306 ✓. Licht: Summers/Hebert 2001 ◐; Duft: Chebat/Michon 2003 ◐, Spence et al. 2014 ◐; Umfeld: Baker et al. 2002 ◐. Technik ist Fallannahme.</a:t>
            </a:r>
            <a:endParaRPr lang="en-US" sz="950" dirty="0"/>
          </a:p>
        </p:txBody>
      </p:sp>
      <p:sp>
        <p:nvSpPr>
          <p:cNvPr id="5" name="Shape 3"/>
          <p:cNvSpPr/>
          <p:nvPr/>
        </p:nvSpPr>
        <p:spPr>
          <a:xfrm>
            <a:off x="548640" y="6419088"/>
            <a:ext cx="11091672" cy="0"/>
          </a:xfrm>
          <a:prstGeom prst="line">
            <a:avLst/>
          </a:prstGeom>
          <a:noFill/>
          <a:ln w="9525">
            <a:solidFill>
              <a:srgbClr val="D9D1C5"/>
            </a:solidFill>
            <a:prstDash val="solid"/>
          </a:ln>
        </p:spPr>
        <p:txBody>
          <a:bodyPr/>
          <a:lstStyle/>
          <a:p>
            <a:endParaRPr lang="de-DE"/>
          </a:p>
        </p:txBody>
      </p:sp>
      <p:sp>
        <p:nvSpPr>
          <p:cNvPr id="6" name="Text 4"/>
          <p:cNvSpPr txBox="1"/>
          <p:nvPr/>
        </p:nvSpPr>
        <p:spPr>
          <a:xfrm>
            <a:off x="548640" y="6473952"/>
            <a:ext cx="7315200" cy="228600"/>
          </a:xfrm>
          <a:prstGeom prst="rect">
            <a:avLst/>
          </a:prstGeom>
          <a:noFill/>
          <a:ln/>
        </p:spPr>
        <p:txBody>
          <a:bodyPr wrap="square" lIns="0" tIns="0" rIns="0" bIns="0" rtlCol="0" anchor="ctr"/>
          <a:lstStyle/>
          <a:p>
            <a:pPr marL="0" indent="0">
              <a:buNone/>
            </a:pPr>
            <a:r>
              <a:rPr lang="en-US" sz="900" dirty="0">
                <a:solidFill>
                  <a:srgbClr val="6F6862"/>
                </a:solidFill>
                <a:latin typeface="Calibri" pitchFamily="34" charset="0"/>
                <a:ea typeface="Calibri" pitchFamily="34" charset="-122"/>
                <a:cs typeface="Calibri" pitchFamily="34" charset="-120"/>
              </a:rPr>
              <a:t>One Hour Kitchen · Store-Konzept · Kurs HD25A23</a:t>
            </a:r>
            <a:endParaRPr lang="en-US" sz="900" dirty="0"/>
          </a:p>
        </p:txBody>
      </p:sp>
      <p:sp>
        <p:nvSpPr>
          <p:cNvPr id="7" name="Text 5"/>
          <p:cNvSpPr txBox="1"/>
          <p:nvPr/>
        </p:nvSpPr>
        <p:spPr>
          <a:xfrm>
            <a:off x="10725912" y="6473952"/>
            <a:ext cx="914400" cy="228600"/>
          </a:xfrm>
          <a:prstGeom prst="rect">
            <a:avLst/>
          </a:prstGeom>
          <a:noFill/>
          <a:ln/>
        </p:spPr>
        <p:txBody>
          <a:bodyPr wrap="square" lIns="0" tIns="0" rIns="0" bIns="0" rtlCol="0" anchor="ctr"/>
          <a:lstStyle/>
          <a:p>
            <a:pPr marL="0" indent="0" algn="r">
              <a:buNone/>
            </a:pPr>
            <a:r>
              <a:rPr lang="en-US" sz="900" dirty="0">
                <a:solidFill>
                  <a:srgbClr val="6F6862"/>
                </a:solidFill>
                <a:latin typeface="Calibri" pitchFamily="34" charset="0"/>
                <a:ea typeface="Calibri" pitchFamily="34" charset="-122"/>
                <a:cs typeface="Calibri" pitchFamily="34" charset="-120"/>
              </a:rPr>
              <a:t>15</a:t>
            </a:r>
            <a:endParaRPr lang="en-US" sz="900" dirty="0"/>
          </a:p>
        </p:txBody>
      </p:sp>
      <p:sp>
        <p:nvSpPr>
          <p:cNvPr id="8" name="Shape 6"/>
          <p:cNvSpPr/>
          <p:nvPr/>
        </p:nvSpPr>
        <p:spPr>
          <a:xfrm>
            <a:off x="548640" y="1417320"/>
            <a:ext cx="3200400" cy="457200"/>
          </a:xfrm>
          <a:prstGeom prst="rect">
            <a:avLst/>
          </a:prstGeom>
          <a:solidFill>
            <a:srgbClr val="2B2724"/>
          </a:solidFill>
          <a:ln w="12700">
            <a:solidFill>
              <a:srgbClr val="2B2724"/>
            </a:solidFill>
            <a:prstDash val="solid"/>
          </a:ln>
        </p:spPr>
        <p:txBody>
          <a:bodyPr/>
          <a:lstStyle/>
          <a:p>
            <a:endParaRPr lang="de-DE"/>
          </a:p>
        </p:txBody>
      </p:sp>
      <p:sp>
        <p:nvSpPr>
          <p:cNvPr id="9" name="Text 7"/>
          <p:cNvSpPr txBox="1"/>
          <p:nvPr/>
        </p:nvSpPr>
        <p:spPr>
          <a:xfrm>
            <a:off x="685800" y="1417320"/>
            <a:ext cx="2926080"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Sichtbares Merkmal</a:t>
            </a:r>
            <a:endParaRPr lang="en-US" sz="1300" dirty="0"/>
          </a:p>
        </p:txBody>
      </p:sp>
      <p:sp>
        <p:nvSpPr>
          <p:cNvPr id="10" name="Shape 8"/>
          <p:cNvSpPr/>
          <p:nvPr/>
        </p:nvSpPr>
        <p:spPr>
          <a:xfrm>
            <a:off x="3977640" y="1417320"/>
            <a:ext cx="4023360" cy="457200"/>
          </a:xfrm>
          <a:prstGeom prst="rect">
            <a:avLst/>
          </a:prstGeom>
          <a:solidFill>
            <a:srgbClr val="B5452F"/>
          </a:solidFill>
          <a:ln w="12700">
            <a:solidFill>
              <a:srgbClr val="B5452F"/>
            </a:solidFill>
            <a:prstDash val="solid"/>
          </a:ln>
        </p:spPr>
        <p:txBody>
          <a:bodyPr/>
          <a:lstStyle/>
          <a:p>
            <a:endParaRPr lang="de-DE"/>
          </a:p>
        </p:txBody>
      </p:sp>
      <p:sp>
        <p:nvSpPr>
          <p:cNvPr id="11" name="Text 9"/>
          <p:cNvSpPr txBox="1"/>
          <p:nvPr/>
        </p:nvSpPr>
        <p:spPr>
          <a:xfrm>
            <a:off x="4114800" y="1417320"/>
            <a:ext cx="3749040"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Beabsichtigte Funktion für unsere Zielgruppe</a:t>
            </a:r>
            <a:endParaRPr lang="en-US" sz="1300" dirty="0"/>
          </a:p>
        </p:txBody>
      </p:sp>
      <p:sp>
        <p:nvSpPr>
          <p:cNvPr id="12" name="Shape 10"/>
          <p:cNvSpPr/>
          <p:nvPr/>
        </p:nvSpPr>
        <p:spPr>
          <a:xfrm>
            <a:off x="8229600" y="1417320"/>
            <a:ext cx="3410712" cy="457200"/>
          </a:xfrm>
          <a:prstGeom prst="rect">
            <a:avLst/>
          </a:prstGeom>
          <a:solidFill>
            <a:srgbClr val="6F6862"/>
          </a:solidFill>
          <a:ln w="12700">
            <a:solidFill>
              <a:srgbClr val="6F6862"/>
            </a:solidFill>
            <a:prstDash val="solid"/>
          </a:ln>
        </p:spPr>
        <p:txBody>
          <a:bodyPr/>
          <a:lstStyle/>
          <a:p>
            <a:endParaRPr lang="de-DE"/>
          </a:p>
        </p:txBody>
      </p:sp>
      <p:sp>
        <p:nvSpPr>
          <p:cNvPr id="13" name="Text 11"/>
          <p:cNvSpPr txBox="1"/>
          <p:nvPr/>
        </p:nvSpPr>
        <p:spPr>
          <a:xfrm>
            <a:off x="8366760" y="1417320"/>
            <a:ext cx="3136392"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Aussagegrenze</a:t>
            </a:r>
            <a:endParaRPr lang="en-US" sz="1300" dirty="0"/>
          </a:p>
        </p:txBody>
      </p:sp>
      <p:sp>
        <p:nvSpPr>
          <p:cNvPr id="14" name="Text 12"/>
          <p:cNvSpPr txBox="1"/>
          <p:nvPr/>
        </p:nvSpPr>
        <p:spPr>
          <a:xfrm>
            <a:off x="3703320" y="1417320"/>
            <a:ext cx="320040" cy="457200"/>
          </a:xfrm>
          <a:prstGeom prst="rect">
            <a:avLst/>
          </a:prstGeom>
          <a:noFill/>
          <a:ln/>
        </p:spPr>
        <p:txBody>
          <a:bodyPr wrap="square" lIns="0" tIns="0" rIns="0" bIns="0" rtlCol="0" anchor="ctr"/>
          <a:lstStyle/>
          <a:p>
            <a:pPr marL="0" indent="0" algn="ctr">
              <a:buNone/>
            </a:pPr>
            <a:r>
              <a:rPr lang="en-US" sz="1800" b="1" dirty="0">
                <a:solidFill>
                  <a:srgbClr val="2B2724"/>
                </a:solidFill>
                <a:latin typeface="Calibri" pitchFamily="34" charset="0"/>
                <a:ea typeface="Calibri" pitchFamily="34" charset="-122"/>
                <a:cs typeface="Calibri" pitchFamily="34" charset="-120"/>
              </a:rPr>
              <a:t>→</a:t>
            </a:r>
            <a:endParaRPr lang="en-US" sz="1800" dirty="0"/>
          </a:p>
        </p:txBody>
      </p:sp>
      <p:sp>
        <p:nvSpPr>
          <p:cNvPr id="15" name="Text 13"/>
          <p:cNvSpPr txBox="1"/>
          <p:nvPr/>
        </p:nvSpPr>
        <p:spPr>
          <a:xfrm>
            <a:off x="7973568" y="1417320"/>
            <a:ext cx="320040" cy="457200"/>
          </a:xfrm>
          <a:prstGeom prst="rect">
            <a:avLst/>
          </a:prstGeom>
          <a:noFill/>
          <a:ln/>
        </p:spPr>
        <p:txBody>
          <a:bodyPr wrap="square" lIns="0" tIns="0" rIns="0" bIns="0" rtlCol="0" anchor="ctr"/>
          <a:lstStyle/>
          <a:p>
            <a:pPr marL="0" indent="0" algn="ctr">
              <a:buNone/>
            </a:pPr>
            <a:r>
              <a:rPr lang="en-US" sz="1800" b="1" dirty="0">
                <a:solidFill>
                  <a:srgbClr val="2B2724"/>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548640" y="2011680"/>
            <a:ext cx="11091672" cy="921258"/>
          </a:xfrm>
          <a:prstGeom prst="rect">
            <a:avLst/>
          </a:prstGeom>
          <a:solidFill>
            <a:srgbClr val="F3EEE6"/>
          </a:solidFill>
          <a:ln w="12700">
            <a:solidFill>
              <a:srgbClr val="F3EEE6"/>
            </a:solidFill>
            <a:prstDash val="solid"/>
          </a:ln>
        </p:spPr>
        <p:txBody>
          <a:bodyPr/>
          <a:lstStyle/>
          <a:p>
            <a:endParaRPr lang="de-DE"/>
          </a:p>
        </p:txBody>
      </p:sp>
      <p:sp>
        <p:nvSpPr>
          <p:cNvPr id="17" name="Text 15"/>
          <p:cNvSpPr txBox="1"/>
          <p:nvPr/>
        </p:nvSpPr>
        <p:spPr>
          <a:xfrm>
            <a:off x="685800" y="2011680"/>
            <a:ext cx="3017520" cy="921258"/>
          </a:xfrm>
          <a:prstGeom prst="rect">
            <a:avLst/>
          </a:prstGeom>
          <a:noFill/>
          <a:ln/>
        </p:spPr>
        <p:txBody>
          <a:bodyPr wrap="square" lIns="0" tIns="0" rIns="0" bIns="0" rtlCol="0" anchor="ctr"/>
          <a:lstStyle/>
          <a:p>
            <a:pPr marL="0" indent="0">
              <a:buNone/>
            </a:pPr>
            <a:r>
              <a:rPr lang="en-US" sz="1400" b="1" dirty="0">
                <a:solidFill>
                  <a:srgbClr val="2B2724"/>
                </a:solidFill>
                <a:latin typeface="Calibri" pitchFamily="34" charset="0"/>
                <a:ea typeface="Calibri" pitchFamily="34" charset="-122"/>
                <a:cs typeface="Calibri" pitchFamily="34" charset="-120"/>
              </a:rPr>
              <a:t>Zweiteiliges Licht</a:t>
            </a:r>
            <a:endParaRPr lang="en-US" sz="1400" dirty="0"/>
          </a:p>
          <a:p>
            <a:pPr marL="0" indent="0">
              <a:buNone/>
            </a:pPr>
            <a:r>
              <a:rPr lang="en-US" sz="1150" dirty="0">
                <a:solidFill>
                  <a:srgbClr val="6F6862"/>
                </a:solidFill>
                <a:latin typeface="Calibri" pitchFamily="34" charset="0"/>
                <a:ea typeface="Calibri" pitchFamily="34" charset="-122"/>
                <a:cs typeface="Calibri" pitchFamily="34" charset="-120"/>
              </a:rPr>
              <a:t>warm über Kochwelten und Küche, hell-neutral im Basissortiment</a:t>
            </a:r>
            <a:endParaRPr lang="en-US" sz="1400" dirty="0"/>
          </a:p>
        </p:txBody>
      </p:sp>
      <p:sp>
        <p:nvSpPr>
          <p:cNvPr id="18" name="Text 16"/>
          <p:cNvSpPr txBox="1"/>
          <p:nvPr/>
        </p:nvSpPr>
        <p:spPr>
          <a:xfrm>
            <a:off x="4114800" y="2011680"/>
            <a:ext cx="3840480" cy="921258"/>
          </a:xfrm>
          <a:prstGeom prst="rect">
            <a:avLst/>
          </a:prstGeom>
          <a:noFill/>
          <a:ln/>
        </p:spPr>
        <p:txBody>
          <a:bodyPr wrap="square" lIns="0" tIns="0" rIns="0" bIns="0" rtlCol="0" anchor="ctr"/>
          <a:lstStyle/>
          <a:p>
            <a:pPr marL="0" indent="0">
              <a:buNone/>
            </a:pPr>
            <a:r>
              <a:rPr lang="en-US" sz="1250" dirty="0">
                <a:solidFill>
                  <a:srgbClr val="2B2724"/>
                </a:solidFill>
                <a:latin typeface="Calibri" pitchFamily="34" charset="0"/>
                <a:ea typeface="Calibri" pitchFamily="34" charset="-122"/>
                <a:cs typeface="Calibri" pitchFamily="34" charset="-120"/>
              </a:rPr>
              <a:t>Kochwelten laden zum Verweilen ein; im Basissortiment unterstützt helles Licht schnelles Finden.</a:t>
            </a:r>
            <a:endParaRPr lang="en-US" sz="1250" dirty="0"/>
          </a:p>
        </p:txBody>
      </p:sp>
      <p:sp>
        <p:nvSpPr>
          <p:cNvPr id="19" name="Text 17"/>
          <p:cNvSpPr txBox="1"/>
          <p:nvPr/>
        </p:nvSpPr>
        <p:spPr>
          <a:xfrm>
            <a:off x="8366760" y="2011680"/>
            <a:ext cx="3154680" cy="921258"/>
          </a:xfrm>
          <a:prstGeom prst="rect">
            <a:avLst/>
          </a:prstGeom>
          <a:noFill/>
          <a:ln/>
        </p:spPr>
        <p:txBody>
          <a:bodyPr wrap="square" lIns="0" tIns="0" rIns="0" bIns="0" rtlCol="0" anchor="ctr"/>
          <a:lstStyle/>
          <a:p>
            <a:pPr marL="0" indent="0">
              <a:buNone/>
            </a:pPr>
            <a:r>
              <a:rPr lang="en-US" sz="1200" i="1" dirty="0">
                <a:solidFill>
                  <a:srgbClr val="6F6862"/>
                </a:solidFill>
                <a:latin typeface="Calibri" pitchFamily="34" charset="0"/>
                <a:ea typeface="Calibri" pitchFamily="34" charset="-122"/>
                <a:cs typeface="Calibri" pitchFamily="34" charset="-120"/>
              </a:rPr>
              <a:t>Belegt keine längere Verweildauer.</a:t>
            </a:r>
            <a:endParaRPr lang="en-US" sz="1200" dirty="0"/>
          </a:p>
        </p:txBody>
      </p:sp>
      <p:sp>
        <p:nvSpPr>
          <p:cNvPr id="20" name="Text 18"/>
          <p:cNvSpPr txBox="1"/>
          <p:nvPr/>
        </p:nvSpPr>
        <p:spPr>
          <a:xfrm>
            <a:off x="685800" y="3006090"/>
            <a:ext cx="3017520" cy="921258"/>
          </a:xfrm>
          <a:prstGeom prst="rect">
            <a:avLst/>
          </a:prstGeom>
          <a:noFill/>
          <a:ln/>
        </p:spPr>
        <p:txBody>
          <a:bodyPr wrap="square" lIns="0" tIns="0" rIns="0" bIns="0" rtlCol="0" anchor="ctr"/>
          <a:lstStyle/>
          <a:p>
            <a:pPr marL="0" indent="0">
              <a:buNone/>
            </a:pPr>
            <a:r>
              <a:rPr lang="en-US" sz="1400" b="1" dirty="0">
                <a:solidFill>
                  <a:srgbClr val="2B2724"/>
                </a:solidFill>
                <a:latin typeface="Calibri" pitchFamily="34" charset="0"/>
                <a:ea typeface="Calibri" pitchFamily="34" charset="-122"/>
                <a:cs typeface="Calibri" pitchFamily="34" charset="-120"/>
              </a:rPr>
              <a:t>Kochgeruch, dosiert</a:t>
            </a:r>
            <a:endParaRPr lang="en-US" sz="1400" dirty="0"/>
          </a:p>
          <a:p>
            <a:pPr marL="0" indent="0">
              <a:buNone/>
            </a:pPr>
            <a:r>
              <a:rPr lang="en-US" sz="1150" dirty="0">
                <a:solidFill>
                  <a:srgbClr val="6F6862"/>
                </a:solidFill>
                <a:latin typeface="Calibri" pitchFamily="34" charset="0"/>
                <a:ea typeface="Calibri" pitchFamily="34" charset="-122"/>
                <a:cs typeface="Calibri" pitchFamily="34" charset="-120"/>
              </a:rPr>
              <a:t>Live-Cooking zu festen Zeiten, Dunstabzug über dem Kochtresen</a:t>
            </a:r>
            <a:endParaRPr lang="en-US" sz="1400" dirty="0"/>
          </a:p>
        </p:txBody>
      </p:sp>
      <p:sp>
        <p:nvSpPr>
          <p:cNvPr id="21" name="Text 19"/>
          <p:cNvSpPr txBox="1"/>
          <p:nvPr/>
        </p:nvSpPr>
        <p:spPr>
          <a:xfrm>
            <a:off x="4114800" y="3006090"/>
            <a:ext cx="3840480" cy="921258"/>
          </a:xfrm>
          <a:prstGeom prst="rect">
            <a:avLst/>
          </a:prstGeom>
          <a:noFill/>
          <a:ln/>
        </p:spPr>
        <p:txBody>
          <a:bodyPr wrap="square" lIns="0" tIns="0" rIns="0" bIns="0" rtlCol="0" anchor="ctr"/>
          <a:lstStyle/>
          <a:p>
            <a:pPr marL="0" indent="0">
              <a:buNone/>
            </a:pPr>
            <a:r>
              <a:rPr lang="en-US" sz="1250" dirty="0">
                <a:solidFill>
                  <a:srgbClr val="2B2724"/>
                </a:solidFill>
                <a:latin typeface="Calibri" pitchFamily="34" charset="0"/>
                <a:ea typeface="Calibri" pitchFamily="34" charset="-122"/>
                <a:cs typeface="Calibri" pitchFamily="34" charset="-120"/>
              </a:rPr>
              <a:t>Sichtbares und riechbares Kochen macht den Anlass erlebbar, ohne die Frische zu überlagern.</a:t>
            </a:r>
            <a:endParaRPr lang="en-US" sz="1250" dirty="0"/>
          </a:p>
        </p:txBody>
      </p:sp>
      <p:sp>
        <p:nvSpPr>
          <p:cNvPr id="22" name="Text 20"/>
          <p:cNvSpPr txBox="1"/>
          <p:nvPr/>
        </p:nvSpPr>
        <p:spPr>
          <a:xfrm>
            <a:off x="8366760" y="3006090"/>
            <a:ext cx="3154680" cy="921258"/>
          </a:xfrm>
          <a:prstGeom prst="rect">
            <a:avLst/>
          </a:prstGeom>
          <a:noFill/>
          <a:ln/>
        </p:spPr>
        <p:txBody>
          <a:bodyPr wrap="square" lIns="0" tIns="0" rIns="0" bIns="0" rtlCol="0" anchor="ctr"/>
          <a:lstStyle/>
          <a:p>
            <a:pPr marL="0" indent="0">
              <a:buNone/>
            </a:pPr>
            <a:r>
              <a:rPr lang="en-US" sz="1200" i="1" dirty="0">
                <a:solidFill>
                  <a:srgbClr val="6F6862"/>
                </a:solidFill>
                <a:latin typeface="Calibri" pitchFamily="34" charset="0"/>
                <a:ea typeface="Calibri" pitchFamily="34" charset="-122"/>
                <a:cs typeface="Calibri" pitchFamily="34" charset="-120"/>
              </a:rPr>
              <a:t>Belegt nicht, wie Geruch auf Kaufabsicht wirkt.</a:t>
            </a:r>
            <a:endParaRPr lang="en-US" sz="1200" dirty="0"/>
          </a:p>
        </p:txBody>
      </p:sp>
      <p:sp>
        <p:nvSpPr>
          <p:cNvPr id="23" name="Shape 21"/>
          <p:cNvSpPr/>
          <p:nvPr/>
        </p:nvSpPr>
        <p:spPr>
          <a:xfrm>
            <a:off x="548640" y="4000500"/>
            <a:ext cx="11091672" cy="921258"/>
          </a:xfrm>
          <a:prstGeom prst="rect">
            <a:avLst/>
          </a:prstGeom>
          <a:solidFill>
            <a:srgbClr val="F3EEE6"/>
          </a:solidFill>
          <a:ln w="12700">
            <a:solidFill>
              <a:srgbClr val="F3EEE6"/>
            </a:solidFill>
            <a:prstDash val="solid"/>
          </a:ln>
        </p:spPr>
        <p:txBody>
          <a:bodyPr/>
          <a:lstStyle/>
          <a:p>
            <a:endParaRPr lang="de-DE"/>
          </a:p>
        </p:txBody>
      </p:sp>
      <p:sp>
        <p:nvSpPr>
          <p:cNvPr id="24" name="Text 22"/>
          <p:cNvSpPr txBox="1"/>
          <p:nvPr/>
        </p:nvSpPr>
        <p:spPr>
          <a:xfrm>
            <a:off x="685800" y="4000500"/>
            <a:ext cx="3017520" cy="921258"/>
          </a:xfrm>
          <a:prstGeom prst="rect">
            <a:avLst/>
          </a:prstGeom>
          <a:noFill/>
          <a:ln/>
        </p:spPr>
        <p:txBody>
          <a:bodyPr wrap="square" lIns="0" tIns="0" rIns="0" bIns="0" rtlCol="0" anchor="ctr"/>
          <a:lstStyle/>
          <a:p>
            <a:pPr marL="0" indent="0">
              <a:buNone/>
            </a:pPr>
            <a:r>
              <a:rPr lang="en-US" sz="1400" b="1" dirty="0">
                <a:solidFill>
                  <a:srgbClr val="2B2724"/>
                </a:solidFill>
                <a:latin typeface="Calibri" pitchFamily="34" charset="0"/>
                <a:ea typeface="Calibri" pitchFamily="34" charset="-122"/>
                <a:cs typeface="Calibri" pitchFamily="34" charset="-120"/>
              </a:rPr>
              <a:t>Holz und Edelstahl</a:t>
            </a:r>
            <a:endParaRPr lang="en-US" sz="1400" dirty="0"/>
          </a:p>
          <a:p>
            <a:pPr marL="0" indent="0">
              <a:buNone/>
            </a:pPr>
            <a:r>
              <a:rPr lang="en-US" sz="1150" dirty="0">
                <a:solidFill>
                  <a:srgbClr val="6F6862"/>
                </a:solidFill>
                <a:latin typeface="Calibri" pitchFamily="34" charset="0"/>
                <a:ea typeface="Calibri" pitchFamily="34" charset="-122"/>
                <a:cs typeface="Calibri" pitchFamily="34" charset="-120"/>
              </a:rPr>
              <a:t>Regale in Holz, Küche in Edelstahl</a:t>
            </a:r>
            <a:endParaRPr lang="en-US" sz="1400" dirty="0"/>
          </a:p>
        </p:txBody>
      </p:sp>
      <p:sp>
        <p:nvSpPr>
          <p:cNvPr id="25" name="Text 23"/>
          <p:cNvSpPr txBox="1"/>
          <p:nvPr/>
        </p:nvSpPr>
        <p:spPr>
          <a:xfrm>
            <a:off x="4114800" y="4000500"/>
            <a:ext cx="3840480" cy="921258"/>
          </a:xfrm>
          <a:prstGeom prst="rect">
            <a:avLst/>
          </a:prstGeom>
          <a:noFill/>
          <a:ln/>
        </p:spPr>
        <p:txBody>
          <a:bodyPr wrap="square" lIns="0" tIns="0" rIns="0" bIns="0" rtlCol="0" anchor="ctr"/>
          <a:lstStyle/>
          <a:p>
            <a:pPr marL="0" indent="0">
              <a:buNone/>
            </a:pPr>
            <a:r>
              <a:rPr lang="en-US" sz="1250" dirty="0">
                <a:solidFill>
                  <a:srgbClr val="2B2724"/>
                </a:solidFill>
                <a:latin typeface="Calibri" pitchFamily="34" charset="0"/>
                <a:ea typeface="Calibri" pitchFamily="34" charset="-122"/>
                <a:cs typeface="Calibri" pitchFamily="34" charset="-120"/>
              </a:rPr>
              <a:t>Holz wirkt wohnlich wie eine Küche zu Hause; Edelstahl signalisiert Hygiene.</a:t>
            </a:r>
            <a:endParaRPr lang="en-US" sz="1250" dirty="0"/>
          </a:p>
        </p:txBody>
      </p:sp>
      <p:sp>
        <p:nvSpPr>
          <p:cNvPr id="26" name="Text 24"/>
          <p:cNvSpPr txBox="1"/>
          <p:nvPr/>
        </p:nvSpPr>
        <p:spPr>
          <a:xfrm>
            <a:off x="8366760" y="4000500"/>
            <a:ext cx="3154680" cy="921258"/>
          </a:xfrm>
          <a:prstGeom prst="rect">
            <a:avLst/>
          </a:prstGeom>
          <a:noFill/>
          <a:ln/>
        </p:spPr>
        <p:txBody>
          <a:bodyPr wrap="square" lIns="0" tIns="0" rIns="0" bIns="0" rtlCol="0" anchor="ctr"/>
          <a:lstStyle/>
          <a:p>
            <a:pPr marL="0" indent="0">
              <a:buNone/>
            </a:pPr>
            <a:r>
              <a:rPr lang="en-US" sz="1200" i="1" dirty="0">
                <a:solidFill>
                  <a:srgbClr val="6F6862"/>
                </a:solidFill>
                <a:latin typeface="Calibri" pitchFamily="34" charset="0"/>
                <a:ea typeface="Calibri" pitchFamily="34" charset="-122"/>
                <a:cs typeface="Calibri" pitchFamily="34" charset="-120"/>
              </a:rPr>
              <a:t>Belegt nicht, dass Hygiene so wahrgenommen wird.</a:t>
            </a:r>
            <a:endParaRPr lang="en-US" sz="1200" dirty="0"/>
          </a:p>
        </p:txBody>
      </p:sp>
      <p:sp>
        <p:nvSpPr>
          <p:cNvPr id="27" name="Text 25"/>
          <p:cNvSpPr txBox="1"/>
          <p:nvPr/>
        </p:nvSpPr>
        <p:spPr>
          <a:xfrm>
            <a:off x="685800" y="4994910"/>
            <a:ext cx="3017520" cy="921258"/>
          </a:xfrm>
          <a:prstGeom prst="rect">
            <a:avLst/>
          </a:prstGeom>
          <a:noFill/>
          <a:ln/>
        </p:spPr>
        <p:txBody>
          <a:bodyPr wrap="square" lIns="0" tIns="0" rIns="0" bIns="0" rtlCol="0" anchor="ctr"/>
          <a:lstStyle/>
          <a:p>
            <a:pPr marL="0" indent="0">
              <a:buNone/>
            </a:pPr>
            <a:r>
              <a:rPr lang="en-US" sz="1400" b="1" dirty="0">
                <a:solidFill>
                  <a:srgbClr val="2B2724"/>
                </a:solidFill>
                <a:latin typeface="Calibri" pitchFamily="34" charset="0"/>
                <a:ea typeface="Calibri" pitchFamily="34" charset="-122"/>
                <a:cs typeface="Calibri" pitchFamily="34" charset="-120"/>
              </a:rPr>
              <a:t>Musik, zurückhaltend</a:t>
            </a:r>
            <a:endParaRPr lang="en-US" sz="1400" dirty="0"/>
          </a:p>
          <a:p>
            <a:pPr marL="0" indent="0">
              <a:buNone/>
            </a:pPr>
            <a:r>
              <a:rPr lang="en-US" sz="1150" dirty="0">
                <a:solidFill>
                  <a:srgbClr val="6F6862"/>
                </a:solidFill>
                <a:latin typeface="Calibri" pitchFamily="34" charset="0"/>
                <a:ea typeface="Calibri" pitchFamily="34" charset="-122"/>
                <a:cs typeface="Calibri" pitchFamily="34" charset="-120"/>
              </a:rPr>
              <a:t>leise im Verkauf, Kurse vorwiegend abends</a:t>
            </a:r>
            <a:endParaRPr lang="en-US" sz="1400" dirty="0"/>
          </a:p>
        </p:txBody>
      </p:sp>
      <p:sp>
        <p:nvSpPr>
          <p:cNvPr id="28" name="Text 26"/>
          <p:cNvSpPr txBox="1"/>
          <p:nvPr/>
        </p:nvSpPr>
        <p:spPr>
          <a:xfrm>
            <a:off x="4114800" y="4994910"/>
            <a:ext cx="3840480" cy="921258"/>
          </a:xfrm>
          <a:prstGeom prst="rect">
            <a:avLst/>
          </a:prstGeom>
          <a:noFill/>
          <a:ln/>
        </p:spPr>
        <p:txBody>
          <a:bodyPr wrap="square" lIns="0" tIns="0" rIns="0" bIns="0" rtlCol="0" anchor="ctr"/>
          <a:lstStyle/>
          <a:p>
            <a:pPr marL="0" indent="0">
              <a:buNone/>
            </a:pPr>
            <a:r>
              <a:rPr lang="en-US" sz="1250" dirty="0">
                <a:solidFill>
                  <a:srgbClr val="2B2724"/>
                </a:solidFill>
                <a:latin typeface="Calibri" pitchFamily="34" charset="0"/>
                <a:ea typeface="Calibri" pitchFamily="34" charset="-122"/>
                <a:cs typeface="Calibri" pitchFamily="34" charset="-120"/>
              </a:rPr>
              <a:t>Kurse und Einkauf stören sich nicht gegenseitig.</a:t>
            </a:r>
            <a:endParaRPr lang="en-US" sz="1250" dirty="0"/>
          </a:p>
        </p:txBody>
      </p:sp>
      <p:sp>
        <p:nvSpPr>
          <p:cNvPr id="29" name="Text 27"/>
          <p:cNvSpPr txBox="1"/>
          <p:nvPr/>
        </p:nvSpPr>
        <p:spPr>
          <a:xfrm>
            <a:off x="8366760" y="4994910"/>
            <a:ext cx="3154680" cy="921258"/>
          </a:xfrm>
          <a:prstGeom prst="rect">
            <a:avLst/>
          </a:prstGeom>
          <a:noFill/>
          <a:ln/>
        </p:spPr>
        <p:txBody>
          <a:bodyPr wrap="square" lIns="0" tIns="0" rIns="0" bIns="0" rtlCol="0" anchor="ctr"/>
          <a:lstStyle/>
          <a:p>
            <a:pPr marL="0" indent="0">
              <a:buNone/>
            </a:pPr>
            <a:r>
              <a:rPr lang="en-US" sz="1200" i="1" dirty="0">
                <a:solidFill>
                  <a:srgbClr val="6F6862"/>
                </a:solidFill>
                <a:latin typeface="Calibri" pitchFamily="34" charset="0"/>
                <a:ea typeface="Calibri" pitchFamily="34" charset="-122"/>
                <a:cs typeface="Calibri" pitchFamily="34" charset="-120"/>
              </a:rPr>
              <a:t>Lautstärke ist Zielwert, nicht gemessen.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0972800" cy="274320"/>
          </a:xfrm>
          <a:prstGeom prst="rect">
            <a:avLst/>
          </a:prstGeom>
          <a:noFill/>
          <a:ln/>
        </p:spPr>
        <p:txBody>
          <a:bodyPr wrap="square" lIns="0" tIns="0" rIns="0" bIns="0" rtlCol="0" anchor="ctr"/>
          <a:lstStyle/>
          <a:p>
            <a:pPr marL="0" indent="0">
              <a:buNone/>
            </a:pPr>
            <a:r>
              <a:rPr lang="en-US" sz="1200" b="1" dirty="0">
                <a:solidFill>
                  <a:srgbClr val="B5452F"/>
                </a:solidFill>
                <a:latin typeface="Calibri" pitchFamily="34" charset="0"/>
                <a:ea typeface="Calibri" pitchFamily="34" charset="-122"/>
                <a:cs typeface="Calibri" pitchFamily="34" charset="-120"/>
              </a:rPr>
              <a:t>8 · ZIELKONFLIKTE</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2B2724"/>
                </a:solidFill>
                <a:latin typeface="Cambria" pitchFamily="34" charset="0"/>
                <a:ea typeface="Cambria" pitchFamily="34" charset="-122"/>
                <a:cs typeface="Cambria" pitchFamily="34" charset="-120"/>
              </a:rPr>
              <a:t>Sechs Zielkonflikte und unsere Antworten.</a:t>
            </a:r>
            <a:endParaRPr lang="en-US" sz="2800" dirty="0"/>
          </a:p>
        </p:txBody>
      </p:sp>
      <p:sp>
        <p:nvSpPr>
          <p:cNvPr id="4" name="Text 2"/>
          <p:cNvSpPr txBox="1"/>
          <p:nvPr/>
        </p:nvSpPr>
        <p:spPr>
          <a:xfrm>
            <a:off x="548640" y="6144768"/>
            <a:ext cx="11064240" cy="228600"/>
          </a:xfrm>
          <a:prstGeom prst="rect">
            <a:avLst/>
          </a:prstGeom>
          <a:noFill/>
          <a:ln/>
        </p:spPr>
        <p:txBody>
          <a:bodyPr wrap="square" lIns="0" tIns="0" rIns="0" bIns="0" rtlCol="0" anchor="ctr"/>
          <a:lstStyle/>
          <a:p>
            <a:pPr marL="0" indent="0">
              <a:buNone/>
            </a:pPr>
            <a:r>
              <a:rPr lang="en-US" sz="950" dirty="0">
                <a:solidFill>
                  <a:srgbClr val="6F6862"/>
                </a:solidFill>
                <a:latin typeface="Calibri" pitchFamily="34" charset="0"/>
                <a:ea typeface="Calibri" pitchFamily="34" charset="-122"/>
                <a:cs typeface="Calibri" pitchFamily="34" charset="-120"/>
              </a:rPr>
              <a:t>Alle Lösungen sind eigene Entscheidungen der Gruppe; Mindestauslastung siehe Folie 5.</a:t>
            </a:r>
            <a:endParaRPr lang="en-US" sz="950" dirty="0"/>
          </a:p>
        </p:txBody>
      </p:sp>
      <p:sp>
        <p:nvSpPr>
          <p:cNvPr id="5" name="Shape 3"/>
          <p:cNvSpPr/>
          <p:nvPr/>
        </p:nvSpPr>
        <p:spPr>
          <a:xfrm>
            <a:off x="548640" y="6419088"/>
            <a:ext cx="11091672" cy="0"/>
          </a:xfrm>
          <a:prstGeom prst="line">
            <a:avLst/>
          </a:prstGeom>
          <a:noFill/>
          <a:ln w="9525">
            <a:solidFill>
              <a:srgbClr val="D9D1C5"/>
            </a:solidFill>
            <a:prstDash val="solid"/>
          </a:ln>
        </p:spPr>
        <p:txBody>
          <a:bodyPr/>
          <a:lstStyle/>
          <a:p>
            <a:endParaRPr lang="de-DE"/>
          </a:p>
        </p:txBody>
      </p:sp>
      <p:sp>
        <p:nvSpPr>
          <p:cNvPr id="6" name="Text 4"/>
          <p:cNvSpPr txBox="1"/>
          <p:nvPr/>
        </p:nvSpPr>
        <p:spPr>
          <a:xfrm>
            <a:off x="548640" y="6473952"/>
            <a:ext cx="7315200" cy="228600"/>
          </a:xfrm>
          <a:prstGeom prst="rect">
            <a:avLst/>
          </a:prstGeom>
          <a:noFill/>
          <a:ln/>
        </p:spPr>
        <p:txBody>
          <a:bodyPr wrap="square" lIns="0" tIns="0" rIns="0" bIns="0" rtlCol="0" anchor="ctr"/>
          <a:lstStyle/>
          <a:p>
            <a:pPr marL="0" indent="0">
              <a:buNone/>
            </a:pPr>
            <a:r>
              <a:rPr lang="en-US" sz="900" dirty="0">
                <a:solidFill>
                  <a:srgbClr val="6F6862"/>
                </a:solidFill>
                <a:latin typeface="Calibri" pitchFamily="34" charset="0"/>
                <a:ea typeface="Calibri" pitchFamily="34" charset="-122"/>
                <a:cs typeface="Calibri" pitchFamily="34" charset="-120"/>
              </a:rPr>
              <a:t>One Hour Kitchen · Store-Konzept · Kurs HD25A23</a:t>
            </a:r>
            <a:endParaRPr lang="en-US" sz="900" dirty="0"/>
          </a:p>
        </p:txBody>
      </p:sp>
      <p:sp>
        <p:nvSpPr>
          <p:cNvPr id="7" name="Text 5"/>
          <p:cNvSpPr txBox="1"/>
          <p:nvPr/>
        </p:nvSpPr>
        <p:spPr>
          <a:xfrm>
            <a:off x="10725912" y="6473952"/>
            <a:ext cx="914400" cy="228600"/>
          </a:xfrm>
          <a:prstGeom prst="rect">
            <a:avLst/>
          </a:prstGeom>
          <a:noFill/>
          <a:ln/>
        </p:spPr>
        <p:txBody>
          <a:bodyPr wrap="square" lIns="0" tIns="0" rIns="0" bIns="0" rtlCol="0" anchor="ctr"/>
          <a:lstStyle/>
          <a:p>
            <a:pPr marL="0" indent="0" algn="r">
              <a:buNone/>
            </a:pPr>
            <a:r>
              <a:rPr lang="en-US" sz="900" dirty="0">
                <a:solidFill>
                  <a:srgbClr val="6F6862"/>
                </a:solidFill>
                <a:latin typeface="Calibri" pitchFamily="34" charset="0"/>
                <a:ea typeface="Calibri" pitchFamily="34" charset="-122"/>
                <a:cs typeface="Calibri" pitchFamily="34" charset="-120"/>
              </a:rPr>
              <a:t>16</a:t>
            </a:r>
            <a:endParaRPr lang="en-US" sz="900" dirty="0"/>
          </a:p>
        </p:txBody>
      </p:sp>
      <p:sp>
        <p:nvSpPr>
          <p:cNvPr id="8" name="Shape 6"/>
          <p:cNvSpPr/>
          <p:nvPr/>
        </p:nvSpPr>
        <p:spPr>
          <a:xfrm>
            <a:off x="548640" y="1417320"/>
            <a:ext cx="5440680" cy="1371600"/>
          </a:xfrm>
          <a:prstGeom prst="rect">
            <a:avLst/>
          </a:prstGeom>
          <a:solidFill>
            <a:srgbClr val="F3EEE6"/>
          </a:solidFill>
          <a:ln w="12700">
            <a:solidFill>
              <a:srgbClr val="F3EEE6"/>
            </a:solidFill>
            <a:prstDash val="solid"/>
          </a:ln>
        </p:spPr>
        <p:txBody>
          <a:bodyPr/>
          <a:lstStyle/>
          <a:p>
            <a:endParaRPr lang="de-DE"/>
          </a:p>
        </p:txBody>
      </p:sp>
      <p:sp>
        <p:nvSpPr>
          <p:cNvPr id="9" name="Shape 7"/>
          <p:cNvSpPr/>
          <p:nvPr/>
        </p:nvSpPr>
        <p:spPr>
          <a:xfrm>
            <a:off x="749808" y="1645920"/>
            <a:ext cx="329184" cy="329184"/>
          </a:xfrm>
          <a:prstGeom prst="ellipse">
            <a:avLst/>
          </a:prstGeom>
          <a:solidFill>
            <a:srgbClr val="B5452F"/>
          </a:solidFill>
          <a:ln w="12700">
            <a:solidFill>
              <a:srgbClr val="B5452F"/>
            </a:solidFill>
            <a:prstDash val="solid"/>
          </a:ln>
        </p:spPr>
        <p:txBody>
          <a:bodyPr/>
          <a:lstStyle/>
          <a:p>
            <a:endParaRPr lang="de-DE"/>
          </a:p>
        </p:txBody>
      </p:sp>
      <p:sp>
        <p:nvSpPr>
          <p:cNvPr id="10" name="Text 8"/>
          <p:cNvSpPr txBox="1"/>
          <p:nvPr/>
        </p:nvSpPr>
        <p:spPr>
          <a:xfrm>
            <a:off x="749808" y="1645920"/>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1" name="Text 9"/>
          <p:cNvSpPr txBox="1"/>
          <p:nvPr/>
        </p:nvSpPr>
        <p:spPr>
          <a:xfrm>
            <a:off x="1234440" y="1600200"/>
            <a:ext cx="4480560" cy="384048"/>
          </a:xfrm>
          <a:prstGeom prst="rect">
            <a:avLst/>
          </a:prstGeom>
          <a:noFill/>
          <a:ln/>
        </p:spPr>
        <p:txBody>
          <a:bodyPr wrap="square" lIns="0" tIns="0" rIns="0" bIns="0" rtlCol="0" anchor="ctr"/>
          <a:lstStyle/>
          <a:p>
            <a:pPr marL="0" indent="0">
              <a:buNone/>
            </a:pPr>
            <a:r>
              <a:rPr lang="en-US" sz="1500" b="1" dirty="0">
                <a:solidFill>
                  <a:srgbClr val="2B2724"/>
                </a:solidFill>
                <a:latin typeface="Calibri" pitchFamily="34" charset="0"/>
                <a:ea typeface="Calibri" pitchFamily="34" charset="-122"/>
                <a:cs typeface="Calibri" pitchFamily="34" charset="-120"/>
              </a:rPr>
              <a:t>Showküche braucht Fläche</a:t>
            </a:r>
            <a:endParaRPr lang="en-US" sz="1500" dirty="0"/>
          </a:p>
        </p:txBody>
      </p:sp>
      <p:sp>
        <p:nvSpPr>
          <p:cNvPr id="12" name="Text 10"/>
          <p:cNvSpPr txBox="1"/>
          <p:nvPr/>
        </p:nvSpPr>
        <p:spPr>
          <a:xfrm>
            <a:off x="1234440" y="2011680"/>
            <a:ext cx="4572000" cy="685800"/>
          </a:xfrm>
          <a:prstGeom prst="rect">
            <a:avLst/>
          </a:prstGeom>
          <a:noFill/>
          <a:ln/>
        </p:spPr>
        <p:txBody>
          <a:bodyPr wrap="square" lIns="0" tIns="0" rIns="0" bIns="0" rtlCol="0" anchor="t"/>
          <a:lstStyle/>
          <a:p>
            <a:pPr marL="0" indent="0">
              <a:buNone/>
            </a:pPr>
            <a:r>
              <a:rPr lang="en-US" sz="1250" dirty="0">
                <a:solidFill>
                  <a:srgbClr val="2B2724"/>
                </a:solidFill>
                <a:latin typeface="Calibri" pitchFamily="34" charset="0"/>
                <a:ea typeface="Calibri" pitchFamily="34" charset="-122"/>
                <a:cs typeface="Calibri" pitchFamily="34" charset="-120"/>
              </a:rPr>
              <a:t>Kompakte Showküche mit ca. 18 m²; wirtschaftlich ab ca. 2,7 Belegungen pro Woche, geplant ≥ 4.</a:t>
            </a:r>
            <a:endParaRPr lang="en-US" sz="1250" dirty="0"/>
          </a:p>
        </p:txBody>
      </p:sp>
      <p:sp>
        <p:nvSpPr>
          <p:cNvPr id="13" name="Shape 11"/>
          <p:cNvSpPr/>
          <p:nvPr/>
        </p:nvSpPr>
        <p:spPr>
          <a:xfrm>
            <a:off x="5577840" y="1673352"/>
            <a:ext cx="237744" cy="237744"/>
          </a:xfrm>
          <a:prstGeom prst="ellipse">
            <a:avLst/>
          </a:prstGeom>
          <a:solidFill>
            <a:srgbClr val="B5452F"/>
          </a:solidFill>
          <a:ln w="12700">
            <a:solidFill>
              <a:srgbClr val="B5452F"/>
            </a:solidFill>
            <a:prstDash val="solid"/>
          </a:ln>
        </p:spPr>
        <p:txBody>
          <a:bodyPr/>
          <a:lstStyle/>
          <a:p>
            <a:endParaRPr lang="de-DE"/>
          </a:p>
        </p:txBody>
      </p:sp>
      <p:sp>
        <p:nvSpPr>
          <p:cNvPr id="14" name="Text 12"/>
          <p:cNvSpPr txBox="1"/>
          <p:nvPr/>
        </p:nvSpPr>
        <p:spPr>
          <a:xfrm>
            <a:off x="5577840" y="1673352"/>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15" name="Shape 13"/>
          <p:cNvSpPr/>
          <p:nvPr/>
        </p:nvSpPr>
        <p:spPr>
          <a:xfrm>
            <a:off x="6172200" y="1417320"/>
            <a:ext cx="5440680" cy="1371600"/>
          </a:xfrm>
          <a:prstGeom prst="rect">
            <a:avLst/>
          </a:prstGeom>
          <a:solidFill>
            <a:srgbClr val="F3EEE6"/>
          </a:solidFill>
          <a:ln w="12700">
            <a:solidFill>
              <a:srgbClr val="F3EEE6"/>
            </a:solidFill>
            <a:prstDash val="solid"/>
          </a:ln>
        </p:spPr>
        <p:txBody>
          <a:bodyPr/>
          <a:lstStyle/>
          <a:p>
            <a:endParaRPr lang="de-DE"/>
          </a:p>
        </p:txBody>
      </p:sp>
      <p:sp>
        <p:nvSpPr>
          <p:cNvPr id="16" name="Shape 14"/>
          <p:cNvSpPr/>
          <p:nvPr/>
        </p:nvSpPr>
        <p:spPr>
          <a:xfrm>
            <a:off x="6373368" y="1645920"/>
            <a:ext cx="329184" cy="329184"/>
          </a:xfrm>
          <a:prstGeom prst="ellipse">
            <a:avLst/>
          </a:prstGeom>
          <a:solidFill>
            <a:srgbClr val="B5452F"/>
          </a:solidFill>
          <a:ln w="12700">
            <a:solidFill>
              <a:srgbClr val="B5452F"/>
            </a:solidFill>
            <a:prstDash val="solid"/>
          </a:ln>
        </p:spPr>
        <p:txBody>
          <a:bodyPr/>
          <a:lstStyle/>
          <a:p>
            <a:endParaRPr lang="de-DE"/>
          </a:p>
        </p:txBody>
      </p:sp>
      <p:sp>
        <p:nvSpPr>
          <p:cNvPr id="17" name="Text 15"/>
          <p:cNvSpPr txBox="1"/>
          <p:nvPr/>
        </p:nvSpPr>
        <p:spPr>
          <a:xfrm>
            <a:off x="6373368" y="1645920"/>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8" name="Text 16"/>
          <p:cNvSpPr txBox="1"/>
          <p:nvPr/>
        </p:nvSpPr>
        <p:spPr>
          <a:xfrm>
            <a:off x="6858000" y="1600200"/>
            <a:ext cx="4480560" cy="384048"/>
          </a:xfrm>
          <a:prstGeom prst="rect">
            <a:avLst/>
          </a:prstGeom>
          <a:noFill/>
          <a:ln/>
        </p:spPr>
        <p:txBody>
          <a:bodyPr wrap="square" lIns="0" tIns="0" rIns="0" bIns="0" rtlCol="0" anchor="ctr"/>
          <a:lstStyle/>
          <a:p>
            <a:pPr marL="0" indent="0">
              <a:buNone/>
            </a:pPr>
            <a:r>
              <a:rPr lang="en-US" sz="1500" b="1" dirty="0">
                <a:solidFill>
                  <a:srgbClr val="2B2724"/>
                </a:solidFill>
                <a:latin typeface="Calibri" pitchFamily="34" charset="0"/>
                <a:ea typeface="Calibri" pitchFamily="34" charset="-122"/>
                <a:cs typeface="Calibri" pitchFamily="34" charset="-120"/>
              </a:rPr>
              <a:t>Leerlauf am Vormittag</a:t>
            </a:r>
            <a:endParaRPr lang="en-US" sz="1500" dirty="0"/>
          </a:p>
        </p:txBody>
      </p:sp>
      <p:sp>
        <p:nvSpPr>
          <p:cNvPr id="19" name="Text 17"/>
          <p:cNvSpPr txBox="1"/>
          <p:nvPr/>
        </p:nvSpPr>
        <p:spPr>
          <a:xfrm>
            <a:off x="6858000" y="2011680"/>
            <a:ext cx="4572000" cy="685800"/>
          </a:xfrm>
          <a:prstGeom prst="rect">
            <a:avLst/>
          </a:prstGeom>
          <a:noFill/>
          <a:ln/>
        </p:spPr>
        <p:txBody>
          <a:bodyPr wrap="square" lIns="0" tIns="0" rIns="0" bIns="0" rtlCol="0" anchor="t"/>
          <a:lstStyle/>
          <a:p>
            <a:pPr marL="0" indent="0">
              <a:buNone/>
            </a:pPr>
            <a:r>
              <a:rPr lang="en-US" sz="1250" dirty="0">
                <a:solidFill>
                  <a:srgbClr val="2B2724"/>
                </a:solidFill>
                <a:latin typeface="Calibri" pitchFamily="34" charset="0"/>
                <a:ea typeface="Calibri" pitchFamily="34" charset="-122"/>
                <a:cs typeface="Calibri" pitchFamily="34" charset="-120"/>
              </a:rPr>
              <a:t>Mittags Live-Cooking mit Probierportionen für die Pausenkundschaft; vormittags Kursvorbereitung.</a:t>
            </a:r>
            <a:endParaRPr lang="en-US" sz="1250" dirty="0"/>
          </a:p>
        </p:txBody>
      </p:sp>
      <p:sp>
        <p:nvSpPr>
          <p:cNvPr id="20" name="Shape 18"/>
          <p:cNvSpPr/>
          <p:nvPr/>
        </p:nvSpPr>
        <p:spPr>
          <a:xfrm>
            <a:off x="11201400" y="1673352"/>
            <a:ext cx="237744" cy="237744"/>
          </a:xfrm>
          <a:prstGeom prst="ellipse">
            <a:avLst/>
          </a:prstGeom>
          <a:solidFill>
            <a:srgbClr val="B5452F"/>
          </a:solidFill>
          <a:ln w="12700">
            <a:solidFill>
              <a:srgbClr val="B5452F"/>
            </a:solidFill>
            <a:prstDash val="solid"/>
          </a:ln>
        </p:spPr>
        <p:txBody>
          <a:bodyPr/>
          <a:lstStyle/>
          <a:p>
            <a:endParaRPr lang="de-DE"/>
          </a:p>
        </p:txBody>
      </p:sp>
      <p:sp>
        <p:nvSpPr>
          <p:cNvPr id="21" name="Text 19"/>
          <p:cNvSpPr txBox="1"/>
          <p:nvPr/>
        </p:nvSpPr>
        <p:spPr>
          <a:xfrm>
            <a:off x="11201400" y="1673352"/>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Shape 20"/>
          <p:cNvSpPr/>
          <p:nvPr/>
        </p:nvSpPr>
        <p:spPr>
          <a:xfrm>
            <a:off x="548640" y="2953512"/>
            <a:ext cx="5440680" cy="1371600"/>
          </a:xfrm>
          <a:prstGeom prst="rect">
            <a:avLst/>
          </a:prstGeom>
          <a:solidFill>
            <a:srgbClr val="F3EEE6"/>
          </a:solidFill>
          <a:ln w="12700">
            <a:solidFill>
              <a:srgbClr val="F3EEE6"/>
            </a:solidFill>
            <a:prstDash val="solid"/>
          </a:ln>
        </p:spPr>
        <p:txBody>
          <a:bodyPr/>
          <a:lstStyle/>
          <a:p>
            <a:endParaRPr lang="de-DE"/>
          </a:p>
        </p:txBody>
      </p:sp>
      <p:sp>
        <p:nvSpPr>
          <p:cNvPr id="23" name="Shape 21"/>
          <p:cNvSpPr/>
          <p:nvPr/>
        </p:nvSpPr>
        <p:spPr>
          <a:xfrm>
            <a:off x="749808" y="3182112"/>
            <a:ext cx="329184" cy="329184"/>
          </a:xfrm>
          <a:prstGeom prst="ellipse">
            <a:avLst/>
          </a:prstGeom>
          <a:solidFill>
            <a:srgbClr val="B5452F"/>
          </a:solidFill>
          <a:ln w="12700">
            <a:solidFill>
              <a:srgbClr val="B5452F"/>
            </a:solidFill>
            <a:prstDash val="solid"/>
          </a:ln>
        </p:spPr>
        <p:txBody>
          <a:bodyPr/>
          <a:lstStyle/>
          <a:p>
            <a:endParaRPr lang="de-DE"/>
          </a:p>
        </p:txBody>
      </p:sp>
      <p:sp>
        <p:nvSpPr>
          <p:cNvPr id="24" name="Text 22"/>
          <p:cNvSpPr txBox="1"/>
          <p:nvPr/>
        </p:nvSpPr>
        <p:spPr>
          <a:xfrm>
            <a:off x="749808" y="3182112"/>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5" name="Text 23"/>
          <p:cNvSpPr txBox="1"/>
          <p:nvPr/>
        </p:nvSpPr>
        <p:spPr>
          <a:xfrm>
            <a:off x="1234440" y="3136392"/>
            <a:ext cx="4480560" cy="384048"/>
          </a:xfrm>
          <a:prstGeom prst="rect">
            <a:avLst/>
          </a:prstGeom>
          <a:noFill/>
          <a:ln/>
        </p:spPr>
        <p:txBody>
          <a:bodyPr wrap="square" lIns="0" tIns="0" rIns="0" bIns="0" rtlCol="0" anchor="ctr"/>
          <a:lstStyle/>
          <a:p>
            <a:pPr marL="0" indent="0">
              <a:buNone/>
            </a:pPr>
            <a:r>
              <a:rPr lang="en-US" sz="1500" b="1" dirty="0">
                <a:solidFill>
                  <a:srgbClr val="2B2724"/>
                </a:solidFill>
                <a:latin typeface="Calibri" pitchFamily="34" charset="0"/>
                <a:ea typeface="Calibri" pitchFamily="34" charset="-122"/>
                <a:cs typeface="Calibri" pitchFamily="34" charset="-120"/>
              </a:rPr>
              <a:t>Erlebnis vs. schneller Einkauf</a:t>
            </a:r>
            <a:endParaRPr lang="en-US" sz="1500" dirty="0"/>
          </a:p>
        </p:txBody>
      </p:sp>
      <p:sp>
        <p:nvSpPr>
          <p:cNvPr id="26" name="Text 24"/>
          <p:cNvSpPr txBox="1"/>
          <p:nvPr/>
        </p:nvSpPr>
        <p:spPr>
          <a:xfrm>
            <a:off x="1234440" y="3547872"/>
            <a:ext cx="4572000" cy="685800"/>
          </a:xfrm>
          <a:prstGeom prst="rect">
            <a:avLst/>
          </a:prstGeom>
          <a:noFill/>
          <a:ln/>
        </p:spPr>
        <p:txBody>
          <a:bodyPr wrap="square" lIns="0" tIns="0" rIns="0" bIns="0" rtlCol="0" anchor="t"/>
          <a:lstStyle/>
          <a:p>
            <a:pPr marL="0" indent="0">
              <a:buNone/>
            </a:pPr>
            <a:r>
              <a:rPr lang="en-US" sz="1250" dirty="0">
                <a:solidFill>
                  <a:srgbClr val="2B2724"/>
                </a:solidFill>
                <a:latin typeface="Calibri" pitchFamily="34" charset="0"/>
                <a:ea typeface="Calibri" pitchFamily="34" charset="-122"/>
                <a:cs typeface="Calibri" pitchFamily="34" charset="-120"/>
              </a:rPr>
              <a:t>Rezeptweg als Rundlauf über Dashboard und Kojen, Schnellweg längs durch die Basis; die Showküche ist kein Pflichtweg.</a:t>
            </a:r>
            <a:endParaRPr lang="en-US" sz="1250" dirty="0"/>
          </a:p>
        </p:txBody>
      </p:sp>
      <p:sp>
        <p:nvSpPr>
          <p:cNvPr id="27" name="Shape 25"/>
          <p:cNvSpPr/>
          <p:nvPr/>
        </p:nvSpPr>
        <p:spPr>
          <a:xfrm>
            <a:off x="5577840" y="3209544"/>
            <a:ext cx="237744" cy="237744"/>
          </a:xfrm>
          <a:prstGeom prst="ellipse">
            <a:avLst/>
          </a:prstGeom>
          <a:solidFill>
            <a:srgbClr val="B5452F"/>
          </a:solidFill>
          <a:ln w="12700">
            <a:solidFill>
              <a:srgbClr val="B5452F"/>
            </a:solidFill>
            <a:prstDash val="solid"/>
          </a:ln>
        </p:spPr>
        <p:txBody>
          <a:bodyPr/>
          <a:lstStyle/>
          <a:p>
            <a:endParaRPr lang="de-DE"/>
          </a:p>
        </p:txBody>
      </p:sp>
      <p:sp>
        <p:nvSpPr>
          <p:cNvPr id="28" name="Text 26"/>
          <p:cNvSpPr txBox="1"/>
          <p:nvPr/>
        </p:nvSpPr>
        <p:spPr>
          <a:xfrm>
            <a:off x="5577840" y="3209544"/>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9" name="Shape 27"/>
          <p:cNvSpPr/>
          <p:nvPr/>
        </p:nvSpPr>
        <p:spPr>
          <a:xfrm>
            <a:off x="6172200" y="2953512"/>
            <a:ext cx="5440680" cy="1371600"/>
          </a:xfrm>
          <a:prstGeom prst="rect">
            <a:avLst/>
          </a:prstGeom>
          <a:solidFill>
            <a:srgbClr val="F3EEE6"/>
          </a:solidFill>
          <a:ln w="12700">
            <a:solidFill>
              <a:srgbClr val="F3EEE6"/>
            </a:solidFill>
            <a:prstDash val="solid"/>
          </a:ln>
        </p:spPr>
        <p:txBody>
          <a:bodyPr/>
          <a:lstStyle/>
          <a:p>
            <a:endParaRPr lang="de-DE"/>
          </a:p>
        </p:txBody>
      </p:sp>
      <p:sp>
        <p:nvSpPr>
          <p:cNvPr id="30" name="Shape 28"/>
          <p:cNvSpPr/>
          <p:nvPr/>
        </p:nvSpPr>
        <p:spPr>
          <a:xfrm>
            <a:off x="6373368" y="3182112"/>
            <a:ext cx="329184" cy="329184"/>
          </a:xfrm>
          <a:prstGeom prst="ellipse">
            <a:avLst/>
          </a:prstGeom>
          <a:solidFill>
            <a:srgbClr val="B5452F"/>
          </a:solidFill>
          <a:ln w="12700">
            <a:solidFill>
              <a:srgbClr val="B5452F"/>
            </a:solidFill>
            <a:prstDash val="solid"/>
          </a:ln>
        </p:spPr>
        <p:txBody>
          <a:bodyPr/>
          <a:lstStyle/>
          <a:p>
            <a:endParaRPr lang="de-DE"/>
          </a:p>
        </p:txBody>
      </p:sp>
      <p:sp>
        <p:nvSpPr>
          <p:cNvPr id="31" name="Text 29"/>
          <p:cNvSpPr txBox="1"/>
          <p:nvPr/>
        </p:nvSpPr>
        <p:spPr>
          <a:xfrm>
            <a:off x="6373368" y="3182112"/>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32" name="Text 30"/>
          <p:cNvSpPr txBox="1"/>
          <p:nvPr/>
        </p:nvSpPr>
        <p:spPr>
          <a:xfrm>
            <a:off x="6858000" y="3136392"/>
            <a:ext cx="4480560" cy="384048"/>
          </a:xfrm>
          <a:prstGeom prst="rect">
            <a:avLst/>
          </a:prstGeom>
          <a:noFill/>
          <a:ln/>
        </p:spPr>
        <p:txBody>
          <a:bodyPr wrap="square" lIns="0" tIns="0" rIns="0" bIns="0" rtlCol="0" anchor="ctr"/>
          <a:lstStyle/>
          <a:p>
            <a:pPr marL="0" indent="0">
              <a:buNone/>
            </a:pPr>
            <a:r>
              <a:rPr lang="en-US" sz="1500" b="1" dirty="0">
                <a:solidFill>
                  <a:srgbClr val="2B2724"/>
                </a:solidFill>
                <a:latin typeface="Calibri" pitchFamily="34" charset="0"/>
                <a:ea typeface="Calibri" pitchFamily="34" charset="-122"/>
                <a:cs typeface="Calibri" pitchFamily="34" charset="-120"/>
              </a:rPr>
              <a:t>Wechselnde Rezepte</a:t>
            </a:r>
            <a:endParaRPr lang="en-US" sz="1500" dirty="0"/>
          </a:p>
        </p:txBody>
      </p:sp>
      <p:sp>
        <p:nvSpPr>
          <p:cNvPr id="33" name="Text 31"/>
          <p:cNvSpPr txBox="1"/>
          <p:nvPr/>
        </p:nvSpPr>
        <p:spPr>
          <a:xfrm>
            <a:off x="6858000" y="3547872"/>
            <a:ext cx="4572000" cy="685800"/>
          </a:xfrm>
          <a:prstGeom prst="rect">
            <a:avLst/>
          </a:prstGeom>
          <a:noFill/>
          <a:ln/>
        </p:spPr>
        <p:txBody>
          <a:bodyPr wrap="square" lIns="0" tIns="0" rIns="0" bIns="0" rtlCol="0" anchor="t"/>
          <a:lstStyle/>
          <a:p>
            <a:pPr marL="0" indent="0">
              <a:buNone/>
            </a:pPr>
            <a:r>
              <a:rPr lang="en-US" sz="1250" dirty="0">
                <a:solidFill>
                  <a:srgbClr val="2B2724"/>
                </a:solidFill>
                <a:latin typeface="Calibri" pitchFamily="34" charset="0"/>
                <a:ea typeface="Calibri" pitchFamily="34" charset="-122"/>
                <a:cs typeface="Calibri" pitchFamily="34" charset="-120"/>
              </a:rPr>
              <a:t>Monatlich wechseln nur die Rezepte in den Feldern und das Fenster; Matrix, Kojen und Basis bleiben fest.</a:t>
            </a:r>
            <a:endParaRPr lang="en-US" sz="1250" dirty="0"/>
          </a:p>
        </p:txBody>
      </p:sp>
      <p:sp>
        <p:nvSpPr>
          <p:cNvPr id="34" name="Shape 32"/>
          <p:cNvSpPr/>
          <p:nvPr/>
        </p:nvSpPr>
        <p:spPr>
          <a:xfrm>
            <a:off x="11201400" y="3209544"/>
            <a:ext cx="237744" cy="237744"/>
          </a:xfrm>
          <a:prstGeom prst="ellipse">
            <a:avLst/>
          </a:prstGeom>
          <a:solidFill>
            <a:srgbClr val="B5452F"/>
          </a:solidFill>
          <a:ln w="12700">
            <a:solidFill>
              <a:srgbClr val="B5452F"/>
            </a:solidFill>
            <a:prstDash val="solid"/>
          </a:ln>
        </p:spPr>
        <p:txBody>
          <a:bodyPr/>
          <a:lstStyle/>
          <a:p>
            <a:endParaRPr lang="de-DE"/>
          </a:p>
        </p:txBody>
      </p:sp>
      <p:sp>
        <p:nvSpPr>
          <p:cNvPr id="35" name="Text 33"/>
          <p:cNvSpPr txBox="1"/>
          <p:nvPr/>
        </p:nvSpPr>
        <p:spPr>
          <a:xfrm>
            <a:off x="11201400" y="3209544"/>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6" name="Shape 34"/>
          <p:cNvSpPr/>
          <p:nvPr/>
        </p:nvSpPr>
        <p:spPr>
          <a:xfrm>
            <a:off x="548640" y="4489704"/>
            <a:ext cx="5440680" cy="1371600"/>
          </a:xfrm>
          <a:prstGeom prst="rect">
            <a:avLst/>
          </a:prstGeom>
          <a:solidFill>
            <a:srgbClr val="F3EEE6"/>
          </a:solidFill>
          <a:ln w="12700">
            <a:solidFill>
              <a:srgbClr val="F3EEE6"/>
            </a:solidFill>
            <a:prstDash val="solid"/>
          </a:ln>
        </p:spPr>
        <p:txBody>
          <a:bodyPr/>
          <a:lstStyle/>
          <a:p>
            <a:endParaRPr lang="de-DE"/>
          </a:p>
        </p:txBody>
      </p:sp>
      <p:sp>
        <p:nvSpPr>
          <p:cNvPr id="37" name="Shape 35"/>
          <p:cNvSpPr/>
          <p:nvPr/>
        </p:nvSpPr>
        <p:spPr>
          <a:xfrm>
            <a:off x="749808" y="4718304"/>
            <a:ext cx="329184" cy="329184"/>
          </a:xfrm>
          <a:prstGeom prst="ellipse">
            <a:avLst/>
          </a:prstGeom>
          <a:solidFill>
            <a:srgbClr val="B5452F"/>
          </a:solidFill>
          <a:ln w="12700">
            <a:solidFill>
              <a:srgbClr val="B5452F"/>
            </a:solidFill>
            <a:prstDash val="solid"/>
          </a:ln>
        </p:spPr>
        <p:txBody>
          <a:bodyPr/>
          <a:lstStyle/>
          <a:p>
            <a:endParaRPr lang="de-DE"/>
          </a:p>
        </p:txBody>
      </p:sp>
      <p:sp>
        <p:nvSpPr>
          <p:cNvPr id="38" name="Text 36"/>
          <p:cNvSpPr txBox="1"/>
          <p:nvPr/>
        </p:nvSpPr>
        <p:spPr>
          <a:xfrm>
            <a:off x="749808" y="4718304"/>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39" name="Text 37"/>
          <p:cNvSpPr txBox="1"/>
          <p:nvPr/>
        </p:nvSpPr>
        <p:spPr>
          <a:xfrm>
            <a:off x="1234440" y="4672584"/>
            <a:ext cx="4480560" cy="384048"/>
          </a:xfrm>
          <a:prstGeom prst="rect">
            <a:avLst/>
          </a:prstGeom>
          <a:noFill/>
          <a:ln/>
        </p:spPr>
        <p:txBody>
          <a:bodyPr wrap="square" lIns="0" tIns="0" rIns="0" bIns="0" rtlCol="0" anchor="ctr"/>
          <a:lstStyle/>
          <a:p>
            <a:pPr marL="0" indent="0">
              <a:buNone/>
            </a:pPr>
            <a:r>
              <a:rPr lang="en-US" sz="1500" b="1" dirty="0">
                <a:solidFill>
                  <a:srgbClr val="2B2724"/>
                </a:solidFill>
                <a:latin typeface="Calibri" pitchFamily="34" charset="0"/>
                <a:ea typeface="Calibri" pitchFamily="34" charset="-122"/>
                <a:cs typeface="Calibri" pitchFamily="34" charset="-120"/>
              </a:rPr>
              <a:t>Zuschauer vs. Warenfluss</a:t>
            </a:r>
            <a:endParaRPr lang="en-US" sz="1500" dirty="0"/>
          </a:p>
        </p:txBody>
      </p:sp>
      <p:sp>
        <p:nvSpPr>
          <p:cNvPr id="40" name="Text 38"/>
          <p:cNvSpPr txBox="1"/>
          <p:nvPr/>
        </p:nvSpPr>
        <p:spPr>
          <a:xfrm>
            <a:off x="1234440" y="5084064"/>
            <a:ext cx="4572000" cy="685800"/>
          </a:xfrm>
          <a:prstGeom prst="rect">
            <a:avLst/>
          </a:prstGeom>
          <a:noFill/>
          <a:ln/>
        </p:spPr>
        <p:txBody>
          <a:bodyPr wrap="square" lIns="0" tIns="0" rIns="0" bIns="0" rtlCol="0" anchor="t"/>
          <a:lstStyle/>
          <a:p>
            <a:pPr marL="0" indent="0">
              <a:buNone/>
            </a:pPr>
            <a:r>
              <a:rPr lang="en-US" sz="1250" dirty="0">
                <a:solidFill>
                  <a:srgbClr val="2B2724"/>
                </a:solidFill>
                <a:latin typeface="Calibri" pitchFamily="34" charset="0"/>
                <a:ea typeface="Calibri" pitchFamily="34" charset="-122"/>
                <a:cs typeface="Calibri" pitchFamily="34" charset="-120"/>
              </a:rPr>
              <a:t>Zuschauer stehen vorn in der Übergangszone, nicht in den Gängen (Hui et al. 2009).</a:t>
            </a:r>
            <a:endParaRPr lang="en-US" sz="1250" dirty="0"/>
          </a:p>
        </p:txBody>
      </p:sp>
      <p:sp>
        <p:nvSpPr>
          <p:cNvPr id="41" name="Shape 39"/>
          <p:cNvSpPr/>
          <p:nvPr/>
        </p:nvSpPr>
        <p:spPr>
          <a:xfrm>
            <a:off x="5577840" y="4745736"/>
            <a:ext cx="237744" cy="237744"/>
          </a:xfrm>
          <a:prstGeom prst="ellipse">
            <a:avLst/>
          </a:prstGeom>
          <a:solidFill>
            <a:srgbClr val="B5452F"/>
          </a:solidFill>
          <a:ln w="12700">
            <a:solidFill>
              <a:srgbClr val="B5452F"/>
            </a:solidFill>
            <a:prstDash val="solid"/>
          </a:ln>
        </p:spPr>
        <p:txBody>
          <a:bodyPr/>
          <a:lstStyle/>
          <a:p>
            <a:endParaRPr lang="de-DE"/>
          </a:p>
        </p:txBody>
      </p:sp>
      <p:sp>
        <p:nvSpPr>
          <p:cNvPr id="42" name="Text 40"/>
          <p:cNvSpPr txBox="1"/>
          <p:nvPr/>
        </p:nvSpPr>
        <p:spPr>
          <a:xfrm>
            <a:off x="5577840" y="4745736"/>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43" name="Shape 41"/>
          <p:cNvSpPr/>
          <p:nvPr/>
        </p:nvSpPr>
        <p:spPr>
          <a:xfrm>
            <a:off x="6172200" y="4489704"/>
            <a:ext cx="5440680" cy="1371600"/>
          </a:xfrm>
          <a:prstGeom prst="rect">
            <a:avLst/>
          </a:prstGeom>
          <a:solidFill>
            <a:srgbClr val="F3EEE6"/>
          </a:solidFill>
          <a:ln w="12700">
            <a:solidFill>
              <a:srgbClr val="F3EEE6"/>
            </a:solidFill>
            <a:prstDash val="solid"/>
          </a:ln>
        </p:spPr>
        <p:txBody>
          <a:bodyPr/>
          <a:lstStyle/>
          <a:p>
            <a:endParaRPr lang="de-DE"/>
          </a:p>
        </p:txBody>
      </p:sp>
      <p:sp>
        <p:nvSpPr>
          <p:cNvPr id="44" name="Shape 42"/>
          <p:cNvSpPr/>
          <p:nvPr/>
        </p:nvSpPr>
        <p:spPr>
          <a:xfrm>
            <a:off x="6373368" y="4718304"/>
            <a:ext cx="329184" cy="329184"/>
          </a:xfrm>
          <a:prstGeom prst="ellipse">
            <a:avLst/>
          </a:prstGeom>
          <a:solidFill>
            <a:srgbClr val="B5452F"/>
          </a:solidFill>
          <a:ln w="12700">
            <a:solidFill>
              <a:srgbClr val="B5452F"/>
            </a:solidFill>
            <a:prstDash val="solid"/>
          </a:ln>
        </p:spPr>
        <p:txBody>
          <a:bodyPr/>
          <a:lstStyle/>
          <a:p>
            <a:endParaRPr lang="de-DE"/>
          </a:p>
        </p:txBody>
      </p:sp>
      <p:sp>
        <p:nvSpPr>
          <p:cNvPr id="45" name="Text 43"/>
          <p:cNvSpPr txBox="1"/>
          <p:nvPr/>
        </p:nvSpPr>
        <p:spPr>
          <a:xfrm>
            <a:off x="6373368" y="4718304"/>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46" name="Text 44"/>
          <p:cNvSpPr txBox="1"/>
          <p:nvPr/>
        </p:nvSpPr>
        <p:spPr>
          <a:xfrm>
            <a:off x="6858000" y="4672584"/>
            <a:ext cx="4480560" cy="384048"/>
          </a:xfrm>
          <a:prstGeom prst="rect">
            <a:avLst/>
          </a:prstGeom>
          <a:noFill/>
          <a:ln/>
        </p:spPr>
        <p:txBody>
          <a:bodyPr wrap="square" lIns="0" tIns="0" rIns="0" bIns="0" rtlCol="0" anchor="ctr"/>
          <a:lstStyle/>
          <a:p>
            <a:pPr marL="0" indent="0">
              <a:buNone/>
            </a:pPr>
            <a:r>
              <a:rPr lang="en-US" sz="1500" b="1" dirty="0">
                <a:solidFill>
                  <a:srgbClr val="2B2724"/>
                </a:solidFill>
                <a:latin typeface="Calibri" pitchFamily="34" charset="0"/>
                <a:ea typeface="Calibri" pitchFamily="34" charset="-122"/>
                <a:cs typeface="Calibri" pitchFamily="34" charset="-120"/>
              </a:rPr>
              <a:t>Hygiene</a:t>
            </a:r>
            <a:endParaRPr lang="en-US" sz="1500" dirty="0"/>
          </a:p>
        </p:txBody>
      </p:sp>
      <p:sp>
        <p:nvSpPr>
          <p:cNvPr id="47" name="Text 45"/>
          <p:cNvSpPr txBox="1"/>
          <p:nvPr/>
        </p:nvSpPr>
        <p:spPr>
          <a:xfrm>
            <a:off x="6858000" y="5084064"/>
            <a:ext cx="4572000" cy="685800"/>
          </a:xfrm>
          <a:prstGeom prst="rect">
            <a:avLst/>
          </a:prstGeom>
          <a:noFill/>
          <a:ln/>
        </p:spPr>
        <p:txBody>
          <a:bodyPr wrap="square" lIns="0" tIns="0" rIns="0" bIns="0" rtlCol="0" anchor="t"/>
          <a:lstStyle/>
          <a:p>
            <a:pPr marL="0" indent="0">
              <a:buNone/>
            </a:pPr>
            <a:r>
              <a:rPr lang="en-US" sz="1250" dirty="0">
                <a:solidFill>
                  <a:srgbClr val="2B2724"/>
                </a:solidFill>
                <a:latin typeface="Calibri" pitchFamily="34" charset="0"/>
                <a:ea typeface="Calibri" pitchFamily="34" charset="-122"/>
                <a:cs typeface="Calibri" pitchFamily="34" charset="-120"/>
              </a:rPr>
              <a:t>Küche als eigene Zone mit Spüle und Vorrat; Dunstabzug gegen Geruch, getrennt von der Frischware.</a:t>
            </a:r>
            <a:endParaRPr lang="en-US" sz="1250" dirty="0"/>
          </a:p>
        </p:txBody>
      </p:sp>
      <p:sp>
        <p:nvSpPr>
          <p:cNvPr id="48" name="Shape 46"/>
          <p:cNvSpPr/>
          <p:nvPr/>
        </p:nvSpPr>
        <p:spPr>
          <a:xfrm>
            <a:off x="11201400" y="4745736"/>
            <a:ext cx="237744" cy="237744"/>
          </a:xfrm>
          <a:prstGeom prst="ellipse">
            <a:avLst/>
          </a:prstGeom>
          <a:solidFill>
            <a:srgbClr val="B5452F"/>
          </a:solidFill>
          <a:ln w="12700">
            <a:solidFill>
              <a:srgbClr val="B5452F"/>
            </a:solidFill>
            <a:prstDash val="solid"/>
          </a:ln>
        </p:spPr>
        <p:txBody>
          <a:bodyPr/>
          <a:lstStyle/>
          <a:p>
            <a:endParaRPr lang="de-DE"/>
          </a:p>
        </p:txBody>
      </p:sp>
      <p:sp>
        <p:nvSpPr>
          <p:cNvPr id="49" name="Text 47"/>
          <p:cNvSpPr txBox="1"/>
          <p:nvPr/>
        </p:nvSpPr>
        <p:spPr>
          <a:xfrm>
            <a:off x="11201400" y="4745736"/>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0972800" cy="274320"/>
          </a:xfrm>
          <a:prstGeom prst="rect">
            <a:avLst/>
          </a:prstGeom>
          <a:noFill/>
          <a:ln/>
        </p:spPr>
        <p:txBody>
          <a:bodyPr wrap="square" lIns="0" tIns="0" rIns="0" bIns="0" rtlCol="0" anchor="ctr"/>
          <a:lstStyle/>
          <a:p>
            <a:pPr marL="0" indent="0">
              <a:buNone/>
            </a:pPr>
            <a:r>
              <a:rPr lang="en-US" sz="1200" b="1" dirty="0">
                <a:solidFill>
                  <a:srgbClr val="B5452F"/>
                </a:solidFill>
                <a:latin typeface="Calibri" pitchFamily="34" charset="0"/>
                <a:ea typeface="Calibri" pitchFamily="34" charset="-122"/>
                <a:cs typeface="Calibri" pitchFamily="34" charset="-120"/>
              </a:rPr>
              <a:t>9 · BEGRÜNDUNG</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2B2724"/>
                </a:solidFill>
                <a:latin typeface="Cambria" pitchFamily="34" charset="0"/>
                <a:ea typeface="Cambria" pitchFamily="34" charset="-122"/>
                <a:cs typeface="Cambria" pitchFamily="34" charset="-120"/>
              </a:rPr>
              <a:t>Die Begründungskette: vom Kundenproblem zur Gestaltung.</a:t>
            </a:r>
            <a:endParaRPr lang="en-US" sz="2800" dirty="0"/>
          </a:p>
        </p:txBody>
      </p:sp>
      <p:sp>
        <p:nvSpPr>
          <p:cNvPr id="4" name="Text 2"/>
          <p:cNvSpPr txBox="1"/>
          <p:nvPr/>
        </p:nvSpPr>
        <p:spPr>
          <a:xfrm>
            <a:off x="548640" y="6144768"/>
            <a:ext cx="11064240" cy="228600"/>
          </a:xfrm>
          <a:prstGeom prst="rect">
            <a:avLst/>
          </a:prstGeom>
          <a:noFill/>
          <a:ln/>
        </p:spPr>
        <p:txBody>
          <a:bodyPr wrap="square" lIns="0" tIns="0" rIns="0" bIns="0" rtlCol="0" anchor="ctr"/>
          <a:lstStyle/>
          <a:p>
            <a:pPr marL="0" indent="0">
              <a:buNone/>
            </a:pPr>
            <a:r>
              <a:rPr lang="en-US" sz="950" dirty="0">
                <a:solidFill>
                  <a:srgbClr val="6F6862"/>
                </a:solidFill>
                <a:latin typeface="Calibri" pitchFamily="34" charset="0"/>
                <a:ea typeface="Calibri" pitchFamily="34" charset="-122"/>
                <a:cs typeface="Calibri" pitchFamily="34" charset="-120"/>
              </a:rPr>
              <a:t>Q: Ahlert, Kenning und Brock, 2020, Kap. 10, ergänzt um Hui et al. 2009, Larson et al. 2005, Chandon et al. 2009, Summers/Hebert 2001. A: Fallannahmen der Gruppe.</a:t>
            </a:r>
            <a:endParaRPr lang="en-US" sz="950" dirty="0"/>
          </a:p>
        </p:txBody>
      </p:sp>
      <p:sp>
        <p:nvSpPr>
          <p:cNvPr id="5" name="Shape 3"/>
          <p:cNvSpPr/>
          <p:nvPr/>
        </p:nvSpPr>
        <p:spPr>
          <a:xfrm>
            <a:off x="548640" y="6419088"/>
            <a:ext cx="11091672" cy="0"/>
          </a:xfrm>
          <a:prstGeom prst="line">
            <a:avLst/>
          </a:prstGeom>
          <a:noFill/>
          <a:ln w="9525">
            <a:solidFill>
              <a:srgbClr val="D9D1C5"/>
            </a:solidFill>
            <a:prstDash val="solid"/>
          </a:ln>
        </p:spPr>
        <p:txBody>
          <a:bodyPr/>
          <a:lstStyle/>
          <a:p>
            <a:endParaRPr lang="de-DE"/>
          </a:p>
        </p:txBody>
      </p:sp>
      <p:sp>
        <p:nvSpPr>
          <p:cNvPr id="6" name="Text 4"/>
          <p:cNvSpPr txBox="1"/>
          <p:nvPr/>
        </p:nvSpPr>
        <p:spPr>
          <a:xfrm>
            <a:off x="548640" y="6473952"/>
            <a:ext cx="7315200" cy="228600"/>
          </a:xfrm>
          <a:prstGeom prst="rect">
            <a:avLst/>
          </a:prstGeom>
          <a:noFill/>
          <a:ln/>
        </p:spPr>
        <p:txBody>
          <a:bodyPr wrap="square" lIns="0" tIns="0" rIns="0" bIns="0" rtlCol="0" anchor="ctr"/>
          <a:lstStyle/>
          <a:p>
            <a:pPr marL="0" indent="0">
              <a:buNone/>
            </a:pPr>
            <a:r>
              <a:rPr lang="en-US" sz="900" dirty="0">
                <a:solidFill>
                  <a:srgbClr val="6F6862"/>
                </a:solidFill>
                <a:latin typeface="Calibri" pitchFamily="34" charset="0"/>
                <a:ea typeface="Calibri" pitchFamily="34" charset="-122"/>
                <a:cs typeface="Calibri" pitchFamily="34" charset="-120"/>
              </a:rPr>
              <a:t>One Hour Kitchen · Store-Konzept · Kurs HD25A23</a:t>
            </a:r>
            <a:endParaRPr lang="en-US" sz="900" dirty="0"/>
          </a:p>
        </p:txBody>
      </p:sp>
      <p:sp>
        <p:nvSpPr>
          <p:cNvPr id="7" name="Text 5"/>
          <p:cNvSpPr txBox="1"/>
          <p:nvPr/>
        </p:nvSpPr>
        <p:spPr>
          <a:xfrm>
            <a:off x="10725912" y="6473952"/>
            <a:ext cx="914400" cy="228600"/>
          </a:xfrm>
          <a:prstGeom prst="rect">
            <a:avLst/>
          </a:prstGeom>
          <a:noFill/>
          <a:ln/>
        </p:spPr>
        <p:txBody>
          <a:bodyPr wrap="square" lIns="0" tIns="0" rIns="0" bIns="0" rtlCol="0" anchor="ctr"/>
          <a:lstStyle/>
          <a:p>
            <a:pPr marL="0" indent="0" algn="r">
              <a:buNone/>
            </a:pPr>
            <a:r>
              <a:rPr lang="en-US" sz="900" dirty="0">
                <a:solidFill>
                  <a:srgbClr val="6F6862"/>
                </a:solidFill>
                <a:latin typeface="Calibri" pitchFamily="34" charset="0"/>
                <a:ea typeface="Calibri" pitchFamily="34" charset="-122"/>
                <a:cs typeface="Calibri" pitchFamily="34" charset="-120"/>
              </a:rPr>
              <a:t>17</a:t>
            </a:r>
            <a:endParaRPr lang="en-US" sz="900" dirty="0"/>
          </a:p>
        </p:txBody>
      </p:sp>
      <p:sp>
        <p:nvSpPr>
          <p:cNvPr id="8" name="Shape 6"/>
          <p:cNvSpPr/>
          <p:nvPr/>
        </p:nvSpPr>
        <p:spPr>
          <a:xfrm>
            <a:off x="548640" y="1737360"/>
            <a:ext cx="1691640" cy="2377440"/>
          </a:xfrm>
          <a:prstGeom prst="rect">
            <a:avLst/>
          </a:prstGeom>
          <a:solidFill>
            <a:srgbClr val="F6DDD5"/>
          </a:solidFill>
          <a:ln w="12700">
            <a:solidFill>
              <a:srgbClr val="F6DDD5"/>
            </a:solidFill>
            <a:prstDash val="solid"/>
          </a:ln>
        </p:spPr>
        <p:txBody>
          <a:bodyPr/>
          <a:lstStyle/>
          <a:p>
            <a:endParaRPr lang="de-DE"/>
          </a:p>
        </p:txBody>
      </p:sp>
      <p:sp>
        <p:nvSpPr>
          <p:cNvPr id="9" name="Shape 7"/>
          <p:cNvSpPr/>
          <p:nvPr/>
        </p:nvSpPr>
        <p:spPr>
          <a:xfrm>
            <a:off x="1211580" y="1920240"/>
            <a:ext cx="365760" cy="365760"/>
          </a:xfrm>
          <a:prstGeom prst="ellipse">
            <a:avLst/>
          </a:prstGeom>
          <a:solidFill>
            <a:srgbClr val="B5452F"/>
          </a:solidFill>
          <a:ln w="12700">
            <a:solidFill>
              <a:srgbClr val="FFFFFF"/>
            </a:solidFill>
            <a:prstDash val="solid"/>
          </a:ln>
        </p:spPr>
        <p:txBody>
          <a:bodyPr/>
          <a:lstStyle/>
          <a:p>
            <a:endParaRPr lang="de-DE"/>
          </a:p>
        </p:txBody>
      </p:sp>
      <p:sp>
        <p:nvSpPr>
          <p:cNvPr id="10" name="Text 8"/>
          <p:cNvSpPr txBox="1"/>
          <p:nvPr/>
        </p:nvSpPr>
        <p:spPr>
          <a:xfrm>
            <a:off x="1211580" y="19202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txBox="1"/>
          <p:nvPr/>
        </p:nvSpPr>
        <p:spPr>
          <a:xfrm>
            <a:off x="640080" y="2423160"/>
            <a:ext cx="1508760" cy="365760"/>
          </a:xfrm>
          <a:prstGeom prst="rect">
            <a:avLst/>
          </a:prstGeom>
          <a:noFill/>
          <a:ln/>
        </p:spPr>
        <p:txBody>
          <a:bodyPr wrap="square" lIns="0" tIns="0" rIns="0" bIns="0" rtlCol="0" anchor="ctr"/>
          <a:lstStyle/>
          <a:p>
            <a:pPr marL="0" indent="0" algn="ctr">
              <a:buNone/>
            </a:pPr>
            <a:r>
              <a:rPr lang="en-US" sz="1450" b="1" dirty="0">
                <a:solidFill>
                  <a:srgbClr val="2B2724"/>
                </a:solidFill>
                <a:latin typeface="Calibri" pitchFamily="34" charset="0"/>
                <a:ea typeface="Calibri" pitchFamily="34" charset="-122"/>
                <a:cs typeface="Calibri" pitchFamily="34" charset="-120"/>
              </a:rPr>
              <a:t>Kundenproblem</a:t>
            </a:r>
            <a:endParaRPr lang="en-US" sz="1450" dirty="0"/>
          </a:p>
        </p:txBody>
      </p:sp>
      <p:sp>
        <p:nvSpPr>
          <p:cNvPr id="12" name="Text 10"/>
          <p:cNvSpPr txBox="1"/>
          <p:nvPr/>
        </p:nvSpPr>
        <p:spPr>
          <a:xfrm>
            <a:off x="658368" y="2816352"/>
            <a:ext cx="1472184" cy="731520"/>
          </a:xfrm>
          <a:prstGeom prst="rect">
            <a:avLst/>
          </a:prstGeom>
          <a:noFill/>
          <a:ln/>
        </p:spPr>
        <p:txBody>
          <a:bodyPr wrap="square" lIns="0" tIns="0" rIns="0" bIns="0" rtlCol="0" anchor="t"/>
          <a:lstStyle/>
          <a:p>
            <a:pPr marL="0" indent="0" algn="ctr">
              <a:buNone/>
            </a:pPr>
            <a:r>
              <a:rPr lang="en-US" sz="1200" dirty="0">
                <a:solidFill>
                  <a:srgbClr val="2B2724"/>
                </a:solidFill>
                <a:latin typeface="Calibri" pitchFamily="34" charset="0"/>
                <a:ea typeface="Calibri" pitchFamily="34" charset="-122"/>
                <a:cs typeface="Calibri" pitchFamily="34" charset="-120"/>
              </a:rPr>
              <a:t>„Was koche ich heute Abend?“</a:t>
            </a:r>
            <a:endParaRPr lang="en-US" sz="1200" dirty="0"/>
          </a:p>
        </p:txBody>
      </p:sp>
      <p:sp>
        <p:nvSpPr>
          <p:cNvPr id="13" name="Shape 11"/>
          <p:cNvSpPr/>
          <p:nvPr/>
        </p:nvSpPr>
        <p:spPr>
          <a:xfrm>
            <a:off x="731520" y="3657600"/>
            <a:ext cx="237744" cy="237744"/>
          </a:xfrm>
          <a:prstGeom prst="ellipse">
            <a:avLst/>
          </a:prstGeom>
          <a:solidFill>
            <a:srgbClr val="B5452F"/>
          </a:solidFill>
          <a:ln w="12700">
            <a:solidFill>
              <a:srgbClr val="B5452F"/>
            </a:solidFill>
            <a:prstDash val="solid"/>
          </a:ln>
        </p:spPr>
        <p:txBody>
          <a:bodyPr/>
          <a:lstStyle/>
          <a:p>
            <a:endParaRPr lang="de-DE"/>
          </a:p>
        </p:txBody>
      </p:sp>
      <p:sp>
        <p:nvSpPr>
          <p:cNvPr id="14" name="Text 12"/>
          <p:cNvSpPr txBox="1"/>
          <p:nvPr/>
        </p:nvSpPr>
        <p:spPr>
          <a:xfrm>
            <a:off x="731520" y="3657600"/>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15" name="Text 13"/>
          <p:cNvSpPr txBox="1"/>
          <p:nvPr/>
        </p:nvSpPr>
        <p:spPr>
          <a:xfrm>
            <a:off x="1042416" y="3630168"/>
            <a:ext cx="1143000" cy="292608"/>
          </a:xfrm>
          <a:prstGeom prst="rect">
            <a:avLst/>
          </a:prstGeom>
          <a:noFill/>
          <a:ln/>
        </p:spPr>
        <p:txBody>
          <a:bodyPr wrap="square" lIns="0" tIns="0" rIns="0" bIns="0" rtlCol="0" anchor="ctr"/>
          <a:lstStyle/>
          <a:p>
            <a:pPr marL="0" indent="0">
              <a:buNone/>
            </a:pPr>
            <a:r>
              <a:rPr lang="en-US" sz="1000" dirty="0">
                <a:solidFill>
                  <a:srgbClr val="6F6862"/>
                </a:solidFill>
                <a:latin typeface="Calibri" pitchFamily="34" charset="0"/>
                <a:ea typeface="Calibri" pitchFamily="34" charset="-122"/>
                <a:cs typeface="Calibri" pitchFamily="34" charset="-120"/>
              </a:rPr>
              <a:t>Zielgruppenannahme</a:t>
            </a:r>
            <a:endParaRPr lang="en-US" sz="1000" dirty="0"/>
          </a:p>
        </p:txBody>
      </p:sp>
      <p:sp>
        <p:nvSpPr>
          <p:cNvPr id="16" name="Text 14"/>
          <p:cNvSpPr txBox="1"/>
          <p:nvPr/>
        </p:nvSpPr>
        <p:spPr>
          <a:xfrm>
            <a:off x="2221992" y="2560320"/>
            <a:ext cx="228600" cy="548640"/>
          </a:xfrm>
          <a:prstGeom prst="rect">
            <a:avLst/>
          </a:prstGeom>
          <a:noFill/>
          <a:ln/>
        </p:spPr>
        <p:txBody>
          <a:bodyPr wrap="square" lIns="0" tIns="0" rIns="0" bIns="0" rtlCol="0" anchor="ctr"/>
          <a:lstStyle/>
          <a:p>
            <a:pPr marL="0" indent="0" algn="ctr">
              <a:buNone/>
            </a:pPr>
            <a:r>
              <a:rPr lang="en-US" sz="2200" b="1" dirty="0">
                <a:solidFill>
                  <a:srgbClr val="6F6862"/>
                </a:solidFill>
                <a:latin typeface="Calibri" pitchFamily="34" charset="0"/>
                <a:ea typeface="Calibri" pitchFamily="34" charset="-122"/>
                <a:cs typeface="Calibri" pitchFamily="34" charset="-120"/>
              </a:rPr>
              <a:t>›</a:t>
            </a:r>
            <a:endParaRPr lang="en-US" sz="2200" dirty="0"/>
          </a:p>
        </p:txBody>
      </p:sp>
      <p:sp>
        <p:nvSpPr>
          <p:cNvPr id="17" name="Shape 15"/>
          <p:cNvSpPr/>
          <p:nvPr/>
        </p:nvSpPr>
        <p:spPr>
          <a:xfrm>
            <a:off x="2432304" y="2194560"/>
            <a:ext cx="1691640" cy="2377440"/>
          </a:xfrm>
          <a:prstGeom prst="rect">
            <a:avLst/>
          </a:prstGeom>
          <a:solidFill>
            <a:srgbClr val="F6DDD5"/>
          </a:solidFill>
          <a:ln w="12700">
            <a:solidFill>
              <a:srgbClr val="F6DDD5"/>
            </a:solidFill>
            <a:prstDash val="solid"/>
          </a:ln>
        </p:spPr>
        <p:txBody>
          <a:bodyPr/>
          <a:lstStyle/>
          <a:p>
            <a:endParaRPr lang="de-DE"/>
          </a:p>
        </p:txBody>
      </p:sp>
      <p:sp>
        <p:nvSpPr>
          <p:cNvPr id="18" name="Shape 16"/>
          <p:cNvSpPr/>
          <p:nvPr/>
        </p:nvSpPr>
        <p:spPr>
          <a:xfrm>
            <a:off x="3095244" y="2377440"/>
            <a:ext cx="365760" cy="365760"/>
          </a:xfrm>
          <a:prstGeom prst="ellipse">
            <a:avLst/>
          </a:prstGeom>
          <a:solidFill>
            <a:srgbClr val="B5452F"/>
          </a:solidFill>
          <a:ln w="12700">
            <a:solidFill>
              <a:srgbClr val="FFFFFF"/>
            </a:solidFill>
            <a:prstDash val="solid"/>
          </a:ln>
        </p:spPr>
        <p:txBody>
          <a:bodyPr/>
          <a:lstStyle/>
          <a:p>
            <a:endParaRPr lang="de-DE"/>
          </a:p>
        </p:txBody>
      </p:sp>
      <p:sp>
        <p:nvSpPr>
          <p:cNvPr id="19" name="Text 17"/>
          <p:cNvSpPr txBox="1"/>
          <p:nvPr/>
        </p:nvSpPr>
        <p:spPr>
          <a:xfrm>
            <a:off x="3095244" y="23774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0" name="Text 18"/>
          <p:cNvSpPr txBox="1"/>
          <p:nvPr/>
        </p:nvSpPr>
        <p:spPr>
          <a:xfrm>
            <a:off x="2523744" y="2880360"/>
            <a:ext cx="1508760" cy="365760"/>
          </a:xfrm>
          <a:prstGeom prst="rect">
            <a:avLst/>
          </a:prstGeom>
          <a:noFill/>
          <a:ln/>
        </p:spPr>
        <p:txBody>
          <a:bodyPr wrap="square" lIns="0" tIns="0" rIns="0" bIns="0" rtlCol="0" anchor="ctr"/>
          <a:lstStyle/>
          <a:p>
            <a:pPr marL="0" indent="0" algn="ctr">
              <a:buNone/>
            </a:pPr>
            <a:r>
              <a:rPr lang="en-US" sz="1450" b="1" dirty="0">
                <a:solidFill>
                  <a:srgbClr val="2B2724"/>
                </a:solidFill>
                <a:latin typeface="Calibri" pitchFamily="34" charset="0"/>
                <a:ea typeface="Calibri" pitchFamily="34" charset="-122"/>
                <a:cs typeface="Calibri" pitchFamily="34" charset="-120"/>
              </a:rPr>
              <a:t>Dashboard</a:t>
            </a:r>
            <a:endParaRPr lang="en-US" sz="1450" dirty="0"/>
          </a:p>
        </p:txBody>
      </p:sp>
      <p:sp>
        <p:nvSpPr>
          <p:cNvPr id="21" name="Text 19"/>
          <p:cNvSpPr txBox="1"/>
          <p:nvPr/>
        </p:nvSpPr>
        <p:spPr>
          <a:xfrm>
            <a:off x="2542032" y="3273552"/>
            <a:ext cx="1472184" cy="731520"/>
          </a:xfrm>
          <a:prstGeom prst="rect">
            <a:avLst/>
          </a:prstGeom>
          <a:noFill/>
          <a:ln/>
        </p:spPr>
        <p:txBody>
          <a:bodyPr wrap="square" lIns="0" tIns="0" rIns="0" bIns="0" rtlCol="0" anchor="t"/>
          <a:lstStyle/>
          <a:p>
            <a:pPr marL="0" indent="0" algn="ctr">
              <a:buNone/>
            </a:pPr>
            <a:r>
              <a:rPr lang="en-US" sz="1200" dirty="0">
                <a:solidFill>
                  <a:srgbClr val="2B2724"/>
                </a:solidFill>
                <a:latin typeface="Calibri" pitchFamily="34" charset="0"/>
                <a:ea typeface="Calibri" pitchFamily="34" charset="-122"/>
                <a:cs typeface="Calibri" pitchFamily="34" charset="-120"/>
              </a:rPr>
              <a:t>Küche × Anlass = ein Rezept</a:t>
            </a:r>
            <a:endParaRPr lang="en-US" sz="1200" dirty="0"/>
          </a:p>
        </p:txBody>
      </p:sp>
      <p:sp>
        <p:nvSpPr>
          <p:cNvPr id="22" name="Shape 20"/>
          <p:cNvSpPr/>
          <p:nvPr/>
        </p:nvSpPr>
        <p:spPr>
          <a:xfrm>
            <a:off x="2615184" y="4114800"/>
            <a:ext cx="237744" cy="237744"/>
          </a:xfrm>
          <a:prstGeom prst="ellipse">
            <a:avLst/>
          </a:prstGeom>
          <a:solidFill>
            <a:srgbClr val="4F6B3A"/>
          </a:solidFill>
          <a:ln w="12700">
            <a:solidFill>
              <a:srgbClr val="4F6B3A"/>
            </a:solidFill>
            <a:prstDash val="solid"/>
          </a:ln>
        </p:spPr>
        <p:txBody>
          <a:bodyPr/>
          <a:lstStyle/>
          <a:p>
            <a:endParaRPr lang="de-DE"/>
          </a:p>
        </p:txBody>
      </p:sp>
      <p:sp>
        <p:nvSpPr>
          <p:cNvPr id="23" name="Text 21"/>
          <p:cNvSpPr txBox="1"/>
          <p:nvPr/>
        </p:nvSpPr>
        <p:spPr>
          <a:xfrm>
            <a:off x="2615184" y="4114800"/>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Q</a:t>
            </a:r>
            <a:endParaRPr lang="en-US" sz="900" dirty="0"/>
          </a:p>
        </p:txBody>
      </p:sp>
      <p:sp>
        <p:nvSpPr>
          <p:cNvPr id="24" name="Text 22"/>
          <p:cNvSpPr txBox="1"/>
          <p:nvPr/>
        </p:nvSpPr>
        <p:spPr>
          <a:xfrm>
            <a:off x="2926080" y="4087368"/>
            <a:ext cx="1143000" cy="292608"/>
          </a:xfrm>
          <a:prstGeom prst="rect">
            <a:avLst/>
          </a:prstGeom>
          <a:noFill/>
          <a:ln/>
        </p:spPr>
        <p:txBody>
          <a:bodyPr wrap="square" lIns="0" tIns="0" rIns="0" bIns="0" rtlCol="0" anchor="ctr"/>
          <a:lstStyle/>
          <a:p>
            <a:pPr marL="0" indent="0">
              <a:buNone/>
            </a:pPr>
            <a:r>
              <a:rPr lang="en-US" sz="1000" dirty="0">
                <a:solidFill>
                  <a:srgbClr val="6F6862"/>
                </a:solidFill>
                <a:latin typeface="Calibri" pitchFamily="34" charset="0"/>
                <a:ea typeface="Calibri" pitchFamily="34" charset="-122"/>
                <a:cs typeface="Calibri" pitchFamily="34" charset="-120"/>
              </a:rPr>
              <a:t>S. 303; Hui 2009</a:t>
            </a:r>
            <a:endParaRPr lang="en-US" sz="1000" dirty="0"/>
          </a:p>
        </p:txBody>
      </p:sp>
      <p:sp>
        <p:nvSpPr>
          <p:cNvPr id="25" name="Text 23"/>
          <p:cNvSpPr txBox="1"/>
          <p:nvPr/>
        </p:nvSpPr>
        <p:spPr>
          <a:xfrm>
            <a:off x="4105656" y="3017520"/>
            <a:ext cx="228600" cy="548640"/>
          </a:xfrm>
          <a:prstGeom prst="rect">
            <a:avLst/>
          </a:prstGeom>
          <a:noFill/>
          <a:ln/>
        </p:spPr>
        <p:txBody>
          <a:bodyPr wrap="square" lIns="0" tIns="0" rIns="0" bIns="0" rtlCol="0" anchor="ctr"/>
          <a:lstStyle/>
          <a:p>
            <a:pPr marL="0" indent="0" algn="ctr">
              <a:buNone/>
            </a:pPr>
            <a:r>
              <a:rPr lang="en-US" sz="2200" b="1" dirty="0">
                <a:solidFill>
                  <a:srgbClr val="6F6862"/>
                </a:solidFill>
                <a:latin typeface="Calibri" pitchFamily="34" charset="0"/>
                <a:ea typeface="Calibri" pitchFamily="34" charset="-122"/>
                <a:cs typeface="Calibri" pitchFamily="34" charset="-120"/>
              </a:rPr>
              <a:t>›</a:t>
            </a:r>
            <a:endParaRPr lang="en-US" sz="2200" dirty="0"/>
          </a:p>
        </p:txBody>
      </p:sp>
      <p:sp>
        <p:nvSpPr>
          <p:cNvPr id="26" name="Shape 24"/>
          <p:cNvSpPr/>
          <p:nvPr/>
        </p:nvSpPr>
        <p:spPr>
          <a:xfrm>
            <a:off x="4315968" y="1737360"/>
            <a:ext cx="1691640" cy="2377440"/>
          </a:xfrm>
          <a:prstGeom prst="rect">
            <a:avLst/>
          </a:prstGeom>
          <a:solidFill>
            <a:srgbClr val="F3EEE6"/>
          </a:solidFill>
          <a:ln w="12700">
            <a:solidFill>
              <a:srgbClr val="F3EEE6"/>
            </a:solidFill>
            <a:prstDash val="solid"/>
          </a:ln>
        </p:spPr>
        <p:txBody>
          <a:bodyPr/>
          <a:lstStyle/>
          <a:p>
            <a:endParaRPr lang="de-DE"/>
          </a:p>
        </p:txBody>
      </p:sp>
      <p:sp>
        <p:nvSpPr>
          <p:cNvPr id="27" name="Shape 25"/>
          <p:cNvSpPr/>
          <p:nvPr/>
        </p:nvSpPr>
        <p:spPr>
          <a:xfrm>
            <a:off x="4978908" y="1920240"/>
            <a:ext cx="365760" cy="365760"/>
          </a:xfrm>
          <a:prstGeom prst="ellipse">
            <a:avLst/>
          </a:prstGeom>
          <a:solidFill>
            <a:srgbClr val="4F6B3A"/>
          </a:solidFill>
          <a:ln w="12700">
            <a:solidFill>
              <a:srgbClr val="FFFFFF"/>
            </a:solidFill>
            <a:prstDash val="solid"/>
          </a:ln>
        </p:spPr>
        <p:txBody>
          <a:bodyPr/>
          <a:lstStyle/>
          <a:p>
            <a:endParaRPr lang="de-DE"/>
          </a:p>
        </p:txBody>
      </p:sp>
      <p:sp>
        <p:nvSpPr>
          <p:cNvPr id="28" name="Text 26"/>
          <p:cNvSpPr txBox="1"/>
          <p:nvPr/>
        </p:nvSpPr>
        <p:spPr>
          <a:xfrm>
            <a:off x="4978908" y="19202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9" name="Text 27"/>
          <p:cNvSpPr txBox="1"/>
          <p:nvPr/>
        </p:nvSpPr>
        <p:spPr>
          <a:xfrm>
            <a:off x="4407408" y="2423160"/>
            <a:ext cx="1508760" cy="365760"/>
          </a:xfrm>
          <a:prstGeom prst="rect">
            <a:avLst/>
          </a:prstGeom>
          <a:noFill/>
          <a:ln/>
        </p:spPr>
        <p:txBody>
          <a:bodyPr wrap="square" lIns="0" tIns="0" rIns="0" bIns="0" rtlCol="0" anchor="ctr"/>
          <a:lstStyle/>
          <a:p>
            <a:pPr marL="0" indent="0" algn="ctr">
              <a:buNone/>
            </a:pPr>
            <a:r>
              <a:rPr lang="en-US" sz="1450" b="1" dirty="0">
                <a:solidFill>
                  <a:srgbClr val="2B2724"/>
                </a:solidFill>
                <a:latin typeface="Calibri" pitchFamily="34" charset="0"/>
                <a:ea typeface="Calibri" pitchFamily="34" charset="-122"/>
                <a:cs typeface="Calibri" pitchFamily="34" charset="-120"/>
              </a:rPr>
              <a:t>Grundriss</a:t>
            </a:r>
            <a:endParaRPr lang="en-US" sz="1450" dirty="0"/>
          </a:p>
        </p:txBody>
      </p:sp>
      <p:sp>
        <p:nvSpPr>
          <p:cNvPr id="30" name="Text 28"/>
          <p:cNvSpPr txBox="1"/>
          <p:nvPr/>
        </p:nvSpPr>
        <p:spPr>
          <a:xfrm>
            <a:off x="4425696" y="2816352"/>
            <a:ext cx="1472184" cy="731520"/>
          </a:xfrm>
          <a:prstGeom prst="rect">
            <a:avLst/>
          </a:prstGeom>
          <a:noFill/>
          <a:ln/>
        </p:spPr>
        <p:txBody>
          <a:bodyPr wrap="square" lIns="0" tIns="0" rIns="0" bIns="0" rtlCol="0" anchor="t"/>
          <a:lstStyle/>
          <a:p>
            <a:pPr marL="0" indent="0" algn="ctr">
              <a:buNone/>
            </a:pPr>
            <a:r>
              <a:rPr lang="en-US" sz="1200" dirty="0">
                <a:solidFill>
                  <a:srgbClr val="2B2724"/>
                </a:solidFill>
                <a:latin typeface="Calibri" pitchFamily="34" charset="0"/>
                <a:ea typeface="Calibri" pitchFamily="34" charset="-122"/>
                <a:cs typeface="Calibri" pitchFamily="34" charset="-120"/>
              </a:rPr>
              <a:t>Rezeptweg und Schnellweg</a:t>
            </a:r>
            <a:endParaRPr lang="en-US" sz="1200" dirty="0"/>
          </a:p>
        </p:txBody>
      </p:sp>
      <p:sp>
        <p:nvSpPr>
          <p:cNvPr id="31" name="Shape 29"/>
          <p:cNvSpPr/>
          <p:nvPr/>
        </p:nvSpPr>
        <p:spPr>
          <a:xfrm>
            <a:off x="4498848" y="3657600"/>
            <a:ext cx="237744" cy="237744"/>
          </a:xfrm>
          <a:prstGeom prst="ellipse">
            <a:avLst/>
          </a:prstGeom>
          <a:solidFill>
            <a:srgbClr val="4F6B3A"/>
          </a:solidFill>
          <a:ln w="12700">
            <a:solidFill>
              <a:srgbClr val="4F6B3A"/>
            </a:solidFill>
            <a:prstDash val="solid"/>
          </a:ln>
        </p:spPr>
        <p:txBody>
          <a:bodyPr/>
          <a:lstStyle/>
          <a:p>
            <a:endParaRPr lang="de-DE"/>
          </a:p>
        </p:txBody>
      </p:sp>
      <p:sp>
        <p:nvSpPr>
          <p:cNvPr id="32" name="Text 30"/>
          <p:cNvSpPr txBox="1"/>
          <p:nvPr/>
        </p:nvSpPr>
        <p:spPr>
          <a:xfrm>
            <a:off x="4498848" y="3657600"/>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Q</a:t>
            </a:r>
            <a:endParaRPr lang="en-US" sz="900" dirty="0"/>
          </a:p>
        </p:txBody>
      </p:sp>
      <p:sp>
        <p:nvSpPr>
          <p:cNvPr id="33" name="Text 31"/>
          <p:cNvSpPr txBox="1"/>
          <p:nvPr/>
        </p:nvSpPr>
        <p:spPr>
          <a:xfrm>
            <a:off x="4809744" y="3630168"/>
            <a:ext cx="1143000" cy="292608"/>
          </a:xfrm>
          <a:prstGeom prst="rect">
            <a:avLst/>
          </a:prstGeom>
          <a:noFill/>
          <a:ln/>
        </p:spPr>
        <p:txBody>
          <a:bodyPr wrap="square" lIns="0" tIns="0" rIns="0" bIns="0" rtlCol="0" anchor="ctr"/>
          <a:lstStyle/>
          <a:p>
            <a:pPr marL="0" indent="0">
              <a:buNone/>
            </a:pPr>
            <a:r>
              <a:rPr lang="en-US" sz="1000" dirty="0">
                <a:solidFill>
                  <a:srgbClr val="6F6862"/>
                </a:solidFill>
                <a:latin typeface="Calibri" pitchFamily="34" charset="0"/>
                <a:ea typeface="Calibri" pitchFamily="34" charset="-122"/>
                <a:cs typeface="Calibri" pitchFamily="34" charset="-120"/>
              </a:rPr>
              <a:t>S. 297–302; Larson 2005</a:t>
            </a:r>
            <a:endParaRPr lang="en-US" sz="1000" dirty="0"/>
          </a:p>
        </p:txBody>
      </p:sp>
      <p:sp>
        <p:nvSpPr>
          <p:cNvPr id="34" name="Text 32"/>
          <p:cNvSpPr txBox="1"/>
          <p:nvPr/>
        </p:nvSpPr>
        <p:spPr>
          <a:xfrm>
            <a:off x="5989320" y="2560320"/>
            <a:ext cx="228600" cy="548640"/>
          </a:xfrm>
          <a:prstGeom prst="rect">
            <a:avLst/>
          </a:prstGeom>
          <a:noFill/>
          <a:ln/>
        </p:spPr>
        <p:txBody>
          <a:bodyPr wrap="square" lIns="0" tIns="0" rIns="0" bIns="0" rtlCol="0" anchor="ctr"/>
          <a:lstStyle/>
          <a:p>
            <a:pPr marL="0" indent="0" algn="ctr">
              <a:buNone/>
            </a:pPr>
            <a:r>
              <a:rPr lang="en-US" sz="2200" b="1" dirty="0">
                <a:solidFill>
                  <a:srgbClr val="6F6862"/>
                </a:solidFill>
                <a:latin typeface="Calibri" pitchFamily="34" charset="0"/>
                <a:ea typeface="Calibri" pitchFamily="34" charset="-122"/>
                <a:cs typeface="Calibri" pitchFamily="34" charset="-120"/>
              </a:rPr>
              <a:t>›</a:t>
            </a:r>
            <a:endParaRPr lang="en-US" sz="2200" dirty="0"/>
          </a:p>
        </p:txBody>
      </p:sp>
      <p:sp>
        <p:nvSpPr>
          <p:cNvPr id="35" name="Shape 33"/>
          <p:cNvSpPr/>
          <p:nvPr/>
        </p:nvSpPr>
        <p:spPr>
          <a:xfrm>
            <a:off x="6199632" y="2194560"/>
            <a:ext cx="1691640" cy="2377440"/>
          </a:xfrm>
          <a:prstGeom prst="rect">
            <a:avLst/>
          </a:prstGeom>
          <a:solidFill>
            <a:srgbClr val="F3EEE6"/>
          </a:solidFill>
          <a:ln w="12700">
            <a:solidFill>
              <a:srgbClr val="F3EEE6"/>
            </a:solidFill>
            <a:prstDash val="solid"/>
          </a:ln>
        </p:spPr>
        <p:txBody>
          <a:bodyPr/>
          <a:lstStyle/>
          <a:p>
            <a:endParaRPr lang="de-DE"/>
          </a:p>
        </p:txBody>
      </p:sp>
      <p:sp>
        <p:nvSpPr>
          <p:cNvPr id="36" name="Shape 34"/>
          <p:cNvSpPr/>
          <p:nvPr/>
        </p:nvSpPr>
        <p:spPr>
          <a:xfrm>
            <a:off x="6862572" y="2377440"/>
            <a:ext cx="365760" cy="365760"/>
          </a:xfrm>
          <a:prstGeom prst="ellipse">
            <a:avLst/>
          </a:prstGeom>
          <a:solidFill>
            <a:srgbClr val="4F6B3A"/>
          </a:solidFill>
          <a:ln w="12700">
            <a:solidFill>
              <a:srgbClr val="FFFFFF"/>
            </a:solidFill>
            <a:prstDash val="solid"/>
          </a:ln>
        </p:spPr>
        <p:txBody>
          <a:bodyPr/>
          <a:lstStyle/>
          <a:p>
            <a:endParaRPr lang="de-DE"/>
          </a:p>
        </p:txBody>
      </p:sp>
      <p:sp>
        <p:nvSpPr>
          <p:cNvPr id="37" name="Text 35"/>
          <p:cNvSpPr txBox="1"/>
          <p:nvPr/>
        </p:nvSpPr>
        <p:spPr>
          <a:xfrm>
            <a:off x="6862572" y="23774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8" name="Text 36"/>
          <p:cNvSpPr txBox="1"/>
          <p:nvPr/>
        </p:nvSpPr>
        <p:spPr>
          <a:xfrm>
            <a:off x="6291072" y="2880360"/>
            <a:ext cx="1508760" cy="365760"/>
          </a:xfrm>
          <a:prstGeom prst="rect">
            <a:avLst/>
          </a:prstGeom>
          <a:noFill/>
          <a:ln/>
        </p:spPr>
        <p:txBody>
          <a:bodyPr wrap="square" lIns="0" tIns="0" rIns="0" bIns="0" rtlCol="0" anchor="ctr"/>
          <a:lstStyle/>
          <a:p>
            <a:pPr marL="0" indent="0" algn="ctr">
              <a:buNone/>
            </a:pPr>
            <a:r>
              <a:rPr lang="en-US" sz="1450" b="1" dirty="0">
                <a:solidFill>
                  <a:srgbClr val="2B2724"/>
                </a:solidFill>
                <a:latin typeface="Calibri" pitchFamily="34" charset="0"/>
                <a:ea typeface="Calibri" pitchFamily="34" charset="-122"/>
                <a:cs typeface="Calibri" pitchFamily="34" charset="-120"/>
              </a:rPr>
              <a:t>Regal</a:t>
            </a:r>
            <a:endParaRPr lang="en-US" sz="1450" dirty="0"/>
          </a:p>
        </p:txBody>
      </p:sp>
      <p:sp>
        <p:nvSpPr>
          <p:cNvPr id="39" name="Text 37"/>
          <p:cNvSpPr txBox="1"/>
          <p:nvPr/>
        </p:nvSpPr>
        <p:spPr>
          <a:xfrm>
            <a:off x="6309360" y="3273552"/>
            <a:ext cx="1472184" cy="731520"/>
          </a:xfrm>
          <a:prstGeom prst="rect">
            <a:avLst/>
          </a:prstGeom>
          <a:noFill/>
          <a:ln/>
        </p:spPr>
        <p:txBody>
          <a:bodyPr wrap="square" lIns="0" tIns="0" rIns="0" bIns="0" rtlCol="0" anchor="t"/>
          <a:lstStyle/>
          <a:p>
            <a:pPr marL="0" indent="0" algn="ctr">
              <a:buNone/>
            </a:pPr>
            <a:r>
              <a:rPr lang="en-US" sz="1200" dirty="0">
                <a:solidFill>
                  <a:srgbClr val="2B2724"/>
                </a:solidFill>
                <a:latin typeface="Calibri" pitchFamily="34" charset="0"/>
                <a:ea typeface="Calibri" pitchFamily="34" charset="-122"/>
                <a:cs typeface="Calibri" pitchFamily="34" charset="-120"/>
              </a:rPr>
              <a:t>gespiegelte Matrix, quer vs. längs</a:t>
            </a:r>
            <a:endParaRPr lang="en-US" sz="1200" dirty="0"/>
          </a:p>
        </p:txBody>
      </p:sp>
      <p:sp>
        <p:nvSpPr>
          <p:cNvPr id="40" name="Shape 38"/>
          <p:cNvSpPr/>
          <p:nvPr/>
        </p:nvSpPr>
        <p:spPr>
          <a:xfrm>
            <a:off x="6382512" y="4114800"/>
            <a:ext cx="237744" cy="237744"/>
          </a:xfrm>
          <a:prstGeom prst="ellipse">
            <a:avLst/>
          </a:prstGeom>
          <a:solidFill>
            <a:srgbClr val="4F6B3A"/>
          </a:solidFill>
          <a:ln w="12700">
            <a:solidFill>
              <a:srgbClr val="4F6B3A"/>
            </a:solidFill>
            <a:prstDash val="solid"/>
          </a:ln>
        </p:spPr>
        <p:txBody>
          <a:bodyPr/>
          <a:lstStyle/>
          <a:p>
            <a:endParaRPr lang="de-DE"/>
          </a:p>
        </p:txBody>
      </p:sp>
      <p:sp>
        <p:nvSpPr>
          <p:cNvPr id="41" name="Text 39"/>
          <p:cNvSpPr txBox="1"/>
          <p:nvPr/>
        </p:nvSpPr>
        <p:spPr>
          <a:xfrm>
            <a:off x="6382512" y="4114800"/>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Q</a:t>
            </a:r>
            <a:endParaRPr lang="en-US" sz="900" dirty="0"/>
          </a:p>
        </p:txBody>
      </p:sp>
      <p:sp>
        <p:nvSpPr>
          <p:cNvPr id="42" name="Text 40"/>
          <p:cNvSpPr txBox="1"/>
          <p:nvPr/>
        </p:nvSpPr>
        <p:spPr>
          <a:xfrm>
            <a:off x="6693408" y="4087368"/>
            <a:ext cx="1143000" cy="292608"/>
          </a:xfrm>
          <a:prstGeom prst="rect">
            <a:avLst/>
          </a:prstGeom>
          <a:noFill/>
          <a:ln/>
        </p:spPr>
        <p:txBody>
          <a:bodyPr wrap="square" lIns="0" tIns="0" rIns="0" bIns="0" rtlCol="0" anchor="ctr"/>
          <a:lstStyle/>
          <a:p>
            <a:pPr marL="0" indent="0">
              <a:buNone/>
            </a:pPr>
            <a:r>
              <a:rPr lang="en-US" sz="1000" dirty="0">
                <a:solidFill>
                  <a:srgbClr val="6F6862"/>
                </a:solidFill>
                <a:latin typeface="Calibri" pitchFamily="34" charset="0"/>
                <a:ea typeface="Calibri" pitchFamily="34" charset="-122"/>
                <a:cs typeface="Calibri" pitchFamily="34" charset="-120"/>
              </a:rPr>
              <a:t>S. 300–303; Chandon 2009</a:t>
            </a:r>
            <a:endParaRPr lang="en-US" sz="1000" dirty="0"/>
          </a:p>
        </p:txBody>
      </p:sp>
      <p:sp>
        <p:nvSpPr>
          <p:cNvPr id="43" name="Text 41"/>
          <p:cNvSpPr txBox="1"/>
          <p:nvPr/>
        </p:nvSpPr>
        <p:spPr>
          <a:xfrm>
            <a:off x="7872984" y="3017520"/>
            <a:ext cx="228600" cy="548640"/>
          </a:xfrm>
          <a:prstGeom prst="rect">
            <a:avLst/>
          </a:prstGeom>
          <a:noFill/>
          <a:ln/>
        </p:spPr>
        <p:txBody>
          <a:bodyPr wrap="square" lIns="0" tIns="0" rIns="0" bIns="0" rtlCol="0" anchor="ctr"/>
          <a:lstStyle/>
          <a:p>
            <a:pPr marL="0" indent="0" algn="ctr">
              <a:buNone/>
            </a:pPr>
            <a:r>
              <a:rPr lang="en-US" sz="2200" b="1" dirty="0">
                <a:solidFill>
                  <a:srgbClr val="6F6862"/>
                </a:solidFill>
                <a:latin typeface="Calibri" pitchFamily="34" charset="0"/>
                <a:ea typeface="Calibri" pitchFamily="34" charset="-122"/>
                <a:cs typeface="Calibri" pitchFamily="34" charset="-120"/>
              </a:rPr>
              <a:t>›</a:t>
            </a:r>
            <a:endParaRPr lang="en-US" sz="2200" dirty="0"/>
          </a:p>
        </p:txBody>
      </p:sp>
      <p:sp>
        <p:nvSpPr>
          <p:cNvPr id="44" name="Shape 42"/>
          <p:cNvSpPr/>
          <p:nvPr/>
        </p:nvSpPr>
        <p:spPr>
          <a:xfrm>
            <a:off x="8083296" y="1737360"/>
            <a:ext cx="1691640" cy="2377440"/>
          </a:xfrm>
          <a:prstGeom prst="rect">
            <a:avLst/>
          </a:prstGeom>
          <a:solidFill>
            <a:srgbClr val="F3EEE6"/>
          </a:solidFill>
          <a:ln w="12700">
            <a:solidFill>
              <a:srgbClr val="F3EEE6"/>
            </a:solidFill>
            <a:prstDash val="solid"/>
          </a:ln>
        </p:spPr>
        <p:txBody>
          <a:bodyPr/>
          <a:lstStyle/>
          <a:p>
            <a:endParaRPr lang="de-DE"/>
          </a:p>
        </p:txBody>
      </p:sp>
      <p:sp>
        <p:nvSpPr>
          <p:cNvPr id="45" name="Shape 43"/>
          <p:cNvSpPr/>
          <p:nvPr/>
        </p:nvSpPr>
        <p:spPr>
          <a:xfrm>
            <a:off x="8746236" y="1920240"/>
            <a:ext cx="365760" cy="365760"/>
          </a:xfrm>
          <a:prstGeom prst="ellipse">
            <a:avLst/>
          </a:prstGeom>
          <a:solidFill>
            <a:srgbClr val="4F6B3A"/>
          </a:solidFill>
          <a:ln w="12700">
            <a:solidFill>
              <a:srgbClr val="FFFFFF"/>
            </a:solidFill>
            <a:prstDash val="solid"/>
          </a:ln>
        </p:spPr>
        <p:txBody>
          <a:bodyPr/>
          <a:lstStyle/>
          <a:p>
            <a:endParaRPr lang="de-DE"/>
          </a:p>
        </p:txBody>
      </p:sp>
      <p:sp>
        <p:nvSpPr>
          <p:cNvPr id="46" name="Text 44"/>
          <p:cNvSpPr txBox="1"/>
          <p:nvPr/>
        </p:nvSpPr>
        <p:spPr>
          <a:xfrm>
            <a:off x="8746236" y="19202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47" name="Text 45"/>
          <p:cNvSpPr txBox="1"/>
          <p:nvPr/>
        </p:nvSpPr>
        <p:spPr>
          <a:xfrm>
            <a:off x="8174736" y="2423160"/>
            <a:ext cx="1508760" cy="365760"/>
          </a:xfrm>
          <a:prstGeom prst="rect">
            <a:avLst/>
          </a:prstGeom>
          <a:noFill/>
          <a:ln/>
        </p:spPr>
        <p:txBody>
          <a:bodyPr wrap="square" lIns="0" tIns="0" rIns="0" bIns="0" rtlCol="0" anchor="ctr"/>
          <a:lstStyle/>
          <a:p>
            <a:pPr marL="0" indent="0" algn="ctr">
              <a:buNone/>
            </a:pPr>
            <a:r>
              <a:rPr lang="en-US" sz="1450" b="1" dirty="0">
                <a:solidFill>
                  <a:srgbClr val="2B2724"/>
                </a:solidFill>
                <a:latin typeface="Calibri" pitchFamily="34" charset="0"/>
                <a:ea typeface="Calibri" pitchFamily="34" charset="-122"/>
                <a:cs typeface="Calibri" pitchFamily="34" charset="-120"/>
              </a:rPr>
              <a:t>Präsentation</a:t>
            </a:r>
            <a:endParaRPr lang="en-US" sz="1450" dirty="0"/>
          </a:p>
        </p:txBody>
      </p:sp>
      <p:sp>
        <p:nvSpPr>
          <p:cNvPr id="48" name="Text 46"/>
          <p:cNvSpPr txBox="1"/>
          <p:nvPr/>
        </p:nvSpPr>
        <p:spPr>
          <a:xfrm>
            <a:off x="8193024" y="2816352"/>
            <a:ext cx="1472184" cy="731520"/>
          </a:xfrm>
          <a:prstGeom prst="rect">
            <a:avLst/>
          </a:prstGeom>
          <a:noFill/>
          <a:ln/>
        </p:spPr>
        <p:txBody>
          <a:bodyPr wrap="square" lIns="0" tIns="0" rIns="0" bIns="0" rtlCol="0" anchor="t"/>
          <a:lstStyle/>
          <a:p>
            <a:pPr marL="0" indent="0" algn="ctr">
              <a:buNone/>
            </a:pPr>
            <a:r>
              <a:rPr lang="en-US" sz="1200" dirty="0">
                <a:solidFill>
                  <a:srgbClr val="2B2724"/>
                </a:solidFill>
                <a:latin typeface="Calibri" pitchFamily="34" charset="0"/>
                <a:ea typeface="Calibri" pitchFamily="34" charset="-122"/>
                <a:cs typeface="Calibri" pitchFamily="34" charset="-120"/>
              </a:rPr>
              <a:t>Karte, Obst-Stand, Fenster</a:t>
            </a:r>
            <a:endParaRPr lang="en-US" sz="1200" dirty="0"/>
          </a:p>
        </p:txBody>
      </p:sp>
      <p:sp>
        <p:nvSpPr>
          <p:cNvPr id="49" name="Shape 47"/>
          <p:cNvSpPr/>
          <p:nvPr/>
        </p:nvSpPr>
        <p:spPr>
          <a:xfrm>
            <a:off x="8266176" y="3657600"/>
            <a:ext cx="237744" cy="237744"/>
          </a:xfrm>
          <a:prstGeom prst="ellipse">
            <a:avLst/>
          </a:prstGeom>
          <a:solidFill>
            <a:srgbClr val="4F6B3A"/>
          </a:solidFill>
          <a:ln w="12700">
            <a:solidFill>
              <a:srgbClr val="4F6B3A"/>
            </a:solidFill>
            <a:prstDash val="solid"/>
          </a:ln>
        </p:spPr>
        <p:txBody>
          <a:bodyPr/>
          <a:lstStyle/>
          <a:p>
            <a:endParaRPr lang="de-DE"/>
          </a:p>
        </p:txBody>
      </p:sp>
      <p:sp>
        <p:nvSpPr>
          <p:cNvPr id="50" name="Text 48"/>
          <p:cNvSpPr txBox="1"/>
          <p:nvPr/>
        </p:nvSpPr>
        <p:spPr>
          <a:xfrm>
            <a:off x="8266176" y="3657600"/>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Q</a:t>
            </a:r>
            <a:endParaRPr lang="en-US" sz="900" dirty="0"/>
          </a:p>
        </p:txBody>
      </p:sp>
      <p:sp>
        <p:nvSpPr>
          <p:cNvPr id="51" name="Text 49"/>
          <p:cNvSpPr txBox="1"/>
          <p:nvPr/>
        </p:nvSpPr>
        <p:spPr>
          <a:xfrm>
            <a:off x="8577072" y="3630168"/>
            <a:ext cx="1143000" cy="292608"/>
          </a:xfrm>
          <a:prstGeom prst="rect">
            <a:avLst/>
          </a:prstGeom>
          <a:noFill/>
          <a:ln/>
        </p:spPr>
        <p:txBody>
          <a:bodyPr wrap="square" lIns="0" tIns="0" rIns="0" bIns="0" rtlCol="0" anchor="ctr"/>
          <a:lstStyle/>
          <a:p>
            <a:pPr marL="0" indent="0">
              <a:buNone/>
            </a:pPr>
            <a:r>
              <a:rPr lang="en-US" sz="1000" dirty="0">
                <a:solidFill>
                  <a:srgbClr val="6F6862"/>
                </a:solidFill>
                <a:latin typeface="Calibri" pitchFamily="34" charset="0"/>
                <a:ea typeface="Calibri" pitchFamily="34" charset="-122"/>
                <a:cs typeface="Calibri" pitchFamily="34" charset="-120"/>
              </a:rPr>
              <a:t>S. 303–306</a:t>
            </a:r>
            <a:endParaRPr lang="en-US" sz="1000" dirty="0"/>
          </a:p>
        </p:txBody>
      </p:sp>
      <p:sp>
        <p:nvSpPr>
          <p:cNvPr id="52" name="Text 50"/>
          <p:cNvSpPr txBox="1"/>
          <p:nvPr/>
        </p:nvSpPr>
        <p:spPr>
          <a:xfrm>
            <a:off x="9756648" y="2560320"/>
            <a:ext cx="228600" cy="548640"/>
          </a:xfrm>
          <a:prstGeom prst="rect">
            <a:avLst/>
          </a:prstGeom>
          <a:noFill/>
          <a:ln/>
        </p:spPr>
        <p:txBody>
          <a:bodyPr wrap="square" lIns="0" tIns="0" rIns="0" bIns="0" rtlCol="0" anchor="ctr"/>
          <a:lstStyle/>
          <a:p>
            <a:pPr marL="0" indent="0" algn="ctr">
              <a:buNone/>
            </a:pPr>
            <a:r>
              <a:rPr lang="en-US" sz="2200" b="1" dirty="0">
                <a:solidFill>
                  <a:srgbClr val="6F6862"/>
                </a:solidFill>
                <a:latin typeface="Calibri" pitchFamily="34" charset="0"/>
                <a:ea typeface="Calibri" pitchFamily="34" charset="-122"/>
                <a:cs typeface="Calibri" pitchFamily="34" charset="-120"/>
              </a:rPr>
              <a:t>›</a:t>
            </a:r>
            <a:endParaRPr lang="en-US" sz="2200" dirty="0"/>
          </a:p>
        </p:txBody>
      </p:sp>
      <p:sp>
        <p:nvSpPr>
          <p:cNvPr id="53" name="Shape 51"/>
          <p:cNvSpPr/>
          <p:nvPr/>
        </p:nvSpPr>
        <p:spPr>
          <a:xfrm>
            <a:off x="9966960" y="2194560"/>
            <a:ext cx="1691640" cy="2377440"/>
          </a:xfrm>
          <a:prstGeom prst="rect">
            <a:avLst/>
          </a:prstGeom>
          <a:solidFill>
            <a:srgbClr val="F3EEE6"/>
          </a:solidFill>
          <a:ln w="12700">
            <a:solidFill>
              <a:srgbClr val="F3EEE6"/>
            </a:solidFill>
            <a:prstDash val="solid"/>
          </a:ln>
        </p:spPr>
        <p:txBody>
          <a:bodyPr/>
          <a:lstStyle/>
          <a:p>
            <a:endParaRPr lang="de-DE"/>
          </a:p>
        </p:txBody>
      </p:sp>
      <p:sp>
        <p:nvSpPr>
          <p:cNvPr id="54" name="Shape 52"/>
          <p:cNvSpPr/>
          <p:nvPr/>
        </p:nvSpPr>
        <p:spPr>
          <a:xfrm>
            <a:off x="10629900" y="2377440"/>
            <a:ext cx="365760" cy="365760"/>
          </a:xfrm>
          <a:prstGeom prst="ellipse">
            <a:avLst/>
          </a:prstGeom>
          <a:solidFill>
            <a:srgbClr val="4F6B3A"/>
          </a:solidFill>
          <a:ln w="12700">
            <a:solidFill>
              <a:srgbClr val="FFFFFF"/>
            </a:solidFill>
            <a:prstDash val="solid"/>
          </a:ln>
        </p:spPr>
        <p:txBody>
          <a:bodyPr/>
          <a:lstStyle/>
          <a:p>
            <a:endParaRPr lang="de-DE"/>
          </a:p>
        </p:txBody>
      </p:sp>
      <p:sp>
        <p:nvSpPr>
          <p:cNvPr id="55" name="Text 53"/>
          <p:cNvSpPr txBox="1"/>
          <p:nvPr/>
        </p:nvSpPr>
        <p:spPr>
          <a:xfrm>
            <a:off x="10629900" y="23774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56" name="Text 54"/>
          <p:cNvSpPr txBox="1"/>
          <p:nvPr/>
        </p:nvSpPr>
        <p:spPr>
          <a:xfrm>
            <a:off x="10058400" y="2880360"/>
            <a:ext cx="1508760" cy="365760"/>
          </a:xfrm>
          <a:prstGeom prst="rect">
            <a:avLst/>
          </a:prstGeom>
          <a:noFill/>
          <a:ln/>
        </p:spPr>
        <p:txBody>
          <a:bodyPr wrap="square" lIns="0" tIns="0" rIns="0" bIns="0" rtlCol="0" anchor="ctr"/>
          <a:lstStyle/>
          <a:p>
            <a:pPr marL="0" indent="0" algn="ctr">
              <a:buNone/>
            </a:pPr>
            <a:r>
              <a:rPr lang="en-US" sz="1450" b="1" dirty="0">
                <a:solidFill>
                  <a:srgbClr val="2B2724"/>
                </a:solidFill>
                <a:latin typeface="Calibri" pitchFamily="34" charset="0"/>
                <a:ea typeface="Calibri" pitchFamily="34" charset="-122"/>
                <a:cs typeface="Calibri" pitchFamily="34" charset="-120"/>
              </a:rPr>
              <a:t>Atmosphäre</a:t>
            </a:r>
            <a:endParaRPr lang="en-US" sz="1450" dirty="0"/>
          </a:p>
        </p:txBody>
      </p:sp>
      <p:sp>
        <p:nvSpPr>
          <p:cNvPr id="57" name="Text 55"/>
          <p:cNvSpPr txBox="1"/>
          <p:nvPr/>
        </p:nvSpPr>
        <p:spPr>
          <a:xfrm>
            <a:off x="10076688" y="3273552"/>
            <a:ext cx="1472184" cy="731520"/>
          </a:xfrm>
          <a:prstGeom prst="rect">
            <a:avLst/>
          </a:prstGeom>
          <a:noFill/>
          <a:ln/>
        </p:spPr>
        <p:txBody>
          <a:bodyPr wrap="square" lIns="0" tIns="0" rIns="0" bIns="0" rtlCol="0" anchor="t"/>
          <a:lstStyle/>
          <a:p>
            <a:pPr marL="0" indent="0" algn="ctr">
              <a:buNone/>
            </a:pPr>
            <a:r>
              <a:rPr lang="en-US" sz="1200" dirty="0">
                <a:solidFill>
                  <a:srgbClr val="2B2724"/>
                </a:solidFill>
                <a:latin typeface="Calibri" pitchFamily="34" charset="0"/>
                <a:ea typeface="Calibri" pitchFamily="34" charset="-122"/>
                <a:cs typeface="Calibri" pitchFamily="34" charset="-120"/>
              </a:rPr>
              <a:t>Licht, Geruch, Material</a:t>
            </a:r>
            <a:endParaRPr lang="en-US" sz="1200" dirty="0"/>
          </a:p>
        </p:txBody>
      </p:sp>
      <p:sp>
        <p:nvSpPr>
          <p:cNvPr id="58" name="Shape 56"/>
          <p:cNvSpPr/>
          <p:nvPr/>
        </p:nvSpPr>
        <p:spPr>
          <a:xfrm>
            <a:off x="10149840" y="4114800"/>
            <a:ext cx="237744" cy="237744"/>
          </a:xfrm>
          <a:prstGeom prst="ellipse">
            <a:avLst/>
          </a:prstGeom>
          <a:solidFill>
            <a:srgbClr val="4F6B3A"/>
          </a:solidFill>
          <a:ln w="12700">
            <a:solidFill>
              <a:srgbClr val="4F6B3A"/>
            </a:solidFill>
            <a:prstDash val="solid"/>
          </a:ln>
        </p:spPr>
        <p:txBody>
          <a:bodyPr/>
          <a:lstStyle/>
          <a:p>
            <a:endParaRPr lang="de-DE"/>
          </a:p>
        </p:txBody>
      </p:sp>
      <p:sp>
        <p:nvSpPr>
          <p:cNvPr id="59" name="Text 57"/>
          <p:cNvSpPr txBox="1"/>
          <p:nvPr/>
        </p:nvSpPr>
        <p:spPr>
          <a:xfrm>
            <a:off x="10149840" y="4114800"/>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Q</a:t>
            </a:r>
            <a:endParaRPr lang="en-US" sz="900" dirty="0"/>
          </a:p>
        </p:txBody>
      </p:sp>
      <p:sp>
        <p:nvSpPr>
          <p:cNvPr id="60" name="Text 58"/>
          <p:cNvSpPr txBox="1"/>
          <p:nvPr/>
        </p:nvSpPr>
        <p:spPr>
          <a:xfrm>
            <a:off x="10460736" y="4087368"/>
            <a:ext cx="1143000" cy="292608"/>
          </a:xfrm>
          <a:prstGeom prst="rect">
            <a:avLst/>
          </a:prstGeom>
          <a:noFill/>
          <a:ln/>
        </p:spPr>
        <p:txBody>
          <a:bodyPr wrap="square" lIns="0" tIns="0" rIns="0" bIns="0" rtlCol="0" anchor="ctr"/>
          <a:lstStyle/>
          <a:p>
            <a:pPr marL="0" indent="0">
              <a:buNone/>
            </a:pPr>
            <a:r>
              <a:rPr lang="en-US" sz="1000" dirty="0">
                <a:solidFill>
                  <a:srgbClr val="6F6862"/>
                </a:solidFill>
                <a:latin typeface="Calibri" pitchFamily="34" charset="0"/>
                <a:ea typeface="Calibri" pitchFamily="34" charset="-122"/>
                <a:cs typeface="Calibri" pitchFamily="34" charset="-120"/>
              </a:rPr>
              <a:t>S. 303–306; Summers 2001</a:t>
            </a:r>
            <a:endParaRPr lang="en-US" sz="1000" dirty="0"/>
          </a:p>
        </p:txBody>
      </p:sp>
      <p:sp>
        <p:nvSpPr>
          <p:cNvPr id="61" name="Shape 59"/>
          <p:cNvSpPr/>
          <p:nvPr/>
        </p:nvSpPr>
        <p:spPr>
          <a:xfrm>
            <a:off x="548640" y="5074920"/>
            <a:ext cx="11091672" cy="868680"/>
          </a:xfrm>
          <a:prstGeom prst="rect">
            <a:avLst/>
          </a:prstGeom>
          <a:solidFill>
            <a:srgbClr val="2B2724"/>
          </a:solidFill>
          <a:ln w="12700">
            <a:solidFill>
              <a:srgbClr val="2B2724"/>
            </a:solidFill>
            <a:prstDash val="solid"/>
          </a:ln>
        </p:spPr>
        <p:txBody>
          <a:bodyPr/>
          <a:lstStyle/>
          <a:p>
            <a:endParaRPr lang="de-DE"/>
          </a:p>
        </p:txBody>
      </p:sp>
      <p:sp>
        <p:nvSpPr>
          <p:cNvPr id="62" name="Text 60"/>
          <p:cNvSpPr txBox="1"/>
          <p:nvPr/>
        </p:nvSpPr>
        <p:spPr>
          <a:xfrm>
            <a:off x="777240" y="5074920"/>
            <a:ext cx="10698480" cy="86868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Aussagegrenze: Kapitel 10 liefert die Gestaltungslogik. Dass unsere Anordnung im konkreten Store Umsatz oder Warenkorb erhöht, belegt die Quelle nicht.</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0972800" cy="274320"/>
          </a:xfrm>
          <a:prstGeom prst="rect">
            <a:avLst/>
          </a:prstGeom>
          <a:noFill/>
          <a:ln/>
        </p:spPr>
        <p:txBody>
          <a:bodyPr wrap="square" lIns="0" tIns="0" rIns="0" bIns="0" rtlCol="0" anchor="ctr"/>
          <a:lstStyle/>
          <a:p>
            <a:pPr marL="0" indent="0">
              <a:buNone/>
            </a:pPr>
            <a:r>
              <a:rPr lang="en-US" sz="1200" b="1" dirty="0">
                <a:solidFill>
                  <a:srgbClr val="B5452F"/>
                </a:solidFill>
                <a:latin typeface="Calibri" pitchFamily="34" charset="0"/>
                <a:ea typeface="Calibri" pitchFamily="34" charset="-122"/>
                <a:cs typeface="Calibri" pitchFamily="34" charset="-120"/>
              </a:rPr>
              <a:t>10 · QUELLEN UND KENNZEICHNUNG</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2B2724"/>
                </a:solidFill>
                <a:latin typeface="Cambria" pitchFamily="34" charset="0"/>
                <a:ea typeface="Cambria" pitchFamily="34" charset="-122"/>
                <a:cs typeface="Cambria" pitchFamily="34" charset="-120"/>
              </a:rPr>
              <a:t>Quellen und Kennzeichnung unserer Aussagen.</a:t>
            </a:r>
            <a:endParaRPr lang="en-US" sz="2800" dirty="0"/>
          </a:p>
        </p:txBody>
      </p:sp>
      <p:sp>
        <p:nvSpPr>
          <p:cNvPr id="4" name="Shape 2"/>
          <p:cNvSpPr/>
          <p:nvPr/>
        </p:nvSpPr>
        <p:spPr>
          <a:xfrm>
            <a:off x="548640" y="6419088"/>
            <a:ext cx="11091672" cy="0"/>
          </a:xfrm>
          <a:prstGeom prst="line">
            <a:avLst/>
          </a:prstGeom>
          <a:noFill/>
          <a:ln w="9525">
            <a:solidFill>
              <a:srgbClr val="D9D1C5"/>
            </a:solidFill>
            <a:prstDash val="solid"/>
          </a:ln>
        </p:spPr>
        <p:txBody>
          <a:bodyPr/>
          <a:lstStyle/>
          <a:p>
            <a:endParaRPr lang="de-DE"/>
          </a:p>
        </p:txBody>
      </p:sp>
      <p:sp>
        <p:nvSpPr>
          <p:cNvPr id="5" name="Text 3"/>
          <p:cNvSpPr txBox="1"/>
          <p:nvPr/>
        </p:nvSpPr>
        <p:spPr>
          <a:xfrm>
            <a:off x="548640" y="6473952"/>
            <a:ext cx="7315200" cy="228600"/>
          </a:xfrm>
          <a:prstGeom prst="rect">
            <a:avLst/>
          </a:prstGeom>
          <a:noFill/>
          <a:ln/>
        </p:spPr>
        <p:txBody>
          <a:bodyPr wrap="square" lIns="0" tIns="0" rIns="0" bIns="0" rtlCol="0" anchor="ctr"/>
          <a:lstStyle/>
          <a:p>
            <a:pPr marL="0" indent="0">
              <a:buNone/>
            </a:pPr>
            <a:r>
              <a:rPr lang="en-US" sz="900" dirty="0">
                <a:solidFill>
                  <a:srgbClr val="6F6862"/>
                </a:solidFill>
                <a:latin typeface="Calibri" pitchFamily="34" charset="0"/>
                <a:ea typeface="Calibri" pitchFamily="34" charset="-122"/>
                <a:cs typeface="Calibri" pitchFamily="34" charset="-120"/>
              </a:rPr>
              <a:t>One Hour Kitchen · Store-Konzept · Kurs HD25A23</a:t>
            </a:r>
            <a:endParaRPr lang="en-US" sz="900" dirty="0"/>
          </a:p>
        </p:txBody>
      </p:sp>
      <p:sp>
        <p:nvSpPr>
          <p:cNvPr id="6" name="Text 4"/>
          <p:cNvSpPr txBox="1"/>
          <p:nvPr/>
        </p:nvSpPr>
        <p:spPr>
          <a:xfrm>
            <a:off x="10725912" y="6473952"/>
            <a:ext cx="914400" cy="228600"/>
          </a:xfrm>
          <a:prstGeom prst="rect">
            <a:avLst/>
          </a:prstGeom>
          <a:noFill/>
          <a:ln/>
        </p:spPr>
        <p:txBody>
          <a:bodyPr wrap="square" lIns="0" tIns="0" rIns="0" bIns="0" rtlCol="0" anchor="ctr"/>
          <a:lstStyle/>
          <a:p>
            <a:pPr marL="0" indent="0" algn="r">
              <a:buNone/>
            </a:pPr>
            <a:r>
              <a:rPr lang="en-US" sz="900" dirty="0">
                <a:solidFill>
                  <a:srgbClr val="6F6862"/>
                </a:solidFill>
                <a:latin typeface="Calibri" pitchFamily="34" charset="0"/>
                <a:ea typeface="Calibri" pitchFamily="34" charset="-122"/>
                <a:cs typeface="Calibri" pitchFamily="34" charset="-120"/>
              </a:rPr>
              <a:t>18</a:t>
            </a:r>
            <a:endParaRPr lang="en-US" sz="900" dirty="0"/>
          </a:p>
        </p:txBody>
      </p:sp>
      <p:sp>
        <p:nvSpPr>
          <p:cNvPr id="7" name="Shape 5"/>
          <p:cNvSpPr/>
          <p:nvPr/>
        </p:nvSpPr>
        <p:spPr>
          <a:xfrm>
            <a:off x="548640" y="1463040"/>
            <a:ext cx="237744" cy="237744"/>
          </a:xfrm>
          <a:prstGeom prst="ellipse">
            <a:avLst/>
          </a:prstGeom>
          <a:solidFill>
            <a:srgbClr val="4F6B3A"/>
          </a:solidFill>
          <a:ln w="12700">
            <a:solidFill>
              <a:srgbClr val="4F6B3A"/>
            </a:solidFill>
            <a:prstDash val="solid"/>
          </a:ln>
        </p:spPr>
        <p:txBody>
          <a:bodyPr/>
          <a:lstStyle/>
          <a:p>
            <a:endParaRPr lang="de-DE"/>
          </a:p>
        </p:txBody>
      </p:sp>
      <p:sp>
        <p:nvSpPr>
          <p:cNvPr id="8" name="Text 6"/>
          <p:cNvSpPr txBox="1"/>
          <p:nvPr/>
        </p:nvSpPr>
        <p:spPr>
          <a:xfrm>
            <a:off x="548640" y="1463040"/>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Q</a:t>
            </a:r>
            <a:endParaRPr lang="en-US" sz="900" dirty="0"/>
          </a:p>
        </p:txBody>
      </p:sp>
      <p:sp>
        <p:nvSpPr>
          <p:cNvPr id="9" name="Text 7"/>
          <p:cNvSpPr txBox="1"/>
          <p:nvPr/>
        </p:nvSpPr>
        <p:spPr>
          <a:xfrm>
            <a:off x="960120" y="1417320"/>
            <a:ext cx="6583680" cy="320040"/>
          </a:xfrm>
          <a:prstGeom prst="rect">
            <a:avLst/>
          </a:prstGeom>
          <a:noFill/>
          <a:ln/>
        </p:spPr>
        <p:txBody>
          <a:bodyPr wrap="square" lIns="0" tIns="0" rIns="0" bIns="0" rtlCol="0" anchor="ctr"/>
          <a:lstStyle/>
          <a:p>
            <a:pPr marL="0" indent="0">
              <a:buNone/>
            </a:pPr>
            <a:r>
              <a:rPr lang="en-US" sz="1400" b="1" dirty="0">
                <a:solidFill>
                  <a:srgbClr val="2B2724"/>
                </a:solidFill>
                <a:latin typeface="Calibri" pitchFamily="34" charset="0"/>
                <a:ea typeface="Calibri" pitchFamily="34" charset="-122"/>
                <a:cs typeface="Calibri" pitchFamily="34" charset="-120"/>
              </a:rPr>
              <a:t>Ahlert, D.; Kenning, P.; Brock, C. (2020)</a:t>
            </a:r>
            <a:endParaRPr lang="en-US" sz="1400" dirty="0"/>
          </a:p>
        </p:txBody>
      </p:sp>
      <p:sp>
        <p:nvSpPr>
          <p:cNvPr id="10" name="Text 8"/>
          <p:cNvSpPr txBox="1"/>
          <p:nvPr/>
        </p:nvSpPr>
        <p:spPr>
          <a:xfrm>
            <a:off x="960120" y="1728216"/>
            <a:ext cx="6583680" cy="438912"/>
          </a:xfrm>
          <a:prstGeom prst="rect">
            <a:avLst/>
          </a:prstGeom>
          <a:noFill/>
          <a:ln/>
        </p:spPr>
        <p:txBody>
          <a:bodyPr wrap="square" lIns="0" tIns="0" rIns="0" bIns="0" rtlCol="0" anchor="ctr"/>
          <a:lstStyle/>
          <a:p>
            <a:pPr marL="0" indent="0">
              <a:buNone/>
            </a:pPr>
            <a:r>
              <a:rPr lang="en-US" sz="1150" dirty="0">
                <a:solidFill>
                  <a:srgbClr val="2B2724"/>
                </a:solidFill>
                <a:latin typeface="Calibri" pitchFamily="34" charset="0"/>
                <a:ea typeface="Calibri" pitchFamily="34" charset="-122"/>
                <a:cs typeface="Calibri" pitchFamily="34" charset="-120"/>
              </a:rPr>
              <a:t>Handelsmarketing. Grundlagen der marktorientierten Führung von Handelsbetrieben. 3. Aufl., Springer Gabler, Kapitel 10.</a:t>
            </a:r>
            <a:endParaRPr lang="en-US" sz="1150" dirty="0"/>
          </a:p>
        </p:txBody>
      </p:sp>
      <p:sp>
        <p:nvSpPr>
          <p:cNvPr id="11" name="Shape 9"/>
          <p:cNvSpPr/>
          <p:nvPr/>
        </p:nvSpPr>
        <p:spPr>
          <a:xfrm>
            <a:off x="548640" y="2231136"/>
            <a:ext cx="237744" cy="237744"/>
          </a:xfrm>
          <a:prstGeom prst="ellipse">
            <a:avLst/>
          </a:prstGeom>
          <a:solidFill>
            <a:srgbClr val="4F6B3A"/>
          </a:solidFill>
          <a:ln w="12700">
            <a:solidFill>
              <a:srgbClr val="4F6B3A"/>
            </a:solidFill>
            <a:prstDash val="solid"/>
          </a:ln>
        </p:spPr>
        <p:txBody>
          <a:bodyPr/>
          <a:lstStyle/>
          <a:p>
            <a:endParaRPr lang="de-DE"/>
          </a:p>
        </p:txBody>
      </p:sp>
      <p:sp>
        <p:nvSpPr>
          <p:cNvPr id="12" name="Text 10"/>
          <p:cNvSpPr txBox="1"/>
          <p:nvPr/>
        </p:nvSpPr>
        <p:spPr>
          <a:xfrm>
            <a:off x="548640" y="2231136"/>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Q</a:t>
            </a:r>
            <a:endParaRPr lang="en-US" sz="900" dirty="0"/>
          </a:p>
        </p:txBody>
      </p:sp>
      <p:sp>
        <p:nvSpPr>
          <p:cNvPr id="13" name="Text 11"/>
          <p:cNvSpPr txBox="1"/>
          <p:nvPr/>
        </p:nvSpPr>
        <p:spPr>
          <a:xfrm>
            <a:off x="960120" y="2185416"/>
            <a:ext cx="6583680" cy="320040"/>
          </a:xfrm>
          <a:prstGeom prst="rect">
            <a:avLst/>
          </a:prstGeom>
          <a:noFill/>
          <a:ln/>
        </p:spPr>
        <p:txBody>
          <a:bodyPr wrap="square" lIns="0" tIns="0" rIns="0" bIns="0" rtlCol="0" anchor="ctr"/>
          <a:lstStyle/>
          <a:p>
            <a:pPr marL="0" indent="0">
              <a:buNone/>
            </a:pPr>
            <a:r>
              <a:rPr lang="en-US" sz="1400" b="1" dirty="0">
                <a:solidFill>
                  <a:srgbClr val="2B2724"/>
                </a:solidFill>
                <a:latin typeface="Calibri" pitchFamily="34" charset="0"/>
                <a:ea typeface="Calibri" pitchFamily="34" charset="-122"/>
                <a:cs typeface="Calibri" pitchFamily="34" charset="-120"/>
              </a:rPr>
              <a:t>Kundenlauf: Larson et al. (2005) ✓; Hui et al. (2009) ✓</a:t>
            </a:r>
            <a:endParaRPr lang="en-US" sz="1400" dirty="0"/>
          </a:p>
        </p:txBody>
      </p:sp>
      <p:sp>
        <p:nvSpPr>
          <p:cNvPr id="14" name="Text 12"/>
          <p:cNvSpPr txBox="1"/>
          <p:nvPr/>
        </p:nvSpPr>
        <p:spPr>
          <a:xfrm>
            <a:off x="960120" y="2496312"/>
            <a:ext cx="6583680" cy="438912"/>
          </a:xfrm>
          <a:prstGeom prst="rect">
            <a:avLst/>
          </a:prstGeom>
          <a:noFill/>
          <a:ln/>
        </p:spPr>
        <p:txBody>
          <a:bodyPr wrap="square" lIns="0" tIns="0" rIns="0" bIns="0" rtlCol="0" anchor="ctr"/>
          <a:lstStyle/>
          <a:p>
            <a:pPr marL="0" indent="0">
              <a:buNone/>
            </a:pPr>
            <a:r>
              <a:rPr lang="en-US" sz="1150" dirty="0">
                <a:solidFill>
                  <a:srgbClr val="2B2724"/>
                </a:solidFill>
                <a:latin typeface="Calibri" pitchFamily="34" charset="0"/>
                <a:ea typeface="Calibri" pitchFamily="34" charset="-122"/>
                <a:cs typeface="Calibri" pitchFamily="34" charset="-120"/>
              </a:rPr>
              <a:t>Int. Journal of Research in Marketing 22(4), 395–414 · Journal of Consumer Research 36(3), 478–493.</a:t>
            </a:r>
            <a:endParaRPr lang="en-US" sz="1150" dirty="0"/>
          </a:p>
        </p:txBody>
      </p:sp>
      <p:sp>
        <p:nvSpPr>
          <p:cNvPr id="15" name="Shape 13"/>
          <p:cNvSpPr/>
          <p:nvPr/>
        </p:nvSpPr>
        <p:spPr>
          <a:xfrm>
            <a:off x="548640" y="2999232"/>
            <a:ext cx="237744" cy="237744"/>
          </a:xfrm>
          <a:prstGeom prst="ellipse">
            <a:avLst/>
          </a:prstGeom>
          <a:solidFill>
            <a:srgbClr val="4F6B3A"/>
          </a:solidFill>
          <a:ln w="12700">
            <a:solidFill>
              <a:srgbClr val="4F6B3A"/>
            </a:solidFill>
            <a:prstDash val="solid"/>
          </a:ln>
        </p:spPr>
        <p:txBody>
          <a:bodyPr/>
          <a:lstStyle/>
          <a:p>
            <a:endParaRPr lang="de-DE"/>
          </a:p>
        </p:txBody>
      </p:sp>
      <p:sp>
        <p:nvSpPr>
          <p:cNvPr id="16" name="Text 14"/>
          <p:cNvSpPr txBox="1"/>
          <p:nvPr/>
        </p:nvSpPr>
        <p:spPr>
          <a:xfrm>
            <a:off x="548640" y="2999232"/>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Q</a:t>
            </a:r>
            <a:endParaRPr lang="en-US" sz="900" dirty="0"/>
          </a:p>
        </p:txBody>
      </p:sp>
      <p:sp>
        <p:nvSpPr>
          <p:cNvPr id="17" name="Text 15"/>
          <p:cNvSpPr txBox="1"/>
          <p:nvPr/>
        </p:nvSpPr>
        <p:spPr>
          <a:xfrm>
            <a:off x="960120" y="2953512"/>
            <a:ext cx="6583680" cy="320040"/>
          </a:xfrm>
          <a:prstGeom prst="rect">
            <a:avLst/>
          </a:prstGeom>
          <a:noFill/>
          <a:ln/>
        </p:spPr>
        <p:txBody>
          <a:bodyPr wrap="square" lIns="0" tIns="0" rIns="0" bIns="0" rtlCol="0" anchor="ctr"/>
          <a:lstStyle/>
          <a:p>
            <a:pPr marL="0" indent="0">
              <a:buNone/>
            </a:pPr>
            <a:r>
              <a:rPr lang="en-US" sz="1400" b="1" dirty="0">
                <a:solidFill>
                  <a:srgbClr val="2B2724"/>
                </a:solidFill>
                <a:latin typeface="Calibri" pitchFamily="34" charset="0"/>
                <a:ea typeface="Calibri" pitchFamily="34" charset="-122"/>
                <a:cs typeface="Calibri" pitchFamily="34" charset="-120"/>
              </a:rPr>
              <a:t>Regal &amp; Atmosphäre: Chandon et al. (2009) ✓ und weitere ◐</a:t>
            </a:r>
            <a:endParaRPr lang="en-US" sz="1400" dirty="0"/>
          </a:p>
        </p:txBody>
      </p:sp>
      <p:sp>
        <p:nvSpPr>
          <p:cNvPr id="18" name="Text 16"/>
          <p:cNvSpPr txBox="1"/>
          <p:nvPr/>
        </p:nvSpPr>
        <p:spPr>
          <a:xfrm>
            <a:off x="960120" y="3264408"/>
            <a:ext cx="6583680" cy="438912"/>
          </a:xfrm>
          <a:prstGeom prst="rect">
            <a:avLst/>
          </a:prstGeom>
          <a:noFill/>
          <a:ln/>
        </p:spPr>
        <p:txBody>
          <a:bodyPr wrap="square" lIns="0" tIns="0" rIns="0" bIns="0" rtlCol="0" anchor="ctr"/>
          <a:lstStyle/>
          <a:p>
            <a:pPr marL="0" indent="0">
              <a:buNone/>
            </a:pPr>
            <a:r>
              <a:rPr lang="en-US" sz="1150" dirty="0">
                <a:solidFill>
                  <a:srgbClr val="2B2724"/>
                </a:solidFill>
                <a:latin typeface="Calibri" pitchFamily="34" charset="0"/>
                <a:ea typeface="Calibri" pitchFamily="34" charset="-122"/>
                <a:cs typeface="Calibri" pitchFamily="34" charset="-120"/>
              </a:rPr>
              <a:t>J. of Marketing 73(6), 1–17 · Summers/Hebert 2001, Chebat/Michon 2003, Spence et al. 2014, Baker et al. 2002, Scheuch 2001, Inman/Nikolova 2017.</a:t>
            </a:r>
            <a:endParaRPr lang="en-US" sz="1150" dirty="0"/>
          </a:p>
        </p:txBody>
      </p:sp>
      <p:sp>
        <p:nvSpPr>
          <p:cNvPr id="19" name="Shape 17"/>
          <p:cNvSpPr/>
          <p:nvPr/>
        </p:nvSpPr>
        <p:spPr>
          <a:xfrm>
            <a:off x="548640" y="3767328"/>
            <a:ext cx="237744" cy="237744"/>
          </a:xfrm>
          <a:prstGeom prst="ellipse">
            <a:avLst/>
          </a:prstGeom>
          <a:solidFill>
            <a:srgbClr val="4F6B3A"/>
          </a:solidFill>
          <a:ln w="12700">
            <a:solidFill>
              <a:srgbClr val="4F6B3A"/>
            </a:solidFill>
            <a:prstDash val="solid"/>
          </a:ln>
        </p:spPr>
        <p:txBody>
          <a:bodyPr/>
          <a:lstStyle/>
          <a:p>
            <a:endParaRPr lang="de-DE"/>
          </a:p>
        </p:txBody>
      </p:sp>
      <p:sp>
        <p:nvSpPr>
          <p:cNvPr id="20" name="Text 18"/>
          <p:cNvSpPr txBox="1"/>
          <p:nvPr/>
        </p:nvSpPr>
        <p:spPr>
          <a:xfrm>
            <a:off x="548640" y="3767328"/>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Q</a:t>
            </a:r>
            <a:endParaRPr lang="en-US" sz="900" dirty="0"/>
          </a:p>
        </p:txBody>
      </p:sp>
      <p:sp>
        <p:nvSpPr>
          <p:cNvPr id="21" name="Text 19"/>
          <p:cNvSpPr txBox="1"/>
          <p:nvPr/>
        </p:nvSpPr>
        <p:spPr>
          <a:xfrm>
            <a:off x="960120" y="3721608"/>
            <a:ext cx="6583680" cy="320040"/>
          </a:xfrm>
          <a:prstGeom prst="rect">
            <a:avLst/>
          </a:prstGeom>
          <a:noFill/>
          <a:ln/>
        </p:spPr>
        <p:txBody>
          <a:bodyPr wrap="square" lIns="0" tIns="0" rIns="0" bIns="0" rtlCol="0" anchor="ctr"/>
          <a:lstStyle/>
          <a:p>
            <a:pPr marL="0" indent="0">
              <a:buNone/>
            </a:pPr>
            <a:r>
              <a:rPr lang="en-US" sz="1400" b="1" dirty="0">
                <a:solidFill>
                  <a:srgbClr val="2B2724"/>
                </a:solidFill>
                <a:latin typeface="Calibri" pitchFamily="34" charset="0"/>
                <a:ea typeface="Calibri" pitchFamily="34" charset="-122"/>
                <a:cs typeface="Calibri" pitchFamily="34" charset="-120"/>
              </a:rPr>
              <a:t>Luhmann (1984) ✓; Schulz (2010) ◐; Meyer (2019) ✓</a:t>
            </a:r>
            <a:endParaRPr lang="en-US" sz="1400" dirty="0"/>
          </a:p>
        </p:txBody>
      </p:sp>
      <p:sp>
        <p:nvSpPr>
          <p:cNvPr id="22" name="Text 20"/>
          <p:cNvSpPr txBox="1"/>
          <p:nvPr/>
        </p:nvSpPr>
        <p:spPr>
          <a:xfrm>
            <a:off x="960120" y="4032504"/>
            <a:ext cx="6583680" cy="438912"/>
          </a:xfrm>
          <a:prstGeom prst="rect">
            <a:avLst/>
          </a:prstGeom>
          <a:noFill/>
          <a:ln/>
        </p:spPr>
        <p:txBody>
          <a:bodyPr wrap="square" lIns="0" tIns="0" rIns="0" bIns="0" rtlCol="0" anchor="ctr"/>
          <a:lstStyle/>
          <a:p>
            <a:pPr marL="0" indent="0">
              <a:buNone/>
            </a:pPr>
            <a:r>
              <a:rPr lang="en-US" sz="1150" dirty="0">
                <a:solidFill>
                  <a:srgbClr val="2B2724"/>
                </a:solidFill>
                <a:latin typeface="Calibri" pitchFamily="34" charset="0"/>
                <a:ea typeface="Calibri" pitchFamily="34" charset="-122"/>
                <a:cs typeface="Calibri" pitchFamily="34" charset="-120"/>
              </a:rPr>
              <a:t>Soziale Systeme, S. 63 (über das Skript) · Lebensmittelpraxis 16.12.2010 · Tagesspiegel 28.03.2019.</a:t>
            </a:r>
            <a:endParaRPr lang="en-US" sz="1150" dirty="0"/>
          </a:p>
        </p:txBody>
      </p:sp>
      <p:sp>
        <p:nvSpPr>
          <p:cNvPr id="23" name="Shape 21"/>
          <p:cNvSpPr/>
          <p:nvPr/>
        </p:nvSpPr>
        <p:spPr>
          <a:xfrm>
            <a:off x="7955280" y="1417320"/>
            <a:ext cx="3685032" cy="3017520"/>
          </a:xfrm>
          <a:prstGeom prst="rect">
            <a:avLst/>
          </a:prstGeom>
          <a:solidFill>
            <a:srgbClr val="F3EEE6"/>
          </a:solidFill>
          <a:ln w="12700">
            <a:solidFill>
              <a:srgbClr val="F3EEE6"/>
            </a:solidFill>
            <a:prstDash val="solid"/>
          </a:ln>
        </p:spPr>
        <p:txBody>
          <a:bodyPr/>
          <a:lstStyle/>
          <a:p>
            <a:endParaRPr lang="de-DE"/>
          </a:p>
        </p:txBody>
      </p:sp>
      <p:sp>
        <p:nvSpPr>
          <p:cNvPr id="24" name="Text 22"/>
          <p:cNvSpPr txBox="1"/>
          <p:nvPr/>
        </p:nvSpPr>
        <p:spPr>
          <a:xfrm>
            <a:off x="8183880" y="1554480"/>
            <a:ext cx="3291840" cy="320040"/>
          </a:xfrm>
          <a:prstGeom prst="rect">
            <a:avLst/>
          </a:prstGeom>
          <a:noFill/>
          <a:ln/>
        </p:spPr>
        <p:txBody>
          <a:bodyPr wrap="square" lIns="0" tIns="0" rIns="0" bIns="0" rtlCol="0" anchor="ctr"/>
          <a:lstStyle/>
          <a:p>
            <a:pPr marL="0" indent="0">
              <a:buNone/>
            </a:pPr>
            <a:r>
              <a:rPr lang="en-US" sz="1400" b="1" dirty="0">
                <a:solidFill>
                  <a:srgbClr val="4F6B3A"/>
                </a:solidFill>
                <a:latin typeface="Calibri" pitchFamily="34" charset="0"/>
                <a:ea typeface="Calibri" pitchFamily="34" charset="-122"/>
                <a:cs typeface="Calibri" pitchFamily="34" charset="-120"/>
              </a:rPr>
              <a:t>Verwendete Fundstellen</a:t>
            </a:r>
            <a:endParaRPr lang="en-US" sz="1400" dirty="0"/>
          </a:p>
        </p:txBody>
      </p:sp>
      <p:sp>
        <p:nvSpPr>
          <p:cNvPr id="25" name="Text 23"/>
          <p:cNvSpPr txBox="1"/>
          <p:nvPr/>
        </p:nvSpPr>
        <p:spPr>
          <a:xfrm>
            <a:off x="8183880" y="1965960"/>
            <a:ext cx="1051560" cy="411480"/>
          </a:xfrm>
          <a:prstGeom prst="rect">
            <a:avLst/>
          </a:prstGeom>
          <a:noFill/>
          <a:ln/>
        </p:spPr>
        <p:txBody>
          <a:bodyPr wrap="square" lIns="0" tIns="0" rIns="0" bIns="0" rtlCol="0" anchor="ctr"/>
          <a:lstStyle/>
          <a:p>
            <a:pPr marL="0" indent="0">
              <a:buNone/>
            </a:pPr>
            <a:r>
              <a:rPr lang="en-US" sz="1150" b="1" dirty="0">
                <a:solidFill>
                  <a:srgbClr val="2B2724"/>
                </a:solidFill>
                <a:latin typeface="Calibri" pitchFamily="34" charset="0"/>
                <a:ea typeface="Calibri" pitchFamily="34" charset="-122"/>
                <a:cs typeface="Calibri" pitchFamily="34" charset="-120"/>
              </a:rPr>
              <a:t>Kap. 10.1</a:t>
            </a:r>
            <a:endParaRPr lang="en-US" sz="1150" dirty="0"/>
          </a:p>
        </p:txBody>
      </p:sp>
      <p:sp>
        <p:nvSpPr>
          <p:cNvPr id="26" name="Text 24"/>
          <p:cNvSpPr txBox="1"/>
          <p:nvPr/>
        </p:nvSpPr>
        <p:spPr>
          <a:xfrm>
            <a:off x="9235440" y="1965960"/>
            <a:ext cx="2286000" cy="411480"/>
          </a:xfrm>
          <a:prstGeom prst="rect">
            <a:avLst/>
          </a:prstGeom>
          <a:noFill/>
          <a:ln/>
        </p:spPr>
        <p:txBody>
          <a:bodyPr wrap="square" lIns="0" tIns="0" rIns="0" bIns="0" rtlCol="0" anchor="ctr"/>
          <a:lstStyle/>
          <a:p>
            <a:pPr marL="0" indent="0">
              <a:buNone/>
            </a:pPr>
            <a:r>
              <a:rPr lang="en-US" sz="1100" dirty="0">
                <a:solidFill>
                  <a:srgbClr val="2B2724"/>
                </a:solidFill>
                <a:latin typeface="Calibri" pitchFamily="34" charset="0"/>
                <a:ea typeface="Calibri" pitchFamily="34" charset="-122"/>
                <a:cs typeface="Calibri" pitchFamily="34" charset="-120"/>
              </a:rPr>
              <a:t>Bereiche der Präsentationspolitik</a:t>
            </a:r>
            <a:endParaRPr lang="en-US" sz="1100" dirty="0"/>
          </a:p>
        </p:txBody>
      </p:sp>
      <p:sp>
        <p:nvSpPr>
          <p:cNvPr id="27" name="Text 25"/>
          <p:cNvSpPr txBox="1"/>
          <p:nvPr/>
        </p:nvSpPr>
        <p:spPr>
          <a:xfrm>
            <a:off x="8183880" y="2441448"/>
            <a:ext cx="1051560" cy="411480"/>
          </a:xfrm>
          <a:prstGeom prst="rect">
            <a:avLst/>
          </a:prstGeom>
          <a:noFill/>
          <a:ln/>
        </p:spPr>
        <p:txBody>
          <a:bodyPr wrap="square" lIns="0" tIns="0" rIns="0" bIns="0" rtlCol="0" anchor="ctr"/>
          <a:lstStyle/>
          <a:p>
            <a:pPr marL="0" indent="0">
              <a:buNone/>
            </a:pPr>
            <a:r>
              <a:rPr lang="en-US" sz="1150" b="1" dirty="0">
                <a:solidFill>
                  <a:srgbClr val="2B2724"/>
                </a:solidFill>
                <a:latin typeface="Calibri" pitchFamily="34" charset="0"/>
                <a:ea typeface="Calibri" pitchFamily="34" charset="-122"/>
                <a:cs typeface="Calibri" pitchFamily="34" charset="-120"/>
              </a:rPr>
              <a:t>S. 297–302</a:t>
            </a:r>
            <a:endParaRPr lang="en-US" sz="1150" dirty="0"/>
          </a:p>
        </p:txBody>
      </p:sp>
      <p:sp>
        <p:nvSpPr>
          <p:cNvPr id="28" name="Text 26"/>
          <p:cNvSpPr txBox="1"/>
          <p:nvPr/>
        </p:nvSpPr>
        <p:spPr>
          <a:xfrm>
            <a:off x="9235440" y="2441448"/>
            <a:ext cx="2286000" cy="411480"/>
          </a:xfrm>
          <a:prstGeom prst="rect">
            <a:avLst/>
          </a:prstGeom>
          <a:noFill/>
          <a:ln/>
        </p:spPr>
        <p:txBody>
          <a:bodyPr wrap="square" lIns="0" tIns="0" rIns="0" bIns="0" rtlCol="0" anchor="ctr"/>
          <a:lstStyle/>
          <a:p>
            <a:pPr marL="0" indent="0">
              <a:buNone/>
            </a:pPr>
            <a:r>
              <a:rPr lang="en-US" sz="1100" dirty="0">
                <a:solidFill>
                  <a:srgbClr val="2B2724"/>
                </a:solidFill>
                <a:latin typeface="Calibri" pitchFamily="34" charset="0"/>
                <a:ea typeface="Calibri" pitchFamily="34" charset="-122"/>
                <a:cs typeface="Calibri" pitchFamily="34" charset="-120"/>
              </a:rPr>
              <a:t>Layout, Flächenarten, Kundenlauf</a:t>
            </a:r>
            <a:endParaRPr lang="en-US" sz="1100" dirty="0"/>
          </a:p>
        </p:txBody>
      </p:sp>
      <p:sp>
        <p:nvSpPr>
          <p:cNvPr id="29" name="Text 27"/>
          <p:cNvSpPr txBox="1"/>
          <p:nvPr/>
        </p:nvSpPr>
        <p:spPr>
          <a:xfrm>
            <a:off x="8183880" y="2916936"/>
            <a:ext cx="1051560" cy="411480"/>
          </a:xfrm>
          <a:prstGeom prst="rect">
            <a:avLst/>
          </a:prstGeom>
          <a:noFill/>
          <a:ln/>
        </p:spPr>
        <p:txBody>
          <a:bodyPr wrap="square" lIns="0" tIns="0" rIns="0" bIns="0" rtlCol="0" anchor="ctr"/>
          <a:lstStyle/>
          <a:p>
            <a:pPr marL="0" indent="0">
              <a:buNone/>
            </a:pPr>
            <a:r>
              <a:rPr lang="en-US" sz="1150" b="1" dirty="0">
                <a:solidFill>
                  <a:srgbClr val="2B2724"/>
                </a:solidFill>
                <a:latin typeface="Calibri" pitchFamily="34" charset="0"/>
                <a:ea typeface="Calibri" pitchFamily="34" charset="-122"/>
                <a:cs typeface="Calibri" pitchFamily="34" charset="-120"/>
              </a:rPr>
              <a:t>S. 300–301</a:t>
            </a:r>
            <a:endParaRPr lang="en-US" sz="1150" dirty="0"/>
          </a:p>
        </p:txBody>
      </p:sp>
      <p:sp>
        <p:nvSpPr>
          <p:cNvPr id="30" name="Text 28"/>
          <p:cNvSpPr txBox="1"/>
          <p:nvPr/>
        </p:nvSpPr>
        <p:spPr>
          <a:xfrm>
            <a:off x="9235440" y="2916936"/>
            <a:ext cx="2286000" cy="411480"/>
          </a:xfrm>
          <a:prstGeom prst="rect">
            <a:avLst/>
          </a:prstGeom>
          <a:noFill/>
          <a:ln/>
        </p:spPr>
        <p:txBody>
          <a:bodyPr wrap="square" lIns="0" tIns="0" rIns="0" bIns="0" rtlCol="0" anchor="ctr"/>
          <a:lstStyle/>
          <a:p>
            <a:pPr marL="0" indent="0">
              <a:buNone/>
            </a:pPr>
            <a:r>
              <a:rPr lang="en-US" sz="1100" dirty="0">
                <a:solidFill>
                  <a:srgbClr val="2B2724"/>
                </a:solidFill>
                <a:latin typeface="Calibri" pitchFamily="34" charset="0"/>
                <a:ea typeface="Calibri" pitchFamily="34" charset="-122"/>
                <a:cs typeface="Calibri" pitchFamily="34" charset="-120"/>
              </a:rPr>
              <a:t>Längs- und Querplatzierung, Abb. 10.3</a:t>
            </a:r>
            <a:endParaRPr lang="en-US" sz="1100" dirty="0"/>
          </a:p>
        </p:txBody>
      </p:sp>
      <p:sp>
        <p:nvSpPr>
          <p:cNvPr id="31" name="Text 29"/>
          <p:cNvSpPr txBox="1"/>
          <p:nvPr/>
        </p:nvSpPr>
        <p:spPr>
          <a:xfrm>
            <a:off x="8183880" y="3392424"/>
            <a:ext cx="1051560" cy="411480"/>
          </a:xfrm>
          <a:prstGeom prst="rect">
            <a:avLst/>
          </a:prstGeom>
          <a:noFill/>
          <a:ln/>
        </p:spPr>
        <p:txBody>
          <a:bodyPr wrap="square" lIns="0" tIns="0" rIns="0" bIns="0" rtlCol="0" anchor="ctr"/>
          <a:lstStyle/>
          <a:p>
            <a:pPr marL="0" indent="0">
              <a:buNone/>
            </a:pPr>
            <a:r>
              <a:rPr lang="en-US" sz="1150" b="1" dirty="0">
                <a:solidFill>
                  <a:srgbClr val="2B2724"/>
                </a:solidFill>
                <a:latin typeface="Calibri" pitchFamily="34" charset="0"/>
                <a:ea typeface="Calibri" pitchFamily="34" charset="-122"/>
                <a:cs typeface="Calibri" pitchFamily="34" charset="-120"/>
              </a:rPr>
              <a:t>S. 302–303</a:t>
            </a:r>
            <a:endParaRPr lang="en-US" sz="1150" dirty="0"/>
          </a:p>
        </p:txBody>
      </p:sp>
      <p:sp>
        <p:nvSpPr>
          <p:cNvPr id="32" name="Text 30"/>
          <p:cNvSpPr txBox="1"/>
          <p:nvPr/>
        </p:nvSpPr>
        <p:spPr>
          <a:xfrm>
            <a:off x="9235440" y="3392424"/>
            <a:ext cx="2286000" cy="411480"/>
          </a:xfrm>
          <a:prstGeom prst="rect">
            <a:avLst/>
          </a:prstGeom>
          <a:noFill/>
          <a:ln/>
        </p:spPr>
        <p:txBody>
          <a:bodyPr wrap="square" lIns="0" tIns="0" rIns="0" bIns="0" rtlCol="0" anchor="ctr"/>
          <a:lstStyle/>
          <a:p>
            <a:pPr marL="0" indent="0">
              <a:buNone/>
            </a:pPr>
            <a:r>
              <a:rPr lang="en-US" sz="1100" dirty="0">
                <a:solidFill>
                  <a:srgbClr val="2B2724"/>
                </a:solidFill>
                <a:latin typeface="Calibri" pitchFamily="34" charset="0"/>
                <a:ea typeface="Calibri" pitchFamily="34" charset="-122"/>
                <a:cs typeface="Calibri" pitchFamily="34" charset="-120"/>
              </a:rPr>
              <a:t>Regalzonen, Hersteller-, Produkt-, Kreuzblock</a:t>
            </a:r>
            <a:endParaRPr lang="en-US" sz="1100" dirty="0"/>
          </a:p>
        </p:txBody>
      </p:sp>
      <p:sp>
        <p:nvSpPr>
          <p:cNvPr id="33" name="Text 31"/>
          <p:cNvSpPr txBox="1"/>
          <p:nvPr/>
        </p:nvSpPr>
        <p:spPr>
          <a:xfrm>
            <a:off x="8183880" y="3867912"/>
            <a:ext cx="1051560" cy="411480"/>
          </a:xfrm>
          <a:prstGeom prst="rect">
            <a:avLst/>
          </a:prstGeom>
          <a:noFill/>
          <a:ln/>
        </p:spPr>
        <p:txBody>
          <a:bodyPr wrap="square" lIns="0" tIns="0" rIns="0" bIns="0" rtlCol="0" anchor="ctr"/>
          <a:lstStyle/>
          <a:p>
            <a:pPr marL="0" indent="0">
              <a:buNone/>
            </a:pPr>
            <a:r>
              <a:rPr lang="en-US" sz="1150" b="1" dirty="0">
                <a:solidFill>
                  <a:srgbClr val="2B2724"/>
                </a:solidFill>
                <a:latin typeface="Calibri" pitchFamily="34" charset="0"/>
                <a:ea typeface="Calibri" pitchFamily="34" charset="-122"/>
                <a:cs typeface="Calibri" pitchFamily="34" charset="-120"/>
              </a:rPr>
              <a:t>S. 303–306</a:t>
            </a:r>
            <a:endParaRPr lang="en-US" sz="1150" dirty="0"/>
          </a:p>
        </p:txBody>
      </p:sp>
      <p:sp>
        <p:nvSpPr>
          <p:cNvPr id="34" name="Text 32"/>
          <p:cNvSpPr txBox="1"/>
          <p:nvPr/>
        </p:nvSpPr>
        <p:spPr>
          <a:xfrm>
            <a:off x="9235440" y="3867912"/>
            <a:ext cx="2286000" cy="411480"/>
          </a:xfrm>
          <a:prstGeom prst="rect">
            <a:avLst/>
          </a:prstGeom>
          <a:noFill/>
          <a:ln/>
        </p:spPr>
        <p:txBody>
          <a:bodyPr wrap="square" lIns="0" tIns="0" rIns="0" bIns="0" rtlCol="0" anchor="ctr"/>
          <a:lstStyle/>
          <a:p>
            <a:pPr marL="0" indent="0">
              <a:buNone/>
            </a:pPr>
            <a:r>
              <a:rPr lang="en-US" sz="1100" dirty="0">
                <a:solidFill>
                  <a:srgbClr val="2B2724"/>
                </a:solidFill>
                <a:latin typeface="Calibri" pitchFamily="34" charset="0"/>
                <a:ea typeface="Calibri" pitchFamily="34" charset="-122"/>
                <a:cs typeface="Calibri" pitchFamily="34" charset="-120"/>
              </a:rPr>
              <a:t>Warenpräsentation und Atmosphäre</a:t>
            </a:r>
            <a:endParaRPr lang="en-US" sz="1100" dirty="0"/>
          </a:p>
        </p:txBody>
      </p:sp>
      <p:sp>
        <p:nvSpPr>
          <p:cNvPr id="35" name="Shape 33"/>
          <p:cNvSpPr/>
          <p:nvPr/>
        </p:nvSpPr>
        <p:spPr>
          <a:xfrm>
            <a:off x="548640" y="4572000"/>
            <a:ext cx="11091672" cy="1371600"/>
          </a:xfrm>
          <a:prstGeom prst="rect">
            <a:avLst/>
          </a:prstGeom>
          <a:solidFill>
            <a:srgbClr val="F3EEE6"/>
          </a:solidFill>
          <a:ln w="12700">
            <a:solidFill>
              <a:srgbClr val="F3EEE6"/>
            </a:solidFill>
            <a:prstDash val="solid"/>
          </a:ln>
        </p:spPr>
        <p:txBody>
          <a:bodyPr/>
          <a:lstStyle/>
          <a:p>
            <a:endParaRPr lang="de-DE"/>
          </a:p>
        </p:txBody>
      </p:sp>
      <p:sp>
        <p:nvSpPr>
          <p:cNvPr id="36" name="Shape 34"/>
          <p:cNvSpPr/>
          <p:nvPr/>
        </p:nvSpPr>
        <p:spPr>
          <a:xfrm>
            <a:off x="777240" y="4754880"/>
            <a:ext cx="237744" cy="237744"/>
          </a:xfrm>
          <a:prstGeom prst="ellipse">
            <a:avLst/>
          </a:prstGeom>
          <a:solidFill>
            <a:srgbClr val="B5452F"/>
          </a:solidFill>
          <a:ln w="12700">
            <a:solidFill>
              <a:srgbClr val="B5452F"/>
            </a:solidFill>
            <a:prstDash val="solid"/>
          </a:ln>
        </p:spPr>
        <p:txBody>
          <a:bodyPr/>
          <a:lstStyle/>
          <a:p>
            <a:endParaRPr lang="de-DE"/>
          </a:p>
        </p:txBody>
      </p:sp>
      <p:sp>
        <p:nvSpPr>
          <p:cNvPr id="37" name="Text 35"/>
          <p:cNvSpPr txBox="1"/>
          <p:nvPr/>
        </p:nvSpPr>
        <p:spPr>
          <a:xfrm>
            <a:off x="777240" y="4754880"/>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8" name="Text 36"/>
          <p:cNvSpPr txBox="1"/>
          <p:nvPr/>
        </p:nvSpPr>
        <p:spPr>
          <a:xfrm>
            <a:off x="1088136" y="4727448"/>
            <a:ext cx="10332720" cy="292608"/>
          </a:xfrm>
          <a:prstGeom prst="rect">
            <a:avLst/>
          </a:prstGeom>
          <a:noFill/>
          <a:ln/>
        </p:spPr>
        <p:txBody>
          <a:bodyPr wrap="square" lIns="0" tIns="0" rIns="0" bIns="0" rtlCol="0" anchor="ctr"/>
          <a:lstStyle/>
          <a:p>
            <a:pPr marL="0" indent="0">
              <a:buNone/>
            </a:pPr>
            <a:r>
              <a:rPr lang="en-US" sz="1250" dirty="0">
                <a:solidFill>
                  <a:srgbClr val="6F6862"/>
                </a:solidFill>
                <a:latin typeface="Calibri" pitchFamily="34" charset="0"/>
                <a:ea typeface="Calibri" pitchFamily="34" charset="-122"/>
                <a:cs typeface="Calibri" pitchFamily="34" charset="-120"/>
              </a:rPr>
              <a:t>Fallannahmen: Zielgruppe, Standort, Sortimentsumfang, alle Flächen- und Wirtschaftswerte, Artikelbelegung der Regale, Öffnungszeiten.</a:t>
            </a:r>
            <a:endParaRPr lang="en-US" sz="1250" dirty="0"/>
          </a:p>
        </p:txBody>
      </p:sp>
      <p:sp>
        <p:nvSpPr>
          <p:cNvPr id="39" name="Text 37"/>
          <p:cNvSpPr txBox="1"/>
          <p:nvPr/>
        </p:nvSpPr>
        <p:spPr>
          <a:xfrm>
            <a:off x="1088136" y="5257800"/>
            <a:ext cx="10332720" cy="457200"/>
          </a:xfrm>
          <a:prstGeom prst="rect">
            <a:avLst/>
          </a:prstGeom>
          <a:noFill/>
          <a:ln/>
        </p:spPr>
        <p:txBody>
          <a:bodyPr wrap="square" lIns="0" tIns="0" rIns="0" bIns="0" rtlCol="0" anchor="ctr"/>
          <a:lstStyle/>
          <a:p>
            <a:pPr marL="0" indent="0">
              <a:buNone/>
            </a:pPr>
            <a:r>
              <a:rPr lang="en-US" sz="1250" dirty="0">
                <a:solidFill>
                  <a:srgbClr val="6F6862"/>
                </a:solidFill>
                <a:latin typeface="Calibri" pitchFamily="34" charset="0"/>
                <a:ea typeface="Calibri" pitchFamily="34" charset="-122"/>
                <a:cs typeface="Calibri" pitchFamily="34" charset="-120"/>
              </a:rPr>
              <a:t>Schema aus Modul 7: Quellenwissen · Fallannahme · Entscheidung · Aussagegrenze. ✓ = an Skript/Abstract geprüft, ◐ = Fundstelle im Volltext prüfen.</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B2724"/>
        </a:solidFill>
        <a:effectLst/>
      </p:bgPr>
    </p:bg>
    <p:spTree>
      <p:nvGrpSpPr>
        <p:cNvPr id="1" name=""/>
        <p:cNvGrpSpPr/>
        <p:nvPr/>
      </p:nvGrpSpPr>
      <p:grpSpPr>
        <a:xfrm>
          <a:off x="0" y="0"/>
          <a:ext cx="0" cy="0"/>
          <a:chOff x="0" y="0"/>
          <a:chExt cx="0" cy="0"/>
        </a:xfrm>
      </p:grpSpPr>
      <p:sp>
        <p:nvSpPr>
          <p:cNvPr id="2" name="Text 0"/>
          <p:cNvSpPr txBox="1"/>
          <p:nvPr/>
        </p:nvSpPr>
        <p:spPr>
          <a:xfrm>
            <a:off x="731520" y="640080"/>
            <a:ext cx="5486400" cy="320040"/>
          </a:xfrm>
          <a:prstGeom prst="rect">
            <a:avLst/>
          </a:prstGeom>
          <a:noFill/>
          <a:ln/>
        </p:spPr>
        <p:txBody>
          <a:bodyPr wrap="square" lIns="0" tIns="0" rIns="0" bIns="0" rtlCol="0" anchor="ctr"/>
          <a:lstStyle/>
          <a:p>
            <a:pPr marL="0" indent="0">
              <a:buNone/>
            </a:pPr>
            <a:r>
              <a:rPr lang="en-US" sz="1300" b="1" kern="0" spc="200" dirty="0">
                <a:solidFill>
                  <a:srgbClr val="E0A08F"/>
                </a:solidFill>
                <a:latin typeface="Calibri" pitchFamily="34" charset="0"/>
                <a:ea typeface="Calibri" pitchFamily="34" charset="-122"/>
                <a:cs typeface="Calibri" pitchFamily="34" charset="-120"/>
              </a:rPr>
              <a:t>FAZIT</a:t>
            </a:r>
            <a:endParaRPr lang="en-US" sz="1300" dirty="0"/>
          </a:p>
        </p:txBody>
      </p:sp>
      <p:sp>
        <p:nvSpPr>
          <p:cNvPr id="3" name="Text 1"/>
          <p:cNvSpPr txBox="1"/>
          <p:nvPr/>
        </p:nvSpPr>
        <p:spPr>
          <a:xfrm>
            <a:off x="731520" y="1005840"/>
            <a:ext cx="10789920" cy="82296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Orientieren und irritieren in einem Store.</a:t>
            </a:r>
            <a:endParaRPr lang="en-US" sz="3400" dirty="0"/>
          </a:p>
        </p:txBody>
      </p:sp>
      <p:sp>
        <p:nvSpPr>
          <p:cNvPr id="4" name="Shape 2"/>
          <p:cNvSpPr/>
          <p:nvPr/>
        </p:nvSpPr>
        <p:spPr>
          <a:xfrm>
            <a:off x="731520" y="2286000"/>
            <a:ext cx="3383280" cy="2103120"/>
          </a:xfrm>
          <a:prstGeom prst="rect">
            <a:avLst/>
          </a:prstGeom>
          <a:solidFill>
            <a:srgbClr val="3A3531"/>
          </a:solidFill>
          <a:ln w="12700">
            <a:solidFill>
              <a:srgbClr val="3A3531"/>
            </a:solidFill>
            <a:prstDash val="solid"/>
          </a:ln>
        </p:spPr>
        <p:txBody>
          <a:bodyPr/>
          <a:lstStyle/>
          <a:p>
            <a:endParaRPr lang="de-DE"/>
          </a:p>
        </p:txBody>
      </p:sp>
      <p:sp>
        <p:nvSpPr>
          <p:cNvPr id="5" name="Shape 3"/>
          <p:cNvSpPr/>
          <p:nvPr/>
        </p:nvSpPr>
        <p:spPr>
          <a:xfrm>
            <a:off x="1005840" y="2560320"/>
            <a:ext cx="457200" cy="457200"/>
          </a:xfrm>
          <a:prstGeom prst="ellipse">
            <a:avLst/>
          </a:prstGeom>
          <a:solidFill>
            <a:srgbClr val="4F6B3A"/>
          </a:solidFill>
          <a:ln w="12700">
            <a:solidFill>
              <a:srgbClr val="4F6B3A"/>
            </a:solidFill>
            <a:prstDash val="solid"/>
          </a:ln>
        </p:spPr>
        <p:txBody>
          <a:bodyPr/>
          <a:lstStyle/>
          <a:p>
            <a:endParaRPr lang="de-DE"/>
          </a:p>
        </p:txBody>
      </p:sp>
      <p:sp>
        <p:nvSpPr>
          <p:cNvPr id="6" name="Text 4"/>
          <p:cNvSpPr txBox="1"/>
          <p:nvPr/>
        </p:nvSpPr>
        <p:spPr>
          <a:xfrm>
            <a:off x="1005840" y="3154680"/>
            <a:ext cx="2926080" cy="41148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Orientieren</a:t>
            </a:r>
            <a:endParaRPr lang="en-US" sz="2000" dirty="0"/>
          </a:p>
        </p:txBody>
      </p:sp>
      <p:sp>
        <p:nvSpPr>
          <p:cNvPr id="7" name="Text 5"/>
          <p:cNvSpPr txBox="1"/>
          <p:nvPr/>
        </p:nvSpPr>
        <p:spPr>
          <a:xfrm>
            <a:off x="1005840" y="3611880"/>
            <a:ext cx="2926080" cy="685800"/>
          </a:xfrm>
          <a:prstGeom prst="rect">
            <a:avLst/>
          </a:prstGeom>
          <a:noFill/>
          <a:ln/>
        </p:spPr>
        <p:txBody>
          <a:bodyPr wrap="square" lIns="0" tIns="0" rIns="0" bIns="0" rtlCol="0" anchor="t"/>
          <a:lstStyle/>
          <a:p>
            <a:pPr marL="0" indent="0">
              <a:buNone/>
            </a:pPr>
            <a:r>
              <a:rPr lang="en-US" sz="1300" dirty="0">
                <a:solidFill>
                  <a:srgbClr val="D8D2CA"/>
                </a:solidFill>
                <a:latin typeface="Calibri" pitchFamily="34" charset="0"/>
                <a:ea typeface="Calibri" pitchFamily="34" charset="-122"/>
                <a:cs typeface="Calibri" pitchFamily="34" charset="-120"/>
              </a:rPr>
              <a:t>Matrix-Dashboard, Basissortiment längs, Schnellweg</a:t>
            </a:r>
            <a:endParaRPr lang="en-US" sz="1300" dirty="0"/>
          </a:p>
        </p:txBody>
      </p:sp>
      <p:sp>
        <p:nvSpPr>
          <p:cNvPr id="8" name="Shape 6"/>
          <p:cNvSpPr/>
          <p:nvPr/>
        </p:nvSpPr>
        <p:spPr>
          <a:xfrm>
            <a:off x="4389120" y="2286000"/>
            <a:ext cx="3383280" cy="2103120"/>
          </a:xfrm>
          <a:prstGeom prst="rect">
            <a:avLst/>
          </a:prstGeom>
          <a:solidFill>
            <a:srgbClr val="3A3531"/>
          </a:solidFill>
          <a:ln w="12700">
            <a:solidFill>
              <a:srgbClr val="3A3531"/>
            </a:solidFill>
            <a:prstDash val="solid"/>
          </a:ln>
        </p:spPr>
        <p:txBody>
          <a:bodyPr/>
          <a:lstStyle/>
          <a:p>
            <a:endParaRPr lang="de-DE"/>
          </a:p>
        </p:txBody>
      </p:sp>
      <p:sp>
        <p:nvSpPr>
          <p:cNvPr id="9" name="Shape 7"/>
          <p:cNvSpPr/>
          <p:nvPr/>
        </p:nvSpPr>
        <p:spPr>
          <a:xfrm>
            <a:off x="4663440" y="2560320"/>
            <a:ext cx="457200" cy="457200"/>
          </a:xfrm>
          <a:prstGeom prst="ellipse">
            <a:avLst/>
          </a:prstGeom>
          <a:solidFill>
            <a:srgbClr val="B5452F"/>
          </a:solidFill>
          <a:ln w="12700">
            <a:solidFill>
              <a:srgbClr val="B5452F"/>
            </a:solidFill>
            <a:prstDash val="solid"/>
          </a:ln>
        </p:spPr>
        <p:txBody>
          <a:bodyPr/>
          <a:lstStyle/>
          <a:p>
            <a:endParaRPr lang="de-DE"/>
          </a:p>
        </p:txBody>
      </p:sp>
      <p:sp>
        <p:nvSpPr>
          <p:cNvPr id="10" name="Text 8"/>
          <p:cNvSpPr txBox="1"/>
          <p:nvPr/>
        </p:nvSpPr>
        <p:spPr>
          <a:xfrm>
            <a:off x="4663440" y="3154680"/>
            <a:ext cx="2926080" cy="41148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Irritieren</a:t>
            </a:r>
            <a:endParaRPr lang="en-US" sz="2000" dirty="0"/>
          </a:p>
        </p:txBody>
      </p:sp>
      <p:sp>
        <p:nvSpPr>
          <p:cNvPr id="11" name="Text 9"/>
          <p:cNvSpPr txBox="1"/>
          <p:nvPr/>
        </p:nvSpPr>
        <p:spPr>
          <a:xfrm>
            <a:off x="4663440" y="3611880"/>
            <a:ext cx="2926080" cy="685800"/>
          </a:xfrm>
          <a:prstGeom prst="rect">
            <a:avLst/>
          </a:prstGeom>
          <a:noFill/>
          <a:ln/>
        </p:spPr>
        <p:txBody>
          <a:bodyPr wrap="square" lIns="0" tIns="0" rIns="0" bIns="0" rtlCol="0" anchor="t"/>
          <a:lstStyle/>
          <a:p>
            <a:pPr marL="0" indent="0">
              <a:buNone/>
            </a:pPr>
            <a:r>
              <a:rPr lang="en-US" sz="1300" dirty="0">
                <a:solidFill>
                  <a:srgbClr val="D8D2CA"/>
                </a:solidFill>
                <a:latin typeface="Calibri" pitchFamily="34" charset="0"/>
                <a:ea typeface="Calibri" pitchFamily="34" charset="-122"/>
                <a:cs typeface="Calibri" pitchFamily="34" charset="-120"/>
              </a:rPr>
              <a:t>Kochwelten quer, Ergänzungen in den Kojen</a:t>
            </a:r>
            <a:endParaRPr lang="en-US" sz="1300" dirty="0"/>
          </a:p>
        </p:txBody>
      </p:sp>
      <p:sp>
        <p:nvSpPr>
          <p:cNvPr id="12" name="Shape 10"/>
          <p:cNvSpPr/>
          <p:nvPr/>
        </p:nvSpPr>
        <p:spPr>
          <a:xfrm>
            <a:off x="8046720" y="2286000"/>
            <a:ext cx="3383280" cy="2103120"/>
          </a:xfrm>
          <a:prstGeom prst="rect">
            <a:avLst/>
          </a:prstGeom>
          <a:solidFill>
            <a:srgbClr val="3A3531"/>
          </a:solidFill>
          <a:ln w="12700">
            <a:solidFill>
              <a:srgbClr val="3A3531"/>
            </a:solidFill>
            <a:prstDash val="solid"/>
          </a:ln>
        </p:spPr>
        <p:txBody>
          <a:bodyPr/>
          <a:lstStyle/>
          <a:p>
            <a:endParaRPr lang="de-DE"/>
          </a:p>
        </p:txBody>
      </p:sp>
      <p:sp>
        <p:nvSpPr>
          <p:cNvPr id="13" name="Shape 11"/>
          <p:cNvSpPr/>
          <p:nvPr/>
        </p:nvSpPr>
        <p:spPr>
          <a:xfrm>
            <a:off x="8321040" y="2560320"/>
            <a:ext cx="457200" cy="457200"/>
          </a:xfrm>
          <a:prstGeom prst="ellipse">
            <a:avLst/>
          </a:prstGeom>
          <a:solidFill>
            <a:srgbClr val="C98A3D"/>
          </a:solidFill>
          <a:ln w="12700">
            <a:solidFill>
              <a:srgbClr val="C98A3D"/>
            </a:solidFill>
            <a:prstDash val="solid"/>
          </a:ln>
        </p:spPr>
        <p:txBody>
          <a:bodyPr/>
          <a:lstStyle/>
          <a:p>
            <a:endParaRPr lang="de-DE"/>
          </a:p>
        </p:txBody>
      </p:sp>
      <p:sp>
        <p:nvSpPr>
          <p:cNvPr id="14" name="Text 12"/>
          <p:cNvSpPr txBox="1"/>
          <p:nvPr/>
        </p:nvSpPr>
        <p:spPr>
          <a:xfrm>
            <a:off x="8321040" y="3154680"/>
            <a:ext cx="2926080" cy="41148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Verführen</a:t>
            </a:r>
            <a:endParaRPr lang="en-US" sz="2000" dirty="0"/>
          </a:p>
        </p:txBody>
      </p:sp>
      <p:sp>
        <p:nvSpPr>
          <p:cNvPr id="15" name="Text 13"/>
          <p:cNvSpPr txBox="1"/>
          <p:nvPr/>
        </p:nvSpPr>
        <p:spPr>
          <a:xfrm>
            <a:off x="8321040" y="3611880"/>
            <a:ext cx="2926080" cy="685800"/>
          </a:xfrm>
          <a:prstGeom prst="rect">
            <a:avLst/>
          </a:prstGeom>
          <a:noFill/>
          <a:ln/>
        </p:spPr>
        <p:txBody>
          <a:bodyPr wrap="square" lIns="0" tIns="0" rIns="0" bIns="0" rtlCol="0" anchor="t"/>
          <a:lstStyle/>
          <a:p>
            <a:pPr marL="0" indent="0">
              <a:buNone/>
            </a:pPr>
            <a:r>
              <a:rPr lang="en-US" sz="1300" dirty="0">
                <a:solidFill>
                  <a:srgbClr val="D8D2CA"/>
                </a:solidFill>
                <a:latin typeface="Calibri" pitchFamily="34" charset="0"/>
                <a:ea typeface="Calibri" pitchFamily="34" charset="-122"/>
                <a:cs typeface="Calibri" pitchFamily="34" charset="-120"/>
              </a:rPr>
              <a:t>Showküche als Anker, Rezeptkarte, Dessert &amp; Wein nach der Frische</a:t>
            </a:r>
            <a:endParaRPr lang="en-US" sz="1300" dirty="0"/>
          </a:p>
        </p:txBody>
      </p:sp>
      <p:sp>
        <p:nvSpPr>
          <p:cNvPr id="16" name="Text 14"/>
          <p:cNvSpPr txBox="1"/>
          <p:nvPr/>
        </p:nvSpPr>
        <p:spPr>
          <a:xfrm>
            <a:off x="731520" y="4846320"/>
            <a:ext cx="10698480" cy="822960"/>
          </a:xfrm>
          <a:prstGeom prst="rect">
            <a:avLst/>
          </a:prstGeom>
          <a:noFill/>
          <a:ln/>
        </p:spPr>
        <p:txBody>
          <a:bodyPr wrap="square" lIns="0" tIns="0" rIns="0" bIns="0" rtlCol="0" anchor="ctr"/>
          <a:lstStyle/>
          <a:p>
            <a:pPr marL="0" indent="0">
              <a:buNone/>
            </a:pPr>
            <a:r>
              <a:rPr lang="en-US" sz="1700" i="1" dirty="0">
                <a:solidFill>
                  <a:srgbClr val="E0A08F"/>
                </a:solidFill>
                <a:latin typeface="Cambria" pitchFamily="34" charset="0"/>
                <a:ea typeface="Cambria" pitchFamily="34" charset="-122"/>
                <a:cs typeface="Cambria" pitchFamily="34" charset="-120"/>
              </a:rPr>
              <a:t>Zwei Entscheidungen am Eingang, ein Rezept für heute Abend. Der Händler erzeugt keinen Kauf, aber er macht die Entscheidung leichter.</a:t>
            </a:r>
            <a:endParaRPr lang="en-US" sz="1700" dirty="0"/>
          </a:p>
        </p:txBody>
      </p:sp>
      <p:sp>
        <p:nvSpPr>
          <p:cNvPr id="17" name="Text 15"/>
          <p:cNvSpPr txBox="1"/>
          <p:nvPr/>
        </p:nvSpPr>
        <p:spPr>
          <a:xfrm>
            <a:off x="731520" y="5943600"/>
            <a:ext cx="10058400" cy="365760"/>
          </a:xfrm>
          <a:prstGeom prst="rect">
            <a:avLst/>
          </a:prstGeom>
          <a:noFill/>
          <a:ln/>
        </p:spPr>
        <p:txBody>
          <a:bodyPr wrap="square" lIns="0" tIns="0" rIns="0" bIns="0" rtlCol="0" anchor="ctr"/>
          <a:lstStyle/>
          <a:p>
            <a:pPr marL="0" indent="0">
              <a:buNone/>
            </a:pPr>
            <a:r>
              <a:rPr lang="en-US" sz="1400" dirty="0">
                <a:solidFill>
                  <a:srgbClr val="D8D2CA"/>
                </a:solidFill>
                <a:latin typeface="Calibri" pitchFamily="34" charset="0"/>
                <a:ea typeface="Calibri" pitchFamily="34" charset="-122"/>
                <a:cs typeface="Calibri" pitchFamily="34" charset="-120"/>
              </a:rPr>
              <a:t>Vielen Dank. Wir freuen uns auf eure Fragen.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4510</Words>
  <Application>Microsoft Office PowerPoint</Application>
  <PresentationFormat>Breitbild</PresentationFormat>
  <Paragraphs>602</Paragraphs>
  <Slides>19</Slides>
  <Notes>19</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19</vt:i4>
      </vt:variant>
    </vt:vector>
  </HeadingPairs>
  <TitlesOfParts>
    <vt:vector size="23" baseType="lpstr">
      <vt:lpstr>Arial</vt:lpstr>
      <vt:lpstr>Calibri</vt:lpstr>
      <vt:lpstr>Cambria</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Hour Kitchen – Store-Konzept</dc:title>
  <dc:subject>PptxGenJS Presentation</dc:subject>
  <dc:creator>PptxGenJS</dc:creator>
  <cp:lastModifiedBy>Timo Jaeker</cp:lastModifiedBy>
  <cp:revision>1</cp:revision>
  <dcterms:created xsi:type="dcterms:W3CDTF">2026-09-28T13:53:29Z</dcterms:created>
  <dcterms:modified xsi:type="dcterms:W3CDTF">2026-09-28T15:31:10Z</dcterms:modified>
</cp:coreProperties>
</file>